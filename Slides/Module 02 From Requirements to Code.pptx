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485" r:id="rId2"/>
    <p:sldId id="396" r:id="rId3"/>
    <p:sldId id="523" r:id="rId4"/>
    <p:sldId id="576" r:id="rId5"/>
    <p:sldId id="555" r:id="rId6"/>
    <p:sldId id="564" r:id="rId7"/>
    <p:sldId id="351" r:id="rId8"/>
    <p:sldId id="531" r:id="rId9"/>
    <p:sldId id="532" r:id="rId10"/>
    <p:sldId id="582" r:id="rId11"/>
    <p:sldId id="567" r:id="rId12"/>
    <p:sldId id="556" r:id="rId13"/>
    <p:sldId id="587" r:id="rId14"/>
    <p:sldId id="590" r:id="rId15"/>
    <p:sldId id="591" r:id="rId16"/>
    <p:sldId id="592" r:id="rId17"/>
    <p:sldId id="593" r:id="rId18"/>
    <p:sldId id="596" r:id="rId19"/>
    <p:sldId id="597" r:id="rId20"/>
    <p:sldId id="565" r:id="rId21"/>
    <p:sldId id="598" r:id="rId22"/>
    <p:sldId id="569" r:id="rId23"/>
    <p:sldId id="568" r:id="rId24"/>
    <p:sldId id="570" r:id="rId25"/>
    <p:sldId id="571" r:id="rId26"/>
    <p:sldId id="572" r:id="rId27"/>
    <p:sldId id="573" r:id="rId28"/>
    <p:sldId id="574" r:id="rId29"/>
    <p:sldId id="575" r:id="rId30"/>
    <p:sldId id="600" r:id="rId31"/>
    <p:sldId id="549" r:id="rId32"/>
    <p:sldId id="599" r:id="rId33"/>
    <p:sldId id="577" r:id="rId34"/>
  </p:sldIdLst>
  <p:sldSz cx="12192000" cy="6858000"/>
  <p:notesSz cx="6858000" cy="9144000"/>
  <p:embeddedFontLst>
    <p:embeddedFont>
      <p:font typeface="Consolas" panose="020B0609020204030204" pitchFamily="49" charset="0"/>
      <p:regular r:id="rId36"/>
      <p:bold r:id="rId37"/>
      <p:italic r:id="rId38"/>
      <p:boldItalic r:id="rId39"/>
    </p:embeddedFont>
    <p:embeddedFont>
      <p:font typeface="Ink Free" panose="03080402000500000000" pitchFamily="66" charset="0"/>
      <p:regular r:id="rId40"/>
    </p:embeddedFont>
    <p:embeddedFont>
      <p:font typeface="Verdana" panose="020B0604030504040204" pitchFamily="34" charset="0"/>
      <p:regular r:id="rId41"/>
      <p:bold r:id="rId42"/>
      <p:italic r:id="rId43"/>
      <p:bold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523"/>
            <p14:sldId id="576"/>
            <p14:sldId id="555"/>
            <p14:sldId id="564"/>
            <p14:sldId id="351"/>
            <p14:sldId id="531"/>
            <p14:sldId id="532"/>
            <p14:sldId id="582"/>
            <p14:sldId id="567"/>
            <p14:sldId id="556"/>
            <p14:sldId id="587"/>
            <p14:sldId id="590"/>
            <p14:sldId id="591"/>
            <p14:sldId id="592"/>
            <p14:sldId id="593"/>
            <p14:sldId id="596"/>
            <p14:sldId id="597"/>
            <p14:sldId id="565"/>
            <p14:sldId id="598"/>
            <p14:sldId id="569"/>
            <p14:sldId id="568"/>
            <p14:sldId id="570"/>
            <p14:sldId id="571"/>
            <p14:sldId id="572"/>
            <p14:sldId id="573"/>
            <p14:sldId id="574"/>
            <p14:sldId id="575"/>
            <p14:sldId id="600"/>
            <p14:sldId id="549"/>
            <p14:sldId id="599"/>
            <p14:sldId id="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EF4DC6-0291-4031-B743-2034250D9D86}" v="2" dt="2024-08-13T18:20:05.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1" autoAdjust="0"/>
    <p:restoredTop sz="65748" autoAdjust="0"/>
  </p:normalViewPr>
  <p:slideViewPr>
    <p:cSldViewPr snapToGrid="0">
      <p:cViewPr>
        <p:scale>
          <a:sx n="100" d="100"/>
          <a:sy n="100" d="100"/>
        </p:scale>
        <p:origin x="1008" y="512"/>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1135E-E593-49EB-9C66-FB8F80DCC8E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BB0E679-4682-422A-B4B3-34D44CC4C90C}">
      <dgm:prSet/>
      <dgm:spPr/>
      <dgm:t>
        <a:bodyPr/>
        <a:lstStyle/>
        <a:p>
          <a:pPr>
            <a:lnSpc>
              <a:spcPct val="100000"/>
            </a:lnSpc>
          </a:pPr>
          <a:r>
            <a:rPr lang="en-US" dirty="0"/>
            <a:t>Problems of understanding</a:t>
          </a:r>
        </a:p>
      </dgm:t>
    </dgm:pt>
    <dgm:pt modelId="{C9D64042-2460-46F4-8F63-C93F33A90216}" type="parTrans" cxnId="{83E0F1C1-6D64-42DC-A4C0-CB5C67C8476D}">
      <dgm:prSet/>
      <dgm:spPr/>
      <dgm:t>
        <a:bodyPr/>
        <a:lstStyle/>
        <a:p>
          <a:endParaRPr lang="en-US"/>
        </a:p>
      </dgm:t>
    </dgm:pt>
    <dgm:pt modelId="{0E101382-25A9-48EE-8392-88ABE71DA086}" type="sibTrans" cxnId="{83E0F1C1-6D64-42DC-A4C0-CB5C67C8476D}">
      <dgm:prSet/>
      <dgm:spPr/>
      <dgm:t>
        <a:bodyPr/>
        <a:lstStyle/>
        <a:p>
          <a:endParaRPr lang="en-US"/>
        </a:p>
      </dgm:t>
    </dgm:pt>
    <dgm:pt modelId="{79B77230-D940-49CC-AF47-BF1D40797D89}">
      <dgm:prSet/>
      <dgm:spPr/>
      <dgm:t>
        <a:bodyPr/>
        <a:lstStyle/>
        <a:p>
          <a:pPr>
            <a:lnSpc>
              <a:spcPct val="100000"/>
            </a:lnSpc>
          </a:pPr>
          <a:r>
            <a:rPr lang="en-US" dirty="0"/>
            <a:t>Do users know what they want?</a:t>
          </a:r>
        </a:p>
      </dgm:t>
    </dgm:pt>
    <dgm:pt modelId="{C50558CC-69DA-4C28-8CB9-2982E9088524}" type="parTrans" cxnId="{BBA2886E-1FC2-4FFE-BF42-BABB70DB9D54}">
      <dgm:prSet/>
      <dgm:spPr/>
      <dgm:t>
        <a:bodyPr/>
        <a:lstStyle/>
        <a:p>
          <a:endParaRPr lang="en-US"/>
        </a:p>
      </dgm:t>
    </dgm:pt>
    <dgm:pt modelId="{01A261DD-4242-4987-8459-53BA826F65E4}" type="sibTrans" cxnId="{BBA2886E-1FC2-4FFE-BF42-BABB70DB9D54}">
      <dgm:prSet/>
      <dgm:spPr/>
      <dgm:t>
        <a:bodyPr/>
        <a:lstStyle/>
        <a:p>
          <a:endParaRPr lang="en-US"/>
        </a:p>
      </dgm:t>
    </dgm:pt>
    <dgm:pt modelId="{2CC7D121-8A41-44D9-89BD-244AA28A42A0}">
      <dgm:prSet/>
      <dgm:spPr/>
      <dgm:t>
        <a:bodyPr/>
        <a:lstStyle/>
        <a:p>
          <a:pPr>
            <a:lnSpc>
              <a:spcPct val="100000"/>
            </a:lnSpc>
          </a:pPr>
          <a:r>
            <a:rPr lang="en-US" dirty="0"/>
            <a:t>Do users know what we don’t know?</a:t>
          </a:r>
        </a:p>
      </dgm:t>
    </dgm:pt>
    <dgm:pt modelId="{9DE9134D-6150-4859-A323-7D13FB96F531}" type="parTrans" cxnId="{98EB21E0-6CF3-4F15-AC40-72E97BB1B30C}">
      <dgm:prSet/>
      <dgm:spPr/>
      <dgm:t>
        <a:bodyPr/>
        <a:lstStyle/>
        <a:p>
          <a:endParaRPr lang="en-US"/>
        </a:p>
      </dgm:t>
    </dgm:pt>
    <dgm:pt modelId="{0E0A4C2E-CF9A-4E5B-A9DA-A4F62E584BE3}" type="sibTrans" cxnId="{98EB21E0-6CF3-4F15-AC40-72E97BB1B30C}">
      <dgm:prSet/>
      <dgm:spPr/>
      <dgm:t>
        <a:bodyPr/>
        <a:lstStyle/>
        <a:p>
          <a:endParaRPr lang="en-US"/>
        </a:p>
      </dgm:t>
    </dgm:pt>
    <dgm:pt modelId="{8859CDF6-BBF5-4A76-8A76-407071531CB6}">
      <dgm:prSet/>
      <dgm:spPr/>
      <dgm:t>
        <a:bodyPr/>
        <a:lstStyle/>
        <a:p>
          <a:pPr>
            <a:lnSpc>
              <a:spcPct val="100000"/>
            </a:lnSpc>
          </a:pPr>
          <a:r>
            <a:rPr lang="en-US" dirty="0"/>
            <a:t>Do we know who are users even are?</a:t>
          </a:r>
        </a:p>
      </dgm:t>
    </dgm:pt>
    <dgm:pt modelId="{4553293F-765F-468C-A52D-17712ED16F1F}" type="parTrans" cxnId="{07AC9C4A-377E-4379-B550-8DB49E3862F9}">
      <dgm:prSet/>
      <dgm:spPr/>
      <dgm:t>
        <a:bodyPr/>
        <a:lstStyle/>
        <a:p>
          <a:endParaRPr lang="en-US"/>
        </a:p>
      </dgm:t>
    </dgm:pt>
    <dgm:pt modelId="{CD3D3010-EDC9-481C-A822-9AFA251D0BAD}" type="sibTrans" cxnId="{07AC9C4A-377E-4379-B550-8DB49E3862F9}">
      <dgm:prSet/>
      <dgm:spPr/>
      <dgm:t>
        <a:bodyPr/>
        <a:lstStyle/>
        <a:p>
          <a:endParaRPr lang="en-US"/>
        </a:p>
      </dgm:t>
    </dgm:pt>
    <dgm:pt modelId="{289B9B18-ED8C-4F8C-B57D-E359AFC29DCD}">
      <dgm:prSet/>
      <dgm:spPr/>
      <dgm:t>
        <a:bodyPr/>
        <a:lstStyle/>
        <a:p>
          <a:pPr>
            <a:lnSpc>
              <a:spcPct val="100000"/>
            </a:lnSpc>
          </a:pPr>
          <a:r>
            <a:rPr lang="en-US" dirty="0"/>
            <a:t>Problems of scope</a:t>
          </a:r>
        </a:p>
      </dgm:t>
    </dgm:pt>
    <dgm:pt modelId="{DFB0D9D2-5A30-4081-9EC5-9B49CEBEA520}" type="parTrans" cxnId="{B135C7DE-63EC-4038-AD9B-BF4AE8EC9E48}">
      <dgm:prSet/>
      <dgm:spPr/>
      <dgm:t>
        <a:bodyPr/>
        <a:lstStyle/>
        <a:p>
          <a:endParaRPr lang="en-US"/>
        </a:p>
      </dgm:t>
    </dgm:pt>
    <dgm:pt modelId="{01035273-0EF6-4E5E-8BB1-B75422350993}" type="sibTrans" cxnId="{B135C7DE-63EC-4038-AD9B-BF4AE8EC9E48}">
      <dgm:prSet/>
      <dgm:spPr/>
      <dgm:t>
        <a:bodyPr/>
        <a:lstStyle/>
        <a:p>
          <a:endParaRPr lang="en-US"/>
        </a:p>
      </dgm:t>
    </dgm:pt>
    <dgm:pt modelId="{A898EC3E-4F02-462D-8397-BC48F29AE81B}">
      <dgm:prSet/>
      <dgm:spPr/>
      <dgm:t>
        <a:bodyPr/>
        <a:lstStyle/>
        <a:p>
          <a:pPr>
            <a:lnSpc>
              <a:spcPct val="100000"/>
            </a:lnSpc>
          </a:pPr>
          <a:r>
            <a:rPr lang="en-US" dirty="0"/>
            <a:t>What are we building?</a:t>
          </a:r>
        </a:p>
      </dgm:t>
    </dgm:pt>
    <dgm:pt modelId="{AD9DCD49-7708-4181-B664-3E4D3C91E37D}" type="parTrans" cxnId="{D9C411B4-474A-4FB0-9E9B-1E92A378E566}">
      <dgm:prSet/>
      <dgm:spPr/>
      <dgm:t>
        <a:bodyPr/>
        <a:lstStyle/>
        <a:p>
          <a:endParaRPr lang="en-US"/>
        </a:p>
      </dgm:t>
    </dgm:pt>
    <dgm:pt modelId="{5F251CD8-B93E-4310-9598-EB0F0D698564}" type="sibTrans" cxnId="{D9C411B4-474A-4FB0-9E9B-1E92A378E566}">
      <dgm:prSet/>
      <dgm:spPr/>
      <dgm:t>
        <a:bodyPr/>
        <a:lstStyle/>
        <a:p>
          <a:endParaRPr lang="en-US"/>
        </a:p>
      </dgm:t>
    </dgm:pt>
    <dgm:pt modelId="{2E2B9329-B007-4CD0-85A7-2630A8E162B0}">
      <dgm:prSet/>
      <dgm:spPr/>
      <dgm:t>
        <a:bodyPr/>
        <a:lstStyle/>
        <a:p>
          <a:pPr>
            <a:lnSpc>
              <a:spcPct val="100000"/>
            </a:lnSpc>
          </a:pPr>
          <a:r>
            <a:rPr lang="en-US" dirty="0"/>
            <a:t>What non-functional quality attributes are included?</a:t>
          </a:r>
        </a:p>
      </dgm:t>
    </dgm:pt>
    <dgm:pt modelId="{30C76577-F362-41FE-BC13-849D7770E466}" type="parTrans" cxnId="{A5A3EABD-125B-49CA-881A-D915A3146F96}">
      <dgm:prSet/>
      <dgm:spPr/>
      <dgm:t>
        <a:bodyPr/>
        <a:lstStyle/>
        <a:p>
          <a:endParaRPr lang="en-US"/>
        </a:p>
      </dgm:t>
    </dgm:pt>
    <dgm:pt modelId="{1F9E35F3-00D0-4526-8C6D-B1D5C8B52722}" type="sibTrans" cxnId="{A5A3EABD-125B-49CA-881A-D915A3146F96}">
      <dgm:prSet/>
      <dgm:spPr/>
      <dgm:t>
        <a:bodyPr/>
        <a:lstStyle/>
        <a:p>
          <a:endParaRPr lang="en-US"/>
        </a:p>
      </dgm:t>
    </dgm:pt>
    <dgm:pt modelId="{0F25331F-8FB8-4E3A-87F2-3F285D74EB32}">
      <dgm:prSet/>
      <dgm:spPr/>
      <dgm:t>
        <a:bodyPr/>
        <a:lstStyle/>
        <a:p>
          <a:pPr>
            <a:lnSpc>
              <a:spcPct val="100000"/>
            </a:lnSpc>
          </a:pPr>
          <a:r>
            <a:rPr lang="en-US" dirty="0"/>
            <a:t>Problems of volatility</a:t>
          </a:r>
        </a:p>
      </dgm:t>
    </dgm:pt>
    <dgm:pt modelId="{324E124D-8500-4C04-A0BA-6F6C2D553D81}" type="parTrans" cxnId="{16B49D51-0857-4A44-AD1A-0C1006418460}">
      <dgm:prSet/>
      <dgm:spPr/>
      <dgm:t>
        <a:bodyPr/>
        <a:lstStyle/>
        <a:p>
          <a:endParaRPr lang="en-US"/>
        </a:p>
      </dgm:t>
    </dgm:pt>
    <dgm:pt modelId="{4716CEE8-C882-4DFA-8AAE-CB3797F9F69F}" type="sibTrans" cxnId="{16B49D51-0857-4A44-AD1A-0C1006418460}">
      <dgm:prSet/>
      <dgm:spPr/>
      <dgm:t>
        <a:bodyPr/>
        <a:lstStyle/>
        <a:p>
          <a:endParaRPr lang="en-US"/>
        </a:p>
      </dgm:t>
    </dgm:pt>
    <dgm:pt modelId="{CB3B2CC4-92AF-4FC8-A179-56AA7CBFFB9A}">
      <dgm:prSet/>
      <dgm:spPr/>
      <dgm:t>
        <a:bodyPr/>
        <a:lstStyle/>
        <a:p>
          <a:pPr>
            <a:lnSpc>
              <a:spcPct val="100000"/>
            </a:lnSpc>
          </a:pPr>
          <a:r>
            <a:rPr lang="en-US" dirty="0"/>
            <a:t>Changing requirements over time</a:t>
          </a:r>
        </a:p>
      </dgm:t>
    </dgm:pt>
    <dgm:pt modelId="{6D8C96C8-507C-40B5-9F1C-C398FAA98553}" type="parTrans" cxnId="{B9675BFE-7824-40EC-8F31-10A7D7973451}">
      <dgm:prSet/>
      <dgm:spPr/>
      <dgm:t>
        <a:bodyPr/>
        <a:lstStyle/>
        <a:p>
          <a:endParaRPr lang="en-US"/>
        </a:p>
      </dgm:t>
    </dgm:pt>
    <dgm:pt modelId="{ABF5C046-9B4C-488C-88A7-786B810BC851}" type="sibTrans" cxnId="{B9675BFE-7824-40EC-8F31-10A7D7973451}">
      <dgm:prSet/>
      <dgm:spPr/>
      <dgm:t>
        <a:bodyPr/>
        <a:lstStyle/>
        <a:p>
          <a:endParaRPr lang="en-US"/>
        </a:p>
      </dgm:t>
    </dgm:pt>
    <dgm:pt modelId="{F91F48F0-416F-409A-A4DF-2AB884A889BA}" type="pres">
      <dgm:prSet presAssocID="{7851135E-E593-49EB-9C66-FB8F80DCC8EB}" presName="root" presStyleCnt="0">
        <dgm:presLayoutVars>
          <dgm:dir/>
          <dgm:resizeHandles val="exact"/>
        </dgm:presLayoutVars>
      </dgm:prSet>
      <dgm:spPr/>
    </dgm:pt>
    <dgm:pt modelId="{FC98E3C8-E7C4-4905-8B69-39244AD5644B}" type="pres">
      <dgm:prSet presAssocID="{ABB0E679-4682-422A-B4B3-34D44CC4C90C}" presName="compNode" presStyleCnt="0"/>
      <dgm:spPr/>
    </dgm:pt>
    <dgm:pt modelId="{744C9803-894E-44D2-889B-76A5CCA8AA03}" type="pres">
      <dgm:prSet presAssocID="{ABB0E679-4682-422A-B4B3-34D44CC4C90C}" presName="bgRect" presStyleLbl="bgShp" presStyleIdx="0" presStyleCnt="3"/>
      <dgm:spPr/>
    </dgm:pt>
    <dgm:pt modelId="{A72C947F-10ED-4AC9-86DE-CDAD3C879254}" type="pres">
      <dgm:prSet presAssocID="{ABB0E679-4682-422A-B4B3-34D44CC4C90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ustomer Review"/>
        </a:ext>
      </dgm:extLst>
    </dgm:pt>
    <dgm:pt modelId="{C109F829-E202-4C7F-A334-6F9428EDC96C}" type="pres">
      <dgm:prSet presAssocID="{ABB0E679-4682-422A-B4B3-34D44CC4C90C}" presName="spaceRect" presStyleCnt="0"/>
      <dgm:spPr/>
    </dgm:pt>
    <dgm:pt modelId="{BBEC7333-A5CB-4B43-A34A-870E516E4DD6}" type="pres">
      <dgm:prSet presAssocID="{ABB0E679-4682-422A-B4B3-34D44CC4C90C}" presName="parTx" presStyleLbl="revTx" presStyleIdx="0" presStyleCnt="6">
        <dgm:presLayoutVars>
          <dgm:chMax val="0"/>
          <dgm:chPref val="0"/>
        </dgm:presLayoutVars>
      </dgm:prSet>
      <dgm:spPr/>
    </dgm:pt>
    <dgm:pt modelId="{D527155E-0657-496B-926B-6BBC0B628D07}" type="pres">
      <dgm:prSet presAssocID="{ABB0E679-4682-422A-B4B3-34D44CC4C90C}" presName="desTx" presStyleLbl="revTx" presStyleIdx="1" presStyleCnt="6">
        <dgm:presLayoutVars/>
      </dgm:prSet>
      <dgm:spPr/>
    </dgm:pt>
    <dgm:pt modelId="{1F8516E6-8828-4592-BFF8-887E9086A7BC}" type="pres">
      <dgm:prSet presAssocID="{0E101382-25A9-48EE-8392-88ABE71DA086}" presName="sibTrans" presStyleCnt="0"/>
      <dgm:spPr/>
    </dgm:pt>
    <dgm:pt modelId="{5C7297C6-91FF-41AF-818A-17F31F68621E}" type="pres">
      <dgm:prSet presAssocID="{289B9B18-ED8C-4F8C-B57D-E359AFC29DCD}" presName="compNode" presStyleCnt="0"/>
      <dgm:spPr/>
    </dgm:pt>
    <dgm:pt modelId="{2E54C961-84EA-43A2-844C-C3CE78516CB0}" type="pres">
      <dgm:prSet presAssocID="{289B9B18-ED8C-4F8C-B57D-E359AFC29DCD}" presName="bgRect" presStyleLbl="bgShp" presStyleIdx="1" presStyleCnt="3"/>
      <dgm:spPr/>
    </dgm:pt>
    <dgm:pt modelId="{A3DBAEA5-2FDA-46C9-9482-7655B37F1E0E}" type="pres">
      <dgm:prSet presAssocID="{289B9B18-ED8C-4F8C-B57D-E359AFC29DC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ilding"/>
        </a:ext>
      </dgm:extLst>
    </dgm:pt>
    <dgm:pt modelId="{56237200-6F76-4251-BCFC-EAF1C363E346}" type="pres">
      <dgm:prSet presAssocID="{289B9B18-ED8C-4F8C-B57D-E359AFC29DCD}" presName="spaceRect" presStyleCnt="0"/>
      <dgm:spPr/>
    </dgm:pt>
    <dgm:pt modelId="{28C88A3C-4FEA-440F-9B29-481800E6F0BE}" type="pres">
      <dgm:prSet presAssocID="{289B9B18-ED8C-4F8C-B57D-E359AFC29DCD}" presName="parTx" presStyleLbl="revTx" presStyleIdx="2" presStyleCnt="6">
        <dgm:presLayoutVars>
          <dgm:chMax val="0"/>
          <dgm:chPref val="0"/>
        </dgm:presLayoutVars>
      </dgm:prSet>
      <dgm:spPr/>
    </dgm:pt>
    <dgm:pt modelId="{4FB2F518-2BF4-4FD7-A56E-47F3A3918E17}" type="pres">
      <dgm:prSet presAssocID="{289B9B18-ED8C-4F8C-B57D-E359AFC29DCD}" presName="desTx" presStyleLbl="revTx" presStyleIdx="3" presStyleCnt="6">
        <dgm:presLayoutVars/>
      </dgm:prSet>
      <dgm:spPr/>
    </dgm:pt>
    <dgm:pt modelId="{89FD899A-D4F4-4C55-8909-E662326770E6}" type="pres">
      <dgm:prSet presAssocID="{01035273-0EF6-4E5E-8BB1-B75422350993}" presName="sibTrans" presStyleCnt="0"/>
      <dgm:spPr/>
    </dgm:pt>
    <dgm:pt modelId="{D72C3A6E-5881-40B9-9893-82CCB0549164}" type="pres">
      <dgm:prSet presAssocID="{0F25331F-8FB8-4E3A-87F2-3F285D74EB32}" presName="compNode" presStyleCnt="0"/>
      <dgm:spPr/>
    </dgm:pt>
    <dgm:pt modelId="{E18A13F9-D7A2-436B-8993-77DFC272C62C}" type="pres">
      <dgm:prSet presAssocID="{0F25331F-8FB8-4E3A-87F2-3F285D74EB32}" presName="bgRect" presStyleLbl="bgShp" presStyleIdx="2" presStyleCnt="3"/>
      <dgm:spPr/>
    </dgm:pt>
    <dgm:pt modelId="{933C83E9-3F13-4531-A494-B128397A40AE}" type="pres">
      <dgm:prSet presAssocID="{0F25331F-8FB8-4E3A-87F2-3F285D74EB3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opwatch"/>
        </a:ext>
      </dgm:extLst>
    </dgm:pt>
    <dgm:pt modelId="{0B330141-BDA3-4D12-AFE4-A5C53FC9730A}" type="pres">
      <dgm:prSet presAssocID="{0F25331F-8FB8-4E3A-87F2-3F285D74EB32}" presName="spaceRect" presStyleCnt="0"/>
      <dgm:spPr/>
    </dgm:pt>
    <dgm:pt modelId="{1649E94B-5A94-485B-93A6-2EB4D5F91B9A}" type="pres">
      <dgm:prSet presAssocID="{0F25331F-8FB8-4E3A-87F2-3F285D74EB32}" presName="parTx" presStyleLbl="revTx" presStyleIdx="4" presStyleCnt="6">
        <dgm:presLayoutVars>
          <dgm:chMax val="0"/>
          <dgm:chPref val="0"/>
        </dgm:presLayoutVars>
      </dgm:prSet>
      <dgm:spPr/>
    </dgm:pt>
    <dgm:pt modelId="{EA9947D3-2998-4B00-9B2A-15D759EFA191}" type="pres">
      <dgm:prSet presAssocID="{0F25331F-8FB8-4E3A-87F2-3F285D74EB32}" presName="desTx" presStyleLbl="revTx" presStyleIdx="5" presStyleCnt="6">
        <dgm:presLayoutVars/>
      </dgm:prSet>
      <dgm:spPr/>
    </dgm:pt>
  </dgm:ptLst>
  <dgm:cxnLst>
    <dgm:cxn modelId="{AAD6A029-21A4-41FA-9349-A97938C2044E}" type="presOf" srcId="{289B9B18-ED8C-4F8C-B57D-E359AFC29DCD}" destId="{28C88A3C-4FEA-440F-9B29-481800E6F0BE}" srcOrd="0" destOrd="0" presId="urn:microsoft.com/office/officeart/2018/2/layout/IconVerticalSolidList"/>
    <dgm:cxn modelId="{D33A192E-099E-4C7E-8AC9-B6B62017C60A}" type="presOf" srcId="{2E2B9329-B007-4CD0-85A7-2630A8E162B0}" destId="{4FB2F518-2BF4-4FD7-A56E-47F3A3918E17}" srcOrd="0" destOrd="1" presId="urn:microsoft.com/office/officeart/2018/2/layout/IconVerticalSolidList"/>
    <dgm:cxn modelId="{0D619939-DF3D-4D20-BB53-412AF78EA558}" type="presOf" srcId="{ABB0E679-4682-422A-B4B3-34D44CC4C90C}" destId="{BBEC7333-A5CB-4B43-A34A-870E516E4DD6}" srcOrd="0" destOrd="0" presId="urn:microsoft.com/office/officeart/2018/2/layout/IconVerticalSolidList"/>
    <dgm:cxn modelId="{07AC9C4A-377E-4379-B550-8DB49E3862F9}" srcId="{ABB0E679-4682-422A-B4B3-34D44CC4C90C}" destId="{8859CDF6-BBF5-4A76-8A76-407071531CB6}" srcOrd="2" destOrd="0" parTransId="{4553293F-765F-468C-A52D-17712ED16F1F}" sibTransId="{CD3D3010-EDC9-481C-A822-9AFA251D0BAD}"/>
    <dgm:cxn modelId="{F7C5F74B-BB11-4F28-9F7E-23FE778011DC}" type="presOf" srcId="{79B77230-D940-49CC-AF47-BF1D40797D89}" destId="{D527155E-0657-496B-926B-6BBC0B628D07}" srcOrd="0" destOrd="0" presId="urn:microsoft.com/office/officeart/2018/2/layout/IconVerticalSolidList"/>
    <dgm:cxn modelId="{16B49D51-0857-4A44-AD1A-0C1006418460}" srcId="{7851135E-E593-49EB-9C66-FB8F80DCC8EB}" destId="{0F25331F-8FB8-4E3A-87F2-3F285D74EB32}" srcOrd="2" destOrd="0" parTransId="{324E124D-8500-4C04-A0BA-6F6C2D553D81}" sibTransId="{4716CEE8-C882-4DFA-8AAE-CB3797F9F69F}"/>
    <dgm:cxn modelId="{BBA2886E-1FC2-4FFE-BF42-BABB70DB9D54}" srcId="{ABB0E679-4682-422A-B4B3-34D44CC4C90C}" destId="{79B77230-D940-49CC-AF47-BF1D40797D89}" srcOrd="0" destOrd="0" parTransId="{C50558CC-69DA-4C28-8CB9-2982E9088524}" sibTransId="{01A261DD-4242-4987-8459-53BA826F65E4}"/>
    <dgm:cxn modelId="{6F534F79-49C3-49F2-B767-CA8451407698}" type="presOf" srcId="{2CC7D121-8A41-44D9-89BD-244AA28A42A0}" destId="{D527155E-0657-496B-926B-6BBC0B628D07}" srcOrd="0" destOrd="1" presId="urn:microsoft.com/office/officeart/2018/2/layout/IconVerticalSolidList"/>
    <dgm:cxn modelId="{83B9F09E-EAE2-4CC8-ADD5-C1D9758C0071}" type="presOf" srcId="{A898EC3E-4F02-462D-8397-BC48F29AE81B}" destId="{4FB2F518-2BF4-4FD7-A56E-47F3A3918E17}" srcOrd="0" destOrd="0" presId="urn:microsoft.com/office/officeart/2018/2/layout/IconVerticalSolidList"/>
    <dgm:cxn modelId="{D9C411B4-474A-4FB0-9E9B-1E92A378E566}" srcId="{289B9B18-ED8C-4F8C-B57D-E359AFC29DCD}" destId="{A898EC3E-4F02-462D-8397-BC48F29AE81B}" srcOrd="0" destOrd="0" parTransId="{AD9DCD49-7708-4181-B664-3E4D3C91E37D}" sibTransId="{5F251CD8-B93E-4310-9598-EB0F0D698564}"/>
    <dgm:cxn modelId="{05D2A0B4-F01C-4184-9E55-260CFB8DB7F3}" type="presOf" srcId="{7851135E-E593-49EB-9C66-FB8F80DCC8EB}" destId="{F91F48F0-416F-409A-A4DF-2AB884A889BA}" srcOrd="0" destOrd="0" presId="urn:microsoft.com/office/officeart/2018/2/layout/IconVerticalSolidList"/>
    <dgm:cxn modelId="{A5A3EABD-125B-49CA-881A-D915A3146F96}" srcId="{289B9B18-ED8C-4F8C-B57D-E359AFC29DCD}" destId="{2E2B9329-B007-4CD0-85A7-2630A8E162B0}" srcOrd="1" destOrd="0" parTransId="{30C76577-F362-41FE-BC13-849D7770E466}" sibTransId="{1F9E35F3-00D0-4526-8C6D-B1D5C8B52722}"/>
    <dgm:cxn modelId="{83E0F1C1-6D64-42DC-A4C0-CB5C67C8476D}" srcId="{7851135E-E593-49EB-9C66-FB8F80DCC8EB}" destId="{ABB0E679-4682-422A-B4B3-34D44CC4C90C}" srcOrd="0" destOrd="0" parTransId="{C9D64042-2460-46F4-8F63-C93F33A90216}" sibTransId="{0E101382-25A9-48EE-8392-88ABE71DA086}"/>
    <dgm:cxn modelId="{DDC6D8C5-BBB2-461C-83FA-36349F6F2DA4}" type="presOf" srcId="{CB3B2CC4-92AF-4FC8-A179-56AA7CBFFB9A}" destId="{EA9947D3-2998-4B00-9B2A-15D759EFA191}" srcOrd="0" destOrd="0" presId="urn:microsoft.com/office/officeart/2018/2/layout/IconVerticalSolidList"/>
    <dgm:cxn modelId="{6DA49FCE-B0B4-44FD-96DE-E91348D0DC06}" type="presOf" srcId="{0F25331F-8FB8-4E3A-87F2-3F285D74EB32}" destId="{1649E94B-5A94-485B-93A6-2EB4D5F91B9A}" srcOrd="0" destOrd="0" presId="urn:microsoft.com/office/officeart/2018/2/layout/IconVerticalSolidList"/>
    <dgm:cxn modelId="{F47C6FD6-29E6-4AA6-A457-9DD86BFC36E5}" type="presOf" srcId="{8859CDF6-BBF5-4A76-8A76-407071531CB6}" destId="{D527155E-0657-496B-926B-6BBC0B628D07}" srcOrd="0" destOrd="2" presId="urn:microsoft.com/office/officeart/2018/2/layout/IconVerticalSolidList"/>
    <dgm:cxn modelId="{B135C7DE-63EC-4038-AD9B-BF4AE8EC9E48}" srcId="{7851135E-E593-49EB-9C66-FB8F80DCC8EB}" destId="{289B9B18-ED8C-4F8C-B57D-E359AFC29DCD}" srcOrd="1" destOrd="0" parTransId="{DFB0D9D2-5A30-4081-9EC5-9B49CEBEA520}" sibTransId="{01035273-0EF6-4E5E-8BB1-B75422350993}"/>
    <dgm:cxn modelId="{98EB21E0-6CF3-4F15-AC40-72E97BB1B30C}" srcId="{ABB0E679-4682-422A-B4B3-34D44CC4C90C}" destId="{2CC7D121-8A41-44D9-89BD-244AA28A42A0}" srcOrd="1" destOrd="0" parTransId="{9DE9134D-6150-4859-A323-7D13FB96F531}" sibTransId="{0E0A4C2E-CF9A-4E5B-A9DA-A4F62E584BE3}"/>
    <dgm:cxn modelId="{B9675BFE-7824-40EC-8F31-10A7D7973451}" srcId="{0F25331F-8FB8-4E3A-87F2-3F285D74EB32}" destId="{CB3B2CC4-92AF-4FC8-A179-56AA7CBFFB9A}" srcOrd="0" destOrd="0" parTransId="{6D8C96C8-507C-40B5-9F1C-C398FAA98553}" sibTransId="{ABF5C046-9B4C-488C-88A7-786B810BC851}"/>
    <dgm:cxn modelId="{6301B435-160A-435E-972D-336C66302088}" type="presParOf" srcId="{F91F48F0-416F-409A-A4DF-2AB884A889BA}" destId="{FC98E3C8-E7C4-4905-8B69-39244AD5644B}" srcOrd="0" destOrd="0" presId="urn:microsoft.com/office/officeart/2018/2/layout/IconVerticalSolidList"/>
    <dgm:cxn modelId="{D4300C5E-D0B6-43FA-AE33-964064733925}" type="presParOf" srcId="{FC98E3C8-E7C4-4905-8B69-39244AD5644B}" destId="{744C9803-894E-44D2-889B-76A5CCA8AA03}" srcOrd="0" destOrd="0" presId="urn:microsoft.com/office/officeart/2018/2/layout/IconVerticalSolidList"/>
    <dgm:cxn modelId="{92EBE634-6053-4558-99E7-6C9318EC79C7}" type="presParOf" srcId="{FC98E3C8-E7C4-4905-8B69-39244AD5644B}" destId="{A72C947F-10ED-4AC9-86DE-CDAD3C879254}" srcOrd="1" destOrd="0" presId="urn:microsoft.com/office/officeart/2018/2/layout/IconVerticalSolidList"/>
    <dgm:cxn modelId="{A291A2F6-08F1-4DC4-9043-87D4DF29CA86}" type="presParOf" srcId="{FC98E3C8-E7C4-4905-8B69-39244AD5644B}" destId="{C109F829-E202-4C7F-A334-6F9428EDC96C}" srcOrd="2" destOrd="0" presId="urn:microsoft.com/office/officeart/2018/2/layout/IconVerticalSolidList"/>
    <dgm:cxn modelId="{999E7C01-2071-4F06-AA68-0CF124414884}" type="presParOf" srcId="{FC98E3C8-E7C4-4905-8B69-39244AD5644B}" destId="{BBEC7333-A5CB-4B43-A34A-870E516E4DD6}" srcOrd="3" destOrd="0" presId="urn:microsoft.com/office/officeart/2018/2/layout/IconVerticalSolidList"/>
    <dgm:cxn modelId="{C47CC53C-9A70-4B92-B63C-88BCFF133900}" type="presParOf" srcId="{FC98E3C8-E7C4-4905-8B69-39244AD5644B}" destId="{D527155E-0657-496B-926B-6BBC0B628D07}" srcOrd="4" destOrd="0" presId="urn:microsoft.com/office/officeart/2018/2/layout/IconVerticalSolidList"/>
    <dgm:cxn modelId="{BE259B5F-67E3-4C1F-BCE1-7F3BDD0C971B}" type="presParOf" srcId="{F91F48F0-416F-409A-A4DF-2AB884A889BA}" destId="{1F8516E6-8828-4592-BFF8-887E9086A7BC}" srcOrd="1" destOrd="0" presId="urn:microsoft.com/office/officeart/2018/2/layout/IconVerticalSolidList"/>
    <dgm:cxn modelId="{E83C380D-B12F-4B89-964E-488132B9669B}" type="presParOf" srcId="{F91F48F0-416F-409A-A4DF-2AB884A889BA}" destId="{5C7297C6-91FF-41AF-818A-17F31F68621E}" srcOrd="2" destOrd="0" presId="urn:microsoft.com/office/officeart/2018/2/layout/IconVerticalSolidList"/>
    <dgm:cxn modelId="{B28A0D11-13FA-4C31-931A-F07B14A621E1}" type="presParOf" srcId="{5C7297C6-91FF-41AF-818A-17F31F68621E}" destId="{2E54C961-84EA-43A2-844C-C3CE78516CB0}" srcOrd="0" destOrd="0" presId="urn:microsoft.com/office/officeart/2018/2/layout/IconVerticalSolidList"/>
    <dgm:cxn modelId="{C8B62CA3-713E-4E33-9937-BB3AC4CEE8E1}" type="presParOf" srcId="{5C7297C6-91FF-41AF-818A-17F31F68621E}" destId="{A3DBAEA5-2FDA-46C9-9482-7655B37F1E0E}" srcOrd="1" destOrd="0" presId="urn:microsoft.com/office/officeart/2018/2/layout/IconVerticalSolidList"/>
    <dgm:cxn modelId="{D3F949F5-58E5-4DE4-964C-B09CFDC582DB}" type="presParOf" srcId="{5C7297C6-91FF-41AF-818A-17F31F68621E}" destId="{56237200-6F76-4251-BCFC-EAF1C363E346}" srcOrd="2" destOrd="0" presId="urn:microsoft.com/office/officeart/2018/2/layout/IconVerticalSolidList"/>
    <dgm:cxn modelId="{84ADD7C0-7528-46C1-8490-4E90524033B5}" type="presParOf" srcId="{5C7297C6-91FF-41AF-818A-17F31F68621E}" destId="{28C88A3C-4FEA-440F-9B29-481800E6F0BE}" srcOrd="3" destOrd="0" presId="urn:microsoft.com/office/officeart/2018/2/layout/IconVerticalSolidList"/>
    <dgm:cxn modelId="{FABE2793-4FC5-477D-AA30-7475D163304D}" type="presParOf" srcId="{5C7297C6-91FF-41AF-818A-17F31F68621E}" destId="{4FB2F518-2BF4-4FD7-A56E-47F3A3918E17}" srcOrd="4" destOrd="0" presId="urn:microsoft.com/office/officeart/2018/2/layout/IconVerticalSolidList"/>
    <dgm:cxn modelId="{D567229F-E8CD-4A49-BB67-2CDA0C9A835B}" type="presParOf" srcId="{F91F48F0-416F-409A-A4DF-2AB884A889BA}" destId="{89FD899A-D4F4-4C55-8909-E662326770E6}" srcOrd="3" destOrd="0" presId="urn:microsoft.com/office/officeart/2018/2/layout/IconVerticalSolidList"/>
    <dgm:cxn modelId="{B9713A3B-CC3E-437E-932A-CDD67BF2A72A}" type="presParOf" srcId="{F91F48F0-416F-409A-A4DF-2AB884A889BA}" destId="{D72C3A6E-5881-40B9-9893-82CCB0549164}" srcOrd="4" destOrd="0" presId="urn:microsoft.com/office/officeart/2018/2/layout/IconVerticalSolidList"/>
    <dgm:cxn modelId="{6B837D76-6E10-4105-A653-1122AC2A2C1E}" type="presParOf" srcId="{D72C3A6E-5881-40B9-9893-82CCB0549164}" destId="{E18A13F9-D7A2-436B-8993-77DFC272C62C}" srcOrd="0" destOrd="0" presId="urn:microsoft.com/office/officeart/2018/2/layout/IconVerticalSolidList"/>
    <dgm:cxn modelId="{6EED0E54-6B9F-4CAF-BF27-C791A7A189A5}" type="presParOf" srcId="{D72C3A6E-5881-40B9-9893-82CCB0549164}" destId="{933C83E9-3F13-4531-A494-B128397A40AE}" srcOrd="1" destOrd="0" presId="urn:microsoft.com/office/officeart/2018/2/layout/IconVerticalSolidList"/>
    <dgm:cxn modelId="{5DF4BFEC-80F6-488D-B7E5-05C95FB7EA7D}" type="presParOf" srcId="{D72C3A6E-5881-40B9-9893-82CCB0549164}" destId="{0B330141-BDA3-4D12-AFE4-A5C53FC9730A}" srcOrd="2" destOrd="0" presId="urn:microsoft.com/office/officeart/2018/2/layout/IconVerticalSolidList"/>
    <dgm:cxn modelId="{AAB7E9FB-1418-4BF0-94D2-6A5346D61A47}" type="presParOf" srcId="{D72C3A6E-5881-40B9-9893-82CCB0549164}" destId="{1649E94B-5A94-485B-93A6-2EB4D5F91B9A}" srcOrd="3" destOrd="0" presId="urn:microsoft.com/office/officeart/2018/2/layout/IconVerticalSolidList"/>
    <dgm:cxn modelId="{EFB83674-A40A-4E29-B154-E710E1CED88D}" type="presParOf" srcId="{D72C3A6E-5881-40B9-9893-82CCB0549164}" destId="{EA9947D3-2998-4B00-9B2A-15D759EFA191}"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C9803-894E-44D2-889B-76A5CCA8AA03}">
      <dsp:nvSpPr>
        <dsp:cNvPr id="0" name=""/>
        <dsp:cNvSpPr/>
      </dsp:nvSpPr>
      <dsp:spPr>
        <a:xfrm>
          <a:off x="0" y="531"/>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2C947F-10ED-4AC9-86DE-CDAD3C879254}">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EC7333-A5CB-4B43-A34A-870E516E4DD6}">
      <dsp:nvSpPr>
        <dsp:cNvPr id="0" name=""/>
        <dsp:cNvSpPr/>
      </dsp:nvSpPr>
      <dsp:spPr>
        <a:xfrm>
          <a:off x="1435590" y="531"/>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understanding</a:t>
          </a:r>
        </a:p>
      </dsp:txBody>
      <dsp:txXfrm>
        <a:off x="1435590" y="531"/>
        <a:ext cx="3549015" cy="1242935"/>
      </dsp:txXfrm>
    </dsp:sp>
    <dsp:sp modelId="{D527155E-0657-496B-926B-6BBC0B628D07}">
      <dsp:nvSpPr>
        <dsp:cNvPr id="0" name=""/>
        <dsp:cNvSpPr/>
      </dsp:nvSpPr>
      <dsp:spPr>
        <a:xfrm>
          <a:off x="4984605" y="531"/>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Do users know what they want?</a:t>
          </a:r>
        </a:p>
        <a:p>
          <a:pPr marL="0" lvl="0" indent="0" algn="l" defTabSz="577850">
            <a:lnSpc>
              <a:spcPct val="100000"/>
            </a:lnSpc>
            <a:spcBef>
              <a:spcPct val="0"/>
            </a:spcBef>
            <a:spcAft>
              <a:spcPct val="35000"/>
            </a:spcAft>
            <a:buNone/>
          </a:pPr>
          <a:r>
            <a:rPr lang="en-US" sz="1300" kern="1200" dirty="0"/>
            <a:t>Do users know what we don’t know?</a:t>
          </a:r>
        </a:p>
        <a:p>
          <a:pPr marL="0" lvl="0" indent="0" algn="l" defTabSz="577850">
            <a:lnSpc>
              <a:spcPct val="100000"/>
            </a:lnSpc>
            <a:spcBef>
              <a:spcPct val="0"/>
            </a:spcBef>
            <a:spcAft>
              <a:spcPct val="35000"/>
            </a:spcAft>
            <a:buNone/>
          </a:pPr>
          <a:r>
            <a:rPr lang="en-US" sz="1300" kern="1200" dirty="0"/>
            <a:t>Do we know who are users even are?</a:t>
          </a:r>
        </a:p>
      </dsp:txBody>
      <dsp:txXfrm>
        <a:off x="4984605" y="531"/>
        <a:ext cx="2902094" cy="1242935"/>
      </dsp:txXfrm>
    </dsp:sp>
    <dsp:sp modelId="{2E54C961-84EA-43A2-844C-C3CE78516CB0}">
      <dsp:nvSpPr>
        <dsp:cNvPr id="0" name=""/>
        <dsp:cNvSpPr/>
      </dsp:nvSpPr>
      <dsp:spPr>
        <a:xfrm>
          <a:off x="0" y="155420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DBAEA5-2FDA-46C9-9482-7655B37F1E0E}">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88A3C-4FEA-440F-9B29-481800E6F0BE}">
      <dsp:nvSpPr>
        <dsp:cNvPr id="0" name=""/>
        <dsp:cNvSpPr/>
      </dsp:nvSpPr>
      <dsp:spPr>
        <a:xfrm>
          <a:off x="1435590" y="155420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scope</a:t>
          </a:r>
        </a:p>
      </dsp:txBody>
      <dsp:txXfrm>
        <a:off x="1435590" y="1554200"/>
        <a:ext cx="3549015" cy="1242935"/>
      </dsp:txXfrm>
    </dsp:sp>
    <dsp:sp modelId="{4FB2F518-2BF4-4FD7-A56E-47F3A3918E17}">
      <dsp:nvSpPr>
        <dsp:cNvPr id="0" name=""/>
        <dsp:cNvSpPr/>
      </dsp:nvSpPr>
      <dsp:spPr>
        <a:xfrm>
          <a:off x="4984605" y="155420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What are we building?</a:t>
          </a:r>
        </a:p>
        <a:p>
          <a:pPr marL="0" lvl="0" indent="0" algn="l" defTabSz="577850">
            <a:lnSpc>
              <a:spcPct val="100000"/>
            </a:lnSpc>
            <a:spcBef>
              <a:spcPct val="0"/>
            </a:spcBef>
            <a:spcAft>
              <a:spcPct val="35000"/>
            </a:spcAft>
            <a:buNone/>
          </a:pPr>
          <a:r>
            <a:rPr lang="en-US" sz="1300" kern="1200" dirty="0"/>
            <a:t>What non-functional quality attributes are included?</a:t>
          </a:r>
        </a:p>
      </dsp:txBody>
      <dsp:txXfrm>
        <a:off x="4984605" y="1554200"/>
        <a:ext cx="2902094" cy="1242935"/>
      </dsp:txXfrm>
    </dsp:sp>
    <dsp:sp modelId="{E18A13F9-D7A2-436B-8993-77DFC272C62C}">
      <dsp:nvSpPr>
        <dsp:cNvPr id="0" name=""/>
        <dsp:cNvSpPr/>
      </dsp:nvSpPr>
      <dsp:spPr>
        <a:xfrm>
          <a:off x="0" y="310787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C83E9-3F13-4531-A494-B128397A40AE}">
      <dsp:nvSpPr>
        <dsp:cNvPr id="0" name=""/>
        <dsp:cNvSpPr/>
      </dsp:nvSpPr>
      <dsp:spPr>
        <a:xfrm>
          <a:off x="375988" y="3387530"/>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49E94B-5A94-485B-93A6-2EB4D5F91B9A}">
      <dsp:nvSpPr>
        <dsp:cNvPr id="0" name=""/>
        <dsp:cNvSpPr/>
      </dsp:nvSpPr>
      <dsp:spPr>
        <a:xfrm>
          <a:off x="1435590" y="310787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volatility</a:t>
          </a:r>
        </a:p>
      </dsp:txBody>
      <dsp:txXfrm>
        <a:off x="1435590" y="3107870"/>
        <a:ext cx="3549015" cy="1242935"/>
      </dsp:txXfrm>
    </dsp:sp>
    <dsp:sp modelId="{EA9947D3-2998-4B00-9B2A-15D759EFA191}">
      <dsp:nvSpPr>
        <dsp:cNvPr id="0" name=""/>
        <dsp:cNvSpPr/>
      </dsp:nvSpPr>
      <dsp:spPr>
        <a:xfrm>
          <a:off x="4984605" y="310787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Changing requirements over time</a:t>
          </a:r>
        </a:p>
      </dsp:txBody>
      <dsp:txXfrm>
        <a:off x="4984605" y="3107870"/>
        <a:ext cx="2902094"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of our overall metaphor of you (the student) learning what it’s like to be a software developer on a new team.  As a new team member, you will be expected to learn a lot of new stuff in a hurry, by yourself: new languages, new development environments, etc.</a:t>
            </a:r>
          </a:p>
          <a:p>
            <a:endParaRPr lang="en-US" dirty="0"/>
          </a:p>
          <a:p>
            <a:r>
              <a:rPr lang="en-US" dirty="0"/>
              <a:t>We’ll have tutorials and other training materials, but we won’t be spending a lot of class time on them.   </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26882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ADEC-27D8-9CA5-7966-D3D048984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0495-9181-767B-F34D-078C6F1C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E7F5A-0495-55E5-5FBF-CE7AD23085AC}"/>
              </a:ext>
            </a:extLst>
          </p:cNvPr>
          <p:cNvSpPr>
            <a:spLocks noGrp="1"/>
          </p:cNvSpPr>
          <p:nvPr>
            <p:ph type="body" idx="1"/>
          </p:nvPr>
        </p:nvSpPr>
        <p:spPr/>
        <p:txBody>
          <a:bodyPr/>
          <a:lstStyle/>
          <a:p>
            <a:r>
              <a:rPr lang="en-US" dirty="0"/>
              <a:t>This is a refinement of the way we introduced user stories. </a:t>
            </a:r>
          </a:p>
          <a:p>
            <a:endParaRPr lang="en-US" dirty="0"/>
          </a:p>
          <a:p>
            <a:r>
              <a:rPr lang="en-US" dirty="0"/>
              <a:t>x-Driven Design and other ways of capturing requirements help us understand and communicate what we’re planning to do.</a:t>
            </a:r>
          </a:p>
          <a:p>
            <a:endParaRPr lang="en-US" dirty="0"/>
          </a:p>
          <a:p>
            <a:r>
              <a:rPr lang="en-US" dirty="0"/>
              <a:t>Connecting user stories with conditions of satisfaction is how we organize our software engineering process — that’s central to what we’re doing in this class.</a:t>
            </a:r>
          </a:p>
          <a:p>
            <a:endParaRPr lang="en-US" dirty="0"/>
          </a:p>
          <a:p>
            <a:r>
              <a:rPr lang="en-US" dirty="0"/>
              <a:t>This lecture starts with requirements analysis and ends with test-driven development: the way we ensure our conditions of satisfaction are connected to </a:t>
            </a:r>
          </a:p>
        </p:txBody>
      </p:sp>
      <p:sp>
        <p:nvSpPr>
          <p:cNvPr id="4" name="Slide Number Placeholder 3">
            <a:extLst>
              <a:ext uri="{FF2B5EF4-FFF2-40B4-BE49-F238E27FC236}">
                <a16:creationId xmlns:a16="http://schemas.microsoft.com/office/drawing/2014/main" id="{38B12E43-84D5-8AA4-7F5D-6FC744F5F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930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1E57-EDA3-848B-24CD-529269A60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D06D-20B6-3F8A-5958-9976E6BB0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C1F7A-0139-271A-237A-E03FE243D6CB}"/>
              </a:ext>
            </a:extLst>
          </p:cNvPr>
          <p:cNvSpPr>
            <a:spLocks noGrp="1"/>
          </p:cNvSpPr>
          <p:nvPr>
            <p:ph type="body" idx="1"/>
          </p:nvPr>
        </p:nvSpPr>
        <p:spPr/>
        <p:txBody>
          <a:bodyPr/>
          <a:lstStyle/>
          <a:p>
            <a:r>
              <a:rPr lang="en-US" dirty="0"/>
              <a:t>This lecture has two parts:</a:t>
            </a:r>
          </a:p>
          <a:p>
            <a:endParaRPr lang="en-US" dirty="0"/>
          </a:p>
          <a:p>
            <a:r>
              <a:rPr lang="en-US" dirty="0"/>
              <a:t> - We’re going to talk about how we decide </a:t>
            </a:r>
            <a:r>
              <a:rPr lang="en-US" i="1" dirty="0"/>
              <a:t>what </a:t>
            </a:r>
            <a:r>
              <a:rPr lang="en-US" i="0" dirty="0"/>
              <a:t>user stories to select as part of our planning</a:t>
            </a:r>
          </a:p>
          <a:p>
            <a:r>
              <a:rPr lang="en-US" i="0" dirty="0"/>
              <a:t>- We’re going to talk about test-driven development, and how it connects our conditions of satisfaction to our actual code</a:t>
            </a:r>
            <a:endParaRPr lang="en-US" dirty="0"/>
          </a:p>
          <a:p>
            <a:endParaRPr lang="en-US" dirty="0"/>
          </a:p>
          <a:p>
            <a:r>
              <a:rPr lang="en-US" dirty="0"/>
              <a:t>Our TAs will judge whether your essential conditions of satisfaction represent an MVP for your user story. But they mostly won’t be judging whether </a:t>
            </a:r>
            <a:r>
              <a:rPr lang="en-US" i="1" dirty="0"/>
              <a:t>your user stories are user stories worth doing.</a:t>
            </a:r>
            <a:endParaRPr lang="en-US" dirty="0"/>
          </a:p>
          <a:p>
            <a:endParaRPr lang="en-US" dirty="0"/>
          </a:p>
          <a:p>
            <a:r>
              <a:rPr lang="en-US" dirty="0"/>
              <a:t>In other words, we mostly see it it as a technical decision about how to satisfy a user story — a complex technical decision that involves design, but a technical decision? Who decides what actual software should get built, what user stories should get prioritized? How do they </a:t>
            </a:r>
          </a:p>
          <a:p>
            <a:r>
              <a:rPr lang="en-US" dirty="0"/>
              <a:t>decide? </a:t>
            </a:r>
          </a:p>
          <a:p>
            <a:endParaRPr lang="en-US" dirty="0"/>
          </a:p>
          <a:p>
            <a:r>
              <a:rPr lang="en-US" dirty="0"/>
              <a:t>DISCUSS</a:t>
            </a:r>
          </a:p>
          <a:p>
            <a:endParaRPr lang="en-US" dirty="0"/>
          </a:p>
          <a:p>
            <a:r>
              <a:rPr lang="en-US" dirty="0"/>
              <a:t>Who do you think gets to decide what user stories actually get prioritized in practice?</a:t>
            </a:r>
          </a:p>
          <a:p>
            <a:endParaRPr lang="en-US" dirty="0"/>
          </a:p>
        </p:txBody>
      </p:sp>
      <p:sp>
        <p:nvSpPr>
          <p:cNvPr id="4" name="Slide Number Placeholder 3">
            <a:extLst>
              <a:ext uri="{FF2B5EF4-FFF2-40B4-BE49-F238E27FC236}">
                <a16:creationId xmlns:a16="http://schemas.microsoft.com/office/drawing/2014/main" id="{1E737408-32FC-7AB4-C496-ABDA2AEEA6DB}"/>
              </a:ext>
            </a:extLst>
          </p:cNvPr>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94736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question for Requirements Analysis is making sure that we are building the right thing.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meme does a great job capturing the many ways in which we can get off course and end up building the wrong thing.  It may not be surprising that this meme dates back to at least the 1970’s, and long before the internet, was photocopied and hung up on the wall in many offices, particularly at software companies. These are not new problems: understanding what the customer wants the software to be, and then ensuring that we implement something that solves that problem is not easy.</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dirty="0"/>
          </a:p>
        </p:txBody>
      </p:sp>
    </p:spTree>
    <p:extLst>
      <p:ext uri="{BB962C8B-B14F-4D97-AF65-F5344CB8AC3E}">
        <p14:creationId xmlns:p14="http://schemas.microsoft.com/office/powerpoint/2010/main" val="2226296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getting the right requirements can certainly help make sure we build the right thing, it definitely doesn’t guarantee it.</a:t>
            </a:r>
          </a:p>
          <a:p>
            <a:endParaRPr lang="en-US" dirty="0"/>
          </a:p>
          <a:p>
            <a:r>
              <a:rPr lang="en-US" dirty="0"/>
              <a:t>Consider right now an example developing of a virtual meeting platform. With the start of the COVID-19 pandemic, and shift to virtual meetings, there has been an enormous demand for software to help substitute for physical events. But, even today, many platforms still don’t provide the experience that users want: how do you replace some physical interactions with a software product? These kind of challenges come up all of the time in software projects.</a:t>
            </a:r>
          </a:p>
          <a:p>
            <a:endParaRPr lang="en-US" dirty="0"/>
          </a:p>
          <a:p>
            <a:r>
              <a:rPr lang="en-US" dirty="0"/>
              <a:t>Sometimes, clients want to bring software in to solve some problem that is currently not being addressed, but don’t know exactly how to solve it. In other times, new software is brought in as a technology to improve an existing process. There is a way that things are done, and your software is going to help that get done better. In those situations, the client may simply not know what will work best for them. </a:t>
            </a:r>
          </a:p>
          <a:p>
            <a:endParaRPr lang="en-US" dirty="0"/>
          </a:p>
          <a:p>
            <a:r>
              <a:rPr lang="en-US" dirty="0"/>
              <a:t>Software engineering aims to provide answers, or at least a framework for answers to these questions</a:t>
            </a:r>
          </a:p>
          <a:p>
            <a:endParaRPr lang="en-US" dirty="0"/>
          </a:p>
          <a:p>
            <a:r>
              <a:rPr lang="en-US" dirty="0"/>
              <a:t>&lt;Read slide.  Possible elaboration:&gt;</a:t>
            </a:r>
          </a:p>
          <a:p>
            <a:endParaRPr lang="en-US" dirty="0"/>
          </a:p>
          <a:p>
            <a:r>
              <a:rPr lang="en-US" dirty="0"/>
              <a:t>Examples of problems of understanding corresponding to the bullets:</a:t>
            </a:r>
          </a:p>
          <a:p>
            <a:pPr marL="171450" indent="-171450">
              <a:buFont typeface="Arial" panose="020B0604020202020204" pitchFamily="34" charset="0"/>
              <a:buChar char="•"/>
            </a:pPr>
            <a:r>
              <a:rPr lang="en-US" dirty="0"/>
              <a:t>What they want? -&gt; Simply don’t know what is possible, won’t know it until they see it, often know what the problem is that they want the software to solve, but not the solution. Coming up with the solution is a design problem. Good to have a buddy who is a user experience designer.</a:t>
            </a:r>
          </a:p>
          <a:p>
            <a:pPr marL="171450" indent="-171450">
              <a:buFont typeface="Arial" panose="020B0604020202020204" pitchFamily="34" charset="0"/>
              <a:buChar char="•"/>
            </a:pPr>
            <a:r>
              <a:rPr lang="en-US" dirty="0"/>
              <a:t>What we don’t know? -&gt; Most software is not “general purpose”, but exists within some domain.</a:t>
            </a:r>
          </a:p>
          <a:p>
            <a:pPr marL="171450" indent="-171450">
              <a:buFont typeface="Arial" panose="020B0604020202020204" pitchFamily="34" charset="0"/>
              <a:buChar char="•"/>
            </a:pPr>
            <a:r>
              <a:rPr lang="en-US" dirty="0"/>
              <a:t>Who are our users? -&gt; Maybe most common in startups, where you have a client (moneybags investors) who are guessing who your users will be and what they want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Scope - What are we building? -&gt; How to agree with client on a statement of work that is feasible given constraints, how to make sure that we stay on track?</a:t>
            </a:r>
          </a:p>
          <a:p>
            <a:pPr marL="171450" indent="-171450">
              <a:buFont typeface="Arial" panose="020B0604020202020204" pitchFamily="34" charset="0"/>
              <a:buChar char="•"/>
            </a:pPr>
            <a:r>
              <a:rPr lang="en-US" dirty="0"/>
              <a:t>Scope – quality attributes -&gt; How to specify things like performance, usability, maintainability, security, </a:t>
            </a:r>
            <a:r>
              <a:rPr lang="en-US" dirty="0" err="1"/>
              <a:t>etc</a:t>
            </a: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Volatility -&gt; Long projects are subject to changes in world around them</a:t>
            </a:r>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2497900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we'll primarily be concerned with problems of understanding.  How do we get from a customer's vague notions of what they might want to something concrete enough to guide us to build it.</a:t>
            </a:r>
          </a:p>
          <a:p>
            <a:r>
              <a:rPr lang="en-US" dirty="0"/>
              <a:t>&lt;read slide&gt; </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3438586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things that these different methods have in common.  </a:t>
            </a:r>
            <a:br>
              <a:rPr lang="en-US" dirty="0"/>
            </a:br>
            <a:r>
              <a:rPr lang="en-US" dirty="0"/>
              <a:t>Notice two important things: stakeholders and value </a:t>
            </a:r>
            <a:br>
              <a:rPr lang="en-US" dirty="0"/>
            </a:br>
            <a:r>
              <a:rPr lang="en-US" dirty="0"/>
              <a:t>&lt;read slide&gt;</a:t>
            </a:r>
          </a:p>
          <a:p>
            <a:r>
              <a:rPr lang="en-US" dirty="0"/>
              <a:t>The artifact produced by these common elements is user stories! </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4109189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489E-B39A-05BA-EC2E-B555AA53B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2EC99-460D-10A4-73A1-61B872F46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8B59E-9564-33A6-8B94-B366DE31DFDA}"/>
              </a:ext>
            </a:extLst>
          </p:cNvPr>
          <p:cNvSpPr>
            <a:spLocks noGrp="1"/>
          </p:cNvSpPr>
          <p:nvPr>
            <p:ph type="body" idx="1"/>
          </p:nvPr>
        </p:nvSpPr>
        <p:spPr/>
        <p:txBody>
          <a:bodyPr/>
          <a:lstStyle/>
          <a:p>
            <a:r>
              <a:rPr lang="en-US" dirty="0"/>
              <a:t>.</a:t>
            </a:r>
          </a:p>
        </p:txBody>
      </p:sp>
      <p:sp>
        <p:nvSpPr>
          <p:cNvPr id="4" name="Slide Number Placeholder 3">
            <a:extLst>
              <a:ext uri="{FF2B5EF4-FFF2-40B4-BE49-F238E27FC236}">
                <a16:creationId xmlns:a16="http://schemas.microsoft.com/office/drawing/2014/main" id="{FD59EE5F-ABC6-656D-3DA2-ED662B399DB7}"/>
              </a:ext>
            </a:extLst>
          </p:cNvPr>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347795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E2D2-B91E-ED24-3431-74ABB99CA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716A8-CAA9-9575-5A22-650474490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244D3-BD81-BDCA-0720-0D4D20CEBB33}"/>
              </a:ext>
            </a:extLst>
          </p:cNvPr>
          <p:cNvSpPr>
            <a:spLocks noGrp="1"/>
          </p:cNvSpPr>
          <p:nvPr>
            <p:ph type="body" idx="1"/>
          </p:nvPr>
        </p:nvSpPr>
        <p:spPr/>
        <p:txBody>
          <a:bodyPr/>
          <a:lstStyle/>
          <a:p>
            <a:r>
              <a:rPr lang="en-US" dirty="0"/>
              <a:t>The process of VSD includes three kinds of investigations:</a:t>
            </a:r>
          </a:p>
          <a:p>
            <a:pPr marL="171450" indent="-171450">
              <a:buFontTx/>
              <a:buChar char="-"/>
            </a:pPr>
            <a:r>
              <a:rPr lang="en-US" dirty="0"/>
              <a:t>Empirical: This is about understanding how the value works in real life based on observations made in the field or from life experiences.</a:t>
            </a:r>
          </a:p>
          <a:p>
            <a:pPr marL="171450" indent="-171450">
              <a:buFontTx/>
              <a:buChar char="-"/>
            </a:pPr>
            <a:r>
              <a:rPr lang="en-US" dirty="0"/>
              <a:t>Value: Involves identifying stakeholders, thinking about their goals and values and then finally resolving the value tensions arising from conflicting interests of stakeholders.</a:t>
            </a:r>
          </a:p>
          <a:p>
            <a:pPr marL="171450" indent="-171450">
              <a:buFontTx/>
              <a:buChar char="-"/>
            </a:pPr>
            <a:r>
              <a:rPr lang="en-US" dirty="0"/>
              <a:t>Technical: The technical feasibility of implementing the solutions.</a:t>
            </a:r>
          </a:p>
        </p:txBody>
      </p:sp>
      <p:sp>
        <p:nvSpPr>
          <p:cNvPr id="4" name="Slide Number Placeholder 3">
            <a:extLst>
              <a:ext uri="{FF2B5EF4-FFF2-40B4-BE49-F238E27FC236}">
                <a16:creationId xmlns:a16="http://schemas.microsoft.com/office/drawing/2014/main" id="{0F361E51-9069-F754-8121-B1692D3FC712}"/>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3854360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illustrates how to use VSD to think about a value like informed consent:</a:t>
            </a:r>
          </a:p>
          <a:p>
            <a:endParaRPr lang="en-US" dirty="0"/>
          </a:p>
          <a:p>
            <a:pPr marL="228600" indent="-228600">
              <a:buAutoNum type="arabicPeriod"/>
            </a:pPr>
            <a:r>
              <a:rPr lang="en-US" dirty="0"/>
              <a:t>Do an empirical investigation which involves understanding the meaning of the value. In this case understanding informed consent hinges on four concepts as outlined. Often to understand a value one will have to collaborate with experts in a field such as sociologists, philosophers, domain experts. </a:t>
            </a:r>
          </a:p>
          <a:p>
            <a:pPr marL="228600" indent="-228600">
              <a:buAutoNum type="arabicPeriod"/>
            </a:pPr>
            <a:r>
              <a:rPr lang="en-US" dirty="0"/>
              <a:t>Identify the stakeholders and value tensions. For e.g., the stakeholders here could be site users and site owners. Their interests may align or conflict. For e.g., site users may want to be anonymous, but site owners might want to monetize site usage by sharing personal usage data with advertisers. On the other hand they may align if the site owners want to make accountability and transparently a core value of their operations.</a:t>
            </a:r>
          </a:p>
          <a:p>
            <a:pPr marL="228600" indent="-228600">
              <a:buAutoNum type="arabicPeriod"/>
            </a:pPr>
            <a:r>
              <a:rPr lang="en-US" dirty="0"/>
              <a:t>Cookies in browsers are one way to collect personal information after taking permission from the users.</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589351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729D-1605-C359-768F-A6AF7BF33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F3395-911A-E931-B7F2-827B80BA6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A79B1-4A6C-156B-37E8-7EF8ADB04374}"/>
              </a:ext>
            </a:extLst>
          </p:cNvPr>
          <p:cNvSpPr>
            <a:spLocks noGrp="1"/>
          </p:cNvSpPr>
          <p:nvPr>
            <p:ph type="body" idx="1"/>
          </p:nvPr>
        </p:nvSpPr>
        <p:spPr/>
        <p:txBody>
          <a:bodyPr/>
          <a:lstStyle/>
          <a:p>
            <a:r>
              <a:rPr lang="en-US" dirty="0"/>
              <a:t>Requirements analysis is the name we’re giving to the broad planning process where we decide what the user stories </a:t>
            </a:r>
            <a:r>
              <a:rPr lang="en-US" i="0" dirty="0"/>
              <a:t>are, and which </a:t>
            </a:r>
            <a:r>
              <a:rPr lang="en-US" i="0" dirty="0" err="1"/>
              <a:t>oens</a:t>
            </a:r>
            <a:r>
              <a:rPr lang="en-US" i="0" dirty="0"/>
              <a:t> we should focus on. Requirements analysis mostly deals with user stories — it will also inform conditions of satisfaction.</a:t>
            </a:r>
          </a:p>
          <a:p>
            <a:endParaRPr lang="en-US" i="0" dirty="0"/>
          </a:p>
          <a:p>
            <a:r>
              <a:rPr lang="en-US" i="0" dirty="0"/>
              <a:t>The rest of this lecture is about test-driven development which is primarily about the relationship between conditions of satisfaction and code — though it is also informed by what the user stories are</a:t>
            </a:r>
            <a:endParaRPr lang="en-US" dirty="0"/>
          </a:p>
        </p:txBody>
      </p:sp>
      <p:sp>
        <p:nvSpPr>
          <p:cNvPr id="4" name="Slide Number Placeholder 3">
            <a:extLst>
              <a:ext uri="{FF2B5EF4-FFF2-40B4-BE49-F238E27FC236}">
                <a16:creationId xmlns:a16="http://schemas.microsoft.com/office/drawing/2014/main" id="{D1BCD3B5-D904-BC9A-0B69-70B6F2EBDD39}"/>
              </a:ext>
            </a:extLst>
          </p:cNvPr>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1020760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2313477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600" b="0" i="0" u="none" strike="noStrike" kern="1200" dirty="0">
                <a:solidFill>
                  <a:schemeClr val="tx1"/>
                </a:solidFill>
                <a:effectLst/>
                <a:latin typeface="+mn-lt"/>
                <a:ea typeface="+mn-ea"/>
                <a:cs typeface="+mn-cs"/>
              </a:rPr>
              <a:t>As we saw in the preceding lecture, is a whole alphabet soup of paradigms to structure your design and/or development activities, be they in agile or not. Behavior driven design, model driven development, feature driven development, and more.</a:t>
            </a:r>
          </a:p>
          <a:p>
            <a:pPr rtl="0" fontAlgn="base"/>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we also said last time, we are going to focus on one of these methodologies that is most strongly embraced by agile, and which we encourage you to use in your project: Test driven development (TDD).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The key idea behind TDD is to develop your design based on your tests. Given that you have collected user stories and conditions of satisfaction, the expected behavior of your code should be apparent. So, codify that expected behavior into tests, before proceeding with your development.</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you define your tests, use your tests to influence your overall software design.</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With tests defined first, there should be no more guesswork of “whether you are done”</a:t>
            </a:r>
            <a:endParaRPr lang="en-US" sz="1600" dirty="0"/>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2980638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depiction of the TDD cycle. It may be a little different from what you’ve seen before.  </a:t>
            </a:r>
          </a:p>
          <a:p>
            <a:endParaRPr lang="en-US" dirty="0"/>
          </a:p>
          <a:p>
            <a:r>
              <a:rPr lang="en-US" dirty="0"/>
              <a:t>To see what all this means, we’ll work through a small example.   Along the way, we’ll learn a little Typescript and a little Jest, just enough to do the example.</a:t>
            </a:r>
          </a:p>
          <a:p>
            <a:endParaRPr lang="en-US" dirty="0"/>
          </a:p>
          <a:p>
            <a:r>
              <a:rPr lang="en-US" dirty="0"/>
              <a:t>We start with the user’s satisfaction conditions.   We first refine those to come up with testable behaviors– concrete, testable things that our system should do.  Along the way, we may discover some design decisions that we need to make. We resolve these by negotiating with the client.</a:t>
            </a:r>
          </a:p>
          <a:p>
            <a:endParaRPr lang="en-US" dirty="0"/>
          </a:p>
          <a:p>
            <a:r>
              <a:rPr lang="en-US" dirty="0"/>
              <a:t>Our next step is to turn these testable behaviors into executable tests.  To do this, we will need to design some of our program– at the very least, we will have to decide on the names of the things we will test.  We may discover more decisions that we resolve in negotiation with the client.</a:t>
            </a:r>
          </a:p>
          <a:p>
            <a:endParaRPr lang="en-US" dirty="0"/>
          </a:p>
          <a:p>
            <a:r>
              <a:rPr lang="en-US" dirty="0"/>
              <a:t>Finally, we write some code that will pass our tests.</a:t>
            </a:r>
          </a:p>
          <a:p>
            <a:endParaRPr lang="en-US" dirty="0"/>
          </a:p>
          <a:p>
            <a:r>
              <a:rPr lang="en-US" dirty="0"/>
              <a:t>We probably do this one user story or one condition of satisfaction at a time.   </a:t>
            </a:r>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1466546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of these can be connected to testable behaviors! But it’s much easier to write executable tests checking testable behaviors at the service later.</a:t>
            </a:r>
          </a:p>
        </p:txBody>
      </p:sp>
      <p:sp>
        <p:nvSpPr>
          <p:cNvPr id="4" name="Slide Number Placeholder 3"/>
          <p:cNvSpPr>
            <a:spLocks noGrp="1"/>
          </p:cNvSpPr>
          <p:nvPr>
            <p:ph type="sldNum" sz="quarter" idx="5"/>
          </p:nvPr>
        </p:nvSpPr>
        <p:spPr/>
        <p:txBody>
          <a:bodyPr/>
          <a:lstStyle/>
          <a:p>
            <a:fld id="{3927C2FE-14BE-B74D-96F0-2A5DC4BF0069}" type="slidenum">
              <a:rPr lang="en-US" smtClean="0"/>
              <a:t>19</a:t>
            </a:fld>
            <a:endParaRPr lang="en-US"/>
          </a:p>
        </p:txBody>
      </p:sp>
    </p:spTree>
    <p:extLst>
      <p:ext uri="{BB962C8B-B14F-4D97-AF65-F5344CB8AC3E}">
        <p14:creationId xmlns:p14="http://schemas.microsoft.com/office/powerpoint/2010/main" val="16735878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C5962"/>
                </a:solidFill>
                <a:effectLst/>
                <a:latin typeface="Calibri" panose="020F0502020204030204" pitchFamily="34" charset="0"/>
              </a:rPr>
              <a:t>In order to run a test, we need to first ASSEMBLE it. This may include creating instances of classes/variables, setting up test data for inputs, etc.  We should always check to see that we’ve set it up correctly.  Here most of the work has already been done in the </a:t>
            </a:r>
            <a:r>
              <a:rPr lang="en-US" b="0" i="0" dirty="0" err="1">
                <a:solidFill>
                  <a:srgbClr val="5C5962"/>
                </a:solidFill>
                <a:effectLst/>
                <a:latin typeface="Calibri" panose="020F0502020204030204" pitchFamily="34" charset="0"/>
              </a:rPr>
              <a:t>beforeEach</a:t>
            </a:r>
            <a:r>
              <a:rPr lang="en-US" b="0" i="0" dirty="0">
                <a:solidFill>
                  <a:srgbClr val="5C5962"/>
                </a:solidFill>
                <a:effectLst/>
                <a:latin typeface="Calibri" panose="020F0502020204030204" pitchFamily="34" charset="0"/>
              </a:rPr>
              <a:t> block.</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Then we ACT: we do the action under test.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Last, we ASSESS: we check to see that the response was acceptable.  In </a:t>
            </a:r>
            <a:r>
              <a:rPr lang="en-US" b="0" i="0" dirty="0" err="1">
                <a:solidFill>
                  <a:srgbClr val="5C5962"/>
                </a:solidFill>
                <a:effectLst/>
                <a:latin typeface="Calibri" panose="020F0502020204030204" pitchFamily="34" charset="0"/>
              </a:rPr>
              <a:t>Vitest</a:t>
            </a:r>
            <a:r>
              <a:rPr lang="en-US" b="0" i="0" dirty="0">
                <a:solidFill>
                  <a:srgbClr val="5C5962"/>
                </a:solidFill>
                <a:effectLst/>
                <a:latin typeface="Calibri" panose="020F0502020204030204" pitchFamily="34" charset="0"/>
              </a:rPr>
              <a:t>, this is done by the </a:t>
            </a:r>
            <a:r>
              <a:rPr lang="en-US" b="1" i="0" dirty="0">
                <a:solidFill>
                  <a:srgbClr val="5C5962"/>
                </a:solidFill>
                <a:effectLst/>
                <a:latin typeface="Calibri" panose="020F0502020204030204" pitchFamily="34" charset="0"/>
              </a:rPr>
              <a:t>expect</a:t>
            </a:r>
            <a:r>
              <a:rPr lang="en-US" b="0" i="0" dirty="0">
                <a:solidFill>
                  <a:srgbClr val="5C5962"/>
                </a:solidFill>
                <a:effectLst/>
                <a:latin typeface="Calibri" panose="020F0502020204030204" pitchFamily="34" charset="0"/>
              </a:rPr>
              <a:t> function; in other testing frameworks this is called </a:t>
            </a:r>
            <a:r>
              <a:rPr lang="en-US" b="1" i="0" dirty="0">
                <a:solidFill>
                  <a:srgbClr val="5C5962"/>
                </a:solidFill>
                <a:effectLst/>
                <a:latin typeface="Calibri" panose="020F0502020204030204" pitchFamily="34" charset="0"/>
              </a:rPr>
              <a:t>assert</a:t>
            </a:r>
            <a:r>
              <a:rPr lang="en-US" b="0" i="0" dirty="0">
                <a:solidFill>
                  <a:srgbClr val="5C5962"/>
                </a:solidFill>
                <a:effectLst/>
                <a:latin typeface="Calibri" panose="020F0502020204030204" pitchFamily="34" charset="0"/>
              </a:rPr>
              <a:t>.  Note that the test uses some methods other than the one we’re testing; we’ll write tests for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separately.</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Another way of looking at this is that this test is not just about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it’s making sure that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and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cooperate (or conspire) together to produce the desired behavior.</a:t>
            </a:r>
          </a:p>
          <a:p>
            <a:endParaRPr lang="en-US" b="0" i="0" dirty="0">
              <a:solidFill>
                <a:srgbClr val="5C5962"/>
              </a:solidFill>
              <a:effectLst/>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27672248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(review Assemble-Act-Assess)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414225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want to make sure that the system under test is in a particular state before you start the test.  Jest, and most other frameworks, allow you to do that by writing a </a:t>
            </a:r>
            <a:r>
              <a:rPr lang="en-US" b="1" dirty="0" err="1"/>
              <a:t>beforeEach</a:t>
            </a:r>
            <a:r>
              <a:rPr lang="en-US" b="0" dirty="0"/>
              <a:t> block.</a:t>
            </a:r>
          </a:p>
          <a:p>
            <a:endParaRPr lang="en-US" b="0" dirty="0"/>
          </a:p>
          <a:p>
            <a:r>
              <a:rPr lang="en-US" b="0" dirty="0"/>
              <a:t>Our tests do, in fact, make changes to the database.  In this case, we can undo those changes in the </a:t>
            </a:r>
            <a:r>
              <a:rPr lang="en-US" b="0" dirty="0" err="1"/>
              <a:t>beforeEach</a:t>
            </a:r>
            <a:r>
              <a:rPr lang="en-US" b="0" dirty="0"/>
              <a:t> block.   If our tests did other things, like connect to an external data source, then we'd need to disconnect at the end of each test; this can be done by an </a:t>
            </a:r>
            <a:r>
              <a:rPr lang="en-US" b="1" dirty="0" err="1"/>
              <a:t>afterEach</a:t>
            </a:r>
            <a:r>
              <a:rPr lang="en-US" b="0" dirty="0"/>
              <a:t>.</a:t>
            </a: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31</a:t>
            </a:fld>
            <a:endParaRPr lang="en-US"/>
          </a:p>
        </p:txBody>
      </p:sp>
    </p:spTree>
    <p:extLst>
      <p:ext uri="{BB962C8B-B14F-4D97-AF65-F5344CB8AC3E}">
        <p14:creationId xmlns:p14="http://schemas.microsoft.com/office/powerpoint/2010/main" val="3646213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12/17/25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12/17/25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12/17/25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12/17/25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12/17/25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12/17/25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12/17/25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12/17/25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12/17/25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12/17/25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12/17/25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12/17/25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12/17/25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4.xml"/><Relationship Id="rId16" Type="http://schemas.openxmlformats.org/officeDocument/2006/relationships/image" Target="../media/image14.svg"/><Relationship Id="rId1" Type="http://schemas.openxmlformats.org/officeDocument/2006/relationships/slideLayout" Target="../slideLayouts/slideLayout4.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7.png"/><Relationship Id="rId1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7.png"/><Relationship Id="rId14" Type="http://schemas.openxmlformats.org/officeDocument/2006/relationships/image" Target="../media/image12.svg"/></Relationships>
</file>

<file path=ppt/slides/_rels/slide1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1.2: From Requirements to Code</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Mitch Wand, Joydeep Mitra</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prepared to </a:t>
            </a:r>
          </a:p>
          <a:p>
            <a:pPr lvl="1"/>
            <a:r>
              <a:rPr lang="en-US" dirty="0"/>
              <a: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
        <p:nvSpPr>
          <p:cNvPr id="5" name="TextBox 4">
            <a:extLst>
              <a:ext uri="{FF2B5EF4-FFF2-40B4-BE49-F238E27FC236}">
                <a16:creationId xmlns:a16="http://schemas.microsoft.com/office/drawing/2014/main" id="{3009437C-D8B8-D8BD-1789-3AAA510F7F7D}"/>
              </a:ext>
            </a:extLst>
          </p:cNvPr>
          <p:cNvSpPr txBox="1"/>
          <p:nvPr/>
        </p:nvSpPr>
        <p:spPr>
          <a:xfrm>
            <a:off x="7852577" y="3780908"/>
            <a:ext cx="3759200" cy="165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000" dirty="0">
                <a:solidFill>
                  <a:srgbClr val="FF0000"/>
                </a:solidFill>
              </a:rPr>
              <a:t>TODO </a:t>
            </a:r>
            <a:r>
              <a:rPr lang="en-US" sz="4000" b="1" dirty="0">
                <a:solidFill>
                  <a:srgbClr val="FF0000"/>
                </a:solidFill>
              </a:rPr>
              <a:t>update</a:t>
            </a:r>
            <a:endParaRPr lang="en-US" sz="4000" dirty="0">
              <a:solidFill>
                <a:srgbClr val="FF0000"/>
              </a:solidFill>
            </a:endParaRPr>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2D55-F83A-C4B4-2822-377090D44BE5}"/>
              </a:ext>
            </a:extLst>
          </p:cNvPr>
          <p:cNvSpPr>
            <a:spLocks noGrp="1"/>
          </p:cNvSpPr>
          <p:nvPr>
            <p:ph type="title"/>
          </p:nvPr>
        </p:nvSpPr>
        <p:spPr/>
        <p:txBody>
          <a:bodyPr/>
          <a:lstStyle/>
          <a:p>
            <a:r>
              <a:rPr lang="en-US" dirty="0"/>
              <a:t>Non-Goals for this Lesson</a:t>
            </a:r>
          </a:p>
        </p:txBody>
      </p:sp>
      <p:sp>
        <p:nvSpPr>
          <p:cNvPr id="3" name="Content Placeholder 2">
            <a:extLst>
              <a:ext uri="{FF2B5EF4-FFF2-40B4-BE49-F238E27FC236}">
                <a16:creationId xmlns:a16="http://schemas.microsoft.com/office/drawing/2014/main" id="{5A27A268-7384-7F49-BC11-648CDD92A35C}"/>
              </a:ext>
            </a:extLst>
          </p:cNvPr>
          <p:cNvSpPr>
            <a:spLocks noGrp="1"/>
          </p:cNvSpPr>
          <p:nvPr>
            <p:ph idx="1"/>
          </p:nvPr>
        </p:nvSpPr>
        <p:spPr/>
        <p:txBody>
          <a:bodyPr/>
          <a:lstStyle/>
          <a:p>
            <a:r>
              <a:rPr lang="en-US" dirty="0"/>
              <a:t>This is *not* a tutorial for Typescript or for </a:t>
            </a:r>
            <a:r>
              <a:rPr lang="en-US" dirty="0" err="1"/>
              <a:t>Vitest</a:t>
            </a:r>
            <a:endParaRPr lang="en-US" dirty="0"/>
          </a:p>
          <a:p>
            <a:r>
              <a:rPr lang="en-US" dirty="0"/>
              <a:t>We will show you simple examples, but you will need to go through the tutorials to learn the details.</a:t>
            </a:r>
          </a:p>
        </p:txBody>
      </p:sp>
      <p:sp>
        <p:nvSpPr>
          <p:cNvPr id="4" name="Slide Number Placeholder 3">
            <a:extLst>
              <a:ext uri="{FF2B5EF4-FFF2-40B4-BE49-F238E27FC236}">
                <a16:creationId xmlns:a16="http://schemas.microsoft.com/office/drawing/2014/main" id="{764DF1A0-F55D-929B-6CDC-C8FCCFD2BA2B}"/>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133949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109-B052-B736-9DE0-32CC9E36D1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8D70DF-79FE-8E4B-E2B8-FCEC3B8D3537}"/>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EF265F-50FB-BF39-3F8D-EA0187855738}"/>
              </a:ext>
            </a:extLst>
          </p:cNvPr>
          <p:cNvSpPr>
            <a:spLocks noGrp="1"/>
          </p:cNvSpPr>
          <p:nvPr>
            <p:ph type="title"/>
          </p:nvPr>
        </p:nvSpPr>
        <p:spPr>
          <a:xfrm>
            <a:off x="838200" y="18255"/>
            <a:ext cx="10515600" cy="1325563"/>
          </a:xfrm>
        </p:spPr>
        <p:txBody>
          <a:bodyPr>
            <a:noAutofit/>
          </a:bodyPr>
          <a:lstStyle/>
          <a:p>
            <a:r>
              <a:rPr lang="en-US" dirty="0"/>
              <a:t>The big picture</a:t>
            </a:r>
          </a:p>
        </p:txBody>
      </p:sp>
      <p:grpSp>
        <p:nvGrpSpPr>
          <p:cNvPr id="25" name="Group 24">
            <a:extLst>
              <a:ext uri="{FF2B5EF4-FFF2-40B4-BE49-F238E27FC236}">
                <a16:creationId xmlns:a16="http://schemas.microsoft.com/office/drawing/2014/main" id="{C2570981-D3C9-345C-F92F-17B84BC0A32E}"/>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38F6F3B-18DD-415A-6110-B68B648B20E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B424EF31-A2BA-E73C-36F1-391D8B8B9320}"/>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64A4BA7-AA31-F91C-7B85-63271E61C2F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69B4FE4A-D1F2-4B67-E619-FBEEF07DF072}"/>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C513C8E-099D-A4D7-22B0-4E356187B600}"/>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E577C043-CD80-7EA0-5062-7312ABBC1349}"/>
              </a:ext>
            </a:extLst>
          </p:cNvPr>
          <p:cNvGrpSpPr/>
          <p:nvPr/>
        </p:nvGrpSpPr>
        <p:grpSpPr>
          <a:xfrm>
            <a:off x="9465133" y="1533426"/>
            <a:ext cx="974268" cy="974267"/>
            <a:chOff x="4314206" y="2403793"/>
            <a:chExt cx="1887190" cy="1887187"/>
          </a:xfrm>
        </p:grpSpPr>
        <p:sp>
          <p:nvSpPr>
            <p:cNvPr id="32" name="Rectangle: Diagonal Corners Rounded 10">
              <a:extLst>
                <a:ext uri="{FF2B5EF4-FFF2-40B4-BE49-F238E27FC236}">
                  <a16:creationId xmlns:a16="http://schemas.microsoft.com/office/drawing/2014/main" id="{44339EDC-6457-72C5-E061-4B7ED71A66FE}"/>
                </a:ext>
              </a:extLst>
            </p:cNvPr>
            <p:cNvSpPr/>
            <p:nvPr/>
          </p:nvSpPr>
          <p:spPr>
            <a:xfrm>
              <a:off x="4314208" y="2403793"/>
              <a:ext cx="1887188"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40776C92-23FA-5989-6E5E-BBDC0516F416}"/>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24DCCA7B-ABCC-F3EF-C6EF-071E5D87DE1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814FDE7-515D-EAD7-4DA9-3CAFE12ECC99}"/>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A009C543-A9A0-7B06-38E3-AA824EC41AD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00ED58D5-D475-D32A-C28A-0A73F289A8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50842519-79EE-4362-4DAB-4C4DF6359FD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B21B6EAC-6821-2E31-1781-E369FA0CAC4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D145AD1-9DAA-E988-7E53-89746F5C3BB2}"/>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62E8BB42-87F6-A066-4147-7A73DC19C547}"/>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B06CA4E-159D-4B53-9951-3E2A532BA38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97DF8EE8-08B9-DA23-F3BE-834CCDBEF177}"/>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C435D821-3D4A-AA75-AE61-9546843A96B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AEE0472-CFFC-F402-7C6B-A747C9A1849E}"/>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3C765D33-3A06-DA16-774F-A8F5FF004E01}"/>
              </a:ext>
            </a:extLst>
          </p:cNvPr>
          <p:cNvGraphicFramePr>
            <a:graphicFrameLocks noGrp="1"/>
          </p:cNvGraphicFramePr>
          <p:nvPr>
            <p:extLst>
              <p:ext uri="{D42A27DB-BD31-4B8C-83A1-F6EECF244321}">
                <p14:modId xmlns:p14="http://schemas.microsoft.com/office/powerpoint/2010/main" val="2196091761"/>
              </p:ext>
            </p:extLst>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2" name="TextBox 11">
            <a:extLst>
              <a:ext uri="{FF2B5EF4-FFF2-40B4-BE49-F238E27FC236}">
                <a16:creationId xmlns:a16="http://schemas.microsoft.com/office/drawing/2014/main" id="{D1348B11-8D01-F200-BB23-4FC808BD9AFF}"/>
              </a:ext>
            </a:extLst>
          </p:cNvPr>
          <p:cNvSpPr txBox="1"/>
          <p:nvPr/>
        </p:nvSpPr>
        <p:spPr>
          <a:xfrm>
            <a:off x="5992336" y="3820667"/>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user stories </a:t>
            </a:r>
          </a:p>
        </p:txBody>
      </p:sp>
      <p:pic>
        <p:nvPicPr>
          <p:cNvPr id="15" name="Graphic 14" descr="Link with solid fill">
            <a:extLst>
              <a:ext uri="{FF2B5EF4-FFF2-40B4-BE49-F238E27FC236}">
                <a16:creationId xmlns:a16="http://schemas.microsoft.com/office/drawing/2014/main" id="{E6309BFD-6A50-C7FA-10EB-0F299DBC37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233218" y="3461397"/>
            <a:ext cx="914400" cy="914400"/>
          </a:xfrm>
          <a:prstGeom prst="rect">
            <a:avLst/>
          </a:prstGeom>
        </p:spPr>
      </p:pic>
      <p:pic>
        <p:nvPicPr>
          <p:cNvPr id="16" name="Graphic 15" descr="Link with solid fill">
            <a:extLst>
              <a:ext uri="{FF2B5EF4-FFF2-40B4-BE49-F238E27FC236}">
                <a16:creationId xmlns:a16="http://schemas.microsoft.com/office/drawing/2014/main" id="{F09B4FC4-3F64-2021-B58E-303ABBB851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4318928" y="5408569"/>
            <a:ext cx="914400" cy="914400"/>
          </a:xfrm>
          <a:prstGeom prst="rect">
            <a:avLst/>
          </a:prstGeom>
        </p:spPr>
      </p:pic>
      <p:pic>
        <p:nvPicPr>
          <p:cNvPr id="17" name="Graphic 16" descr="Link with solid fill">
            <a:extLst>
              <a:ext uri="{FF2B5EF4-FFF2-40B4-BE49-F238E27FC236}">
                <a16:creationId xmlns:a16="http://schemas.microsoft.com/office/drawing/2014/main" id="{93C62D70-A9A1-C741-1C39-F140479306B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98893">
            <a:off x="11064490" y="5442041"/>
            <a:ext cx="914400" cy="914400"/>
          </a:xfrm>
          <a:prstGeom prst="rect">
            <a:avLst/>
          </a:prstGeom>
        </p:spPr>
      </p:pic>
      <p:pic>
        <p:nvPicPr>
          <p:cNvPr id="19" name="Graphic 18" descr="Link with solid fill">
            <a:extLst>
              <a:ext uri="{FF2B5EF4-FFF2-40B4-BE49-F238E27FC236}">
                <a16:creationId xmlns:a16="http://schemas.microsoft.com/office/drawing/2014/main" id="{F85ACB62-996C-40E9-B188-B609DC1619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400000">
            <a:off x="8858832" y="3454654"/>
            <a:ext cx="914400" cy="914400"/>
          </a:xfrm>
          <a:prstGeom prst="rect">
            <a:avLst/>
          </a:prstGeom>
        </p:spPr>
      </p:pic>
      <p:sp>
        <p:nvSpPr>
          <p:cNvPr id="7" name="TextBox 6">
            <a:extLst>
              <a:ext uri="{FF2B5EF4-FFF2-40B4-BE49-F238E27FC236}">
                <a16:creationId xmlns:a16="http://schemas.microsoft.com/office/drawing/2014/main" id="{3FE9634D-D0AA-63D3-CDE2-CE545A6BBF28}"/>
              </a:ext>
            </a:extLst>
          </p:cNvPr>
          <p:cNvSpPr txBox="1"/>
          <p:nvPr/>
        </p:nvSpPr>
        <p:spPr>
          <a:xfrm>
            <a:off x="2413000" y="76200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E837D5B0-5AF0-887F-D097-19C17B1EC8E3}"/>
              </a:ext>
            </a:extLst>
          </p:cNvPr>
          <p:cNvSpPr txBox="1"/>
          <p:nvPr/>
        </p:nvSpPr>
        <p:spPr>
          <a:xfrm>
            <a:off x="5071085" y="5051714"/>
            <a:ext cx="637540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800" dirty="0">
                <a:solidFill>
                  <a:prstClr val="black"/>
                </a:solidFill>
                <a:latin typeface="Calibri" panose="020F0502020204030204"/>
              </a:rPr>
              <a:t>conditions</a:t>
            </a: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 of satisfaction</a:t>
            </a:r>
          </a:p>
        </p:txBody>
      </p:sp>
      <p:sp>
        <p:nvSpPr>
          <p:cNvPr id="11" name="TextBox 10">
            <a:extLst>
              <a:ext uri="{FF2B5EF4-FFF2-40B4-BE49-F238E27FC236}">
                <a16:creationId xmlns:a16="http://schemas.microsoft.com/office/drawing/2014/main" id="{DE4BE722-CE7F-ED8E-8D5B-C26A94217B29}"/>
              </a:ext>
            </a:extLst>
          </p:cNvPr>
          <p:cNvSpPr txBox="1"/>
          <p:nvPr/>
        </p:nvSpPr>
        <p:spPr>
          <a:xfrm>
            <a:off x="10591800" y="75438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5DD3999F-6DD6-BB84-629B-168F11927A1D}"/>
              </a:ext>
            </a:extLst>
          </p:cNvPr>
          <p:cNvSpPr txBox="1"/>
          <p:nvPr/>
        </p:nvSpPr>
        <p:spPr>
          <a:xfrm>
            <a:off x="6878945" y="4431514"/>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and</a:t>
            </a:r>
          </a:p>
        </p:txBody>
      </p:sp>
    </p:spTree>
    <p:extLst>
      <p:ext uri="{BB962C8B-B14F-4D97-AF65-F5344CB8AC3E}">
        <p14:creationId xmlns:p14="http://schemas.microsoft.com/office/powerpoint/2010/main" val="2139446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2D2C690-678B-7F0C-A956-14DBDD12C96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86C973-41AD-3115-8D5B-5217CFB0DD52}"/>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5</a:t>
            </a:fld>
            <a:endParaRPr lang="en-US"/>
          </a:p>
        </p:txBody>
      </p:sp>
      <p:sp>
        <p:nvSpPr>
          <p:cNvPr id="2" name="Title 1">
            <a:extLst>
              <a:ext uri="{FF2B5EF4-FFF2-40B4-BE49-F238E27FC236}">
                <a16:creationId xmlns:a16="http://schemas.microsoft.com/office/drawing/2014/main" id="{F6245AC8-3AEA-63A7-35F6-DDD54E53CDEC}"/>
              </a:ext>
            </a:extLst>
          </p:cNvPr>
          <p:cNvSpPr>
            <a:spLocks noGrp="1"/>
          </p:cNvSpPr>
          <p:nvPr>
            <p:ph type="title"/>
          </p:nvPr>
        </p:nvSpPr>
        <p:spPr>
          <a:xfrm>
            <a:off x="838200" y="18255"/>
            <a:ext cx="10515600" cy="1325563"/>
          </a:xfrm>
        </p:spPr>
        <p:txBody>
          <a:bodyPr>
            <a:noAutofit/>
          </a:bodyPr>
          <a:lstStyle/>
          <a:p>
            <a:r>
              <a:rPr lang="en-US" dirty="0"/>
              <a:t>Part 1: Requirements analysis</a:t>
            </a:r>
          </a:p>
        </p:txBody>
      </p:sp>
      <p:grpSp>
        <p:nvGrpSpPr>
          <p:cNvPr id="25" name="Group 24">
            <a:extLst>
              <a:ext uri="{FF2B5EF4-FFF2-40B4-BE49-F238E27FC236}">
                <a16:creationId xmlns:a16="http://schemas.microsoft.com/office/drawing/2014/main" id="{C4764CA5-3452-B1C5-450B-056A6051915C}"/>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042C7C16-0A3A-8BE9-9A34-A264521DE8E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D6F8509C-A45E-3023-A2EE-A2BBB5798575}"/>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D6CD8944-8B06-D16F-1125-0EE562F2A52A}"/>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4EC7302B-9DCD-D8A8-C43A-3A481F1AC19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ED111A2B-809E-F482-F2C4-0CEE359FB028}"/>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C1C6A051-D0C8-A008-9EF6-848C7894E78A}"/>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966AB772-C9D5-2A38-EFE7-2C21FC3F0652}"/>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051D621A-6CBA-7240-958C-BD1145400E3E}"/>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DD53423A-EE0B-C2DA-C784-11B7A019B9AD}"/>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82FE0CDE-78E0-88FA-2D85-2A18968D3E43}"/>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8A2ADACB-8CAA-4A8E-E2C7-226F9E00C641}"/>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52B0A96B-8B7E-894A-F542-32973FFC9A5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6EEACE56-B290-BEA9-F568-90194048C5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E63C1345-B981-CFB7-7CF0-53D5F7E5AF8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3498D6B-F270-EAAA-8015-9E64E6301CB9}"/>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0855420C-B7DB-1CA9-E810-71AF950D36F9}"/>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FD277AB1-3DC1-CE75-55F8-5ACF2AE0611D}"/>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F404F11D-0365-ECEB-4C9B-8E4840AC0D6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4482EEFC-E7FD-4E30-0790-1A0A999776D0}"/>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158722E3-47DC-DB5C-DD50-339BB0EEB5C5}"/>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E4636267-2DAF-3ED4-16AB-AD01BD99A34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F983179-0C95-C3C6-3932-381E21E53BA9}"/>
              </a:ext>
            </a:extLst>
          </p:cNvPr>
          <p:cNvSpPr txBox="1"/>
          <p:nvPr/>
        </p:nvSpPr>
        <p:spPr>
          <a:xfrm>
            <a:off x="4319921" y="3842373"/>
            <a:ext cx="7768500" cy="2800767"/>
          </a:xfrm>
          <a:prstGeom prst="rect">
            <a:avLst/>
          </a:prstGeom>
          <a:noFill/>
        </p:spPr>
        <p:txBody>
          <a:bodyPr wrap="square" rtlCol="0">
            <a:spAutoFit/>
          </a:bodyPr>
          <a:lstStyle/>
          <a:p>
            <a:r>
              <a:rPr lang="en-US" sz="4400">
                <a:solidFill>
                  <a:srgbClr val="FF0000"/>
                </a:solidFill>
              </a:rPr>
              <a:t>Requirements Analysis</a:t>
            </a:r>
          </a:p>
          <a:p>
            <a:r>
              <a:rPr lang="en-US" sz="4400"/>
              <a:t>User Stories</a:t>
            </a:r>
          </a:p>
          <a:p>
            <a:r>
              <a:rPr lang="en-US" sz="4400"/>
              <a:t>Testing Conditions of Satisfaction</a:t>
            </a:r>
          </a:p>
          <a:p>
            <a:endParaRPr lang="en-US" sz="4400"/>
          </a:p>
        </p:txBody>
      </p:sp>
    </p:spTree>
    <p:extLst>
      <p:ext uri="{BB962C8B-B14F-4D97-AF65-F5344CB8AC3E}">
        <p14:creationId xmlns:p14="http://schemas.microsoft.com/office/powerpoint/2010/main" val="2107031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A195-BA59-40E7-8521-87B75EE15054}"/>
              </a:ext>
            </a:extLst>
          </p:cNvPr>
          <p:cNvSpPr>
            <a:spLocks noGrp="1"/>
          </p:cNvSpPr>
          <p:nvPr>
            <p:ph type="title"/>
          </p:nvPr>
        </p:nvSpPr>
        <p:spPr/>
        <p:txBody>
          <a:bodyPr>
            <a:normAutofit fontScale="90000"/>
          </a:bodyPr>
          <a:lstStyle/>
          <a:p>
            <a:r>
              <a:rPr lang="en-US" dirty="0"/>
              <a:t>Overall question:</a:t>
            </a:r>
            <a:br>
              <a:rPr lang="en-US" dirty="0"/>
            </a:br>
            <a:r>
              <a:rPr lang="en-US" dirty="0"/>
              <a:t>How to make sure we are building the right thing</a:t>
            </a:r>
          </a:p>
        </p:txBody>
      </p:sp>
      <p:sp>
        <p:nvSpPr>
          <p:cNvPr id="4" name="Slide Number Placeholder 3">
            <a:extLst>
              <a:ext uri="{FF2B5EF4-FFF2-40B4-BE49-F238E27FC236}">
                <a16:creationId xmlns:a16="http://schemas.microsoft.com/office/drawing/2014/main" id="{2257FCDD-253D-4273-9467-54F4E684C4C6}"/>
              </a:ext>
            </a:extLst>
          </p:cNvPr>
          <p:cNvSpPr>
            <a:spLocks noGrp="1"/>
          </p:cNvSpPr>
          <p:nvPr>
            <p:ph type="sldNum" sz="quarter" idx="12"/>
          </p:nvPr>
        </p:nvSpPr>
        <p:spPr/>
        <p:txBody>
          <a:bodyPr/>
          <a:lstStyle/>
          <a:p>
            <a:fld id="{20F37917-FD3A-4669-9018-DA04BCDD3D75}" type="slidenum">
              <a:rPr lang="en-US" smtClean="0"/>
              <a:t>6</a:t>
            </a:fld>
            <a:endParaRPr lang="en-US" dirty="0"/>
          </a:p>
        </p:txBody>
      </p:sp>
      <p:pic>
        <p:nvPicPr>
          <p:cNvPr id="1028" name="Picture 4">
            <a:extLst>
              <a:ext uri="{FF2B5EF4-FFF2-40B4-BE49-F238E27FC236}">
                <a16:creationId xmlns:a16="http://schemas.microsoft.com/office/drawing/2014/main" id="{1540FDF9-740E-4147-9A42-ABFE3E325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1968500"/>
            <a:ext cx="7874000" cy="2921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9311334-0AE7-0B97-21A1-7F1A4118397E}"/>
              </a:ext>
            </a:extLst>
          </p:cNvPr>
          <p:cNvSpPr txBox="1"/>
          <p:nvPr/>
        </p:nvSpPr>
        <p:spPr>
          <a:xfrm>
            <a:off x="97663" y="6356350"/>
            <a:ext cx="6100762"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en.wikipedia.org</a:t>
            </a:r>
            <a:r>
              <a:rPr lang="en-US" dirty="0">
                <a:solidFill>
                  <a:schemeClr val="tx1"/>
                </a:solidFill>
              </a:rPr>
              <a:t>/wiki/</a:t>
            </a:r>
            <a:r>
              <a:rPr lang="en-US" dirty="0" err="1">
                <a:solidFill>
                  <a:schemeClr val="tx1"/>
                </a:solidFill>
              </a:rPr>
              <a:t>Tree_swing_cartoon</a:t>
            </a:r>
            <a:endParaRPr lang="en-US" dirty="0">
              <a:solidFill>
                <a:schemeClr val="tx1"/>
              </a:solidFill>
            </a:endParaRPr>
          </a:p>
        </p:txBody>
      </p:sp>
    </p:spTree>
    <p:extLst>
      <p:ext uri="{BB962C8B-B14F-4D97-AF65-F5344CB8AC3E}">
        <p14:creationId xmlns:p14="http://schemas.microsoft.com/office/powerpoint/2010/main" val="1343145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FCD54966-636B-40B8-9A0B-F5A7E500E446}"/>
              </a:ext>
            </a:extLst>
          </p:cNvPr>
          <p:cNvSpPr>
            <a:spLocks noGrp="1" noChangeArrowheads="1"/>
          </p:cNvSpPr>
          <p:nvPr>
            <p:ph type="title"/>
          </p:nvPr>
        </p:nvSpPr>
        <p:spPr/>
        <p:txBody>
          <a:bodyPr/>
          <a:lstStyle/>
          <a:p>
            <a:r>
              <a:rPr lang="en-US" altLang="en-US" dirty="0"/>
              <a:t>Why is requirements analysis hard?</a:t>
            </a:r>
          </a:p>
        </p:txBody>
      </p:sp>
      <p:graphicFrame>
        <p:nvGraphicFramePr>
          <p:cNvPr id="5125" name="Rectangle 2">
            <a:extLst>
              <a:ext uri="{FF2B5EF4-FFF2-40B4-BE49-F238E27FC236}">
                <a16:creationId xmlns:a16="http://schemas.microsoft.com/office/drawing/2014/main" id="{042DA56E-1CBE-437C-8295-D010F5813C74}"/>
              </a:ext>
            </a:extLst>
          </p:cNvPr>
          <p:cNvGraphicFramePr>
            <a:graphicFrameLocks noGrp="1"/>
          </p:cNvGraphicFramePr>
          <p:nvPr>
            <p:ph idx="1"/>
          </p:nvPr>
        </p:nvGraphicFramePr>
        <p:xfrm>
          <a:off x="838200" y="1500188"/>
          <a:ext cx="788670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23" name="Text Box 3">
            <a:extLst>
              <a:ext uri="{FF2B5EF4-FFF2-40B4-BE49-F238E27FC236}">
                <a16:creationId xmlns:a16="http://schemas.microsoft.com/office/drawing/2014/main" id="{F4B0D1A4-82AE-4AEF-B842-9318DCC0894D}"/>
              </a:ext>
            </a:extLst>
          </p:cNvPr>
          <p:cNvSpPr txBox="1">
            <a:spLocks/>
          </p:cNvSpPr>
          <p:nvPr/>
        </p:nvSpPr>
        <p:spPr bwMode="auto">
          <a:xfrm>
            <a:off x="10232600" y="6454704"/>
            <a:ext cx="136256" cy="22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5719" tIns="35719" rIns="35719" bIns="35719" anchor="b">
            <a:spAutoFit/>
          </a:bodyPr>
          <a:lstStyle/>
          <a:p>
            <a:pPr algn="r"/>
            <a:fld id="{0BB2D644-9BFF-4E58-8C26-7B6E68779C53}" type="slidenum">
              <a:rPr lang="en-US" altLang="en-US" sz="984">
                <a:latin typeface="Calibri Light" panose="020F0302020204030204" pitchFamily="34" charset="0"/>
                <a:ea typeface="Helvetica Neue" charset="0"/>
                <a:cs typeface="Calibri Light" panose="020F0302020204030204" pitchFamily="34" charset="0"/>
                <a:sym typeface="Helvetica Neue" charset="0"/>
              </a:rPr>
              <a:pPr algn="r"/>
              <a:t>7</a:t>
            </a:fld>
            <a:endParaRPr lang="en-US" altLang="en-US" sz="984" dirty="0">
              <a:latin typeface="Calibri Light" panose="020F0302020204030204" pitchFamily="34" charset="0"/>
              <a:ea typeface="Helvetica Neue" charset="0"/>
              <a:cs typeface="Calibri Light" panose="020F0302020204030204" pitchFamily="34" charset="0"/>
              <a:sym typeface="Helvetica Neue" charset="0"/>
            </a:endParaRPr>
          </a:p>
        </p:txBody>
      </p:sp>
      <p:pic>
        <p:nvPicPr>
          <p:cNvPr id="2" name="Picture 1">
            <a:extLst>
              <a:ext uri="{FF2B5EF4-FFF2-40B4-BE49-F238E27FC236}">
                <a16:creationId xmlns:a16="http://schemas.microsoft.com/office/drawing/2014/main" id="{20C0AE1E-00E3-4942-9AAD-E05E6117B462}"/>
              </a:ext>
            </a:extLst>
          </p:cNvPr>
          <p:cNvPicPr>
            <a:picLocks noChangeAspect="1"/>
          </p:cNvPicPr>
          <p:nvPr/>
        </p:nvPicPr>
        <p:blipFill rotWithShape="1">
          <a:blip r:embed="rId8"/>
          <a:srcRect r="48948"/>
          <a:stretch/>
        </p:blipFill>
        <p:spPr>
          <a:xfrm>
            <a:off x="8825548" y="1524000"/>
            <a:ext cx="1037381" cy="1905000"/>
          </a:xfrm>
          <a:prstGeom prst="rect">
            <a:avLst/>
          </a:prstGeom>
        </p:spPr>
      </p:pic>
      <p:pic>
        <p:nvPicPr>
          <p:cNvPr id="3" name="Picture 2">
            <a:extLst>
              <a:ext uri="{FF2B5EF4-FFF2-40B4-BE49-F238E27FC236}">
                <a16:creationId xmlns:a16="http://schemas.microsoft.com/office/drawing/2014/main" id="{9D0ABD5D-EBC5-AD4A-89E8-3DBE63E03806}"/>
              </a:ext>
            </a:extLst>
          </p:cNvPr>
          <p:cNvPicPr>
            <a:picLocks noChangeAspect="1"/>
          </p:cNvPicPr>
          <p:nvPr/>
        </p:nvPicPr>
        <p:blipFill>
          <a:blip r:embed="rId9"/>
          <a:stretch>
            <a:fillRect/>
          </a:stretch>
        </p:blipFill>
        <p:spPr>
          <a:xfrm>
            <a:off x="8829889" y="4010047"/>
            <a:ext cx="1028700" cy="1943100"/>
          </a:xfrm>
          <a:prstGeom prst="rect">
            <a:avLst/>
          </a:prstGeom>
        </p:spPr>
      </p:pic>
      <p:pic>
        <p:nvPicPr>
          <p:cNvPr id="8" name="Picture 7">
            <a:extLst>
              <a:ext uri="{FF2B5EF4-FFF2-40B4-BE49-F238E27FC236}">
                <a16:creationId xmlns:a16="http://schemas.microsoft.com/office/drawing/2014/main" id="{A3A69FEC-CE32-4A48-BD47-A3E23897431C}"/>
              </a:ext>
            </a:extLst>
          </p:cNvPr>
          <p:cNvPicPr>
            <a:picLocks noChangeAspect="1"/>
          </p:cNvPicPr>
          <p:nvPr/>
        </p:nvPicPr>
        <p:blipFill rotWithShape="1">
          <a:blip r:embed="rId8"/>
          <a:srcRect l="48948" b="1704"/>
          <a:stretch/>
        </p:blipFill>
        <p:spPr>
          <a:xfrm>
            <a:off x="9971456" y="2739560"/>
            <a:ext cx="1037381" cy="1872538"/>
          </a:xfrm>
          <a:prstGeom prst="rect">
            <a:avLst/>
          </a:prstGeom>
        </p:spPr>
      </p:pic>
    </p:spTree>
    <p:extLst>
      <p:ext uri="{BB962C8B-B14F-4D97-AF65-F5344CB8AC3E}">
        <p14:creationId xmlns:p14="http://schemas.microsoft.com/office/powerpoint/2010/main" val="235257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AB2A-F440-AC87-D1D6-59228B87B7AA}"/>
              </a:ext>
            </a:extLst>
          </p:cNvPr>
          <p:cNvSpPr>
            <a:spLocks noGrp="1"/>
          </p:cNvSpPr>
          <p:nvPr>
            <p:ph type="title"/>
          </p:nvPr>
        </p:nvSpPr>
        <p:spPr/>
        <p:txBody>
          <a:bodyPr/>
          <a:lstStyle/>
          <a:p>
            <a:r>
              <a:rPr lang="en-US" dirty="0"/>
              <a:t>How do we capture the requirements?</a:t>
            </a:r>
          </a:p>
        </p:txBody>
      </p:sp>
      <p:sp>
        <p:nvSpPr>
          <p:cNvPr id="3" name="Content Placeholder 2">
            <a:extLst>
              <a:ext uri="{FF2B5EF4-FFF2-40B4-BE49-F238E27FC236}">
                <a16:creationId xmlns:a16="http://schemas.microsoft.com/office/drawing/2014/main" id="{9ED6CEEF-1D52-6DAD-3291-6C2B7263C09C}"/>
              </a:ext>
            </a:extLst>
          </p:cNvPr>
          <p:cNvSpPr>
            <a:spLocks noGrp="1"/>
          </p:cNvSpPr>
          <p:nvPr>
            <p:ph idx="1"/>
          </p:nvPr>
        </p:nvSpPr>
        <p:spPr>
          <a:xfrm>
            <a:off x="838200" y="1500160"/>
            <a:ext cx="5715000" cy="4351338"/>
          </a:xfrm>
        </p:spPr>
        <p:txBody>
          <a:bodyPr/>
          <a:lstStyle/>
          <a:p>
            <a:r>
              <a:rPr lang="en-US" dirty="0"/>
              <a:t>There are many methodologies for this.</a:t>
            </a:r>
          </a:p>
          <a:p>
            <a:r>
              <a:rPr lang="en-US" dirty="0"/>
              <a:t>Often described as </a:t>
            </a:r>
            <a:r>
              <a:rPr lang="en-US" i="1" dirty="0">
                <a:latin typeface="Times New Roman" panose="02020603050405020304" pitchFamily="18" charset="0"/>
                <a:cs typeface="Times New Roman" panose="02020603050405020304" pitchFamily="18" charset="0"/>
              </a:rPr>
              <a:t>x</a:t>
            </a:r>
            <a:r>
              <a:rPr lang="en-US" dirty="0"/>
              <a:t>-Driven Design (for some </a:t>
            </a:r>
            <a:r>
              <a:rPr lang="en-US" i="1" dirty="0">
                <a:latin typeface="Times New Roman" panose="02020603050405020304" pitchFamily="18" charset="0"/>
                <a:cs typeface="Times New Roman" panose="02020603050405020304" pitchFamily="18" charset="0"/>
              </a:rPr>
              <a:t>x</a:t>
            </a:r>
            <a:r>
              <a:rPr lang="en-US" dirty="0"/>
              <a:t>)</a:t>
            </a:r>
          </a:p>
          <a:p>
            <a:r>
              <a:rPr lang="en-US" dirty="0"/>
              <a:t>They differ in scope &amp; details, but they have many features in common.</a:t>
            </a:r>
          </a:p>
        </p:txBody>
      </p:sp>
      <p:sp>
        <p:nvSpPr>
          <p:cNvPr id="4" name="Slide Number Placeholder 3">
            <a:extLst>
              <a:ext uri="{FF2B5EF4-FFF2-40B4-BE49-F238E27FC236}">
                <a16:creationId xmlns:a16="http://schemas.microsoft.com/office/drawing/2014/main" id="{25CD15F5-5F7F-3562-FAA9-035E16D18271}"/>
              </a:ext>
            </a:extLst>
          </p:cNvPr>
          <p:cNvSpPr>
            <a:spLocks noGrp="1"/>
          </p:cNvSpPr>
          <p:nvPr>
            <p:ph type="sldNum" sz="quarter" idx="12"/>
          </p:nvPr>
        </p:nvSpPr>
        <p:spPr/>
        <p:txBody>
          <a:bodyPr/>
          <a:lstStyle/>
          <a:p>
            <a:fld id="{20F37917-FD3A-4669-9018-DA04BCDD3D75}" type="slidenum">
              <a:rPr lang="en-US" smtClean="0"/>
              <a:t>8</a:t>
            </a:fld>
            <a:endParaRPr lang="en-US"/>
          </a:p>
        </p:txBody>
      </p:sp>
      <p:pic>
        <p:nvPicPr>
          <p:cNvPr id="6" name="Picture 5" descr="A screenshot of a computer&#10;&#10;Description automatically generated">
            <a:extLst>
              <a:ext uri="{FF2B5EF4-FFF2-40B4-BE49-F238E27FC236}">
                <a16:creationId xmlns:a16="http://schemas.microsoft.com/office/drawing/2014/main" id="{58E6899D-E64A-6E6E-E61C-1B0B676F5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731941">
            <a:off x="6839866" y="2085915"/>
            <a:ext cx="4366227" cy="3179827"/>
          </a:xfrm>
          <a:prstGeom prst="rect">
            <a:avLst/>
          </a:prstGeom>
        </p:spPr>
      </p:pic>
    </p:spTree>
    <p:extLst>
      <p:ext uri="{BB962C8B-B14F-4D97-AF65-F5344CB8AC3E}">
        <p14:creationId xmlns:p14="http://schemas.microsoft.com/office/powerpoint/2010/main" val="2188219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AD7B-5666-420A-EE4C-D8615527EF0A}"/>
              </a:ext>
            </a:extLst>
          </p:cNvPr>
          <p:cNvSpPr>
            <a:spLocks noGrp="1"/>
          </p:cNvSpPr>
          <p:nvPr>
            <p:ph type="title"/>
          </p:nvPr>
        </p:nvSpPr>
        <p:spPr/>
        <p:txBody>
          <a:bodyPr/>
          <a:lstStyle/>
          <a:p>
            <a:r>
              <a:rPr lang="en-US" dirty="0"/>
              <a:t>Common Elements</a:t>
            </a:r>
          </a:p>
        </p:txBody>
      </p:sp>
      <p:sp>
        <p:nvSpPr>
          <p:cNvPr id="3" name="Content Placeholder 2">
            <a:extLst>
              <a:ext uri="{FF2B5EF4-FFF2-40B4-BE49-F238E27FC236}">
                <a16:creationId xmlns:a16="http://schemas.microsoft.com/office/drawing/2014/main" id="{D4C83EDF-C9D6-ED5A-3DD7-24DB0B2CCF20}"/>
              </a:ext>
            </a:extLst>
          </p:cNvPr>
          <p:cNvSpPr>
            <a:spLocks noGrp="1"/>
          </p:cNvSpPr>
          <p:nvPr>
            <p:ph idx="1"/>
          </p:nvPr>
        </p:nvSpPr>
        <p:spPr>
          <a:xfrm>
            <a:off x="838200" y="1500160"/>
            <a:ext cx="5659582" cy="4351338"/>
          </a:xfrm>
        </p:spPr>
        <p:txBody>
          <a:bodyPr>
            <a:normAutofit lnSpcReduction="10000"/>
          </a:bodyPr>
          <a:lstStyle/>
          <a:p>
            <a:r>
              <a:rPr lang="en-US" dirty="0"/>
              <a:t>Meet with stakeholders</a:t>
            </a:r>
          </a:p>
          <a:p>
            <a:r>
              <a:rPr lang="en-US" dirty="0"/>
              <a:t>Develop a common language</a:t>
            </a:r>
          </a:p>
          <a:p>
            <a:r>
              <a:rPr lang="en-US" dirty="0"/>
              <a:t>Collect desired system behaviors that offer value</a:t>
            </a:r>
          </a:p>
          <a:p>
            <a:r>
              <a:rPr lang="en-US" dirty="0"/>
              <a:t>Document the desired behaviors</a:t>
            </a:r>
          </a:p>
          <a:p>
            <a:r>
              <a:rPr lang="en-US" dirty="0"/>
              <a:t>Iterate and refine!!</a:t>
            </a:r>
          </a:p>
          <a:p>
            <a:pPr marL="514350" indent="-514350">
              <a:buFont typeface="+mj-lt"/>
              <a:buAutoNum type="arabicPeriod"/>
            </a:pPr>
            <a:endParaRPr lang="en-US" dirty="0"/>
          </a:p>
          <a:p>
            <a:pPr marL="0" indent="0">
              <a:buNone/>
            </a:pPr>
            <a:r>
              <a:rPr lang="en-US" dirty="0"/>
              <a:t>User stories are the least common denominator of most approaches</a:t>
            </a:r>
          </a:p>
        </p:txBody>
      </p:sp>
      <p:sp>
        <p:nvSpPr>
          <p:cNvPr id="4" name="Slide Number Placeholder 3">
            <a:extLst>
              <a:ext uri="{FF2B5EF4-FFF2-40B4-BE49-F238E27FC236}">
                <a16:creationId xmlns:a16="http://schemas.microsoft.com/office/drawing/2014/main" id="{CB0C3A9D-C365-F3CA-D3F9-80309DA4F4A9}"/>
              </a:ext>
            </a:extLst>
          </p:cNvPr>
          <p:cNvSpPr>
            <a:spLocks noGrp="1"/>
          </p:cNvSpPr>
          <p:nvPr>
            <p:ph type="sldNum" sz="quarter" idx="12"/>
          </p:nvPr>
        </p:nvSpPr>
        <p:spPr/>
        <p:txBody>
          <a:bodyPr/>
          <a:lstStyle/>
          <a:p>
            <a:fld id="{20F37917-FD3A-4669-9018-DA04BCDD3D75}" type="slidenum">
              <a:rPr lang="en-US" smtClean="0"/>
              <a:t>9</a:t>
            </a:fld>
            <a:endParaRPr lang="en-US"/>
          </a:p>
        </p:txBody>
      </p:sp>
      <p:pic>
        <p:nvPicPr>
          <p:cNvPr id="5" name="Picture 2">
            <a:extLst>
              <a:ext uri="{FF2B5EF4-FFF2-40B4-BE49-F238E27FC236}">
                <a16:creationId xmlns:a16="http://schemas.microsoft.com/office/drawing/2014/main" id="{21F1C902-2973-863F-54A8-8823C7E1D0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41" r="16432"/>
          <a:stretch/>
        </p:blipFill>
        <p:spPr bwMode="auto">
          <a:xfrm>
            <a:off x="6805222" y="7858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540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84FC3-A6B4-8822-C909-3CD806538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01C65-CC1F-9000-1092-614014941892}"/>
              </a:ext>
            </a:extLst>
          </p:cNvPr>
          <p:cNvSpPr>
            <a:spLocks noGrp="1"/>
          </p:cNvSpPr>
          <p:nvPr>
            <p:ph type="title"/>
          </p:nvPr>
        </p:nvSpPr>
        <p:spPr/>
        <p:txBody>
          <a:bodyPr>
            <a:normAutofit/>
          </a:bodyPr>
          <a:lstStyle/>
          <a:p>
            <a:r>
              <a:rPr lang="en-US" dirty="0"/>
              <a:t>Requirements gathering frameworks inform the structure and priority of user stories</a:t>
            </a:r>
          </a:p>
        </p:txBody>
      </p:sp>
      <p:sp>
        <p:nvSpPr>
          <p:cNvPr id="3" name="Content Placeholder 2">
            <a:extLst>
              <a:ext uri="{FF2B5EF4-FFF2-40B4-BE49-F238E27FC236}">
                <a16:creationId xmlns:a16="http://schemas.microsoft.com/office/drawing/2014/main" id="{81EDFA6D-EF9F-0801-735C-1951861C5215}"/>
              </a:ext>
            </a:extLst>
          </p:cNvPr>
          <p:cNvSpPr>
            <a:spLocks noGrp="1"/>
          </p:cNvSpPr>
          <p:nvPr>
            <p:ph idx="1"/>
          </p:nvPr>
        </p:nvSpPr>
        <p:spPr>
          <a:xfrm>
            <a:off x="838200" y="1500160"/>
            <a:ext cx="10400414" cy="4856190"/>
          </a:xfrm>
        </p:spPr>
        <p:txBody>
          <a:bodyPr>
            <a:normAutofit/>
          </a:bodyPr>
          <a:lstStyle/>
          <a:p>
            <a:r>
              <a:rPr lang="en-US" dirty="0"/>
              <a:t>“Building the right thing” is necessarily a value judgment </a:t>
            </a:r>
          </a:p>
          <a:p>
            <a:pPr lvl="1"/>
            <a:r>
              <a:rPr lang="en-US" dirty="0"/>
              <a:t>(right for whom? who benefits?)</a:t>
            </a:r>
          </a:p>
          <a:p>
            <a:pPr marL="457200" lvl="1" indent="0">
              <a:buNone/>
            </a:pPr>
            <a:endParaRPr lang="en-US" dirty="0"/>
          </a:p>
          <a:p>
            <a:r>
              <a:rPr lang="en-US" dirty="0"/>
              <a:t>You need some way</a:t>
            </a:r>
            <a:br>
              <a:rPr lang="en-US" dirty="0"/>
            </a:br>
            <a:r>
              <a:rPr lang="en-US" dirty="0"/>
              <a:t>to think about what</a:t>
            </a:r>
            <a:br>
              <a:rPr lang="en-US" dirty="0"/>
            </a:br>
            <a:r>
              <a:rPr lang="en-US" dirty="0"/>
              <a:t>capabilities you </a:t>
            </a:r>
            <a:r>
              <a:rPr lang="en-US" i="1" dirty="0"/>
              <a:t>shouldn’t</a:t>
            </a:r>
            <a:br>
              <a:rPr lang="en-US" i="1" dirty="0"/>
            </a:br>
            <a:r>
              <a:rPr lang="en-US" dirty="0"/>
              <a:t>implement!</a:t>
            </a:r>
          </a:p>
        </p:txBody>
      </p:sp>
      <p:sp>
        <p:nvSpPr>
          <p:cNvPr id="4" name="Slide Number Placeholder 3">
            <a:extLst>
              <a:ext uri="{FF2B5EF4-FFF2-40B4-BE49-F238E27FC236}">
                <a16:creationId xmlns:a16="http://schemas.microsoft.com/office/drawing/2014/main" id="{67DE1525-B84E-A86B-0756-4C6B0096A17A}"/>
              </a:ext>
            </a:extLst>
          </p:cNvPr>
          <p:cNvSpPr>
            <a:spLocks noGrp="1"/>
          </p:cNvSpPr>
          <p:nvPr>
            <p:ph type="sldNum" sz="quarter" idx="12"/>
          </p:nvPr>
        </p:nvSpPr>
        <p:spPr/>
        <p:txBody>
          <a:bodyPr/>
          <a:lstStyle/>
          <a:p>
            <a:fld id="{20F37917-FD3A-4669-9018-DA04BCDD3D75}" type="slidenum">
              <a:rPr lang="en-US" smtClean="0"/>
              <a:t>10</a:t>
            </a:fld>
            <a:endParaRPr lang="en-US"/>
          </a:p>
        </p:txBody>
      </p:sp>
      <p:pic>
        <p:nvPicPr>
          <p:cNvPr id="5" name="Picture 4">
            <a:extLst>
              <a:ext uri="{FF2B5EF4-FFF2-40B4-BE49-F238E27FC236}">
                <a16:creationId xmlns:a16="http://schemas.microsoft.com/office/drawing/2014/main" id="{89C21028-56A4-513C-8705-D4F92C580C2C}"/>
              </a:ext>
            </a:extLst>
          </p:cNvPr>
          <p:cNvPicPr>
            <a:picLocks noChangeAspect="1"/>
          </p:cNvPicPr>
          <p:nvPr/>
        </p:nvPicPr>
        <p:blipFill>
          <a:blip r:embed="rId3"/>
          <a:stretch>
            <a:fillRect/>
          </a:stretch>
        </p:blipFill>
        <p:spPr>
          <a:xfrm flipH="1">
            <a:off x="5888452" y="2897287"/>
            <a:ext cx="2981169" cy="2863800"/>
          </a:xfrm>
          <a:prstGeom prst="rect">
            <a:avLst/>
          </a:prstGeom>
        </p:spPr>
      </p:pic>
      <p:sp>
        <p:nvSpPr>
          <p:cNvPr id="9" name="TextBox 8">
            <a:extLst>
              <a:ext uri="{FF2B5EF4-FFF2-40B4-BE49-F238E27FC236}">
                <a16:creationId xmlns:a16="http://schemas.microsoft.com/office/drawing/2014/main" id="{6A665661-6F17-7AE3-2BAE-1DF9337B378E}"/>
              </a:ext>
            </a:extLst>
          </p:cNvPr>
          <p:cNvSpPr txBox="1"/>
          <p:nvPr/>
        </p:nvSpPr>
        <p:spPr>
          <a:xfrm>
            <a:off x="8869621" y="2857500"/>
            <a:ext cx="2839779" cy="230832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chemeClr val="tx1"/>
                </a:solidFill>
              </a:rPr>
              <a:t>Your scientists were so preoccupied with whether or not they could, they didn't stop to think if they should." </a:t>
            </a:r>
          </a:p>
          <a:p>
            <a:pPr>
              <a:buNone/>
            </a:pPr>
            <a:endParaRPr lang="en-US" b="1" dirty="0">
              <a:solidFill>
                <a:schemeClr val="tx1"/>
              </a:solidFill>
            </a:endParaRPr>
          </a:p>
          <a:p>
            <a:pPr>
              <a:buNone/>
            </a:pPr>
            <a:r>
              <a:rPr lang="en-US" b="1" dirty="0">
                <a:solidFill>
                  <a:schemeClr val="tx1"/>
                </a:solidFill>
              </a:rPr>
              <a:t>- Ian Malcom (in </a:t>
            </a:r>
            <a:r>
              <a:rPr lang="en-US" b="1" i="1" dirty="0">
                <a:solidFill>
                  <a:schemeClr val="tx1"/>
                </a:solidFill>
              </a:rPr>
              <a:t>Jurassic Park</a:t>
            </a:r>
            <a:r>
              <a:rPr lang="en-US" b="1" dirty="0">
                <a:solidFill>
                  <a:schemeClr val="tx1"/>
                </a:solidFill>
              </a:rPr>
              <a:t>, 1993) </a:t>
            </a:r>
          </a:p>
        </p:txBody>
      </p:sp>
    </p:spTree>
    <p:extLst>
      <p:ext uri="{BB962C8B-B14F-4D97-AF65-F5344CB8AC3E}">
        <p14:creationId xmlns:p14="http://schemas.microsoft.com/office/powerpoint/2010/main" val="2614843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3868-E65A-896C-92FE-904117C95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9BF54-4996-E976-7162-5E8AE026EE81}"/>
              </a:ext>
            </a:extLst>
          </p:cNvPr>
          <p:cNvSpPr>
            <a:spLocks noGrp="1"/>
          </p:cNvSpPr>
          <p:nvPr>
            <p:ph type="title"/>
          </p:nvPr>
        </p:nvSpPr>
        <p:spPr/>
        <p:txBody>
          <a:bodyPr>
            <a:normAutofit/>
          </a:bodyPr>
          <a:lstStyle/>
          <a:p>
            <a:r>
              <a:rPr lang="en-US" dirty="0"/>
              <a:t>Requirements gathering frameworks inform the structure and priority of user stories</a:t>
            </a:r>
          </a:p>
        </p:txBody>
      </p:sp>
      <p:sp>
        <p:nvSpPr>
          <p:cNvPr id="3" name="Content Placeholder 2">
            <a:extLst>
              <a:ext uri="{FF2B5EF4-FFF2-40B4-BE49-F238E27FC236}">
                <a16:creationId xmlns:a16="http://schemas.microsoft.com/office/drawing/2014/main" id="{883C0B57-32A1-020D-7BDF-BC12E409F16D}"/>
              </a:ext>
            </a:extLst>
          </p:cNvPr>
          <p:cNvSpPr>
            <a:spLocks noGrp="1"/>
          </p:cNvSpPr>
          <p:nvPr>
            <p:ph idx="1"/>
          </p:nvPr>
        </p:nvSpPr>
        <p:spPr>
          <a:xfrm>
            <a:off x="838200" y="1500160"/>
            <a:ext cx="10400414" cy="4856190"/>
          </a:xfrm>
        </p:spPr>
        <p:txBody>
          <a:bodyPr>
            <a:normAutofit/>
          </a:bodyPr>
          <a:lstStyle/>
          <a:p>
            <a:r>
              <a:rPr lang="en-US" dirty="0"/>
              <a:t>Value Sensitive Design (VSD) is one framework recommends paying special attention to </a:t>
            </a:r>
            <a:r>
              <a:rPr lang="en-US" b="1" dirty="0"/>
              <a:t>stakeholders</a:t>
            </a:r>
            <a:r>
              <a:rPr lang="en-US" dirty="0"/>
              <a:t> and </a:t>
            </a:r>
            <a:r>
              <a:rPr lang="en-US" b="1" dirty="0"/>
              <a:t>human values </a:t>
            </a:r>
            <a:r>
              <a:rPr lang="en-US" dirty="0"/>
              <a:t>when writing and prioritizing user stories</a:t>
            </a:r>
          </a:p>
          <a:p>
            <a:r>
              <a:rPr lang="en-US" dirty="0"/>
              <a:t>Combines </a:t>
            </a:r>
            <a:r>
              <a:rPr lang="en-US" b="1" dirty="0">
                <a:solidFill>
                  <a:srgbClr val="FF0000"/>
                </a:solidFill>
              </a:rPr>
              <a:t>empirical</a:t>
            </a:r>
            <a:r>
              <a:rPr lang="en-US" dirty="0"/>
              <a:t>, </a:t>
            </a:r>
            <a:r>
              <a:rPr lang="en-US" b="1" dirty="0">
                <a:solidFill>
                  <a:srgbClr val="FF0000"/>
                </a:solidFill>
              </a:rPr>
              <a:t>value</a:t>
            </a:r>
            <a:r>
              <a:rPr lang="en-US" dirty="0"/>
              <a:t>, and </a:t>
            </a:r>
            <a:r>
              <a:rPr lang="en-US" b="1" dirty="0">
                <a:solidFill>
                  <a:srgbClr val="FF0000"/>
                </a:solidFill>
              </a:rPr>
              <a:t>technical</a:t>
            </a:r>
            <a:r>
              <a:rPr lang="en-US" dirty="0"/>
              <a:t> </a:t>
            </a:r>
          </a:p>
        </p:txBody>
      </p:sp>
      <p:sp>
        <p:nvSpPr>
          <p:cNvPr id="4" name="Slide Number Placeholder 3">
            <a:extLst>
              <a:ext uri="{FF2B5EF4-FFF2-40B4-BE49-F238E27FC236}">
                <a16:creationId xmlns:a16="http://schemas.microsoft.com/office/drawing/2014/main" id="{2AB92C93-4088-A5CF-84EB-E05A618D8893}"/>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1101357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7E31F-9432-D273-E657-9160918E2DFC}"/>
              </a:ext>
            </a:extLst>
          </p:cNvPr>
          <p:cNvSpPr>
            <a:spLocks noGrp="1"/>
          </p:cNvSpPr>
          <p:nvPr>
            <p:ph type="title"/>
          </p:nvPr>
        </p:nvSpPr>
        <p:spPr/>
        <p:txBody>
          <a:bodyPr/>
          <a:lstStyle/>
          <a:p>
            <a:r>
              <a:rPr lang="en-US" dirty="0"/>
              <a:t>VSD Example – Informed Consent</a:t>
            </a:r>
          </a:p>
        </p:txBody>
      </p:sp>
      <p:sp>
        <p:nvSpPr>
          <p:cNvPr id="3" name="Content Placeholder 2">
            <a:extLst>
              <a:ext uri="{FF2B5EF4-FFF2-40B4-BE49-F238E27FC236}">
                <a16:creationId xmlns:a16="http://schemas.microsoft.com/office/drawing/2014/main" id="{A47FEDD6-9257-06C3-64D2-A03956520DFA}"/>
              </a:ext>
            </a:extLst>
          </p:cNvPr>
          <p:cNvSpPr>
            <a:spLocks noGrp="1"/>
          </p:cNvSpPr>
          <p:nvPr>
            <p:ph idx="1"/>
          </p:nvPr>
        </p:nvSpPr>
        <p:spPr>
          <a:xfrm>
            <a:off x="838200" y="1542364"/>
            <a:ext cx="3563678" cy="4856190"/>
          </a:xfrm>
        </p:spPr>
        <p:txBody>
          <a:bodyPr>
            <a:normAutofit fontScale="77500" lnSpcReduction="20000"/>
          </a:bodyPr>
          <a:lstStyle/>
          <a:p>
            <a:pPr marL="0" indent="0">
              <a:buNone/>
            </a:pPr>
            <a:r>
              <a:rPr lang="en-US" sz="3300" dirty="0">
                <a:solidFill>
                  <a:srgbClr val="FF0000"/>
                </a:solidFill>
              </a:rPr>
              <a:t>Empirical Investigation:</a:t>
            </a:r>
          </a:p>
          <a:p>
            <a:pPr>
              <a:buFont typeface="Wingdings" pitchFamily="2" charset="2"/>
              <a:buChar char="v"/>
            </a:pPr>
            <a:r>
              <a:rPr lang="en-US" dirty="0"/>
              <a:t> </a:t>
            </a:r>
            <a:r>
              <a:rPr lang="en-US" sz="3100" dirty="0"/>
              <a:t>Understand what we mean by informed consent, encompasses:</a:t>
            </a:r>
          </a:p>
          <a:p>
            <a:pPr lvl="1">
              <a:buFont typeface="Wingdings" pitchFamily="2" charset="2"/>
              <a:buChar char="Ø"/>
            </a:pPr>
            <a:r>
              <a:rPr lang="en-US" dirty="0"/>
              <a:t> Disclosure. Do we know the pros and cons of taking an action?</a:t>
            </a:r>
          </a:p>
          <a:p>
            <a:pPr lvl="1">
              <a:buFont typeface="Wingdings" pitchFamily="2" charset="2"/>
              <a:buChar char="Ø"/>
            </a:pPr>
            <a:r>
              <a:rPr lang="en-US" dirty="0"/>
              <a:t>Comprehension. Do we understand the disclosures?</a:t>
            </a:r>
          </a:p>
          <a:p>
            <a:pPr lvl="1">
              <a:buFont typeface="Wingdings" pitchFamily="2" charset="2"/>
              <a:buChar char="Ø"/>
            </a:pPr>
            <a:r>
              <a:rPr lang="en-US" dirty="0"/>
              <a:t>Voluntariness. Is there coercion or manipulation?</a:t>
            </a:r>
          </a:p>
          <a:p>
            <a:pPr lvl="1">
              <a:buFont typeface="Wingdings" pitchFamily="2" charset="2"/>
              <a:buChar char="Ø"/>
            </a:pPr>
            <a:r>
              <a:rPr lang="en-US" dirty="0"/>
              <a:t>Agreement. Is there a clear opportunity to consent or not?</a:t>
            </a:r>
          </a:p>
          <a:p>
            <a:pPr lvl="1">
              <a:buFont typeface="Wingdings" pitchFamily="2" charset="2"/>
              <a:buChar char="Ø"/>
            </a:pPr>
            <a:r>
              <a:rPr lang="en-US" dirty="0"/>
              <a:t>Competence. Are we capable to give consent?</a:t>
            </a:r>
          </a:p>
          <a:p>
            <a:pPr>
              <a:buFont typeface="Wingdings" pitchFamily="2" charset="2"/>
              <a:buChar char="v"/>
            </a:pPr>
            <a:endParaRPr lang="en-US" dirty="0"/>
          </a:p>
          <a:p>
            <a:pPr marL="0" indent="0">
              <a:buNone/>
            </a:pPr>
            <a:endParaRPr lang="en-US" dirty="0"/>
          </a:p>
          <a:p>
            <a:pPr lvl="1"/>
            <a:endParaRPr lang="en-US" dirty="0"/>
          </a:p>
        </p:txBody>
      </p:sp>
      <p:sp>
        <p:nvSpPr>
          <p:cNvPr id="4" name="Slide Number Placeholder 3">
            <a:extLst>
              <a:ext uri="{FF2B5EF4-FFF2-40B4-BE49-F238E27FC236}">
                <a16:creationId xmlns:a16="http://schemas.microsoft.com/office/drawing/2014/main" id="{1A309984-5F97-FD9B-DE57-02FEB834038B}"/>
              </a:ext>
            </a:extLst>
          </p:cNvPr>
          <p:cNvSpPr>
            <a:spLocks noGrp="1"/>
          </p:cNvSpPr>
          <p:nvPr>
            <p:ph type="sldNum" sz="quarter" idx="12"/>
          </p:nvPr>
        </p:nvSpPr>
        <p:spPr/>
        <p:txBody>
          <a:bodyPr/>
          <a:lstStyle/>
          <a:p>
            <a:fld id="{20F37917-FD3A-4669-9018-DA04BCDD3D75}" type="slidenum">
              <a:rPr lang="en-US" smtClean="0"/>
              <a:t>12</a:t>
            </a:fld>
            <a:endParaRPr lang="en-US"/>
          </a:p>
        </p:txBody>
      </p:sp>
      <p:sp>
        <p:nvSpPr>
          <p:cNvPr id="5" name="Content Placeholder 2">
            <a:extLst>
              <a:ext uri="{FF2B5EF4-FFF2-40B4-BE49-F238E27FC236}">
                <a16:creationId xmlns:a16="http://schemas.microsoft.com/office/drawing/2014/main" id="{7C8C59BE-2B9E-3A09-FADE-C47010207B67}"/>
              </a:ext>
            </a:extLst>
          </p:cNvPr>
          <p:cNvSpPr txBox="1">
            <a:spLocks/>
          </p:cNvSpPr>
          <p:nvPr/>
        </p:nvSpPr>
        <p:spPr>
          <a:xfrm>
            <a:off x="4531242" y="1500160"/>
            <a:ext cx="380468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Values Investigation:</a:t>
            </a:r>
          </a:p>
          <a:p>
            <a:pPr>
              <a:buFont typeface="Wingdings" pitchFamily="2" charset="2"/>
              <a:buChar char="v"/>
            </a:pPr>
            <a:r>
              <a:rPr lang="en-US" dirty="0"/>
              <a:t> Who are the direct and indirect stakeholders?</a:t>
            </a:r>
          </a:p>
          <a:p>
            <a:pPr>
              <a:buFont typeface="Wingdings" pitchFamily="2" charset="2"/>
              <a:buChar char="v"/>
            </a:pPr>
            <a:r>
              <a:rPr lang="en-US" dirty="0"/>
              <a:t>Do the stakeholders have conflicting values?</a:t>
            </a:r>
          </a:p>
          <a:p>
            <a:pPr>
              <a:buFont typeface="Wingdings" pitchFamily="2" charset="2"/>
              <a:buChar char="v"/>
            </a:pPr>
            <a:r>
              <a:rPr lang="en-US" dirty="0"/>
              <a:t>How can we resolve them?</a:t>
            </a:r>
          </a:p>
          <a:p>
            <a:pPr>
              <a:buFont typeface="Wingdings" pitchFamily="2" charset="2"/>
              <a:buChar char="v"/>
            </a:pPr>
            <a:endParaRPr lang="en-US" dirty="0"/>
          </a:p>
          <a:p>
            <a:pPr lvl="1"/>
            <a:endParaRPr lang="en-US" dirty="0"/>
          </a:p>
        </p:txBody>
      </p:sp>
      <p:sp>
        <p:nvSpPr>
          <p:cNvPr id="6" name="Content Placeholder 2">
            <a:extLst>
              <a:ext uri="{FF2B5EF4-FFF2-40B4-BE49-F238E27FC236}">
                <a16:creationId xmlns:a16="http://schemas.microsoft.com/office/drawing/2014/main" id="{5CBCCECD-1E8C-0DA4-098C-A5837F9D9535}"/>
              </a:ext>
            </a:extLst>
          </p:cNvPr>
          <p:cNvSpPr txBox="1">
            <a:spLocks/>
          </p:cNvSpPr>
          <p:nvPr/>
        </p:nvSpPr>
        <p:spPr>
          <a:xfrm>
            <a:off x="8265042" y="1500160"/>
            <a:ext cx="3804684"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Technical Investigation:</a:t>
            </a:r>
          </a:p>
          <a:p>
            <a:pPr>
              <a:buFont typeface="Wingdings" pitchFamily="2" charset="2"/>
              <a:buChar char="v"/>
            </a:pPr>
            <a:r>
              <a:rPr lang="en-US" dirty="0"/>
              <a:t> What are the technical mechanisms for implementing informed consent.</a:t>
            </a:r>
          </a:p>
          <a:p>
            <a:pPr lvl="1">
              <a:buFont typeface="Wingdings" pitchFamily="2" charset="2"/>
              <a:buChar char="Ø"/>
            </a:pPr>
            <a:r>
              <a:rPr lang="en-US" dirty="0"/>
              <a:t> One way =&gt; cookie consent management system.</a:t>
            </a:r>
          </a:p>
          <a:p>
            <a:pPr lvl="1">
              <a:buFont typeface="Wingdings" pitchFamily="2" charset="2"/>
              <a:buChar char="Ø"/>
            </a:pPr>
            <a:r>
              <a:rPr lang="en-US" dirty="0"/>
              <a:t>Websites use them to obtain and manage user permission for using cookies.</a:t>
            </a:r>
          </a:p>
        </p:txBody>
      </p:sp>
      <p:sp>
        <p:nvSpPr>
          <p:cNvPr id="7" name="Rectangle 6">
            <a:extLst>
              <a:ext uri="{FF2B5EF4-FFF2-40B4-BE49-F238E27FC236}">
                <a16:creationId xmlns:a16="http://schemas.microsoft.com/office/drawing/2014/main" id="{B34C18CB-D004-428A-F501-7FEE682E18D0}"/>
              </a:ext>
            </a:extLst>
          </p:cNvPr>
          <p:cNvSpPr/>
          <p:nvPr/>
        </p:nvSpPr>
        <p:spPr>
          <a:xfrm>
            <a:off x="8003005" y="6007840"/>
            <a:ext cx="2743200" cy="681622"/>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800" dirty="0">
                <a:solidFill>
                  <a:schemeClr val="tx1"/>
                </a:solidFill>
              </a:rPr>
              <a:t>Read the tutorial!</a:t>
            </a:r>
          </a:p>
        </p:txBody>
      </p:sp>
    </p:spTree>
    <p:extLst>
      <p:ext uri="{BB962C8B-B14F-4D97-AF65-F5344CB8AC3E}">
        <p14:creationId xmlns:p14="http://schemas.microsoft.com/office/powerpoint/2010/main" val="2148081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91D9ED5-EC8A-5B6F-2AC3-C1B6C9D26B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549E56-1CAD-DE0E-70E8-DE9831C2E46F}"/>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13</a:t>
            </a:fld>
            <a:endParaRPr lang="en-US"/>
          </a:p>
        </p:txBody>
      </p:sp>
      <p:sp>
        <p:nvSpPr>
          <p:cNvPr id="2" name="Title 1">
            <a:extLst>
              <a:ext uri="{FF2B5EF4-FFF2-40B4-BE49-F238E27FC236}">
                <a16:creationId xmlns:a16="http://schemas.microsoft.com/office/drawing/2014/main" id="{78D10A9E-DF09-9E7F-36E9-8E8841D64618}"/>
              </a:ext>
            </a:extLst>
          </p:cNvPr>
          <p:cNvSpPr>
            <a:spLocks noGrp="1"/>
          </p:cNvSpPr>
          <p:nvPr>
            <p:ph type="title"/>
          </p:nvPr>
        </p:nvSpPr>
        <p:spPr>
          <a:xfrm>
            <a:off x="838200" y="18255"/>
            <a:ext cx="10515600" cy="1325563"/>
          </a:xfrm>
        </p:spPr>
        <p:txBody>
          <a:bodyPr>
            <a:noAutofit/>
          </a:bodyPr>
          <a:lstStyle/>
          <a:p>
            <a:r>
              <a:rPr lang="en-US" dirty="0"/>
              <a:t>Part 3: Test-Driven Development</a:t>
            </a:r>
          </a:p>
        </p:txBody>
      </p:sp>
      <p:grpSp>
        <p:nvGrpSpPr>
          <p:cNvPr id="25" name="Group 24">
            <a:extLst>
              <a:ext uri="{FF2B5EF4-FFF2-40B4-BE49-F238E27FC236}">
                <a16:creationId xmlns:a16="http://schemas.microsoft.com/office/drawing/2014/main" id="{47129DF8-CB8D-4C3B-F24E-A15C19983A85}"/>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1F784C7D-C16C-230F-6028-DA49A718655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5CCD0D6B-A492-3D3F-D306-AFD2D2034D6B}"/>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0E11AE50-5FB0-2C84-C39F-A682A09379AF}"/>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CB2E636A-157E-4B2F-AF1C-8BD44CDA117B}"/>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8D33BD8B-1511-D15F-28FF-3E8E1EF7A45D}"/>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D24252AE-78BD-235F-55D0-8C427EB0FCDD}"/>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437E74D3-AF29-F578-71FA-B7D348074C13}"/>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331E30FE-7DE5-4E3F-FB80-B408F77D879A}"/>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115E6A29-0834-813B-A102-7A252175C39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92ABE6BA-F07F-C6D5-83EF-9E7A1078BF48}"/>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4E513908-E9CE-056A-88C5-7F29B166CF08}"/>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6A0AD507-ED27-E88A-B7BB-709C69CAB94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BD2DDAA7-5FC3-027A-B6E1-C8A49B02622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F41E4B03-6679-21F7-79FA-DD48ADF9E06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46738831-E2AB-A281-1472-D41169F1D243}"/>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7866BB31-972B-D916-1999-519F7E4FEDF1}"/>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B6831BBE-5C93-6424-4902-79AA9259A45F}"/>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AE6CC204-B74D-D763-4D0C-73F95D5DF584}"/>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E1DE128E-A6A3-D0A1-1401-EEE5D8914F16}"/>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D5717001-0F52-8751-D852-D92AB0787A03}"/>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9F794400-ECE7-C29A-017B-B258828E6D7A}"/>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0C6411A-6CAB-56C5-125E-06A026BA691D}"/>
              </a:ext>
            </a:extLst>
          </p:cNvPr>
          <p:cNvSpPr txBox="1"/>
          <p:nvPr/>
        </p:nvSpPr>
        <p:spPr>
          <a:xfrm>
            <a:off x="4319921" y="3842373"/>
            <a:ext cx="7768500" cy="2800767"/>
          </a:xfrm>
          <a:prstGeom prst="rect">
            <a:avLst/>
          </a:prstGeom>
          <a:noFill/>
        </p:spPr>
        <p:txBody>
          <a:bodyPr wrap="square" rtlCol="0">
            <a:spAutoFit/>
          </a:bodyPr>
          <a:lstStyle/>
          <a:p>
            <a:r>
              <a:rPr lang="en-US" sz="4400" dirty="0"/>
              <a:t>Requirements Analysis</a:t>
            </a:r>
          </a:p>
          <a:p>
            <a:r>
              <a:rPr lang="en-US" sz="4400" dirty="0"/>
              <a:t>User Stories</a:t>
            </a:r>
          </a:p>
          <a:p>
            <a:r>
              <a:rPr lang="en-US" sz="4400" dirty="0">
                <a:solidFill>
                  <a:srgbClr val="FF0000"/>
                </a:solidFill>
              </a:rPr>
              <a:t>Testing Conditions of Satisfaction</a:t>
            </a:r>
          </a:p>
          <a:p>
            <a:endParaRPr lang="en-US" sz="4400" dirty="0"/>
          </a:p>
        </p:txBody>
      </p:sp>
    </p:spTree>
    <p:extLst>
      <p:ext uri="{BB962C8B-B14F-4D97-AF65-F5344CB8AC3E}">
        <p14:creationId xmlns:p14="http://schemas.microsoft.com/office/powerpoint/2010/main" val="3628483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84ADF-FE0F-18D6-23B1-708E70C861E8}"/>
              </a:ext>
            </a:extLst>
          </p:cNvPr>
          <p:cNvSpPr>
            <a:spLocks noGrp="1"/>
          </p:cNvSpPr>
          <p:nvPr>
            <p:ph type="title"/>
          </p:nvPr>
        </p:nvSpPr>
        <p:spPr>
          <a:xfrm>
            <a:off x="838200" y="18255"/>
            <a:ext cx="10515600" cy="1325563"/>
          </a:xfrm>
        </p:spPr>
        <p:txBody>
          <a:bodyPr anchor="b">
            <a:normAutofit/>
          </a:bodyPr>
          <a:lstStyle/>
          <a:p>
            <a:r>
              <a:rPr lang="en-US"/>
              <a:t>Review: User Stories</a:t>
            </a:r>
          </a:p>
        </p:txBody>
      </p:sp>
      <p:sp>
        <p:nvSpPr>
          <p:cNvPr id="3" name="Content Placeholder 2">
            <a:extLst>
              <a:ext uri="{FF2B5EF4-FFF2-40B4-BE49-F238E27FC236}">
                <a16:creationId xmlns:a16="http://schemas.microsoft.com/office/drawing/2014/main" id="{37332AC8-CB08-5618-1BDB-C47109161E18}"/>
              </a:ext>
            </a:extLst>
          </p:cNvPr>
          <p:cNvSpPr>
            <a:spLocks noGrp="1"/>
          </p:cNvSpPr>
          <p:nvPr>
            <p:ph idx="1"/>
          </p:nvPr>
        </p:nvSpPr>
        <p:spPr>
          <a:xfrm>
            <a:off x="838200" y="1500188"/>
            <a:ext cx="5398477" cy="4351337"/>
          </a:xfrm>
        </p:spPr>
        <p:txBody>
          <a:bodyPr>
            <a:normAutofit/>
          </a:bodyPr>
          <a:lstStyle/>
          <a:p>
            <a:r>
              <a:rPr lang="en-US"/>
              <a:t>As a College Administrator, I want to keep track of students, the courses they have taken, and the grades they received in those courses, so that I can advise them on their studies. </a:t>
            </a:r>
          </a:p>
          <a:p>
            <a:endParaRPr lang="en-US"/>
          </a:p>
          <a:p>
            <a:endParaRPr lang="en-US"/>
          </a:p>
        </p:txBody>
      </p:sp>
      <p:sp>
        <p:nvSpPr>
          <p:cNvPr id="4" name="Slide Number Placeholder 3">
            <a:extLst>
              <a:ext uri="{FF2B5EF4-FFF2-40B4-BE49-F238E27FC236}">
                <a16:creationId xmlns:a16="http://schemas.microsoft.com/office/drawing/2014/main" id="{45D9D304-197D-D28C-47A3-F050ED4CFEFD}"/>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14</a:t>
            </a:fld>
            <a:endParaRPr lang="en-US"/>
          </a:p>
        </p:txBody>
      </p:sp>
      <p:pic>
        <p:nvPicPr>
          <p:cNvPr id="6" name="Picture 5" descr="Desks in empty classroom">
            <a:extLst>
              <a:ext uri="{FF2B5EF4-FFF2-40B4-BE49-F238E27FC236}">
                <a16:creationId xmlns:a16="http://schemas.microsoft.com/office/drawing/2014/main" id="{A1D5F13B-85D3-6647-C620-963D1004D32F}"/>
              </a:ext>
            </a:extLst>
          </p:cNvPr>
          <p:cNvPicPr>
            <a:picLocks noChangeAspect="1"/>
          </p:cNvPicPr>
          <p:nvPr/>
        </p:nvPicPr>
        <p:blipFill>
          <a:blip r:embed="rId2"/>
          <a:srcRect l="14074" r="10698"/>
          <a:stretch/>
        </p:blipFill>
        <p:spPr>
          <a:xfrm>
            <a:off x="654281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17" name="TextBox 16">
            <a:extLst>
              <a:ext uri="{FF2B5EF4-FFF2-40B4-BE49-F238E27FC236}">
                <a16:creationId xmlns:a16="http://schemas.microsoft.com/office/drawing/2014/main" id="{16C2857B-8A36-A115-3BF1-056D7D339333}"/>
              </a:ext>
            </a:extLst>
          </p:cNvPr>
          <p:cNvSpPr txBox="1"/>
          <p:nvPr/>
        </p:nvSpPr>
        <p:spPr>
          <a:xfrm>
            <a:off x="248338" y="4388316"/>
            <a:ext cx="7981262"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a:solidFill>
                  <a:srgbClr val="FF0000"/>
                </a:solidFill>
                <a:latin typeface="Ink Free" panose="03080402000500000000" pitchFamily="66" charset="0"/>
              </a:rPr>
              <a:t>As a &lt;role&gt; </a:t>
            </a:r>
            <a:br>
              <a:rPr lang="en-US" sz="3200" b="1" i="1">
                <a:solidFill>
                  <a:srgbClr val="FF0000"/>
                </a:solidFill>
                <a:latin typeface="Ink Free" panose="03080402000500000000" pitchFamily="66" charset="0"/>
              </a:rPr>
            </a:br>
            <a:r>
              <a:rPr lang="en-US" sz="3200" b="1" i="1">
                <a:solidFill>
                  <a:srgbClr val="FF0000"/>
                </a:solidFill>
                <a:latin typeface="Ink Free" panose="03080402000500000000" pitchFamily="66" charset="0"/>
              </a:rPr>
              <a:t>I want &lt;capability&gt; </a:t>
            </a:r>
          </a:p>
          <a:p>
            <a:r>
              <a:rPr lang="en-US" sz="3200" b="1" i="1">
                <a:solidFill>
                  <a:srgbClr val="FF0000"/>
                </a:solidFill>
                <a:latin typeface="Ink Free" panose="03080402000500000000" pitchFamily="66" charset="0"/>
              </a:rPr>
              <a:t>so that I can &lt;get some benefit&gt;</a:t>
            </a:r>
          </a:p>
        </p:txBody>
      </p:sp>
    </p:spTree>
    <p:extLst>
      <p:ext uri="{BB962C8B-B14F-4D97-AF65-F5344CB8AC3E}">
        <p14:creationId xmlns:p14="http://schemas.microsoft.com/office/powerpoint/2010/main" val="2373629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0A76719-B99C-FED3-AB8B-6CD70C81E060}"/>
              </a:ext>
            </a:extLst>
          </p:cNvPr>
          <p:cNvSpPr>
            <a:spLocks noGrp="1"/>
          </p:cNvSpPr>
          <p:nvPr>
            <p:ph type="title"/>
          </p:nvPr>
        </p:nvSpPr>
        <p:spPr>
          <a:xfrm>
            <a:off x="838200" y="18255"/>
            <a:ext cx="10515600" cy="1325563"/>
          </a:xfrm>
        </p:spPr>
        <p:txBody>
          <a:bodyPr/>
          <a:lstStyle/>
          <a:p>
            <a:r>
              <a:rPr lang="en-US" dirty="0"/>
              <a:t>Review: Conditions of Satisfaction</a:t>
            </a:r>
          </a:p>
        </p:txBody>
      </p:sp>
      <p:sp>
        <p:nvSpPr>
          <p:cNvPr id="3" name="Content Placeholder 2">
            <a:extLst>
              <a:ext uri="{FF2B5EF4-FFF2-40B4-BE49-F238E27FC236}">
                <a16:creationId xmlns:a16="http://schemas.microsoft.com/office/drawing/2014/main" id="{3C270DA0-CEDD-7D08-8774-EAEB8515E419}"/>
              </a:ext>
            </a:extLst>
          </p:cNvPr>
          <p:cNvSpPr>
            <a:spLocks noGrp="1"/>
          </p:cNvSpPr>
          <p:nvPr>
            <p:ph idx="1"/>
          </p:nvPr>
        </p:nvSpPr>
        <p:spPr>
          <a:xfrm>
            <a:off x="838200" y="1500188"/>
            <a:ext cx="7886700" cy="4351337"/>
          </a:xfrm>
        </p:spPr>
        <p:txBody>
          <a:bodyPr>
            <a:normAutofit lnSpcReduction="10000"/>
          </a:bodyPr>
          <a:lstStyle/>
          <a:p>
            <a:r>
              <a:rPr lang="en-US"/>
              <a:t>We will build a secure web application backed by a persistent database that allows an authenticated administrator to:</a:t>
            </a:r>
          </a:p>
          <a:p>
            <a:pPr lvl="1"/>
            <a:r>
              <a:rPr lang="en-US"/>
              <a:t>Add a new student to the database</a:t>
            </a:r>
          </a:p>
          <a:p>
            <a:pPr lvl="1"/>
            <a:r>
              <a:rPr lang="en-US"/>
              <a:t>Add a new student with the same name as an existing student.</a:t>
            </a:r>
          </a:p>
          <a:p>
            <a:pPr lvl="1"/>
            <a:r>
              <a:rPr lang="en-US"/>
              <a:t>Retrieve the transcript for a student</a:t>
            </a:r>
          </a:p>
          <a:p>
            <a:pPr lvl="1"/>
            <a:r>
              <a:rPr lang="en-US"/>
              <a:t>Delete a student from the database</a:t>
            </a:r>
          </a:p>
          <a:p>
            <a:pPr lvl="1"/>
            <a:r>
              <a:rPr lang="en-US"/>
              <a:t>Add a new grade for an existing student</a:t>
            </a:r>
          </a:p>
          <a:p>
            <a:pPr lvl="1"/>
            <a:r>
              <a:rPr lang="en-US"/>
              <a:t>Find out the grade that a student got in a course that they took</a:t>
            </a:r>
          </a:p>
          <a:p>
            <a:endParaRPr lang="en-US"/>
          </a:p>
        </p:txBody>
      </p:sp>
      <p:sp>
        <p:nvSpPr>
          <p:cNvPr id="4" name="Slide Number Placeholder 3">
            <a:extLst>
              <a:ext uri="{FF2B5EF4-FFF2-40B4-BE49-F238E27FC236}">
                <a16:creationId xmlns:a16="http://schemas.microsoft.com/office/drawing/2014/main" id="{78E266D1-9118-64E3-6ECA-ABE996CBECE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15</a:t>
            </a:fld>
            <a:endParaRPr lang="en-US"/>
          </a:p>
        </p:txBody>
      </p:sp>
    </p:spTree>
    <p:extLst>
      <p:ext uri="{BB962C8B-B14F-4D97-AF65-F5344CB8AC3E}">
        <p14:creationId xmlns:p14="http://schemas.microsoft.com/office/powerpoint/2010/main" val="1574217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8F72-C513-AC48-ADFF-E6E65E49D6DC}"/>
              </a:ext>
            </a:extLst>
          </p:cNvPr>
          <p:cNvSpPr>
            <a:spLocks noGrp="1"/>
          </p:cNvSpPr>
          <p:nvPr>
            <p:ph type="title"/>
          </p:nvPr>
        </p:nvSpPr>
        <p:spPr/>
        <p:txBody>
          <a:bodyPr>
            <a:normAutofit/>
          </a:bodyPr>
          <a:lstStyle/>
          <a:p>
            <a:r>
              <a:rPr lang="en-US" sz="3600" dirty="0"/>
              <a:t>Test Driven Development (TDD)</a:t>
            </a:r>
          </a:p>
        </p:txBody>
      </p:sp>
      <p:sp>
        <p:nvSpPr>
          <p:cNvPr id="3" name="Content Placeholder 2">
            <a:extLst>
              <a:ext uri="{FF2B5EF4-FFF2-40B4-BE49-F238E27FC236}">
                <a16:creationId xmlns:a16="http://schemas.microsoft.com/office/drawing/2014/main" id="{ADAB3463-9C3C-8346-A06A-BAD33DA43ABE}"/>
              </a:ext>
            </a:extLst>
          </p:cNvPr>
          <p:cNvSpPr>
            <a:spLocks noGrp="1"/>
          </p:cNvSpPr>
          <p:nvPr>
            <p:ph sz="half" idx="1"/>
          </p:nvPr>
        </p:nvSpPr>
        <p:spPr>
          <a:xfrm>
            <a:off x="838200" y="1825625"/>
            <a:ext cx="9284368" cy="4351338"/>
          </a:xfrm>
        </p:spPr>
        <p:txBody>
          <a:bodyPr>
            <a:normAutofit/>
          </a:bodyPr>
          <a:lstStyle/>
          <a:p>
            <a:r>
              <a:rPr lang="en-US" altLang="en-US" dirty="0"/>
              <a:t>Puts test specification as the critical design activity</a:t>
            </a:r>
          </a:p>
          <a:p>
            <a:pPr lvl="1"/>
            <a:r>
              <a:rPr lang="en-US" altLang="en-US" dirty="0"/>
              <a:t>Understands that deployment comes when the system passes testing </a:t>
            </a:r>
          </a:p>
          <a:p>
            <a:r>
              <a:rPr lang="en-US" altLang="en-US" dirty="0"/>
              <a:t>The act of defining tests requires a deep understanding of the problem</a:t>
            </a:r>
          </a:p>
          <a:p>
            <a:r>
              <a:rPr lang="en-US" altLang="en-US" dirty="0"/>
              <a:t>Clearly defines what success means</a:t>
            </a:r>
          </a:p>
          <a:p>
            <a:pPr lvl="1"/>
            <a:r>
              <a:rPr lang="en-US" altLang="en-US" dirty="0"/>
              <a:t>No more guesswork as to what “complete” means</a:t>
            </a:r>
          </a:p>
        </p:txBody>
      </p:sp>
      <p:sp>
        <p:nvSpPr>
          <p:cNvPr id="5" name="Slide Number Placeholder 4">
            <a:extLst>
              <a:ext uri="{FF2B5EF4-FFF2-40B4-BE49-F238E27FC236}">
                <a16:creationId xmlns:a16="http://schemas.microsoft.com/office/drawing/2014/main" id="{84BF218D-52FC-C947-8067-44F1E513C508}"/>
              </a:ext>
            </a:extLst>
          </p:cNvPr>
          <p:cNvSpPr>
            <a:spLocks noGrp="1"/>
          </p:cNvSpPr>
          <p:nvPr>
            <p:ph type="sldNum" sz="quarter" idx="12"/>
          </p:nvPr>
        </p:nvSpPr>
        <p:spPr/>
        <p:txBody>
          <a:bodyPr/>
          <a:lstStyle/>
          <a:p>
            <a:fld id="{20F37917-FD3A-4669-9018-DA04BCDD3D75}" type="slidenum">
              <a:rPr lang="en-US" smtClean="0"/>
              <a:t>16</a:t>
            </a:fld>
            <a:endParaRPr lang="en-US"/>
          </a:p>
        </p:txBody>
      </p:sp>
    </p:spTree>
    <p:extLst>
      <p:ext uri="{BB962C8B-B14F-4D97-AF65-F5344CB8AC3E}">
        <p14:creationId xmlns:p14="http://schemas.microsoft.com/office/powerpoint/2010/main" val="1104882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B319D2-A26F-0955-A1EA-5E20C6DE8B51}"/>
              </a:ext>
            </a:extLst>
          </p:cNvPr>
          <p:cNvSpPr>
            <a:spLocks noGrp="1"/>
          </p:cNvSpPr>
          <p:nvPr>
            <p:ph type="title"/>
          </p:nvPr>
        </p:nvSpPr>
        <p:spPr/>
        <p:txBody>
          <a:bodyPr>
            <a:normAutofit/>
          </a:bodyPr>
          <a:lstStyle/>
          <a:p>
            <a:r>
              <a:rPr lang="en-US" sz="3600" dirty="0"/>
              <a:t>The TDD Cycle</a:t>
            </a:r>
          </a:p>
        </p:txBody>
      </p:sp>
      <p:sp>
        <p:nvSpPr>
          <p:cNvPr id="5" name="Slide Number Placeholder 4">
            <a:extLst>
              <a:ext uri="{FF2B5EF4-FFF2-40B4-BE49-F238E27FC236}">
                <a16:creationId xmlns:a16="http://schemas.microsoft.com/office/drawing/2014/main" id="{3844B684-8FB0-46B8-407B-6DBE8B851CE4}"/>
              </a:ext>
            </a:extLst>
          </p:cNvPr>
          <p:cNvSpPr>
            <a:spLocks noGrp="1"/>
          </p:cNvSpPr>
          <p:nvPr>
            <p:ph type="sldNum" sz="quarter" idx="12"/>
          </p:nvPr>
        </p:nvSpPr>
        <p:spPr/>
        <p:txBody>
          <a:bodyPr/>
          <a:lstStyle/>
          <a:p>
            <a:fld id="{20F37917-FD3A-4669-9018-DA04BCDD3D75}" type="slidenum">
              <a:rPr lang="en-US" smtClean="0"/>
              <a:t>17</a:t>
            </a:fld>
            <a:endParaRPr lang="en-US"/>
          </a:p>
        </p:txBody>
      </p:sp>
      <p:grpSp>
        <p:nvGrpSpPr>
          <p:cNvPr id="23" name="Group 22">
            <a:extLst>
              <a:ext uri="{FF2B5EF4-FFF2-40B4-BE49-F238E27FC236}">
                <a16:creationId xmlns:a16="http://schemas.microsoft.com/office/drawing/2014/main" id="{2F116E24-F2B5-D4ED-24D3-6802E0F42725}"/>
              </a:ext>
            </a:extLst>
          </p:cNvPr>
          <p:cNvGrpSpPr/>
          <p:nvPr/>
        </p:nvGrpSpPr>
        <p:grpSpPr>
          <a:xfrm>
            <a:off x="156796" y="2293785"/>
            <a:ext cx="11321493" cy="1904613"/>
            <a:chOff x="133350" y="1652027"/>
            <a:chExt cx="11321493" cy="1904613"/>
          </a:xfrm>
        </p:grpSpPr>
        <p:sp>
          <p:nvSpPr>
            <p:cNvPr id="9" name="Rectangle: Rounded Corners 8">
              <a:extLst>
                <a:ext uri="{FF2B5EF4-FFF2-40B4-BE49-F238E27FC236}">
                  <a16:creationId xmlns:a16="http://schemas.microsoft.com/office/drawing/2014/main" id="{9B7831DA-7020-B7A2-42AA-385F63B61815}"/>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Satisfaction Conditions</a:t>
              </a:r>
            </a:p>
          </p:txBody>
        </p:sp>
        <p:sp>
          <p:nvSpPr>
            <p:cNvPr id="10" name="Rectangle: Rounded Corners 9">
              <a:extLst>
                <a:ext uri="{FF2B5EF4-FFF2-40B4-BE49-F238E27FC236}">
                  <a16:creationId xmlns:a16="http://schemas.microsoft.com/office/drawing/2014/main" id="{33196CED-8A44-EF6D-D876-156032EBBEE8}"/>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Executable Tests</a:t>
              </a:r>
            </a:p>
          </p:txBody>
        </p:sp>
        <p:sp>
          <p:nvSpPr>
            <p:cNvPr id="11" name="Rectangle: Rounded Corners 10">
              <a:extLst>
                <a:ext uri="{FF2B5EF4-FFF2-40B4-BE49-F238E27FC236}">
                  <a16:creationId xmlns:a16="http://schemas.microsoft.com/office/drawing/2014/main" id="{84F0FCC6-6459-4236-323A-E85C12EFE4DD}"/>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Testable Behaviors</a:t>
              </a:r>
            </a:p>
          </p:txBody>
        </p:sp>
        <p:sp>
          <p:nvSpPr>
            <p:cNvPr id="12" name="Rectangle: Rounded Corners 11">
              <a:extLst>
                <a:ext uri="{FF2B5EF4-FFF2-40B4-BE49-F238E27FC236}">
                  <a16:creationId xmlns:a16="http://schemas.microsoft.com/office/drawing/2014/main" id="{260C95F7-7FA1-4747-F1AD-CCDFD56F0AB7}"/>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Executing Code</a:t>
              </a:r>
            </a:p>
          </p:txBody>
        </p:sp>
        <p:sp>
          <p:nvSpPr>
            <p:cNvPr id="14" name="Isosceles Triangle 13">
              <a:extLst>
                <a:ext uri="{FF2B5EF4-FFF2-40B4-BE49-F238E27FC236}">
                  <a16:creationId xmlns:a16="http://schemas.microsoft.com/office/drawing/2014/main" id="{3342E8EF-B25F-3293-0CA6-6FDD9F5C46F6}"/>
                </a:ext>
              </a:extLst>
            </p:cNvPr>
            <p:cNvSpPr/>
            <p:nvPr/>
          </p:nvSpPr>
          <p:spPr>
            <a:xfrm rot="5400000">
              <a:off x="2273639" y="2283026"/>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5" name="Isosceles Triangle 14">
              <a:extLst>
                <a:ext uri="{FF2B5EF4-FFF2-40B4-BE49-F238E27FC236}">
                  <a16:creationId xmlns:a16="http://schemas.microsoft.com/office/drawing/2014/main" id="{A83C0F02-4CC5-D865-60AE-8257CB593DD4}"/>
                </a:ext>
              </a:extLst>
            </p:cNvPr>
            <p:cNvSpPr/>
            <p:nvPr/>
          </p:nvSpPr>
          <p:spPr>
            <a:xfrm rot="5400000">
              <a:off x="5382134" y="2294750"/>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6" name="Isosceles Triangle 15">
              <a:extLst>
                <a:ext uri="{FF2B5EF4-FFF2-40B4-BE49-F238E27FC236}">
                  <a16:creationId xmlns:a16="http://schemas.microsoft.com/office/drawing/2014/main" id="{C6BA4CF9-F399-91D3-2918-527DA39DD679}"/>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7" name="TextBox 16">
              <a:extLst>
                <a:ext uri="{FF2B5EF4-FFF2-40B4-BE49-F238E27FC236}">
                  <a16:creationId xmlns:a16="http://schemas.microsoft.com/office/drawing/2014/main" id="{13D4DC05-CE8F-B921-4C9E-523FF6041D46}"/>
                </a:ext>
              </a:extLst>
            </p:cNvPr>
            <p:cNvSpPr txBox="1"/>
            <p:nvPr/>
          </p:nvSpPr>
          <p:spPr>
            <a:xfrm>
              <a:off x="1662890" y="167490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Analyze</a:t>
              </a:r>
            </a:p>
          </p:txBody>
        </p:sp>
        <p:sp>
          <p:nvSpPr>
            <p:cNvPr id="18" name="TextBox 17">
              <a:extLst>
                <a:ext uri="{FF2B5EF4-FFF2-40B4-BE49-F238E27FC236}">
                  <a16:creationId xmlns:a16="http://schemas.microsoft.com/office/drawing/2014/main" id="{DA422BAB-AEDC-38C5-4D18-19CA15FB1AA1}"/>
                </a:ext>
              </a:extLst>
            </p:cNvPr>
            <p:cNvSpPr txBox="1"/>
            <p:nvPr/>
          </p:nvSpPr>
          <p:spPr>
            <a:xfrm>
              <a:off x="4698722" y="1652027"/>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Design</a:t>
              </a:r>
            </a:p>
          </p:txBody>
        </p:sp>
        <p:sp>
          <p:nvSpPr>
            <p:cNvPr id="19" name="TextBox 18">
              <a:extLst>
                <a:ext uri="{FF2B5EF4-FFF2-40B4-BE49-F238E27FC236}">
                  <a16:creationId xmlns:a16="http://schemas.microsoft.com/office/drawing/2014/main" id="{86B8F8EC-EE8B-A7C1-6981-C99539FB2FFD}"/>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Code</a:t>
              </a:r>
            </a:p>
          </p:txBody>
        </p:sp>
      </p:grpSp>
      <p:grpSp>
        <p:nvGrpSpPr>
          <p:cNvPr id="4" name="Group 3">
            <a:extLst>
              <a:ext uri="{FF2B5EF4-FFF2-40B4-BE49-F238E27FC236}">
                <a16:creationId xmlns:a16="http://schemas.microsoft.com/office/drawing/2014/main" id="{C59F9F24-497B-1CE7-0A6F-C288F96138EF}"/>
              </a:ext>
            </a:extLst>
          </p:cNvPr>
          <p:cNvGrpSpPr/>
          <p:nvPr/>
        </p:nvGrpSpPr>
        <p:grpSpPr>
          <a:xfrm>
            <a:off x="1686135" y="3700308"/>
            <a:ext cx="2190750" cy="1620693"/>
            <a:chOff x="1694164" y="3678445"/>
            <a:chExt cx="2190750" cy="1620693"/>
          </a:xfrm>
        </p:grpSpPr>
        <p:sp>
          <p:nvSpPr>
            <p:cNvPr id="2" name="Isosceles Triangle 1">
              <a:extLst>
                <a:ext uri="{FF2B5EF4-FFF2-40B4-BE49-F238E27FC236}">
                  <a16:creationId xmlns:a16="http://schemas.microsoft.com/office/drawing/2014/main" id="{A33B838C-61F1-6E66-2C32-55F818AD0E10}"/>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 name="TextBox 2">
              <a:extLst>
                <a:ext uri="{FF2B5EF4-FFF2-40B4-BE49-F238E27FC236}">
                  <a16:creationId xmlns:a16="http://schemas.microsoft.com/office/drawing/2014/main" id="{DD03D699-1893-08A9-0668-F007A4C01AB5}"/>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nvGrpSpPr>
          <p:cNvPr id="7" name="Group 6">
            <a:extLst>
              <a:ext uri="{FF2B5EF4-FFF2-40B4-BE49-F238E27FC236}">
                <a16:creationId xmlns:a16="http://schemas.microsoft.com/office/drawing/2014/main" id="{B592211C-69EF-1D54-C8A9-EEE08C02F687}"/>
              </a:ext>
            </a:extLst>
          </p:cNvPr>
          <p:cNvGrpSpPr/>
          <p:nvPr/>
        </p:nvGrpSpPr>
        <p:grpSpPr>
          <a:xfrm>
            <a:off x="4797844" y="3637260"/>
            <a:ext cx="2190750" cy="1620693"/>
            <a:chOff x="1694164" y="3678445"/>
            <a:chExt cx="2190750" cy="1620693"/>
          </a:xfrm>
        </p:grpSpPr>
        <p:sp>
          <p:nvSpPr>
            <p:cNvPr id="8" name="Isosceles Triangle 7">
              <a:extLst>
                <a:ext uri="{FF2B5EF4-FFF2-40B4-BE49-F238E27FC236}">
                  <a16:creationId xmlns:a16="http://schemas.microsoft.com/office/drawing/2014/main" id="{1B108B81-5762-9F41-4180-ADB169FF3D3E}"/>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3" name="TextBox 12">
              <a:extLst>
                <a:ext uri="{FF2B5EF4-FFF2-40B4-BE49-F238E27FC236}">
                  <a16:creationId xmlns:a16="http://schemas.microsoft.com/office/drawing/2014/main" id="{F979A1DA-6C9B-B2A8-7062-BAA4E6E12FD4}"/>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spTree>
    <p:extLst>
      <p:ext uri="{BB962C8B-B14F-4D97-AF65-F5344CB8AC3E}">
        <p14:creationId xmlns:p14="http://schemas.microsoft.com/office/powerpoint/2010/main" val="3191328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491266FA-7D17-ED82-7BB7-8ACF5D3FE62D}"/>
              </a:ext>
            </a:extLst>
          </p:cNvPr>
          <p:cNvSpPr>
            <a:spLocks noGrp="1"/>
          </p:cNvSpPr>
          <p:nvPr>
            <p:ph type="title"/>
          </p:nvPr>
        </p:nvSpPr>
        <p:spPr>
          <a:xfrm>
            <a:off x="838200" y="18255"/>
            <a:ext cx="10515600" cy="1325563"/>
          </a:xfrm>
        </p:spPr>
        <p:txBody>
          <a:bodyPr/>
          <a:lstStyle/>
          <a:p>
            <a:r>
              <a:rPr lang="en-US" err="1"/>
              <a:t>CoS</a:t>
            </a:r>
            <a:r>
              <a:rPr lang="en-US"/>
              <a:t> are ultimately about the user</a:t>
            </a:r>
          </a:p>
        </p:txBody>
      </p:sp>
      <p:sp>
        <p:nvSpPr>
          <p:cNvPr id="18" name="Content Placeholder 17">
            <a:extLst>
              <a:ext uri="{FF2B5EF4-FFF2-40B4-BE49-F238E27FC236}">
                <a16:creationId xmlns:a16="http://schemas.microsoft.com/office/drawing/2014/main" id="{651784EA-5DAA-EEAF-EFC4-3B8F06F66181}"/>
              </a:ext>
            </a:extLst>
          </p:cNvPr>
          <p:cNvSpPr>
            <a:spLocks noGrp="1"/>
          </p:cNvSpPr>
          <p:nvPr>
            <p:ph idx="1"/>
          </p:nvPr>
        </p:nvSpPr>
        <p:spPr>
          <a:xfrm>
            <a:off x="838200" y="1500188"/>
            <a:ext cx="7886700" cy="4351337"/>
          </a:xfrm>
        </p:spPr>
        <p:txBody>
          <a:bodyPr/>
          <a:lstStyle/>
          <a:p>
            <a:pPr marL="0" indent="0">
              <a:buNone/>
            </a:pPr>
            <a:r>
              <a:rPr lang="en-US"/>
              <a:t>We will build a secure web application backed by a persistent database that allows an authenticated administrator to add a new student to the database</a:t>
            </a:r>
          </a:p>
          <a:p>
            <a:endParaRPr lang="en-US"/>
          </a:p>
        </p:txBody>
      </p:sp>
      <p:sp>
        <p:nvSpPr>
          <p:cNvPr id="4" name="Slide Number Placeholder 3">
            <a:extLst>
              <a:ext uri="{FF2B5EF4-FFF2-40B4-BE49-F238E27FC236}">
                <a16:creationId xmlns:a16="http://schemas.microsoft.com/office/drawing/2014/main" id="{5AB06B56-B6A5-3BB9-CFAF-C75C2A59EC0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18</a:t>
            </a:fld>
            <a:endParaRPr lang="en-US"/>
          </a:p>
        </p:txBody>
      </p:sp>
      <p:sp>
        <p:nvSpPr>
          <p:cNvPr id="7" name="Rectangle 6">
            <a:extLst>
              <a:ext uri="{FF2B5EF4-FFF2-40B4-BE49-F238E27FC236}">
                <a16:creationId xmlns:a16="http://schemas.microsoft.com/office/drawing/2014/main" id="{0ED49A40-295A-45A3-0DF8-CAF6341BECC6}"/>
              </a:ext>
            </a:extLst>
          </p:cNvPr>
          <p:cNvSpPr/>
          <p:nvPr/>
        </p:nvSpPr>
        <p:spPr>
          <a:xfrm>
            <a:off x="8225117"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Web Application</a:t>
            </a:r>
          </a:p>
        </p:txBody>
      </p:sp>
      <p:sp>
        <p:nvSpPr>
          <p:cNvPr id="8" name="Left-Right Arrow 7">
            <a:extLst>
              <a:ext uri="{FF2B5EF4-FFF2-40B4-BE49-F238E27FC236}">
                <a16:creationId xmlns:a16="http://schemas.microsoft.com/office/drawing/2014/main" id="{E7D8BBF6-B5F7-EFBB-18C2-C167C3BBDB3D}"/>
              </a:ext>
            </a:extLst>
          </p:cNvPr>
          <p:cNvSpPr/>
          <p:nvPr/>
        </p:nvSpPr>
        <p:spPr>
          <a:xfrm>
            <a:off x="9628091" y="3279141"/>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browser</a:t>
            </a:r>
          </a:p>
        </p:txBody>
      </p:sp>
      <p:sp>
        <p:nvSpPr>
          <p:cNvPr id="10" name="Rectangle 9">
            <a:extLst>
              <a:ext uri="{FF2B5EF4-FFF2-40B4-BE49-F238E27FC236}">
                <a16:creationId xmlns:a16="http://schemas.microsoft.com/office/drawing/2014/main" id="{85AA6A23-404B-1513-C107-53ED0D01A7F6}"/>
              </a:ext>
            </a:extLst>
          </p:cNvPr>
          <p:cNvSpPr/>
          <p:nvPr/>
        </p:nvSpPr>
        <p:spPr>
          <a:xfrm>
            <a:off x="11111749" y="3218629"/>
            <a:ext cx="954745"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User</a:t>
            </a:r>
          </a:p>
        </p:txBody>
      </p:sp>
      <p:sp>
        <p:nvSpPr>
          <p:cNvPr id="11" name="Left-Right Arrow 10">
            <a:extLst>
              <a:ext uri="{FF2B5EF4-FFF2-40B4-BE49-F238E27FC236}">
                <a16:creationId xmlns:a16="http://schemas.microsoft.com/office/drawing/2014/main" id="{B4AEA584-B421-89E2-9043-D9A619BE8D98}"/>
              </a:ext>
            </a:extLst>
          </p:cNvPr>
          <p:cNvSpPr/>
          <p:nvPr/>
        </p:nvSpPr>
        <p:spPr>
          <a:xfrm>
            <a:off x="6741459" y="3265694"/>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internet</a:t>
            </a:r>
          </a:p>
        </p:txBody>
      </p:sp>
      <p:sp>
        <p:nvSpPr>
          <p:cNvPr id="12" name="Rectangle 11">
            <a:extLst>
              <a:ext uri="{FF2B5EF4-FFF2-40B4-BE49-F238E27FC236}">
                <a16:creationId xmlns:a16="http://schemas.microsoft.com/office/drawing/2014/main" id="{A53A22EB-B4FA-07C1-2DF7-C027E82F30E8}"/>
              </a:ext>
            </a:extLst>
          </p:cNvPr>
          <p:cNvSpPr/>
          <p:nvPr/>
        </p:nvSpPr>
        <p:spPr>
          <a:xfrm>
            <a:off x="5338485"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Controller</a:t>
            </a:r>
          </a:p>
        </p:txBody>
      </p:sp>
      <p:sp>
        <p:nvSpPr>
          <p:cNvPr id="13" name="Left-Right Arrow 12">
            <a:extLst>
              <a:ext uri="{FF2B5EF4-FFF2-40B4-BE49-F238E27FC236}">
                <a16:creationId xmlns:a16="http://schemas.microsoft.com/office/drawing/2014/main" id="{BB3CAC0F-77D4-461B-D4FA-73CADE174C49}"/>
              </a:ext>
            </a:extLst>
          </p:cNvPr>
          <p:cNvSpPr/>
          <p:nvPr/>
        </p:nvSpPr>
        <p:spPr>
          <a:xfrm>
            <a:off x="4141694" y="3279141"/>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
        <p:nvSpPr>
          <p:cNvPr id="14" name="Rectangle 13">
            <a:extLst>
              <a:ext uri="{FF2B5EF4-FFF2-40B4-BE49-F238E27FC236}">
                <a16:creationId xmlns:a16="http://schemas.microsoft.com/office/drawing/2014/main" id="{FA14159E-C3BA-5A8C-0D6B-5BC12AB9E5E4}"/>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9DC83E07-B879-9D36-DF3C-28362F1F27E3}"/>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E2AC018E-CD17-9541-D09A-5703FA932F29}"/>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Tree>
    <p:extLst>
      <p:ext uri="{BB962C8B-B14F-4D97-AF65-F5344CB8AC3E}">
        <p14:creationId xmlns:p14="http://schemas.microsoft.com/office/powerpoint/2010/main" val="4034172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EACA1-A09F-277B-02A0-6A94C20E95DF}"/>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FEDF6700-C283-C045-A0B8-0E2D89E171C4}"/>
              </a:ext>
            </a:extLst>
          </p:cNvPr>
          <p:cNvSpPr>
            <a:spLocks noGrp="1"/>
          </p:cNvSpPr>
          <p:nvPr>
            <p:ph type="title"/>
          </p:nvPr>
        </p:nvSpPr>
        <p:spPr>
          <a:xfrm>
            <a:off x="838200" y="18255"/>
            <a:ext cx="10515600" cy="1325563"/>
          </a:xfrm>
        </p:spPr>
        <p:txBody>
          <a:bodyPr/>
          <a:lstStyle/>
          <a:p>
            <a:r>
              <a:rPr lang="en-US" err="1"/>
              <a:t>CoS</a:t>
            </a:r>
            <a:r>
              <a:rPr lang="en-US"/>
              <a:t> are ultimately about the user</a:t>
            </a:r>
          </a:p>
        </p:txBody>
      </p:sp>
      <p:sp>
        <p:nvSpPr>
          <p:cNvPr id="18" name="Content Placeholder 17">
            <a:extLst>
              <a:ext uri="{FF2B5EF4-FFF2-40B4-BE49-F238E27FC236}">
                <a16:creationId xmlns:a16="http://schemas.microsoft.com/office/drawing/2014/main" id="{B7BCAE65-694B-6A12-6C4A-3ED711CDADAA}"/>
              </a:ext>
            </a:extLst>
          </p:cNvPr>
          <p:cNvSpPr>
            <a:spLocks noGrp="1"/>
          </p:cNvSpPr>
          <p:nvPr>
            <p:ph idx="1"/>
          </p:nvPr>
        </p:nvSpPr>
        <p:spPr>
          <a:xfrm>
            <a:off x="838200" y="1500188"/>
            <a:ext cx="7886700" cy="4351337"/>
          </a:xfrm>
        </p:spPr>
        <p:txBody>
          <a:bodyPr/>
          <a:lstStyle/>
          <a:p>
            <a:pPr marL="0" indent="0">
              <a:buNone/>
            </a:pPr>
            <a:r>
              <a:rPr lang="en-US"/>
              <a:t>We will build a secure web application backed by a persistent database that allows an authenticated administrator to add a new student to the database</a:t>
            </a:r>
          </a:p>
          <a:p>
            <a:endParaRPr lang="en-US"/>
          </a:p>
          <a:p>
            <a:endParaRPr lang="en-US"/>
          </a:p>
          <a:p>
            <a:endParaRPr lang="en-US"/>
          </a:p>
          <a:p>
            <a:pPr marL="0" indent="0">
              <a:buNone/>
            </a:pPr>
            <a:r>
              <a:rPr lang="en-US"/>
              <a:t>The </a:t>
            </a:r>
            <a:r>
              <a:rPr lang="en-US" err="1"/>
              <a:t>addStudent</a:t>
            </a:r>
            <a:r>
              <a:rPr lang="en-US"/>
              <a:t> service function should add a student to the database</a:t>
            </a:r>
          </a:p>
          <a:p>
            <a:endParaRPr lang="en-US"/>
          </a:p>
        </p:txBody>
      </p:sp>
      <p:sp>
        <p:nvSpPr>
          <p:cNvPr id="4" name="Slide Number Placeholder 3">
            <a:extLst>
              <a:ext uri="{FF2B5EF4-FFF2-40B4-BE49-F238E27FC236}">
                <a16:creationId xmlns:a16="http://schemas.microsoft.com/office/drawing/2014/main" id="{1A1AD88C-AA42-3162-9A5B-04976F0EA13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19</a:t>
            </a:fld>
            <a:endParaRPr lang="en-US"/>
          </a:p>
        </p:txBody>
      </p:sp>
      <p:sp>
        <p:nvSpPr>
          <p:cNvPr id="7" name="Rectangle 6">
            <a:extLst>
              <a:ext uri="{FF2B5EF4-FFF2-40B4-BE49-F238E27FC236}">
                <a16:creationId xmlns:a16="http://schemas.microsoft.com/office/drawing/2014/main" id="{39E6F9CF-31AE-797D-8D1C-3B0239CCD34E}"/>
              </a:ext>
            </a:extLst>
          </p:cNvPr>
          <p:cNvSpPr/>
          <p:nvPr/>
        </p:nvSpPr>
        <p:spPr>
          <a:xfrm>
            <a:off x="8225117" y="3205182"/>
            <a:ext cx="1264023"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Web Application</a:t>
            </a:r>
          </a:p>
        </p:txBody>
      </p:sp>
      <p:sp>
        <p:nvSpPr>
          <p:cNvPr id="8" name="Left-Right Arrow 7">
            <a:extLst>
              <a:ext uri="{FF2B5EF4-FFF2-40B4-BE49-F238E27FC236}">
                <a16:creationId xmlns:a16="http://schemas.microsoft.com/office/drawing/2014/main" id="{DAA07267-7A35-7E40-7B8A-F328AAC5A1B7}"/>
              </a:ext>
            </a:extLst>
          </p:cNvPr>
          <p:cNvSpPr/>
          <p:nvPr/>
        </p:nvSpPr>
        <p:spPr>
          <a:xfrm>
            <a:off x="9628091" y="3279141"/>
            <a:ext cx="1344707"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browser</a:t>
            </a:r>
          </a:p>
        </p:txBody>
      </p:sp>
      <p:sp>
        <p:nvSpPr>
          <p:cNvPr id="10" name="Rectangle 9">
            <a:extLst>
              <a:ext uri="{FF2B5EF4-FFF2-40B4-BE49-F238E27FC236}">
                <a16:creationId xmlns:a16="http://schemas.microsoft.com/office/drawing/2014/main" id="{0AA6C9C8-1623-2E5B-81AF-779FCC58967D}"/>
              </a:ext>
            </a:extLst>
          </p:cNvPr>
          <p:cNvSpPr/>
          <p:nvPr/>
        </p:nvSpPr>
        <p:spPr>
          <a:xfrm>
            <a:off x="11111749" y="3218629"/>
            <a:ext cx="954745"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User</a:t>
            </a:r>
          </a:p>
        </p:txBody>
      </p:sp>
      <p:sp>
        <p:nvSpPr>
          <p:cNvPr id="11" name="Left-Right Arrow 10">
            <a:extLst>
              <a:ext uri="{FF2B5EF4-FFF2-40B4-BE49-F238E27FC236}">
                <a16:creationId xmlns:a16="http://schemas.microsoft.com/office/drawing/2014/main" id="{983A3068-C59F-25DE-5090-51E01D946E51}"/>
              </a:ext>
            </a:extLst>
          </p:cNvPr>
          <p:cNvSpPr/>
          <p:nvPr/>
        </p:nvSpPr>
        <p:spPr>
          <a:xfrm>
            <a:off x="6741459" y="3265694"/>
            <a:ext cx="1344707"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internet</a:t>
            </a:r>
          </a:p>
        </p:txBody>
      </p:sp>
      <p:sp>
        <p:nvSpPr>
          <p:cNvPr id="12" name="Rectangle 11">
            <a:extLst>
              <a:ext uri="{FF2B5EF4-FFF2-40B4-BE49-F238E27FC236}">
                <a16:creationId xmlns:a16="http://schemas.microsoft.com/office/drawing/2014/main" id="{A669D640-8F74-F087-6757-D6C8D05A6F82}"/>
              </a:ext>
            </a:extLst>
          </p:cNvPr>
          <p:cNvSpPr/>
          <p:nvPr/>
        </p:nvSpPr>
        <p:spPr>
          <a:xfrm>
            <a:off x="5338485" y="3205182"/>
            <a:ext cx="1264023"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Controller</a:t>
            </a:r>
          </a:p>
        </p:txBody>
      </p:sp>
      <p:sp>
        <p:nvSpPr>
          <p:cNvPr id="13" name="Left-Right Arrow 12">
            <a:extLst>
              <a:ext uri="{FF2B5EF4-FFF2-40B4-BE49-F238E27FC236}">
                <a16:creationId xmlns:a16="http://schemas.microsoft.com/office/drawing/2014/main" id="{FA632119-4BBD-7F38-E7DC-E18CA4522192}"/>
              </a:ext>
            </a:extLst>
          </p:cNvPr>
          <p:cNvSpPr/>
          <p:nvPr/>
        </p:nvSpPr>
        <p:spPr>
          <a:xfrm>
            <a:off x="4141694" y="3279141"/>
            <a:ext cx="1057840"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API</a:t>
            </a:r>
          </a:p>
        </p:txBody>
      </p:sp>
      <p:sp>
        <p:nvSpPr>
          <p:cNvPr id="14" name="Rectangle 13">
            <a:extLst>
              <a:ext uri="{FF2B5EF4-FFF2-40B4-BE49-F238E27FC236}">
                <a16:creationId xmlns:a16="http://schemas.microsoft.com/office/drawing/2014/main" id="{4AA2E9E5-3B60-1E17-428B-A4E8328B6A0F}"/>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8521B346-A6E3-0686-93CD-2D5703AE2E48}"/>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A405CBCC-A842-4D1A-A016-BE13B684EF32}"/>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Tree>
    <p:extLst>
      <p:ext uri="{BB962C8B-B14F-4D97-AF65-F5344CB8AC3E}">
        <p14:creationId xmlns:p14="http://schemas.microsoft.com/office/powerpoint/2010/main" val="1227493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0C5AAA-DF9E-3336-7172-129340BB6661}"/>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20</a:t>
            </a:fld>
            <a:endParaRPr lang="en-US"/>
          </a:p>
        </p:txBody>
      </p:sp>
      <p:sp>
        <p:nvSpPr>
          <p:cNvPr id="2" name="Title 1">
            <a:extLst>
              <a:ext uri="{FF2B5EF4-FFF2-40B4-BE49-F238E27FC236}">
                <a16:creationId xmlns:a16="http://schemas.microsoft.com/office/drawing/2014/main" id="{B37B094C-06A4-3213-2B65-9BA91E12E6EF}"/>
              </a:ext>
            </a:extLst>
          </p:cNvPr>
          <p:cNvSpPr>
            <a:spLocks noGrp="1"/>
          </p:cNvSpPr>
          <p:nvPr>
            <p:ph type="title"/>
          </p:nvPr>
        </p:nvSpPr>
        <p:spPr>
          <a:xfrm>
            <a:off x="838200" y="18255"/>
            <a:ext cx="10515600" cy="1325563"/>
          </a:xfrm>
        </p:spPr>
        <p:txBody>
          <a:bodyPr/>
          <a:lstStyle/>
          <a:p>
            <a:r>
              <a:rPr lang="en-US"/>
              <a:t>Analyzing </a:t>
            </a:r>
            <a:r>
              <a:rPr lang="en-US" err="1"/>
              <a:t>CoS</a:t>
            </a:r>
            <a:r>
              <a:rPr lang="en-US"/>
              <a:t> to get testable behaviors</a:t>
            </a:r>
          </a:p>
        </p:txBody>
      </p:sp>
      <p:sp>
        <p:nvSpPr>
          <p:cNvPr id="4" name="TextBox 3">
            <a:extLst>
              <a:ext uri="{FF2B5EF4-FFF2-40B4-BE49-F238E27FC236}">
                <a16:creationId xmlns:a16="http://schemas.microsoft.com/office/drawing/2014/main" id="{C688DA8F-CCD3-7E6E-AAE4-8F998508A7D1}"/>
              </a:ext>
            </a:extLst>
          </p:cNvPr>
          <p:cNvSpPr txBox="1"/>
          <p:nvPr/>
        </p:nvSpPr>
        <p:spPr>
          <a:xfrm>
            <a:off x="744069" y="1555036"/>
            <a:ext cx="10434919" cy="505131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2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Student</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Course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2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interface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getTranscript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deleteStudent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hmm, what to do about errors??</a:t>
            </a:r>
            <a:endParaRPr lang="en-US" b="0" dirty="0">
              <a:solidFill>
                <a:srgbClr val="3B3B3B"/>
              </a:solidFill>
              <a:effectLst/>
              <a:latin typeface="Menlo" panose="020B0609030804020204" pitchFamily="49" charset="0"/>
            </a:endParaRP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4260265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A80716-FB8D-4FAF-7951-20C4DBBAE0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21</a:t>
            </a:fld>
            <a:endParaRPr lang="en-US"/>
          </a:p>
        </p:txBody>
      </p:sp>
      <p:sp>
        <p:nvSpPr>
          <p:cNvPr id="5" name="Title 4">
            <a:extLst>
              <a:ext uri="{FF2B5EF4-FFF2-40B4-BE49-F238E27FC236}">
                <a16:creationId xmlns:a16="http://schemas.microsoft.com/office/drawing/2014/main" id="{34F4B424-3DFD-61BF-9E87-1EAA62FAA4B8}"/>
              </a:ext>
            </a:extLst>
          </p:cNvPr>
          <p:cNvSpPr>
            <a:spLocks noGrp="1"/>
          </p:cNvSpPr>
          <p:nvPr>
            <p:ph type="title"/>
          </p:nvPr>
        </p:nvSpPr>
        <p:spPr>
          <a:xfrm>
            <a:off x="838200" y="18255"/>
            <a:ext cx="10515600" cy="1325563"/>
          </a:xfrm>
        </p:spPr>
        <p:txBody>
          <a:bodyPr>
            <a:normAutofit/>
          </a:bodyPr>
          <a:lstStyle/>
          <a:p>
            <a:r>
              <a:rPr lang="en-US"/>
              <a:t>Analyzing </a:t>
            </a:r>
            <a:r>
              <a:rPr lang="en-US" err="1"/>
              <a:t>CoS</a:t>
            </a:r>
            <a:r>
              <a:rPr lang="en-US"/>
              <a:t> to get testable behaviors</a:t>
            </a:r>
          </a:p>
        </p:txBody>
      </p:sp>
      <p:sp>
        <p:nvSpPr>
          <p:cNvPr id="2" name="Content Placeholder 2">
            <a:extLst>
              <a:ext uri="{FF2B5EF4-FFF2-40B4-BE49-F238E27FC236}">
                <a16:creationId xmlns:a16="http://schemas.microsoft.com/office/drawing/2014/main" id="{92C27DB9-CFD2-3B58-9A41-6B252BAAA8A7}"/>
              </a:ext>
            </a:extLst>
          </p:cNvPr>
          <p:cNvSpPr txBox="1">
            <a:spLocks/>
          </p:cNvSpPr>
          <p:nvPr/>
        </p:nvSpPr>
        <p:spPr>
          <a:xfrm>
            <a:off x="313765" y="1665288"/>
            <a:ext cx="5782235" cy="43513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err="1"/>
              <a:t>CoS</a:t>
            </a:r>
            <a:r>
              <a:rPr lang="en-US"/>
              <a:t>: The user can…</a:t>
            </a:r>
          </a:p>
          <a:p>
            <a:pPr lvl="1"/>
            <a:r>
              <a:rPr lang="en-US"/>
              <a:t>…add a new student to the database</a:t>
            </a:r>
            <a:br>
              <a:rPr lang="en-US"/>
            </a:br>
            <a:endParaRPr lang="en-US">
              <a:solidFill>
                <a:schemeClr val="bg1"/>
              </a:solidFill>
            </a:endParaRPr>
          </a:p>
          <a:p>
            <a:pPr lvl="1"/>
            <a:br>
              <a:rPr lang="en-US">
                <a:solidFill>
                  <a:schemeClr val="bg1"/>
                </a:solidFill>
              </a:rPr>
            </a:br>
            <a:endParaRPr lang="en-US">
              <a:solidFill>
                <a:schemeClr val="bg1"/>
              </a:solidFill>
            </a:endParaRPr>
          </a:p>
          <a:p>
            <a:pPr lvl="1"/>
            <a:r>
              <a:rPr lang="en-US"/>
              <a:t>…add a new student with the same name as an existing student</a:t>
            </a:r>
            <a:br>
              <a:rPr lang="en-US"/>
            </a:br>
            <a:endParaRPr lang="en-US"/>
          </a:p>
          <a:p>
            <a:pPr lvl="1"/>
            <a:r>
              <a:rPr lang="en-US"/>
              <a:t>…retrieve the transcript for a student</a:t>
            </a:r>
          </a:p>
          <a:p>
            <a:pPr marL="0" indent="0">
              <a:buNone/>
            </a:pPr>
            <a:endParaRPr lang="en-US"/>
          </a:p>
        </p:txBody>
      </p:sp>
      <p:sp>
        <p:nvSpPr>
          <p:cNvPr id="3" name="Content Placeholder 2">
            <a:extLst>
              <a:ext uri="{FF2B5EF4-FFF2-40B4-BE49-F238E27FC236}">
                <a16:creationId xmlns:a16="http://schemas.microsoft.com/office/drawing/2014/main" id="{56493FD9-D235-477F-5B3D-AD86352CBCBB}"/>
              </a:ext>
            </a:extLst>
          </p:cNvPr>
          <p:cNvSpPr txBox="1">
            <a:spLocks/>
          </p:cNvSpPr>
          <p:nvPr/>
        </p:nvSpPr>
        <p:spPr>
          <a:xfrm>
            <a:off x="5834427" y="1665288"/>
            <a:ext cx="5782235" cy="46910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Testable behaviors:</a:t>
            </a:r>
          </a:p>
          <a:p>
            <a:pPr lvl="1"/>
            <a:r>
              <a:rPr lang="en-US" err="1"/>
              <a:t>addStudent</a:t>
            </a:r>
            <a:r>
              <a:rPr lang="en-US"/>
              <a:t> should add a student to the database and return their ID</a:t>
            </a:r>
          </a:p>
          <a:p>
            <a:pPr lvl="1"/>
            <a:r>
              <a:rPr lang="en-US" err="1"/>
              <a:t>addStudent</a:t>
            </a:r>
            <a:r>
              <a:rPr lang="en-US"/>
              <a:t> should return an ID distinct from any ID in the database</a:t>
            </a:r>
          </a:p>
          <a:p>
            <a:pPr lvl="1"/>
            <a:r>
              <a:rPr lang="en-US" err="1"/>
              <a:t>addStudent</a:t>
            </a:r>
            <a:r>
              <a:rPr lang="en-US"/>
              <a:t> should permit adding a student with the same name as an existing student</a:t>
            </a:r>
          </a:p>
          <a:p>
            <a:pPr lvl="1"/>
            <a:r>
              <a:rPr lang="en-US"/>
              <a:t>Given the ID of a student, </a:t>
            </a:r>
            <a:r>
              <a:rPr lang="en-US" err="1"/>
              <a:t>getTranscript</a:t>
            </a:r>
            <a:r>
              <a:rPr lang="en-US"/>
              <a:t> should return the student’s transcript.</a:t>
            </a:r>
          </a:p>
          <a:p>
            <a:pPr lvl="1"/>
            <a:r>
              <a:rPr lang="en-US"/>
              <a:t>Given an ID that is not the ID of any student, </a:t>
            </a:r>
            <a:r>
              <a:rPr lang="en-US" err="1"/>
              <a:t>getTranscript</a:t>
            </a:r>
            <a:r>
              <a:rPr lang="en-US"/>
              <a:t> should</a:t>
            </a:r>
            <a:r>
              <a:rPr lang="en-US" i="1"/>
              <a:t> …????...</a:t>
            </a:r>
          </a:p>
        </p:txBody>
      </p:sp>
    </p:spTree>
    <p:extLst>
      <p:ext uri="{BB962C8B-B14F-4D97-AF65-F5344CB8AC3E}">
        <p14:creationId xmlns:p14="http://schemas.microsoft.com/office/powerpoint/2010/main" val="140035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ED2B-C4CB-01DE-2FA2-56655F2FE30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46D1C2-BFC0-F917-D2FE-69F86DADF4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22</a:t>
            </a:fld>
            <a:endParaRPr lang="en-US"/>
          </a:p>
        </p:txBody>
      </p:sp>
      <p:sp>
        <p:nvSpPr>
          <p:cNvPr id="2" name="Title 1">
            <a:extLst>
              <a:ext uri="{FF2B5EF4-FFF2-40B4-BE49-F238E27FC236}">
                <a16:creationId xmlns:a16="http://schemas.microsoft.com/office/drawing/2014/main" id="{08C96DE2-72DE-5DAC-CED0-8E8905B867B7}"/>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9E5CF2F0-3F6A-023B-ACFF-A395952E00C4}"/>
              </a:ext>
            </a:extLst>
          </p:cNvPr>
          <p:cNvSpPr txBox="1"/>
          <p:nvPr/>
        </p:nvSpPr>
        <p:spPr>
          <a:xfrm>
            <a:off x="744069" y="1555036"/>
            <a:ext cx="10434919" cy="49474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transcript.service.ts</a:t>
            </a:r>
            <a:endParaRPr lang="en-US" b="0" dirty="0">
              <a:solidFill>
                <a:srgbClr val="AF00DB"/>
              </a:solidFill>
              <a:effectLst/>
              <a:latin typeface="Menlo" panose="020B0609030804020204" pitchFamily="49" charset="0"/>
            </a:endParaRPr>
          </a:p>
          <a:p>
            <a:pPr>
              <a:lnSpc>
                <a:spcPct val="11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10000"/>
              </a:lnSpc>
              <a:buNone/>
            </a:pPr>
            <a:r>
              <a:rPr lang="en-US" b="0" dirty="0">
                <a:solidFill>
                  <a:srgbClr val="001080"/>
                </a:solidFill>
                <a:effectLst/>
                <a:latin typeface="Menlo" panose="020B0609030804020204" pitchFamily="49" charset="0"/>
              </a:rPr>
              <a:t>  Student</a:t>
            </a:r>
            <a:r>
              <a:rPr lang="en-US" b="0" dirty="0">
                <a:solidFill>
                  <a:srgbClr val="3B3B3B"/>
                </a:solidFill>
                <a:effectLst/>
                <a:latin typeface="Menlo" panose="020B0609030804020204" pitchFamily="49" charset="0"/>
              </a:rPr>
              <a:t>,</a:t>
            </a:r>
          </a:p>
          <a:p>
            <a:pPr>
              <a:lnSpc>
                <a:spcPct val="110000"/>
              </a:lnSpc>
              <a:buNone/>
            </a:pPr>
            <a:r>
              <a:rPr lang="en-US" b="0" dirty="0">
                <a:solidFill>
                  <a:srgbClr val="001080"/>
                </a:solidFill>
                <a:effectLst/>
                <a:latin typeface="Menlo" panose="020B0609030804020204" pitchFamily="49" charset="0"/>
              </a:rPr>
              <a:t>  Course</a:t>
            </a:r>
            <a:r>
              <a:rPr lang="en-US" b="0" dirty="0">
                <a:solidFill>
                  <a:srgbClr val="3B3B3B"/>
                </a:solidFill>
                <a:effectLst/>
                <a:latin typeface="Menlo" panose="020B0609030804020204" pitchFamily="49" charset="0"/>
              </a:rPr>
              <a:t>,</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10000"/>
              </a:lnSpc>
              <a:buNone/>
            </a:pPr>
            <a:r>
              <a:rPr lang="en-US" b="0" dirty="0">
                <a:solidFill>
                  <a:srgbClr val="001080"/>
                </a:solidFill>
                <a:effectLst/>
                <a:latin typeface="Menlo" panose="020B0609030804020204" pitchFamily="49" charset="0"/>
              </a:rPr>
              <a:t>  Transcript</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interface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getTranscript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throws Error if id invalid</a:t>
            </a:r>
            <a:endParaRPr lang="en-US" b="0" dirty="0">
              <a:solidFill>
                <a:srgbClr val="3B3B3B"/>
              </a:solidFill>
              <a:effectLst/>
              <a:latin typeface="Menlo" panose="020B0609030804020204" pitchFamily="49" charset="0"/>
            </a:endParaRP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deleteStudent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throws Error if id invalid</a:t>
            </a:r>
            <a:endParaRPr lang="en-US" b="0" dirty="0">
              <a:solidFill>
                <a:srgbClr val="3B3B3B"/>
              </a:solidFill>
              <a:effectLst/>
              <a:latin typeface="Menlo" panose="020B0609030804020204" pitchFamily="49" charset="0"/>
            </a:endParaRP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10000"/>
              </a:lnSpc>
            </a:pPr>
            <a:r>
              <a:rPr lang="en-US" b="0" dirty="0">
                <a:solidFill>
                  <a:srgbClr val="3B3B3B"/>
                </a:solidFill>
                <a:effectLst/>
                <a:latin typeface="Menlo" panose="020B0609030804020204" pitchFamily="49" charset="0"/>
              </a:rPr>
              <a:t>}</a:t>
            </a:r>
          </a:p>
        </p:txBody>
      </p:sp>
      <p:sp>
        <p:nvSpPr>
          <p:cNvPr id="5" name="TextBox 4">
            <a:extLst>
              <a:ext uri="{FF2B5EF4-FFF2-40B4-BE49-F238E27FC236}">
                <a16:creationId xmlns:a16="http://schemas.microsoft.com/office/drawing/2014/main" id="{7186BA39-8044-78B9-E113-8F6B857CD2C9}"/>
              </a:ext>
            </a:extLst>
          </p:cNvPr>
          <p:cNvSpPr txBox="1"/>
          <p:nvPr/>
        </p:nvSpPr>
        <p:spPr>
          <a:xfrm>
            <a:off x="-82062" y="370449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a:solidFill>
                <a:schemeClr val="tx1"/>
              </a:solidFill>
            </a:endParaRPr>
          </a:p>
        </p:txBody>
      </p:sp>
    </p:spTree>
    <p:extLst>
      <p:ext uri="{BB962C8B-B14F-4D97-AF65-F5344CB8AC3E}">
        <p14:creationId xmlns:p14="http://schemas.microsoft.com/office/powerpoint/2010/main" val="2916711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2B13C-4117-4856-B1E7-C304217BF7F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90CF79-B1C9-E0D2-9606-39B38A8B4F95}"/>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23</a:t>
            </a:fld>
            <a:endParaRPr lang="en-US"/>
          </a:p>
        </p:txBody>
      </p:sp>
      <p:sp>
        <p:nvSpPr>
          <p:cNvPr id="2" name="Title 1">
            <a:extLst>
              <a:ext uri="{FF2B5EF4-FFF2-40B4-BE49-F238E27FC236}">
                <a16:creationId xmlns:a16="http://schemas.microsoft.com/office/drawing/2014/main" id="{CFBBC33F-030F-FF99-90E5-1E039D2ECD39}"/>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07AA5E5E-4768-9FD4-101A-5D84F2F97506}"/>
              </a:ext>
            </a:extLst>
          </p:cNvPr>
          <p:cNvSpPr txBox="1"/>
          <p:nvPr/>
        </p:nvSpPr>
        <p:spPr>
          <a:xfrm>
            <a:off x="744069" y="1555036"/>
            <a:ext cx="10434919" cy="281455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types.ts</a:t>
            </a:r>
            <a:r>
              <a:rPr lang="en-US" b="0" dirty="0">
                <a:solidFill>
                  <a:srgbClr val="008000"/>
                </a:solidFill>
                <a:effectLst/>
                <a:latin typeface="Menlo" panose="020B0609030804020204" pitchFamily="49" charset="0"/>
              </a:rPr>
              <a:t> - types for the transcript service</a:t>
            </a:r>
            <a:br>
              <a:rPr lang="en-US" b="0" dirty="0">
                <a:solidFill>
                  <a:srgbClr val="3B3B3B"/>
                </a:solidFill>
                <a:effectLst/>
                <a:latin typeface="Menlo" panose="020B0609030804020204" pitchFamily="49" charset="0"/>
              </a:rPr>
            </a:b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studentID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StudentName</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student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grades</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StudentName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p>
          <a:p>
            <a:pPr>
              <a:lnSpc>
                <a:spcPct val="110000"/>
              </a:lnSpc>
            </a:pPr>
            <a:br>
              <a:rPr lang="en-US" b="0" dirty="0">
                <a:solidFill>
                  <a:srgbClr val="3B3B3B"/>
                </a:solidFill>
                <a:effectLst/>
                <a:latin typeface="Menlo" panose="020B0609030804020204" pitchFamily="49" charset="0"/>
              </a:rPr>
            </a:br>
            <a:endParaRPr lang="en-US" b="0" dirty="0">
              <a:solidFill>
                <a:srgbClr val="3B3B3B"/>
              </a:solidFill>
              <a:effectLst/>
              <a:latin typeface="Menlo" panose="020B0609030804020204" pitchFamily="49" charset="0"/>
            </a:endParaRPr>
          </a:p>
        </p:txBody>
      </p:sp>
    </p:spTree>
    <p:extLst>
      <p:ext uri="{BB962C8B-B14F-4D97-AF65-F5344CB8AC3E}">
        <p14:creationId xmlns:p14="http://schemas.microsoft.com/office/powerpoint/2010/main" val="3937375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3D5E-33FF-33BD-1AF0-7B6DB2E77C1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ECCBE7-DDDC-7B31-B28A-C37D870081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24</a:t>
            </a:fld>
            <a:endParaRPr lang="en-US"/>
          </a:p>
        </p:txBody>
      </p:sp>
      <p:sp>
        <p:nvSpPr>
          <p:cNvPr id="2" name="Title 1">
            <a:extLst>
              <a:ext uri="{FF2B5EF4-FFF2-40B4-BE49-F238E27FC236}">
                <a16:creationId xmlns:a16="http://schemas.microsoft.com/office/drawing/2014/main" id="{5BC76A8C-4CE0-B904-FA11-9C5E59DAC4A3}"/>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DA2EC570-6EFB-36A9-D331-9B3FB6F10BCB}"/>
              </a:ext>
            </a:extLst>
          </p:cNvPr>
          <p:cNvSpPr txBox="1"/>
          <p:nvPr/>
        </p:nvSpPr>
        <p:spPr>
          <a:xfrm>
            <a:off x="744069" y="1555036"/>
            <a:ext cx="10434919" cy="52521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008000"/>
                </a:solidFill>
                <a:effectLst/>
                <a:latin typeface="Menlo" panose="020B0609030804020204" pitchFamily="49" charset="0"/>
              </a:rPr>
              <a:t>// </a:t>
            </a:r>
            <a:r>
              <a:rPr lang="en-US" b="0" err="1">
                <a:solidFill>
                  <a:srgbClr val="008000"/>
                </a:solidFill>
                <a:effectLst/>
                <a:latin typeface="Menlo" panose="020B0609030804020204" pitchFamily="49" charset="0"/>
              </a:rPr>
              <a:t>types.spec.ts</a:t>
            </a:r>
            <a:br>
              <a:rPr lang="en-US" b="0">
                <a:solidFill>
                  <a:srgbClr val="3B3B3B"/>
                </a:solidFill>
                <a:effectLst/>
                <a:latin typeface="Menlo" panose="020B0609030804020204" pitchFamily="49" charset="0"/>
              </a:rPr>
            </a:br>
            <a:r>
              <a:rPr lang="en-US" b="0">
                <a:solidFill>
                  <a:srgbClr val="AF00DB"/>
                </a:solidFill>
                <a:effectLst/>
                <a:latin typeface="Menlo" panose="020B0609030804020204" pitchFamily="49" charset="0"/>
              </a:rPr>
              <a:t>import</a:t>
            </a:r>
            <a:r>
              <a:rPr lang="en-US" b="0">
                <a:solidFill>
                  <a:srgbClr val="3B3B3B"/>
                </a:solidFill>
                <a:effectLst/>
                <a:latin typeface="Menlo" panose="020B0609030804020204" pitchFamily="49" charset="0"/>
              </a:rPr>
              <a:t> { </a:t>
            </a:r>
            <a:r>
              <a:rPr lang="en-US" b="0">
                <a:solidFill>
                  <a:srgbClr val="001080"/>
                </a:solidFill>
                <a:effectLst/>
                <a:latin typeface="Menlo" panose="020B0609030804020204" pitchFamily="49" charset="0"/>
              </a:rPr>
              <a:t>describe</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expect</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it</a:t>
            </a:r>
            <a:r>
              <a:rPr lang="en-US" b="0">
                <a:solidFill>
                  <a:srgbClr val="3B3B3B"/>
                </a:solidFill>
                <a:effectLst/>
                <a:latin typeface="Menlo" panose="020B0609030804020204" pitchFamily="49" charset="0"/>
              </a:rPr>
              <a:t> } </a:t>
            </a:r>
            <a:r>
              <a:rPr lang="en-US" b="0">
                <a:solidFill>
                  <a:srgbClr val="AF00DB"/>
                </a:solidFill>
                <a:effectLst/>
                <a:latin typeface="Menlo" panose="020B0609030804020204" pitchFamily="49" charset="0"/>
              </a:rPr>
              <a:t>from</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vitest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AF00DB"/>
                </a:solidFill>
                <a:effectLst/>
                <a:latin typeface="Menlo" panose="020B0609030804020204" pitchFamily="49" charset="0"/>
              </a:rPr>
              <a:t>import</a:t>
            </a:r>
            <a:r>
              <a:rPr lang="en-US" b="0">
                <a:solidFill>
                  <a:srgbClr val="3B3B3B"/>
                </a:solidFill>
                <a:effectLst/>
                <a:latin typeface="Menlo" panose="020B0609030804020204" pitchFamily="49" charset="0"/>
              </a:rPr>
              <a:t> { </a:t>
            </a:r>
            <a:r>
              <a:rPr lang="en-US" b="0">
                <a:solidFill>
                  <a:srgbClr val="AF00DB"/>
                </a:solidFill>
                <a:effectLst/>
                <a:latin typeface="Menlo" panose="020B0609030804020204" pitchFamily="49" charset="0"/>
              </a:rPr>
              <a:t>type</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Student</a:t>
            </a:r>
            <a:r>
              <a:rPr lang="en-US" b="0">
                <a:solidFill>
                  <a:srgbClr val="3B3B3B"/>
                </a:solidFill>
                <a:effectLst/>
                <a:latin typeface="Menlo" panose="020B0609030804020204" pitchFamily="49" charset="0"/>
              </a:rPr>
              <a:t> } </a:t>
            </a:r>
            <a:r>
              <a:rPr lang="en-US" b="0">
                <a:solidFill>
                  <a:srgbClr val="AF00DB"/>
                </a:solidFill>
                <a:effectLst/>
                <a:latin typeface="Menlo" panose="020B0609030804020204" pitchFamily="49" charset="0"/>
              </a:rPr>
              <a:t>from</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types.ts</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br>
              <a:rPr lang="en-US" b="0">
                <a:solidFill>
                  <a:srgbClr val="3B3B3B"/>
                </a:solidFill>
                <a:effectLst/>
                <a:latin typeface="Menlo" panose="020B0609030804020204" pitchFamily="49" charset="0"/>
              </a:rPr>
            </a:br>
            <a:r>
              <a:rPr lang="en-US" b="0">
                <a:solidFill>
                  <a:srgbClr val="0000FF"/>
                </a:solidFill>
                <a:effectLst/>
                <a:latin typeface="Menlo" panose="020B0609030804020204" pitchFamily="49" charset="0"/>
              </a:rPr>
              <a:t>const</a:t>
            </a:r>
            <a:r>
              <a:rPr lang="en-US" b="0">
                <a:solidFill>
                  <a:srgbClr val="3B3B3B"/>
                </a:solidFill>
                <a:effectLst/>
                <a:latin typeface="Menlo" panose="020B0609030804020204" pitchFamily="49" charset="0"/>
              </a:rPr>
              <a:t> </a:t>
            </a:r>
            <a:r>
              <a:rPr lang="en-US" b="0" err="1">
                <a:solidFill>
                  <a:srgbClr val="0070C1"/>
                </a:solidFill>
                <a:effectLst/>
                <a:latin typeface="Menlo" panose="020B0609030804020204" pitchFamily="49" charset="0"/>
              </a:rPr>
              <a:t>alvin</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267F99"/>
                </a:solidFill>
                <a:effectLst/>
                <a:latin typeface="Menlo" panose="020B0609030804020204" pitchFamily="49" charset="0"/>
              </a:rPr>
              <a:t>Student</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err="1">
                <a:solidFill>
                  <a:srgbClr val="001080"/>
                </a:solidFill>
                <a:effectLst/>
                <a:latin typeface="Menlo" panose="020B0609030804020204" pitchFamily="49" charset="0"/>
              </a:rPr>
              <a:t>studentID</a:t>
            </a:r>
            <a:r>
              <a:rPr lang="en-US" b="0">
                <a:solidFill>
                  <a:srgbClr val="00108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098658"/>
                </a:solidFill>
                <a:effectLst/>
                <a:latin typeface="Menlo" panose="020B0609030804020204" pitchFamily="49" charset="0"/>
              </a:rPr>
              <a:t>37</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studentName</a:t>
            </a:r>
            <a:r>
              <a:rPr lang="en-US" b="0">
                <a:solidFill>
                  <a:srgbClr val="00108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'Alvin'</a:t>
            </a:r>
            <a:r>
              <a:rPr lang="en-US" b="0">
                <a:solidFill>
                  <a:srgbClr val="3B3B3B"/>
                </a:solidFill>
                <a:effectLst/>
                <a:latin typeface="Menlo" panose="020B0609030804020204" pitchFamily="49" charset="0"/>
              </a:rPr>
              <a:t> };</a:t>
            </a:r>
          </a:p>
          <a:p>
            <a:pPr>
              <a:lnSpc>
                <a:spcPct val="110000"/>
              </a:lnSpc>
              <a:buNone/>
            </a:pPr>
            <a:r>
              <a:rPr lang="en-US" b="0">
                <a:solidFill>
                  <a:srgbClr val="0000FF"/>
                </a:solidFill>
                <a:effectLst/>
                <a:latin typeface="Menlo" panose="020B0609030804020204" pitchFamily="49" charset="0"/>
              </a:rPr>
              <a:t>const</a:t>
            </a:r>
            <a:r>
              <a:rPr lang="en-US" b="0">
                <a:solidFill>
                  <a:srgbClr val="3B3B3B"/>
                </a:solidFill>
                <a:effectLst/>
                <a:latin typeface="Menlo" panose="020B0609030804020204" pitchFamily="49" charset="0"/>
              </a:rPr>
              <a:t> </a:t>
            </a:r>
            <a:r>
              <a:rPr lang="en-US" b="0" err="1">
                <a:solidFill>
                  <a:srgbClr val="0070C1"/>
                </a:solidFill>
                <a:effectLst/>
                <a:latin typeface="Menlo" panose="020B0609030804020204" pitchFamily="49" charset="0"/>
              </a:rPr>
              <a:t>bryn</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267F99"/>
                </a:solidFill>
                <a:effectLst/>
                <a:latin typeface="Menlo" panose="020B0609030804020204" pitchFamily="49" charset="0"/>
              </a:rPr>
              <a:t>Student</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err="1">
                <a:solidFill>
                  <a:srgbClr val="001080"/>
                </a:solidFill>
                <a:effectLst/>
                <a:latin typeface="Menlo" panose="020B0609030804020204" pitchFamily="49" charset="0"/>
              </a:rPr>
              <a:t>studentID</a:t>
            </a:r>
            <a:r>
              <a:rPr lang="en-US" b="0">
                <a:solidFill>
                  <a:srgbClr val="00108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098658"/>
                </a:solidFill>
                <a:effectLst/>
                <a:latin typeface="Menlo" panose="020B0609030804020204" pitchFamily="49" charset="0"/>
              </a:rPr>
              <a:t>38</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studentName</a:t>
            </a:r>
            <a:r>
              <a:rPr lang="en-US" b="0">
                <a:solidFill>
                  <a:srgbClr val="00108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'Bronwyn'</a:t>
            </a:r>
            <a:r>
              <a:rPr lang="en-US" b="0">
                <a:solidFill>
                  <a:srgbClr val="3B3B3B"/>
                </a:solidFill>
                <a:effectLst/>
                <a:latin typeface="Menlo" panose="020B0609030804020204" pitchFamily="49" charset="0"/>
              </a:rPr>
              <a:t> };</a:t>
            </a:r>
          </a:p>
          <a:p>
            <a:pPr>
              <a:lnSpc>
                <a:spcPct val="110000"/>
              </a:lnSpc>
              <a:buNone/>
            </a:pPr>
            <a:br>
              <a:rPr lang="en-US" b="0">
                <a:solidFill>
                  <a:srgbClr val="3B3B3B"/>
                </a:solidFill>
                <a:effectLst/>
                <a:latin typeface="Menlo" panose="020B0609030804020204" pitchFamily="49" charset="0"/>
              </a:rPr>
            </a:b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'the Student type'</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allow extraction of id'</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70C1"/>
                </a:solidFill>
                <a:effectLst/>
                <a:latin typeface="Menlo" panose="020B0609030804020204" pitchFamily="49" charset="0"/>
              </a:rPr>
              <a:t>alvin</a:t>
            </a:r>
            <a:r>
              <a:rPr lang="en-US" b="0" err="1">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studentID</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98658"/>
                </a:solidFill>
                <a:effectLst/>
                <a:latin typeface="Menlo" panose="020B0609030804020204" pitchFamily="49" charset="0"/>
              </a:rPr>
              <a:t>37</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70C1"/>
                </a:solidFill>
                <a:effectLst/>
                <a:latin typeface="Menlo" panose="020B0609030804020204" pitchFamily="49" charset="0"/>
              </a:rPr>
              <a:t>bryn</a:t>
            </a:r>
            <a:r>
              <a:rPr lang="en-US" b="0" err="1">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studentID</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98658"/>
                </a:solidFill>
                <a:effectLst/>
                <a:latin typeface="Menlo" panose="020B0609030804020204" pitchFamily="49" charset="0"/>
              </a:rPr>
              <a:t>38</a:t>
            </a:r>
            <a:r>
              <a:rPr lang="en-US" b="0">
                <a:solidFill>
                  <a:srgbClr val="3B3B3B"/>
                </a:solidFill>
                <a:effectLst/>
                <a:latin typeface="Menlo" panose="020B0609030804020204" pitchFamily="49" charset="0"/>
              </a:rPr>
              <a:t>);</a:t>
            </a:r>
          </a:p>
          <a:p>
            <a:pPr>
              <a:lnSpc>
                <a:spcPct val="110000"/>
              </a:lnSpc>
              <a:buNone/>
            </a:pPr>
            <a:r>
              <a:rPr lang="en-US" b="0">
                <a:solidFill>
                  <a:srgbClr val="3B3B3B"/>
                </a:solidFill>
                <a:effectLst/>
                <a:latin typeface="Menlo" panose="020B0609030804020204" pitchFamily="49" charset="0"/>
              </a:rPr>
              <a:t>  });</a:t>
            </a:r>
            <a:br>
              <a:rPr lang="en-US" b="0">
                <a:solidFill>
                  <a:srgbClr val="3B3B3B"/>
                </a:solidFill>
                <a:effectLst/>
                <a:latin typeface="Menlo" panose="020B0609030804020204" pitchFamily="49" charset="0"/>
              </a:rPr>
            </a:br>
            <a:r>
              <a:rPr lang="en-US" b="0">
                <a:solidFill>
                  <a:srgbClr val="3B3B3B"/>
                </a:solidFill>
                <a:effectLst/>
                <a:latin typeface="Menlo" panose="020B0609030804020204" pitchFamily="49" charset="0"/>
              </a:rPr>
              <a:t>  </a:t>
            </a:r>
            <a:r>
              <a:rPr lang="en-US" b="0">
                <a:solidFill>
                  <a:srgbClr val="795E26"/>
                </a:solidFill>
                <a:effectLst/>
                <a:latin typeface="Menlo" panose="020B0609030804020204" pitchFamily="49" charset="0"/>
              </a:rPr>
              <a:t>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allow extraction of name'</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70C1"/>
                </a:solidFill>
                <a:effectLst/>
                <a:latin typeface="Menlo" panose="020B0609030804020204" pitchFamily="49" charset="0"/>
              </a:rPr>
              <a:t>alvin</a:t>
            </a:r>
            <a:r>
              <a:rPr lang="en-US" b="0" err="1">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studentName</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'Alvin’</a:t>
            </a:r>
            <a:r>
              <a:rPr lang="en-US" b="0">
                <a:solidFill>
                  <a:srgbClr val="3B3B3B"/>
                </a:solidFill>
                <a:effectLst/>
                <a:latin typeface="Menlo" panose="020B0609030804020204" pitchFamily="49" charset="0"/>
              </a:rPr>
              <a:t>);</a:t>
            </a:r>
          </a:p>
          <a:p>
            <a:pPr>
              <a:lnSpc>
                <a:spcPct val="110000"/>
              </a:lnSpc>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70C1"/>
                </a:solidFill>
                <a:effectLst/>
                <a:latin typeface="Menlo" panose="020B0609030804020204" pitchFamily="49" charset="0"/>
              </a:rPr>
              <a:t>bryn</a:t>
            </a:r>
            <a:r>
              <a:rPr lang="en-US" b="0" err="1">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studentName</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Jazzhands</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008000"/>
                </a:solidFill>
                <a:effectLst/>
                <a:latin typeface="Menlo" panose="020B0609030804020204" pitchFamily="49" charset="0"/>
              </a:rPr>
              <a:t>// will fail</a:t>
            </a:r>
            <a:endParaRPr lang="en-US" b="0">
              <a:solidFill>
                <a:srgbClr val="3B3B3B"/>
              </a:solidFill>
              <a:effectLst/>
              <a:latin typeface="Menlo" panose="020B0609030804020204" pitchFamily="49" charset="0"/>
            </a:endParaRPr>
          </a:p>
          <a:p>
            <a:pPr>
              <a:lnSpc>
                <a:spcPct val="110000"/>
              </a:lnSpc>
              <a:buNone/>
            </a:pPr>
            <a:r>
              <a:rPr lang="en-US" b="0">
                <a:solidFill>
                  <a:srgbClr val="3B3B3B"/>
                </a:solidFill>
                <a:effectLst/>
                <a:latin typeface="Menlo" panose="020B0609030804020204" pitchFamily="49" charset="0"/>
              </a:rPr>
              <a:t>  });</a:t>
            </a:r>
          </a:p>
          <a:p>
            <a:pPr>
              <a:lnSpc>
                <a:spcPct val="110000"/>
              </a:lnSpc>
            </a:pPr>
            <a:r>
              <a:rPr lang="en-US" b="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3577692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4EDC29-8187-C517-16E4-F0E0A06EFDD6}"/>
              </a:ext>
            </a:extLst>
          </p:cNvPr>
          <p:cNvSpPr>
            <a:spLocks noGrp="1"/>
          </p:cNvSpPr>
          <p:nvPr>
            <p:ph type="sldNum" sz="quarter" idx="12"/>
          </p:nvPr>
        </p:nvSpPr>
        <p:spPr/>
        <p:txBody>
          <a:bodyPr/>
          <a:lstStyle/>
          <a:p>
            <a:fld id="{20F37917-FD3A-4669-9018-DA04BCDD3D75}" type="slidenum">
              <a:rPr lang="en-US" smtClean="0"/>
              <a:t>25</a:t>
            </a:fld>
            <a:endParaRPr lang="en-US"/>
          </a:p>
        </p:txBody>
      </p:sp>
      <p:sp>
        <p:nvSpPr>
          <p:cNvPr id="3" name="Title 2">
            <a:extLst>
              <a:ext uri="{FF2B5EF4-FFF2-40B4-BE49-F238E27FC236}">
                <a16:creationId xmlns:a16="http://schemas.microsoft.com/office/drawing/2014/main" id="{37E08517-B269-8B9A-9E57-78D0D24BB9DE}"/>
              </a:ext>
            </a:extLst>
          </p:cNvPr>
          <p:cNvSpPr>
            <a:spLocks noGrp="1"/>
          </p:cNvSpPr>
          <p:nvPr>
            <p:ph type="title"/>
          </p:nvPr>
        </p:nvSpPr>
        <p:spPr/>
        <p:txBody>
          <a:bodyPr/>
          <a:lstStyle/>
          <a:p>
            <a:r>
              <a:rPr lang="en-US"/>
              <a:t>The tiniest introduction to Vitest</a:t>
            </a:r>
          </a:p>
        </p:txBody>
      </p:sp>
      <p:sp>
        <p:nvSpPr>
          <p:cNvPr id="6" name="TextBox 5">
            <a:extLst>
              <a:ext uri="{FF2B5EF4-FFF2-40B4-BE49-F238E27FC236}">
                <a16:creationId xmlns:a16="http://schemas.microsoft.com/office/drawing/2014/main" id="{7A9637F7-75C6-78DD-86A1-96D6EC789DA9}"/>
              </a:ext>
            </a:extLst>
          </p:cNvPr>
          <p:cNvSpPr txBox="1"/>
          <p:nvPr/>
        </p:nvSpPr>
        <p:spPr>
          <a:xfrm>
            <a:off x="744069" y="1555036"/>
            <a:ext cx="10434919" cy="526297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1200">
                <a:solidFill>
                  <a:srgbClr val="000000"/>
                </a:solidFill>
                <a:effectLst/>
                <a:latin typeface="Menlo" panose="020B0609030804020204" pitchFamily="49" charset="0"/>
              </a:rPr>
              <a:t>% </a:t>
            </a:r>
            <a:r>
              <a:rPr lang="en-US" sz="1200" err="1">
                <a:solidFill>
                  <a:srgbClr val="000000"/>
                </a:solidFill>
                <a:effectLst/>
                <a:latin typeface="Menlo" panose="020B0609030804020204" pitchFamily="49" charset="0"/>
              </a:rPr>
              <a:t>npx</a:t>
            </a:r>
            <a:r>
              <a:rPr lang="en-US" sz="1200">
                <a:solidFill>
                  <a:srgbClr val="000000"/>
                </a:solidFill>
                <a:effectLst/>
                <a:latin typeface="Menlo" panose="020B0609030804020204" pitchFamily="49" charset="0"/>
              </a:rPr>
              <a:t> </a:t>
            </a:r>
            <a:r>
              <a:rPr lang="en-US" sz="1200" err="1">
                <a:solidFill>
                  <a:srgbClr val="000000"/>
                </a:solidFill>
                <a:effectLst/>
                <a:latin typeface="Menlo" panose="020B0609030804020204" pitchFamily="49" charset="0"/>
              </a:rPr>
              <a:t>vitest</a:t>
            </a:r>
            <a:r>
              <a:rPr lang="en-US" sz="1200">
                <a:solidFill>
                  <a:srgbClr val="000000"/>
                </a:solidFill>
                <a:effectLst/>
                <a:latin typeface="Menlo" panose="020B0609030804020204" pitchFamily="49" charset="0"/>
              </a:rPr>
              <a:t> --run </a:t>
            </a:r>
            <a:r>
              <a:rPr lang="en-US" sz="1200" err="1">
                <a:solidFill>
                  <a:srgbClr val="000000"/>
                </a:solidFill>
                <a:effectLst/>
                <a:latin typeface="Menlo" panose="020B0609030804020204" pitchFamily="49" charset="0"/>
              </a:rPr>
              <a:t>types.spec.ts</a:t>
            </a:r>
            <a:endParaRPr lang="en-US" sz="1200">
              <a:solidFill>
                <a:srgbClr val="000000"/>
              </a:solidFill>
              <a:effectLst/>
              <a:latin typeface="Menlo" panose="020B0609030804020204" pitchFamily="49" charset="0"/>
            </a:endParaRPr>
          </a:p>
          <a:p>
            <a:pPr>
              <a:buNone/>
            </a:pPr>
            <a:endParaRPr lang="en-US" sz="1200">
              <a:solidFill>
                <a:srgbClr val="000000"/>
              </a:solidFill>
              <a:effectLst/>
              <a:latin typeface="Menlo" panose="020B0609030804020204" pitchFamily="49" charset="0"/>
            </a:endParaRPr>
          </a:p>
          <a:p>
            <a:pPr>
              <a:buNone/>
            </a:pPr>
            <a:r>
              <a:rPr lang="en-US" sz="1200" b="1">
                <a:solidFill>
                  <a:srgbClr val="000000"/>
                </a:solidFill>
                <a:effectLst/>
                <a:latin typeface="Menlo" panose="020B0609030804020204" pitchFamily="49" charset="0"/>
              </a:rPr>
              <a:t> RUN </a:t>
            </a:r>
            <a:r>
              <a:rPr lang="en-US" sz="1200">
                <a:solidFill>
                  <a:srgbClr val="000000"/>
                </a:solidFill>
                <a:effectLst/>
                <a:latin typeface="Menlo" panose="020B0609030804020204" pitchFamily="49" charset="0"/>
              </a:rPr>
              <a:t> </a:t>
            </a:r>
            <a:r>
              <a:rPr lang="en-US" sz="1200">
                <a:solidFill>
                  <a:srgbClr val="2EAEBB"/>
                </a:solidFill>
                <a:effectLst/>
                <a:latin typeface="Menlo" panose="020B0609030804020204" pitchFamily="49" charset="0"/>
              </a:rPr>
              <a:t>v3.1.2 </a:t>
            </a:r>
            <a:r>
              <a:rPr lang="en-US" sz="1200">
                <a:solidFill>
                  <a:srgbClr val="6F6F6F"/>
                </a:solidFill>
                <a:effectLst/>
                <a:latin typeface="Menlo" panose="020B0609030804020204" pitchFamily="49" charset="0"/>
              </a:rPr>
              <a:t>/Users/</a:t>
            </a:r>
            <a:r>
              <a:rPr lang="en-US" sz="1200" err="1">
                <a:solidFill>
                  <a:srgbClr val="6F6F6F"/>
                </a:solidFill>
                <a:effectLst/>
                <a:latin typeface="Menlo" panose="020B0609030804020204" pitchFamily="49" charset="0"/>
              </a:rPr>
              <a:t>rjsimmon</a:t>
            </a:r>
            <a:r>
              <a:rPr lang="en-US" sz="1200">
                <a:solidFill>
                  <a:srgbClr val="6F6F6F"/>
                </a:solidFill>
                <a:effectLst/>
                <a:latin typeface="Menlo" panose="020B0609030804020204" pitchFamily="49" charset="0"/>
              </a:rPr>
              <a:t>/r/strategytown-su25/client</a:t>
            </a:r>
          </a:p>
          <a:p>
            <a:pPr>
              <a:buNone/>
            </a:pP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B42419"/>
                </a:solidFill>
                <a:effectLst/>
                <a:latin typeface="Menlo" panose="020B0609030804020204" pitchFamily="49" charset="0"/>
              </a:rPr>
              <a:t>❯</a:t>
            </a:r>
            <a:r>
              <a:rPr lang="en-US" sz="1200">
                <a:solidFill>
                  <a:srgbClr val="000000"/>
                </a:solidFill>
                <a:effectLst/>
                <a:latin typeface="Menlo" panose="020B0609030804020204" pitchFamily="49" charset="0"/>
              </a:rPr>
              <a:t> </a:t>
            </a:r>
            <a:r>
              <a:rPr lang="en-US" sz="1200" err="1">
                <a:solidFill>
                  <a:srgbClr val="000000"/>
                </a:solidFill>
                <a:effectLst/>
                <a:latin typeface="Menlo" panose="020B0609030804020204" pitchFamily="49" charset="0"/>
              </a:rPr>
              <a:t>types.spec.ts</a:t>
            </a:r>
            <a:r>
              <a:rPr lang="en-US" sz="1200">
                <a:solidFill>
                  <a:srgbClr val="000000"/>
                </a:solidFill>
                <a:effectLst/>
                <a:latin typeface="Menlo" panose="020B0609030804020204" pitchFamily="49" charset="0"/>
              </a:rPr>
              <a:t> </a:t>
            </a:r>
            <a:r>
              <a:rPr lang="en-US" sz="1200">
                <a:solidFill>
                  <a:srgbClr val="999999"/>
                </a:solidFill>
                <a:effectLst/>
                <a:latin typeface="Menlo" panose="020B0609030804020204" pitchFamily="49" charset="0"/>
              </a:rPr>
              <a:t>(2 tests | </a:t>
            </a:r>
            <a:r>
              <a:rPr lang="en-US" sz="1200">
                <a:solidFill>
                  <a:srgbClr val="B42419"/>
                </a:solidFill>
                <a:effectLst/>
                <a:latin typeface="Menlo" panose="020B0609030804020204" pitchFamily="49" charset="0"/>
              </a:rPr>
              <a:t>1 failed</a:t>
            </a:r>
            <a:r>
              <a:rPr lang="en-US" sz="1200">
                <a:solidFill>
                  <a:srgbClr val="999999"/>
                </a:solidFill>
                <a:effectLst/>
                <a:latin typeface="Menlo" panose="020B0609030804020204" pitchFamily="49" charset="0"/>
              </a:rPr>
              <a:t>)</a:t>
            </a:r>
            <a:r>
              <a:rPr lang="en-US" sz="1200">
                <a:solidFill>
                  <a:srgbClr val="2FB41D"/>
                </a:solidFill>
                <a:effectLst/>
                <a:latin typeface="Menlo" panose="020B0609030804020204" pitchFamily="49" charset="0"/>
              </a:rPr>
              <a:t> 4</a:t>
            </a:r>
            <a:r>
              <a:rPr lang="en-US" sz="1200">
                <a:solidFill>
                  <a:srgbClr val="ACE1A5"/>
                </a:solidFill>
                <a:effectLst/>
                <a:latin typeface="Menlo" panose="020B0609030804020204" pitchFamily="49" charset="0"/>
              </a:rPr>
              <a:t>ms</a:t>
            </a: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2FB41D"/>
                </a:solidFill>
                <a:effectLst/>
                <a:latin typeface="Menlo" panose="020B0609030804020204" pitchFamily="49" charset="0"/>
              </a:rPr>
              <a:t>✓</a:t>
            </a:r>
            <a:r>
              <a:rPr lang="en-US" sz="1200">
                <a:solidFill>
                  <a:srgbClr val="000000"/>
                </a:solidFill>
                <a:effectLst/>
                <a:latin typeface="Menlo" panose="020B0609030804020204" pitchFamily="49" charset="0"/>
              </a:rPr>
              <a:t> the Student type</a:t>
            </a:r>
            <a:r>
              <a:rPr lang="en-US" sz="1200">
                <a:solidFill>
                  <a:srgbClr val="999999"/>
                </a:solidFill>
                <a:effectLst/>
                <a:latin typeface="Menlo" panose="020B0609030804020204" pitchFamily="49" charset="0"/>
              </a:rPr>
              <a:t> &gt; </a:t>
            </a:r>
            <a:r>
              <a:rPr lang="en-US" sz="1200">
                <a:solidFill>
                  <a:srgbClr val="000000"/>
                </a:solidFill>
                <a:effectLst/>
                <a:latin typeface="Menlo" panose="020B0609030804020204" pitchFamily="49" charset="0"/>
              </a:rPr>
              <a:t>should allow extraction of id</a:t>
            </a:r>
            <a:r>
              <a:rPr lang="en-US" sz="1200">
                <a:solidFill>
                  <a:srgbClr val="2FB41D"/>
                </a:solidFill>
                <a:effectLst/>
                <a:latin typeface="Menlo" panose="020B0609030804020204" pitchFamily="49" charset="0"/>
              </a:rPr>
              <a:t> 1</a:t>
            </a:r>
            <a:r>
              <a:rPr lang="en-US" sz="1200">
                <a:solidFill>
                  <a:srgbClr val="ACE1A5"/>
                </a:solidFill>
                <a:effectLst/>
                <a:latin typeface="Menlo" panose="020B0609030804020204" pitchFamily="49" charset="0"/>
              </a:rPr>
              <a:t>ms</a:t>
            </a:r>
            <a:endParaRPr lang="en-US" sz="1200">
              <a:solidFill>
                <a:srgbClr val="000000"/>
              </a:solidFill>
              <a:effectLst/>
              <a:latin typeface="Menlo" panose="020B0609030804020204" pitchFamily="49" charset="0"/>
            </a:endParaRPr>
          </a:p>
          <a:p>
            <a:pPr>
              <a:buNone/>
            </a:pPr>
            <a:r>
              <a:rPr lang="en-US" sz="1200">
                <a:solidFill>
                  <a:srgbClr val="B42419"/>
                </a:solidFill>
                <a:effectLst/>
                <a:latin typeface="Menlo" panose="020B0609030804020204" pitchFamily="49" charset="0"/>
              </a:rPr>
              <a:t>   × the Student type</a:t>
            </a:r>
            <a:r>
              <a:rPr lang="en-US" sz="1200">
                <a:solidFill>
                  <a:srgbClr val="E1A7A3"/>
                </a:solidFill>
                <a:effectLst/>
                <a:latin typeface="Menlo" panose="020B0609030804020204" pitchFamily="49" charset="0"/>
              </a:rPr>
              <a:t> &gt; </a:t>
            </a:r>
            <a:r>
              <a:rPr lang="en-US" sz="1200">
                <a:solidFill>
                  <a:srgbClr val="B42419"/>
                </a:solidFill>
                <a:effectLst/>
                <a:latin typeface="Menlo" panose="020B0609030804020204" pitchFamily="49" charset="0"/>
              </a:rPr>
              <a:t>should allow extraction of name</a:t>
            </a:r>
            <a:r>
              <a:rPr lang="en-US" sz="1200">
                <a:solidFill>
                  <a:srgbClr val="2FB41D"/>
                </a:solidFill>
                <a:effectLst/>
                <a:latin typeface="Menlo" panose="020B0609030804020204" pitchFamily="49" charset="0"/>
              </a:rPr>
              <a:t> 3</a:t>
            </a:r>
            <a:r>
              <a:rPr lang="en-US" sz="1200">
                <a:solidFill>
                  <a:srgbClr val="ACE1A5"/>
                </a:solidFill>
                <a:effectLst/>
                <a:latin typeface="Menlo" panose="020B0609030804020204" pitchFamily="49" charset="0"/>
              </a:rPr>
              <a:t>ms</a:t>
            </a:r>
            <a:endParaRPr lang="en-US" sz="1200">
              <a:solidFill>
                <a:srgbClr val="B42419"/>
              </a:solidFill>
              <a:effectLst/>
              <a:latin typeface="Menlo" panose="020B0609030804020204" pitchFamily="49" charset="0"/>
            </a:endParaRPr>
          </a:p>
          <a:p>
            <a:pPr>
              <a:buNone/>
            </a:pPr>
            <a:r>
              <a:rPr lang="en-US" sz="1200">
                <a:solidFill>
                  <a:srgbClr val="B42419"/>
                </a:solidFill>
                <a:effectLst/>
                <a:latin typeface="Menlo" panose="020B0609030804020204" pitchFamily="49" charset="0"/>
              </a:rPr>
              <a:t>     → expected 'Bronwyn' to deeply equal '</a:t>
            </a:r>
            <a:r>
              <a:rPr lang="en-US" sz="1200" err="1">
                <a:solidFill>
                  <a:srgbClr val="B42419"/>
                </a:solidFill>
                <a:effectLst/>
                <a:latin typeface="Menlo" panose="020B0609030804020204" pitchFamily="49" charset="0"/>
              </a:rPr>
              <a:t>Jazzhands</a:t>
            </a:r>
            <a:r>
              <a:rPr lang="en-US" sz="1200">
                <a:solidFill>
                  <a:srgbClr val="B42419"/>
                </a:solidFill>
                <a:effectLst/>
                <a:latin typeface="Menlo" panose="020B0609030804020204" pitchFamily="49" charset="0"/>
              </a:rPr>
              <a:t>'</a:t>
            </a:r>
          </a:p>
          <a:p>
            <a:pPr>
              <a:buNone/>
            </a:pPr>
            <a:br>
              <a:rPr lang="en-US" sz="1200">
                <a:solidFill>
                  <a:srgbClr val="000000"/>
                </a:solidFill>
                <a:effectLst/>
                <a:latin typeface="Menlo" panose="020B0609030804020204" pitchFamily="49" charset="0"/>
              </a:rPr>
            </a:br>
            <a:r>
              <a:rPr lang="en-US" sz="1200">
                <a:solidFill>
                  <a:srgbClr val="B42419"/>
                </a:solidFill>
                <a:effectLst/>
                <a:latin typeface="Menlo" panose="020B0609030804020204" pitchFamily="49" charset="0"/>
              </a:rPr>
              <a:t>⎯⎯⎯⎯⎯⎯⎯⎯⎯⎯⎯⎯⎯⎯⎯⎯⎯⎯⎯⎯⎯⎯⎯⎯⎯⎯⎯⎯⎯⎯⎯⎯⎯⎯⎯⎯⎯⎯⎯⎯⎯⎯⎯⎯⎯⎯⎯⎯⎯⎯⎯⎯⎯⎯</a:t>
            </a:r>
            <a:r>
              <a:rPr lang="en-US" sz="1200" b="1">
                <a:solidFill>
                  <a:srgbClr val="000000"/>
                </a:solidFill>
                <a:effectLst/>
                <a:latin typeface="Menlo" panose="020B0609030804020204" pitchFamily="49" charset="0"/>
              </a:rPr>
              <a:t> Failed Tests 1 </a:t>
            </a:r>
            <a:r>
              <a:rPr lang="en-US" sz="1200">
                <a:solidFill>
                  <a:srgbClr val="B42419"/>
                </a:solidFill>
                <a:effectLst/>
                <a:latin typeface="Menlo" panose="020B0609030804020204" pitchFamily="49" charset="0"/>
              </a:rPr>
              <a:t>⎯⎯⎯⎯⎯⎯⎯⎯⎯⎯⎯⎯⎯⎯⎯⎯⎯⎯⎯⎯⎯⎯⎯⎯⎯⎯⎯⎯⎯⎯⎯⎯⎯⎯⎯⎯⎯⎯⎯⎯⎯⎯⎯⎯⎯⎯⎯⎯⎯⎯⎯⎯⎯⎯⎯</a:t>
            </a:r>
          </a:p>
          <a:p>
            <a:pPr>
              <a:buNone/>
            </a:pPr>
            <a:br>
              <a:rPr lang="en-US" sz="1200">
                <a:solidFill>
                  <a:srgbClr val="000000"/>
                </a:solidFill>
                <a:effectLst/>
                <a:latin typeface="Menlo" panose="020B0609030804020204" pitchFamily="49" charset="0"/>
              </a:rPr>
            </a:br>
            <a:r>
              <a:rPr lang="en-US" sz="1200" b="1">
                <a:solidFill>
                  <a:srgbClr val="000000"/>
                </a:solidFill>
                <a:effectLst/>
                <a:latin typeface="Menlo" panose="020B0609030804020204" pitchFamily="49" charset="0"/>
              </a:rPr>
              <a:t> FAIL </a:t>
            </a:r>
            <a:r>
              <a:rPr lang="en-US" sz="1200">
                <a:solidFill>
                  <a:srgbClr val="000000"/>
                </a:solidFill>
                <a:effectLst/>
                <a:latin typeface="Menlo" panose="020B0609030804020204" pitchFamily="49" charset="0"/>
              </a:rPr>
              <a:t> </a:t>
            </a:r>
            <a:r>
              <a:rPr lang="en-US" sz="1200" err="1">
                <a:solidFill>
                  <a:srgbClr val="000000"/>
                </a:solidFill>
                <a:effectLst/>
                <a:latin typeface="Menlo" panose="020B0609030804020204" pitchFamily="49" charset="0"/>
              </a:rPr>
              <a:t>types.spec.ts</a:t>
            </a:r>
            <a:r>
              <a:rPr lang="en-US" sz="1200">
                <a:solidFill>
                  <a:srgbClr val="999999"/>
                </a:solidFill>
                <a:effectLst/>
                <a:latin typeface="Menlo" panose="020B0609030804020204" pitchFamily="49" charset="0"/>
              </a:rPr>
              <a:t> &gt; </a:t>
            </a:r>
            <a:r>
              <a:rPr lang="en-US" sz="1200">
                <a:solidFill>
                  <a:srgbClr val="000000"/>
                </a:solidFill>
                <a:effectLst/>
                <a:latin typeface="Menlo" panose="020B0609030804020204" pitchFamily="49" charset="0"/>
              </a:rPr>
              <a:t>the Student type</a:t>
            </a:r>
            <a:r>
              <a:rPr lang="en-US" sz="1200">
                <a:solidFill>
                  <a:srgbClr val="999999"/>
                </a:solidFill>
                <a:effectLst/>
                <a:latin typeface="Menlo" panose="020B0609030804020204" pitchFamily="49" charset="0"/>
              </a:rPr>
              <a:t> &gt; </a:t>
            </a:r>
            <a:r>
              <a:rPr lang="en-US" sz="1200">
                <a:solidFill>
                  <a:srgbClr val="000000"/>
                </a:solidFill>
                <a:effectLst/>
                <a:latin typeface="Menlo" panose="020B0609030804020204" pitchFamily="49" charset="0"/>
              </a:rPr>
              <a:t>should allow extraction of name</a:t>
            </a:r>
          </a:p>
          <a:p>
            <a:pPr>
              <a:buNone/>
            </a:pPr>
            <a:r>
              <a:rPr lang="en-US" sz="1200" b="1" err="1">
                <a:solidFill>
                  <a:srgbClr val="B42419"/>
                </a:solidFill>
                <a:effectLst/>
                <a:latin typeface="Menlo" panose="020B0609030804020204" pitchFamily="49" charset="0"/>
              </a:rPr>
              <a:t>AssertionError</a:t>
            </a:r>
            <a:r>
              <a:rPr lang="en-US" sz="1200">
                <a:solidFill>
                  <a:srgbClr val="B42419"/>
                </a:solidFill>
                <a:effectLst/>
                <a:latin typeface="Menlo" panose="020B0609030804020204" pitchFamily="49" charset="0"/>
              </a:rPr>
              <a:t>: expected 'Bronwyn' to deeply equal '</a:t>
            </a:r>
            <a:r>
              <a:rPr lang="en-US" sz="1200" err="1">
                <a:solidFill>
                  <a:srgbClr val="B42419"/>
                </a:solidFill>
                <a:effectLst/>
                <a:latin typeface="Menlo" panose="020B0609030804020204" pitchFamily="49" charset="0"/>
              </a:rPr>
              <a:t>Jazzhands</a:t>
            </a:r>
            <a:r>
              <a:rPr lang="en-US" sz="1200">
                <a:solidFill>
                  <a:srgbClr val="B42419"/>
                </a:solidFill>
                <a:effectLst/>
                <a:latin typeface="Menlo" panose="020B0609030804020204" pitchFamily="49" charset="0"/>
              </a:rPr>
              <a:t>'</a:t>
            </a:r>
          </a:p>
          <a:p>
            <a:pPr>
              <a:buNone/>
            </a:pPr>
            <a:br>
              <a:rPr lang="en-US" sz="1200">
                <a:solidFill>
                  <a:srgbClr val="000000"/>
                </a:solidFill>
                <a:effectLst/>
                <a:latin typeface="Menlo" panose="020B0609030804020204" pitchFamily="49" charset="0"/>
              </a:rPr>
            </a:br>
            <a:r>
              <a:rPr lang="en-US" sz="1200">
                <a:solidFill>
                  <a:srgbClr val="000000"/>
                </a:solidFill>
                <a:effectLst/>
                <a:latin typeface="Menlo" panose="020B0609030804020204" pitchFamily="49" charset="0"/>
              </a:rPr>
              <a:t>Expected: </a:t>
            </a:r>
            <a:r>
              <a:rPr lang="en-US" sz="1200">
                <a:solidFill>
                  <a:srgbClr val="2FB41D"/>
                </a:solidFill>
                <a:effectLst/>
                <a:latin typeface="Menlo" panose="020B0609030804020204" pitchFamily="49" charset="0"/>
              </a:rPr>
              <a:t>"</a:t>
            </a:r>
            <a:r>
              <a:rPr lang="en-US" sz="1200" err="1">
                <a:solidFill>
                  <a:srgbClr val="2FB41D"/>
                </a:solidFill>
                <a:effectLst/>
                <a:latin typeface="Menlo" panose="020B0609030804020204" pitchFamily="49" charset="0"/>
              </a:rPr>
              <a:t>Jazzhands</a:t>
            </a:r>
            <a:r>
              <a:rPr lang="en-US" sz="1200">
                <a:solidFill>
                  <a:srgbClr val="2FB41D"/>
                </a:solidFill>
                <a:effectLst/>
                <a:latin typeface="Menlo" panose="020B0609030804020204" pitchFamily="49" charset="0"/>
              </a:rPr>
              <a:t>"</a:t>
            </a:r>
          </a:p>
          <a:p>
            <a:pPr>
              <a:buNone/>
            </a:pPr>
            <a:r>
              <a:rPr lang="en-US" sz="1200">
                <a:solidFill>
                  <a:srgbClr val="000000"/>
                </a:solidFill>
                <a:effectLst/>
                <a:latin typeface="Menlo" panose="020B0609030804020204" pitchFamily="49" charset="0"/>
              </a:rPr>
              <a:t>Received: </a:t>
            </a:r>
            <a:r>
              <a:rPr lang="en-US" sz="1200">
                <a:solidFill>
                  <a:srgbClr val="B42419"/>
                </a:solidFill>
                <a:effectLst/>
                <a:latin typeface="Menlo" panose="020B0609030804020204" pitchFamily="49" charset="0"/>
              </a:rPr>
              <a:t>"Bronwyn"</a:t>
            </a:r>
            <a:endParaRPr lang="en-US" sz="1200">
              <a:solidFill>
                <a:srgbClr val="000000"/>
              </a:solidFill>
              <a:effectLst/>
              <a:latin typeface="Menlo" panose="020B0609030804020204" pitchFamily="49" charset="0"/>
            </a:endParaRPr>
          </a:p>
          <a:p>
            <a:pPr>
              <a:buNone/>
            </a:pPr>
            <a:endParaRPr lang="en-US" sz="1200">
              <a:solidFill>
                <a:srgbClr val="000000"/>
              </a:solidFill>
              <a:effectLst/>
              <a:latin typeface="Menlo" panose="020B0609030804020204" pitchFamily="49" charset="0"/>
            </a:endParaRPr>
          </a:p>
          <a:p>
            <a:pPr>
              <a:buNone/>
            </a:pPr>
            <a:r>
              <a:rPr lang="en-US" sz="1200">
                <a:solidFill>
                  <a:srgbClr val="2EAEBB"/>
                </a:solidFill>
                <a:effectLst/>
                <a:latin typeface="Menlo" panose="020B0609030804020204" pitchFamily="49" charset="0"/>
              </a:rPr>
              <a:t> </a:t>
            </a:r>
            <a:r>
              <a:rPr lang="en-US" sz="1200">
                <a:solidFill>
                  <a:srgbClr val="ABDFE4"/>
                </a:solidFill>
                <a:effectLst/>
                <a:latin typeface="Menlo" panose="020B0609030804020204" pitchFamily="49" charset="0"/>
              </a:rPr>
              <a:t>❯</a:t>
            </a:r>
            <a:r>
              <a:rPr lang="en-US" sz="1200">
                <a:solidFill>
                  <a:srgbClr val="2EAEBB"/>
                </a:solidFill>
                <a:effectLst/>
                <a:latin typeface="Menlo" panose="020B0609030804020204" pitchFamily="49" charset="0"/>
              </a:rPr>
              <a:t> types.spec.ts:</a:t>
            </a:r>
            <a:r>
              <a:rPr lang="en-US" sz="1200">
                <a:solidFill>
                  <a:srgbClr val="ABDFE4"/>
                </a:solidFill>
                <a:effectLst/>
                <a:latin typeface="Menlo" panose="020B0609030804020204" pitchFamily="49" charset="0"/>
              </a:rPr>
              <a:t>16:30</a:t>
            </a:r>
            <a:endParaRPr lang="en-US" sz="1200">
              <a:solidFill>
                <a:srgbClr val="2EAEBB"/>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14| </a:t>
            </a:r>
            <a:r>
              <a:rPr lang="en-US" sz="1200">
                <a:solidFill>
                  <a:srgbClr val="000000"/>
                </a:solidFill>
                <a:effectLst/>
                <a:latin typeface="Menlo" panose="020B0609030804020204" pitchFamily="49" charset="0"/>
              </a:rPr>
              <a:t>  </a:t>
            </a:r>
            <a:r>
              <a:rPr lang="en-US" sz="1200">
                <a:solidFill>
                  <a:srgbClr val="400BD9"/>
                </a:solidFill>
                <a:effectLst/>
                <a:latin typeface="Menlo" panose="020B0609030804020204" pitchFamily="49" charset="0"/>
              </a:rPr>
              <a:t>it</a:t>
            </a:r>
            <a:r>
              <a:rPr lang="en-US" sz="1200">
                <a:solidFill>
                  <a:srgbClr val="000000"/>
                </a:solidFill>
                <a:effectLst/>
                <a:latin typeface="Menlo" panose="020B0609030804020204" pitchFamily="49" charset="0"/>
              </a:rPr>
              <a:t>(</a:t>
            </a:r>
            <a:r>
              <a:rPr lang="en-US" sz="1200">
                <a:solidFill>
                  <a:srgbClr val="2FB41D"/>
                </a:solidFill>
                <a:effectLst/>
                <a:latin typeface="Menlo" panose="020B0609030804020204" pitchFamily="49" charset="0"/>
              </a:rPr>
              <a:t>'should allow extraction of name'</a:t>
            </a:r>
            <a:r>
              <a:rPr lang="en-US" sz="1200">
                <a:solidFill>
                  <a:srgbClr val="9FA01C"/>
                </a:solidFill>
                <a:effectLst/>
                <a:latin typeface="Menlo" panose="020B0609030804020204" pitchFamily="49" charset="0"/>
              </a:rPr>
              <a:t>,</a:t>
            </a:r>
            <a:r>
              <a:rPr lang="en-US" sz="1200">
                <a:solidFill>
                  <a:srgbClr val="000000"/>
                </a:solidFill>
                <a:effectLst/>
                <a:latin typeface="Menlo" panose="020B0609030804020204" pitchFamily="49" charset="0"/>
              </a:rPr>
              <a:t> () </a:t>
            </a:r>
            <a:r>
              <a:rPr lang="en-US" sz="1200">
                <a:solidFill>
                  <a:srgbClr val="9FA01C"/>
                </a:solidFill>
                <a:effectLst/>
                <a:latin typeface="Menlo" panose="020B0609030804020204" pitchFamily="49" charset="0"/>
              </a:rPr>
              <a:t>=&gt;</a:t>
            </a:r>
            <a:r>
              <a:rPr lang="en-US" sz="1200">
                <a:solidFill>
                  <a:srgbClr val="000000"/>
                </a:solidFill>
                <a:effectLst/>
                <a:latin typeface="Menlo" panose="020B0609030804020204" pitchFamily="49" charset="0"/>
              </a:rPr>
              <a:t> {</a:t>
            </a:r>
            <a:endParaRPr lang="en-US" sz="1200">
              <a:solidFill>
                <a:srgbClr val="2FB41D"/>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15| </a:t>
            </a:r>
            <a:r>
              <a:rPr lang="en-US" sz="1200">
                <a:solidFill>
                  <a:srgbClr val="000000"/>
                </a:solidFill>
                <a:effectLst/>
                <a:latin typeface="Menlo" panose="020B0609030804020204" pitchFamily="49" charset="0"/>
              </a:rPr>
              <a:t>    </a:t>
            </a:r>
            <a:r>
              <a:rPr lang="en-US" sz="1200">
                <a:solidFill>
                  <a:srgbClr val="400BD9"/>
                </a:solidFill>
                <a:effectLst/>
                <a:latin typeface="Menlo" panose="020B0609030804020204" pitchFamily="49" charset="0"/>
              </a:rPr>
              <a:t>expect</a:t>
            </a:r>
            <a:r>
              <a:rPr lang="en-US" sz="1200">
                <a:solidFill>
                  <a:srgbClr val="000000"/>
                </a:solidFill>
                <a:effectLst/>
                <a:latin typeface="Menlo" panose="020B0609030804020204" pitchFamily="49" charset="0"/>
              </a:rPr>
              <a:t>(</a:t>
            </a:r>
            <a:r>
              <a:rPr lang="en-US" sz="1200" err="1">
                <a:solidFill>
                  <a:srgbClr val="000000"/>
                </a:solidFill>
                <a:effectLst/>
                <a:latin typeface="Menlo" panose="020B0609030804020204" pitchFamily="49" charset="0"/>
              </a:rPr>
              <a:t>alvin</a:t>
            </a:r>
            <a:r>
              <a:rPr lang="en-US" sz="1200" err="1">
                <a:solidFill>
                  <a:srgbClr val="9FA01C"/>
                </a:solidFill>
                <a:effectLst/>
                <a:latin typeface="Menlo" panose="020B0609030804020204" pitchFamily="49" charset="0"/>
              </a:rPr>
              <a:t>.</a:t>
            </a:r>
            <a:r>
              <a:rPr lang="en-US" sz="1200" err="1">
                <a:solidFill>
                  <a:srgbClr val="000000"/>
                </a:solidFill>
                <a:effectLst/>
                <a:latin typeface="Menlo" panose="020B0609030804020204" pitchFamily="49" charset="0"/>
              </a:rPr>
              <a:t>studentName</a:t>
            </a:r>
            <a:r>
              <a:rPr lang="en-US" sz="1200">
                <a:solidFill>
                  <a:srgbClr val="000000"/>
                </a:solidFill>
                <a:effectLst/>
                <a:latin typeface="Menlo" panose="020B0609030804020204" pitchFamily="49" charset="0"/>
              </a:rPr>
              <a:t>)</a:t>
            </a:r>
            <a:r>
              <a:rPr lang="en-US" sz="1200">
                <a:solidFill>
                  <a:srgbClr val="9FA01C"/>
                </a:solidFill>
                <a:effectLst/>
                <a:latin typeface="Menlo" panose="020B0609030804020204" pitchFamily="49" charset="0"/>
              </a:rPr>
              <a:t>.</a:t>
            </a:r>
            <a:r>
              <a:rPr lang="en-US" sz="1200" err="1">
                <a:solidFill>
                  <a:srgbClr val="400BD9"/>
                </a:solidFill>
                <a:effectLst/>
                <a:latin typeface="Menlo" panose="020B0609030804020204" pitchFamily="49" charset="0"/>
              </a:rPr>
              <a:t>toEqual</a:t>
            </a:r>
            <a:r>
              <a:rPr lang="en-US" sz="1200">
                <a:solidFill>
                  <a:srgbClr val="000000"/>
                </a:solidFill>
                <a:effectLst/>
                <a:latin typeface="Menlo" panose="020B0609030804020204" pitchFamily="49" charset="0"/>
              </a:rPr>
              <a:t>(</a:t>
            </a:r>
            <a:r>
              <a:rPr lang="en-US" sz="1200">
                <a:solidFill>
                  <a:srgbClr val="2FB41D"/>
                </a:solidFill>
                <a:effectLst/>
                <a:latin typeface="Menlo" panose="020B0609030804020204" pitchFamily="49" charset="0"/>
              </a:rPr>
              <a:t>'Alvin'</a:t>
            </a:r>
            <a:r>
              <a:rPr lang="en-US" sz="1200">
                <a:solidFill>
                  <a:srgbClr val="000000"/>
                </a:solidFill>
                <a:effectLst/>
                <a:latin typeface="Menlo" panose="020B0609030804020204" pitchFamily="49" charset="0"/>
              </a:rPr>
              <a:t>)</a:t>
            </a:r>
            <a:r>
              <a:rPr lang="en-US" sz="1200">
                <a:solidFill>
                  <a:srgbClr val="9FA01C"/>
                </a:solidFill>
                <a:effectLst/>
                <a:latin typeface="Menlo" panose="020B0609030804020204" pitchFamily="49" charset="0"/>
              </a:rPr>
              <a:t>;</a:t>
            </a: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16| </a:t>
            </a:r>
            <a:r>
              <a:rPr lang="en-US" sz="1200">
                <a:solidFill>
                  <a:srgbClr val="000000"/>
                </a:solidFill>
                <a:effectLst/>
                <a:latin typeface="Menlo" panose="020B0609030804020204" pitchFamily="49" charset="0"/>
              </a:rPr>
              <a:t>    </a:t>
            </a:r>
            <a:r>
              <a:rPr lang="en-US" sz="1200">
                <a:solidFill>
                  <a:srgbClr val="400BD9"/>
                </a:solidFill>
                <a:effectLst/>
                <a:latin typeface="Menlo" panose="020B0609030804020204" pitchFamily="49" charset="0"/>
              </a:rPr>
              <a:t>expect</a:t>
            </a:r>
            <a:r>
              <a:rPr lang="en-US" sz="1200">
                <a:solidFill>
                  <a:srgbClr val="000000"/>
                </a:solidFill>
                <a:effectLst/>
                <a:latin typeface="Menlo" panose="020B0609030804020204" pitchFamily="49" charset="0"/>
              </a:rPr>
              <a:t>(</a:t>
            </a:r>
            <a:r>
              <a:rPr lang="en-US" sz="1200" err="1">
                <a:solidFill>
                  <a:srgbClr val="000000"/>
                </a:solidFill>
                <a:effectLst/>
                <a:latin typeface="Menlo" panose="020B0609030804020204" pitchFamily="49" charset="0"/>
              </a:rPr>
              <a:t>bryn</a:t>
            </a:r>
            <a:r>
              <a:rPr lang="en-US" sz="1200" err="1">
                <a:solidFill>
                  <a:srgbClr val="9FA01C"/>
                </a:solidFill>
                <a:effectLst/>
                <a:latin typeface="Menlo" panose="020B0609030804020204" pitchFamily="49" charset="0"/>
              </a:rPr>
              <a:t>.</a:t>
            </a:r>
            <a:r>
              <a:rPr lang="en-US" sz="1200" err="1">
                <a:solidFill>
                  <a:srgbClr val="000000"/>
                </a:solidFill>
                <a:effectLst/>
                <a:latin typeface="Menlo" panose="020B0609030804020204" pitchFamily="49" charset="0"/>
              </a:rPr>
              <a:t>studentName</a:t>
            </a:r>
            <a:r>
              <a:rPr lang="en-US" sz="1200">
                <a:solidFill>
                  <a:srgbClr val="000000"/>
                </a:solidFill>
                <a:effectLst/>
                <a:latin typeface="Menlo" panose="020B0609030804020204" pitchFamily="49" charset="0"/>
              </a:rPr>
              <a:t>)</a:t>
            </a:r>
            <a:r>
              <a:rPr lang="en-US" sz="1200">
                <a:solidFill>
                  <a:srgbClr val="9FA01C"/>
                </a:solidFill>
                <a:effectLst/>
                <a:latin typeface="Menlo" panose="020B0609030804020204" pitchFamily="49" charset="0"/>
              </a:rPr>
              <a:t>.</a:t>
            </a:r>
            <a:r>
              <a:rPr lang="en-US" sz="1200" err="1">
                <a:solidFill>
                  <a:srgbClr val="400BD9"/>
                </a:solidFill>
                <a:effectLst/>
                <a:latin typeface="Menlo" panose="020B0609030804020204" pitchFamily="49" charset="0"/>
              </a:rPr>
              <a:t>toEqual</a:t>
            </a:r>
            <a:r>
              <a:rPr lang="en-US" sz="1200">
                <a:solidFill>
                  <a:srgbClr val="000000"/>
                </a:solidFill>
                <a:effectLst/>
                <a:latin typeface="Menlo" panose="020B0609030804020204" pitchFamily="49" charset="0"/>
              </a:rPr>
              <a:t>(</a:t>
            </a:r>
            <a:r>
              <a:rPr lang="en-US" sz="1200">
                <a:solidFill>
                  <a:srgbClr val="2FB41D"/>
                </a:solidFill>
                <a:effectLst/>
                <a:latin typeface="Menlo" panose="020B0609030804020204" pitchFamily="49" charset="0"/>
              </a:rPr>
              <a:t>'</a:t>
            </a:r>
            <a:r>
              <a:rPr lang="en-US" sz="1200" err="1">
                <a:solidFill>
                  <a:srgbClr val="2FB41D"/>
                </a:solidFill>
                <a:effectLst/>
                <a:latin typeface="Menlo" panose="020B0609030804020204" pitchFamily="49" charset="0"/>
              </a:rPr>
              <a:t>Jazzhands</a:t>
            </a:r>
            <a:r>
              <a:rPr lang="en-US" sz="1200">
                <a:solidFill>
                  <a:srgbClr val="2FB41D"/>
                </a:solidFill>
                <a:effectLst/>
                <a:latin typeface="Menlo" panose="020B0609030804020204" pitchFamily="49" charset="0"/>
              </a:rPr>
              <a:t>'</a:t>
            </a:r>
            <a:r>
              <a:rPr lang="en-US" sz="1200">
                <a:solidFill>
                  <a:srgbClr val="000000"/>
                </a:solidFill>
                <a:effectLst/>
                <a:latin typeface="Menlo" panose="020B0609030804020204" pitchFamily="49" charset="0"/>
              </a:rPr>
              <a:t>)</a:t>
            </a:r>
            <a:r>
              <a:rPr lang="en-US" sz="1200">
                <a:solidFill>
                  <a:srgbClr val="9FA01C"/>
                </a:solidFill>
                <a:effectLst/>
                <a:latin typeface="Menlo" panose="020B0609030804020204" pitchFamily="49" charset="0"/>
              </a:rPr>
              <a:t>;</a:t>
            </a: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 </a:t>
            </a:r>
            <a:r>
              <a:rPr lang="en-US" sz="1200">
                <a:solidFill>
                  <a:srgbClr val="000000"/>
                </a:solidFill>
                <a:effectLst/>
                <a:latin typeface="Menlo" panose="020B0609030804020204" pitchFamily="49" charset="0"/>
              </a:rPr>
              <a:t>                             </a:t>
            </a:r>
            <a:r>
              <a:rPr lang="en-US" sz="1200">
                <a:solidFill>
                  <a:srgbClr val="B42419"/>
                </a:solidFill>
                <a:effectLst/>
                <a:latin typeface="Menlo" panose="020B0609030804020204" pitchFamily="49" charset="0"/>
              </a:rPr>
              <a:t>^</a:t>
            </a: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17| </a:t>
            </a:r>
            <a:r>
              <a:rPr lang="en-US" sz="1200">
                <a:solidFill>
                  <a:srgbClr val="000000"/>
                </a:solidFill>
                <a:effectLst/>
                <a:latin typeface="Menlo" panose="020B0609030804020204" pitchFamily="49" charset="0"/>
              </a:rPr>
              <a:t>  })</a:t>
            </a:r>
            <a:r>
              <a:rPr lang="en-US" sz="1200">
                <a:solidFill>
                  <a:srgbClr val="9FA01C"/>
                </a:solidFill>
                <a:effectLst/>
                <a:latin typeface="Menlo" panose="020B0609030804020204" pitchFamily="49" charset="0"/>
              </a:rPr>
              <a:t>;</a:t>
            </a:r>
            <a:endParaRPr lang="en-US" sz="1200">
              <a:solidFill>
                <a:srgbClr val="000000"/>
              </a:solidFill>
              <a:effectLst/>
              <a:latin typeface="Menlo" panose="020B0609030804020204" pitchFamily="49" charset="0"/>
            </a:endParaRPr>
          </a:p>
          <a:p>
            <a:pPr>
              <a:buNone/>
            </a:pPr>
            <a:r>
              <a:rPr lang="en-US" sz="1200">
                <a:solidFill>
                  <a:srgbClr val="000000"/>
                </a:solidFill>
                <a:effectLst/>
                <a:latin typeface="Menlo" panose="020B0609030804020204" pitchFamily="49" charset="0"/>
              </a:rPr>
              <a:t>    </a:t>
            </a:r>
            <a:r>
              <a:rPr lang="en-US" sz="1200">
                <a:solidFill>
                  <a:srgbClr val="6F6F6F"/>
                </a:solidFill>
                <a:effectLst/>
                <a:latin typeface="Menlo" panose="020B0609030804020204" pitchFamily="49" charset="0"/>
              </a:rPr>
              <a:t> 18| </a:t>
            </a:r>
            <a:r>
              <a:rPr lang="en-US" sz="1200">
                <a:solidFill>
                  <a:srgbClr val="000000"/>
                </a:solidFill>
                <a:effectLst/>
                <a:latin typeface="Menlo" panose="020B0609030804020204" pitchFamily="49" charset="0"/>
              </a:rPr>
              <a:t>})</a:t>
            </a:r>
            <a:r>
              <a:rPr lang="en-US" sz="1200">
                <a:solidFill>
                  <a:srgbClr val="9FA01C"/>
                </a:solidFill>
                <a:effectLst/>
                <a:latin typeface="Menlo" panose="020B0609030804020204" pitchFamily="49" charset="0"/>
              </a:rPr>
              <a:t>;</a:t>
            </a:r>
            <a:endParaRPr lang="en-US" sz="1200">
              <a:solidFill>
                <a:srgbClr val="000000"/>
              </a:solidFill>
              <a:effectLst/>
              <a:latin typeface="Menlo" panose="020B0609030804020204" pitchFamily="49" charset="0"/>
            </a:endParaRPr>
          </a:p>
          <a:p>
            <a:pPr>
              <a:buNone/>
            </a:pPr>
            <a:endParaRPr lang="en-US" sz="1200">
              <a:solidFill>
                <a:srgbClr val="000000"/>
              </a:solidFill>
              <a:effectLst/>
              <a:latin typeface="Menlo" panose="020B0609030804020204" pitchFamily="49" charset="0"/>
            </a:endParaRPr>
          </a:p>
          <a:p>
            <a:pPr>
              <a:buNone/>
            </a:pPr>
            <a:r>
              <a:rPr lang="en-US" sz="1200">
                <a:solidFill>
                  <a:srgbClr val="E1A7A3"/>
                </a:solidFill>
                <a:effectLst/>
                <a:latin typeface="Menlo" panose="020B0609030804020204" pitchFamily="49" charset="0"/>
              </a:rPr>
              <a:t>⎯⎯⎯⎯⎯⎯⎯⎯⎯⎯⎯⎯⎯⎯⎯⎯⎯⎯⎯⎯⎯⎯⎯⎯⎯⎯⎯⎯⎯⎯⎯⎯⎯⎯⎯⎯⎯⎯⎯⎯⎯⎯⎯⎯⎯⎯⎯⎯⎯⎯⎯⎯⎯⎯⎯⎯⎯⎯⎯⎯⎯⎯⎯⎯⎯⎯⎯⎯⎯⎯⎯⎯⎯⎯⎯⎯⎯⎯⎯⎯⎯⎯⎯⎯⎯⎯⎯⎯⎯⎯⎯⎯⎯⎯⎯⎯⎯⎯⎯⎯⎯⎯⎯⎯⎯⎯⎯⎯⎯⎯⎯⎯⎯⎯⎯⎯⎯⎯⎯[1/1]⎯</a:t>
            </a:r>
          </a:p>
          <a:p>
            <a:pPr>
              <a:buNone/>
            </a:pPr>
            <a:endParaRPr lang="en-US" sz="1200">
              <a:solidFill>
                <a:srgbClr val="000000"/>
              </a:solidFill>
              <a:effectLst/>
              <a:latin typeface="Menlo" panose="020B0609030804020204" pitchFamily="49" charset="0"/>
            </a:endParaRPr>
          </a:p>
          <a:p>
            <a:pPr>
              <a:buNone/>
            </a:pPr>
            <a:r>
              <a:rPr lang="en-US" sz="1200">
                <a:solidFill>
                  <a:srgbClr val="999999"/>
                </a:solidFill>
                <a:effectLst/>
                <a:latin typeface="Menlo" panose="020B0609030804020204" pitchFamily="49" charset="0"/>
              </a:rPr>
              <a:t>      Tests </a:t>
            </a:r>
            <a:r>
              <a:rPr lang="en-US" sz="1200">
                <a:solidFill>
                  <a:srgbClr val="000000"/>
                </a:solidFill>
                <a:effectLst/>
                <a:latin typeface="Menlo" panose="020B0609030804020204" pitchFamily="49" charset="0"/>
              </a:rPr>
              <a:t> </a:t>
            </a:r>
            <a:r>
              <a:rPr lang="en-US" sz="1200" b="1">
                <a:solidFill>
                  <a:srgbClr val="B42419"/>
                </a:solidFill>
                <a:effectLst/>
                <a:latin typeface="Menlo" panose="020B0609030804020204" pitchFamily="49" charset="0"/>
              </a:rPr>
              <a:t>1 failed</a:t>
            </a:r>
            <a:r>
              <a:rPr lang="en-US" sz="1200">
                <a:solidFill>
                  <a:srgbClr val="999999"/>
                </a:solidFill>
                <a:effectLst/>
                <a:latin typeface="Menlo" panose="020B0609030804020204" pitchFamily="49" charset="0"/>
              </a:rPr>
              <a:t> | </a:t>
            </a:r>
            <a:r>
              <a:rPr lang="en-US" sz="1200" b="1">
                <a:solidFill>
                  <a:srgbClr val="2FB41D"/>
                </a:solidFill>
                <a:effectLst/>
                <a:latin typeface="Menlo" panose="020B0609030804020204" pitchFamily="49" charset="0"/>
              </a:rPr>
              <a:t>1 passed</a:t>
            </a:r>
            <a:r>
              <a:rPr lang="en-US" sz="1200">
                <a:solidFill>
                  <a:srgbClr val="6F6F6F"/>
                </a:solidFill>
                <a:effectLst/>
                <a:latin typeface="Menlo" panose="020B0609030804020204" pitchFamily="49" charset="0"/>
              </a:rPr>
              <a:t> (2)</a:t>
            </a:r>
            <a:endParaRPr lang="en-US" sz="1200">
              <a:solidFill>
                <a:srgbClr val="999999"/>
              </a:solidFill>
              <a:effectLst/>
              <a:latin typeface="Menlo" panose="020B0609030804020204" pitchFamily="49" charset="0"/>
            </a:endParaRPr>
          </a:p>
        </p:txBody>
      </p:sp>
    </p:spTree>
    <p:extLst>
      <p:ext uri="{BB962C8B-B14F-4D97-AF65-F5344CB8AC3E}">
        <p14:creationId xmlns:p14="http://schemas.microsoft.com/office/powerpoint/2010/main" val="128134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577E8-90B5-3697-A8A6-4F0A446EB3F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4D413A-20B5-6C0A-8184-6065C0BB8744}"/>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26</a:t>
            </a:fld>
            <a:endParaRPr lang="en-US"/>
          </a:p>
        </p:txBody>
      </p:sp>
      <p:sp>
        <p:nvSpPr>
          <p:cNvPr id="2" name="Title 1">
            <a:extLst>
              <a:ext uri="{FF2B5EF4-FFF2-40B4-BE49-F238E27FC236}">
                <a16:creationId xmlns:a16="http://schemas.microsoft.com/office/drawing/2014/main" id="{468F4111-AE52-650B-F77E-28250437E96E}"/>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15F69F3D-8FDB-1D9B-990F-CD188B64AA49}"/>
              </a:ext>
            </a:extLst>
          </p:cNvPr>
          <p:cNvSpPr txBox="1"/>
          <p:nvPr/>
        </p:nvSpPr>
        <p:spPr>
          <a:xfrm>
            <a:off x="744069" y="1555036"/>
            <a:ext cx="11354146" cy="49474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008000"/>
                </a:solidFill>
                <a:effectLst/>
                <a:latin typeface="Menlo" panose="020B0609030804020204" pitchFamily="49" charset="0"/>
              </a:rPr>
              <a:t>// </a:t>
            </a:r>
            <a:r>
              <a:rPr lang="en-US" b="0" err="1">
                <a:solidFill>
                  <a:srgbClr val="008000"/>
                </a:solidFill>
                <a:effectLst/>
                <a:latin typeface="Menlo" panose="020B0609030804020204" pitchFamily="49" charset="0"/>
              </a:rPr>
              <a:t>transcript.service.spec.ts</a:t>
            </a:r>
            <a:br>
              <a:rPr lang="en-US" b="0">
                <a:solidFill>
                  <a:srgbClr val="3B3B3B"/>
                </a:solidFill>
                <a:effectLst/>
                <a:latin typeface="Menlo" panose="020B0609030804020204" pitchFamily="49" charset="0"/>
              </a:rPr>
            </a:br>
            <a:r>
              <a:rPr lang="en-US" b="0">
                <a:solidFill>
                  <a:srgbClr val="AF00DB"/>
                </a:solidFill>
                <a:effectLst/>
                <a:latin typeface="Menlo" panose="020B0609030804020204" pitchFamily="49" charset="0"/>
              </a:rPr>
              <a:t>import</a:t>
            </a:r>
            <a:r>
              <a:rPr lang="en-US" b="0">
                <a:solidFill>
                  <a:srgbClr val="3B3B3B"/>
                </a:solidFill>
                <a:effectLst/>
                <a:latin typeface="Menlo" panose="020B0609030804020204" pitchFamily="49" charset="0"/>
              </a:rPr>
              <a:t> { </a:t>
            </a:r>
            <a:r>
              <a:rPr lang="en-US" b="0" err="1">
                <a:solidFill>
                  <a:srgbClr val="001080"/>
                </a:solidFill>
                <a:effectLst/>
                <a:latin typeface="Menlo" panose="020B0609030804020204" pitchFamily="49" charset="0"/>
              </a:rPr>
              <a:t>beforeEach</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describe</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expect</a:t>
            </a:r>
            <a:r>
              <a:rPr lang="en-US" b="0">
                <a:solidFill>
                  <a:srgbClr val="3B3B3B"/>
                </a:solidFill>
                <a:effectLst/>
                <a:latin typeface="Menlo" panose="020B0609030804020204" pitchFamily="49" charset="0"/>
              </a:rPr>
              <a:t>, </a:t>
            </a:r>
            <a:r>
              <a:rPr lang="en-US" b="0">
                <a:solidFill>
                  <a:srgbClr val="001080"/>
                </a:solidFill>
                <a:effectLst/>
                <a:latin typeface="Menlo" panose="020B0609030804020204" pitchFamily="49" charset="0"/>
              </a:rPr>
              <a:t>it</a:t>
            </a:r>
            <a:r>
              <a:rPr lang="en-US" b="0">
                <a:solidFill>
                  <a:srgbClr val="3B3B3B"/>
                </a:solidFill>
                <a:effectLst/>
                <a:latin typeface="Menlo" panose="020B0609030804020204" pitchFamily="49" charset="0"/>
              </a:rPr>
              <a:t> } </a:t>
            </a:r>
            <a:r>
              <a:rPr lang="en-US" b="0">
                <a:solidFill>
                  <a:srgbClr val="AF00DB"/>
                </a:solidFill>
                <a:effectLst/>
                <a:latin typeface="Menlo" panose="020B0609030804020204" pitchFamily="49" charset="0"/>
              </a:rPr>
              <a:t>from</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vitest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AF00DB"/>
                </a:solidFill>
                <a:effectLst/>
                <a:latin typeface="Menlo" panose="020B0609030804020204" pitchFamily="49" charset="0"/>
              </a:rPr>
              <a:t>import</a:t>
            </a:r>
            <a:r>
              <a:rPr lang="en-US" b="0">
                <a:solidFill>
                  <a:srgbClr val="3B3B3B"/>
                </a:solidFill>
                <a:effectLst/>
                <a:latin typeface="Menlo" panose="020B0609030804020204" pitchFamily="49" charset="0"/>
              </a:rPr>
              <a:t> { </a:t>
            </a:r>
            <a:r>
              <a:rPr lang="en-US" b="0" err="1">
                <a:solidFill>
                  <a:srgbClr val="001080"/>
                </a:solidFill>
                <a:effectLst/>
                <a:latin typeface="Menlo" panose="020B0609030804020204" pitchFamily="49" charset="0"/>
              </a:rPr>
              <a:t>TranscriptDB</a:t>
            </a:r>
            <a:r>
              <a:rPr lang="en-US" b="0">
                <a:solidFill>
                  <a:srgbClr val="3B3B3B"/>
                </a:solidFill>
                <a:effectLst/>
                <a:latin typeface="Menlo" panose="020B0609030804020204" pitchFamily="49" charset="0"/>
              </a:rPr>
              <a:t>, </a:t>
            </a:r>
            <a:r>
              <a:rPr lang="en-US" b="0">
                <a:solidFill>
                  <a:srgbClr val="AF00DB"/>
                </a:solidFill>
                <a:effectLst/>
                <a:latin typeface="Menlo" panose="020B0609030804020204" pitchFamily="49" charset="0"/>
              </a:rPr>
              <a:t>type</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TranscriptService</a:t>
            </a:r>
            <a:r>
              <a:rPr lang="en-US" b="0">
                <a:solidFill>
                  <a:srgbClr val="3B3B3B"/>
                </a:solidFill>
                <a:effectLst/>
                <a:latin typeface="Menlo" panose="020B0609030804020204" pitchFamily="49" charset="0"/>
              </a:rPr>
              <a:t> } </a:t>
            </a:r>
            <a:r>
              <a:rPr lang="en-US" b="0">
                <a:solidFill>
                  <a:srgbClr val="AF00DB"/>
                </a:solidFill>
                <a:effectLst/>
                <a:latin typeface="Menlo" panose="020B0609030804020204" pitchFamily="49" charset="0"/>
              </a:rPr>
              <a:t>from</a:t>
            </a:r>
            <a:r>
              <a:rPr lang="en-US" b="0">
                <a:solidFill>
                  <a:srgbClr val="3B3B3B"/>
                </a:solidFill>
                <a:effectLst/>
                <a:latin typeface="Menlo" panose="020B0609030804020204" pitchFamily="49" charset="0"/>
              </a:rPr>
              <a:t> </a:t>
            </a:r>
            <a:r>
              <a:rPr lang="en-US" b="0">
                <a:solidFill>
                  <a:srgbClr val="A31515"/>
                </a:solidFill>
                <a:effectLst/>
                <a:latin typeface="Menlo" panose="020B0609030804020204" pitchFamily="49" charset="0"/>
              </a:rPr>
              <a:t>‘./</a:t>
            </a:r>
            <a:r>
              <a:rPr lang="en-US" err="1">
                <a:solidFill>
                  <a:srgbClr val="A31515"/>
                </a:solidFill>
                <a:latin typeface="Menlo" panose="020B0609030804020204" pitchFamily="49" charset="0"/>
              </a:rPr>
              <a:t>transcript.service</a:t>
            </a:r>
            <a:r>
              <a:rPr lang="en-US" b="0" err="1">
                <a:solidFill>
                  <a:srgbClr val="A31515"/>
                </a:solidFill>
                <a:effectLst/>
                <a:latin typeface="Menlo" panose="020B0609030804020204" pitchFamily="49" charset="0"/>
              </a:rPr>
              <a:t>.ts</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br>
              <a:rPr lang="en-US" b="0">
                <a:solidFill>
                  <a:srgbClr val="3B3B3B"/>
                </a:solidFill>
                <a:effectLst/>
                <a:latin typeface="Menlo" panose="020B0609030804020204" pitchFamily="49" charset="0"/>
              </a:rPr>
            </a:br>
            <a:r>
              <a:rPr lang="en-US" b="0">
                <a:solidFill>
                  <a:srgbClr val="0000FF"/>
                </a:solidFill>
                <a:effectLst/>
                <a:latin typeface="Menlo" panose="020B0609030804020204" pitchFamily="49" charset="0"/>
              </a:rPr>
              <a:t>let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267F99"/>
                </a:solidFill>
                <a:effectLst/>
                <a:latin typeface="Menlo" panose="020B0609030804020204" pitchFamily="49" charset="0"/>
              </a:rPr>
              <a:t>TranscriptService</a:t>
            </a:r>
            <a:r>
              <a:rPr lang="en-US" b="0">
                <a:solidFill>
                  <a:srgbClr val="3B3B3B"/>
                </a:solidFill>
                <a:effectLst/>
                <a:latin typeface="Menlo" panose="020B0609030804020204" pitchFamily="49" charset="0"/>
              </a:rPr>
              <a:t>;</a:t>
            </a:r>
          </a:p>
          <a:p>
            <a:pPr>
              <a:lnSpc>
                <a:spcPct val="110000"/>
              </a:lnSpc>
              <a:buNone/>
            </a:pPr>
            <a:r>
              <a:rPr lang="en-US" b="0" err="1">
                <a:solidFill>
                  <a:srgbClr val="795E26"/>
                </a:solidFill>
                <a:effectLst/>
                <a:latin typeface="Menlo" panose="020B0609030804020204" pitchFamily="49" charset="0"/>
              </a:rPr>
              <a:t>beforeEach</a:t>
            </a:r>
            <a:r>
              <a:rPr lang="en-US" b="0">
                <a:solidFill>
                  <a:srgbClr val="3B3B3B"/>
                </a:solidFill>
                <a:effectLst/>
                <a:latin typeface="Menlo" panose="020B0609030804020204" pitchFamily="49" charset="0"/>
              </a:rPr>
              <a:t>(()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001080"/>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a:solidFill>
                  <a:srgbClr val="0000FF"/>
                </a:solidFill>
                <a:effectLst/>
                <a:latin typeface="Menlo" panose="020B0609030804020204" pitchFamily="49" charset="0"/>
              </a:rPr>
              <a:t>new</a:t>
            </a:r>
            <a:r>
              <a:rPr lang="en-US" b="0">
                <a:solidFill>
                  <a:srgbClr val="3B3B3B"/>
                </a:solidFill>
                <a:effectLst/>
                <a:latin typeface="Menlo" panose="020B0609030804020204" pitchFamily="49" charset="0"/>
              </a:rPr>
              <a:t> </a:t>
            </a:r>
            <a:r>
              <a:rPr lang="en-US" b="0" err="1">
                <a:solidFill>
                  <a:srgbClr val="267F99"/>
                </a:solidFill>
                <a:effectLst/>
                <a:latin typeface="Menlo" panose="020B0609030804020204" pitchFamily="49" charset="0"/>
              </a:rPr>
              <a:t>TranscriptDB</a:t>
            </a:r>
            <a:r>
              <a:rPr lang="en-US" b="0">
                <a:solidFill>
                  <a:srgbClr val="3B3B3B"/>
                </a:solidFill>
                <a:effectLst/>
                <a:latin typeface="Menlo" panose="020B0609030804020204" pitchFamily="49" charset="0"/>
              </a:rPr>
              <a:t>();</a:t>
            </a:r>
          </a:p>
          <a:p>
            <a:pPr>
              <a:lnSpc>
                <a:spcPct val="110000"/>
              </a:lnSpc>
              <a:buNone/>
            </a:pPr>
            <a:r>
              <a:rPr lang="en-US" b="0">
                <a:solidFill>
                  <a:srgbClr val="3B3B3B"/>
                </a:solidFill>
                <a:effectLst/>
                <a:latin typeface="Menlo" panose="020B0609030804020204" pitchFamily="49" charset="0"/>
              </a:rPr>
              <a:t>});</a:t>
            </a:r>
          </a:p>
          <a:p>
            <a:pPr>
              <a:lnSpc>
                <a:spcPct val="110000"/>
              </a:lnSpc>
              <a:buNone/>
            </a:pPr>
            <a:br>
              <a:rPr lang="en-US" b="0">
                <a:solidFill>
                  <a:srgbClr val="3B3B3B"/>
                </a:solidFill>
                <a:effectLst/>
                <a:latin typeface="Menlo" panose="020B0609030804020204" pitchFamily="49" charset="0"/>
              </a:rPr>
            </a:b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addStudent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add a student to the database and return their id'</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nameToIDs</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toStrictEqual</a:t>
            </a:r>
            <a:r>
              <a:rPr lang="en-US" b="0">
                <a:solidFill>
                  <a:srgbClr val="3B3B3B"/>
                </a:solidFill>
                <a:effectLst/>
                <a:latin typeface="Menlo" panose="020B0609030804020204" pitchFamily="49" charset="0"/>
              </a:rPr>
              <a:t>([]);</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nameToIDs</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toStrictEqual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p>
          <a:p>
            <a:pPr>
              <a:lnSpc>
                <a:spcPct val="110000"/>
              </a:lnSpc>
              <a:buNone/>
            </a:pPr>
            <a:r>
              <a:rPr lang="en-US" b="0">
                <a:solidFill>
                  <a:srgbClr val="3B3B3B"/>
                </a:solidFill>
                <a:effectLst/>
                <a:latin typeface="Menlo" panose="020B0609030804020204" pitchFamily="49" charset="0"/>
              </a:rPr>
              <a:t>  });</a:t>
            </a:r>
          </a:p>
          <a:p>
            <a:pPr>
              <a:lnSpc>
                <a:spcPct val="110000"/>
              </a:lnSpc>
              <a:buNone/>
            </a:pPr>
            <a:r>
              <a:rPr lang="en-US" b="0">
                <a:solidFill>
                  <a:srgbClr val="3B3B3B"/>
                </a:solidFill>
                <a:effectLst/>
                <a:latin typeface="Menlo" panose="020B0609030804020204" pitchFamily="49" charset="0"/>
              </a:rPr>
              <a:t>});</a:t>
            </a:r>
          </a:p>
        </p:txBody>
      </p:sp>
      <p:sp>
        <p:nvSpPr>
          <p:cNvPr id="5" name="AutoShape 9">
            <a:extLst>
              <a:ext uri="{FF2B5EF4-FFF2-40B4-BE49-F238E27FC236}">
                <a16:creationId xmlns:a16="http://schemas.microsoft.com/office/drawing/2014/main" id="{AF85B16A-04D9-DF0C-509D-4D79C136B30D}"/>
              </a:ext>
            </a:extLst>
          </p:cNvPr>
          <p:cNvSpPr>
            <a:spLocks/>
          </p:cNvSpPr>
          <p:nvPr/>
        </p:nvSpPr>
        <p:spPr bwMode="auto">
          <a:xfrm>
            <a:off x="6096000" y="288654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6" name="Straight Arrow Connector 5">
            <a:extLst>
              <a:ext uri="{FF2B5EF4-FFF2-40B4-BE49-F238E27FC236}">
                <a16:creationId xmlns:a16="http://schemas.microsoft.com/office/drawing/2014/main" id="{9F6157C4-D706-A6A4-F33D-2D9F2577A066}"/>
              </a:ext>
            </a:extLst>
          </p:cNvPr>
          <p:cNvCxnSpPr>
            <a:stCxn id="5" idx="1"/>
          </p:cNvCxnSpPr>
          <p:nvPr/>
        </p:nvCxnSpPr>
        <p:spPr>
          <a:xfrm flipH="1">
            <a:off x="4480234" y="3529053"/>
            <a:ext cx="1615766" cy="16118"/>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304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73353-024C-E387-571D-EAE75A42044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6049A3-05AC-0B86-FBAE-C17E030903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27</a:t>
            </a:fld>
            <a:endParaRPr lang="en-US"/>
          </a:p>
        </p:txBody>
      </p:sp>
      <p:sp>
        <p:nvSpPr>
          <p:cNvPr id="2" name="Title 1">
            <a:extLst>
              <a:ext uri="{FF2B5EF4-FFF2-40B4-BE49-F238E27FC236}">
                <a16:creationId xmlns:a16="http://schemas.microsoft.com/office/drawing/2014/main" id="{F9D72F16-CE3C-BB5F-5775-5727645FEA41}"/>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1AAB4B6B-8610-4740-EFD8-C8B60EA4EE8E}"/>
              </a:ext>
            </a:extLst>
          </p:cNvPr>
          <p:cNvSpPr txBox="1"/>
          <p:nvPr/>
        </p:nvSpPr>
        <p:spPr>
          <a:xfrm>
            <a:off x="744069" y="1555036"/>
            <a:ext cx="11354146" cy="40333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addStudent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add a student to the database and return their id'</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endParaRPr lang="en-US" b="0">
              <a:solidFill>
                <a:srgbClr val="795E26"/>
              </a:solidFill>
              <a:effectLst/>
              <a:latin typeface="Menlo" panose="020B0609030804020204" pitchFamily="49" charset="0"/>
            </a:endParaRPr>
          </a:p>
          <a:p>
            <a:pPr>
              <a:lnSpc>
                <a:spcPct val="110000"/>
              </a:lnSpc>
              <a:buNone/>
            </a:pPr>
            <a:endParaRPr lang="en-US" b="0">
              <a:solidFill>
                <a:srgbClr val="795E26"/>
              </a:solidFill>
              <a:effectLst/>
              <a:latin typeface="Menlo" panose="020B0609030804020204" pitchFamily="49" charset="0"/>
            </a:endParaRP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nameToIDs</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toStrictEqual</a:t>
            </a:r>
            <a:r>
              <a:rPr lang="en-US" b="0">
                <a:solidFill>
                  <a:srgbClr val="3B3B3B"/>
                </a:solidFill>
                <a:effectLst/>
                <a:latin typeface="Menlo" panose="020B0609030804020204" pitchFamily="49" charset="0"/>
              </a:rPr>
              <a:t>([]);</a:t>
            </a:r>
          </a:p>
          <a:p>
            <a:pPr>
              <a:lnSpc>
                <a:spcPct val="110000"/>
              </a:lnSpc>
              <a:buNone/>
            </a:pPr>
            <a:endParaRPr lang="en-US" b="0">
              <a:solidFill>
                <a:srgbClr val="0000FF"/>
              </a:solidFill>
              <a:effectLst/>
              <a:latin typeface="Menlo" panose="020B0609030804020204" pitchFamily="49" charset="0"/>
            </a:endParaRPr>
          </a:p>
          <a:p>
            <a:pPr>
              <a:lnSpc>
                <a:spcPct val="110000"/>
              </a:lnSpc>
              <a:buNone/>
            </a:pPr>
            <a:endParaRPr lang="en-US">
              <a:solidFill>
                <a:srgbClr val="0000FF"/>
              </a:solidFill>
              <a:latin typeface="Menlo" panose="020B0609030804020204" pitchFamily="49" charset="0"/>
            </a:endParaRP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endParaRPr lang="en-US" b="0">
              <a:solidFill>
                <a:srgbClr val="795E26"/>
              </a:solidFill>
              <a:effectLst/>
              <a:latin typeface="Menlo" panose="020B0609030804020204" pitchFamily="49" charset="0"/>
            </a:endParaRPr>
          </a:p>
          <a:p>
            <a:pPr>
              <a:lnSpc>
                <a:spcPct val="110000"/>
              </a:lnSpc>
              <a:buNone/>
            </a:pPr>
            <a:endParaRPr lang="en-US">
              <a:solidFill>
                <a:srgbClr val="795E26"/>
              </a:solidFill>
              <a:latin typeface="Menlo" panose="020B0609030804020204" pitchFamily="49" charset="0"/>
            </a:endParaRP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nameToIDs</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toStrictEqual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p>
          <a:p>
            <a:pPr>
              <a:lnSpc>
                <a:spcPct val="110000"/>
              </a:lnSpc>
              <a:buNone/>
            </a:pPr>
            <a:endParaRPr lang="en-US" b="0">
              <a:solidFill>
                <a:srgbClr val="3B3B3B"/>
              </a:solidFill>
              <a:effectLst/>
              <a:latin typeface="Menlo" panose="020B0609030804020204" pitchFamily="49" charset="0"/>
            </a:endParaRPr>
          </a:p>
          <a:p>
            <a:pPr>
              <a:lnSpc>
                <a:spcPct val="110000"/>
              </a:lnSpc>
              <a:buNone/>
            </a:pPr>
            <a:r>
              <a:rPr lang="en-US" b="0">
                <a:solidFill>
                  <a:srgbClr val="3B3B3B"/>
                </a:solidFill>
                <a:effectLst/>
                <a:latin typeface="Menlo" panose="020B0609030804020204" pitchFamily="49" charset="0"/>
              </a:rPr>
              <a:t>  });</a:t>
            </a:r>
          </a:p>
          <a:p>
            <a:pPr>
              <a:lnSpc>
                <a:spcPct val="110000"/>
              </a:lnSpc>
              <a:buNone/>
            </a:pPr>
            <a:r>
              <a:rPr lang="en-US" b="0">
                <a:solidFill>
                  <a:srgbClr val="3B3B3B"/>
                </a:solidFill>
                <a:effectLst/>
                <a:latin typeface="Menlo" panose="020B0609030804020204" pitchFamily="49" charset="0"/>
              </a:rPr>
              <a:t>});</a:t>
            </a:r>
          </a:p>
        </p:txBody>
      </p:sp>
      <p:sp>
        <p:nvSpPr>
          <p:cNvPr id="5" name="AutoShape 9">
            <a:extLst>
              <a:ext uri="{FF2B5EF4-FFF2-40B4-BE49-F238E27FC236}">
                <a16:creationId xmlns:a16="http://schemas.microsoft.com/office/drawing/2014/main" id="{6298A618-1292-DDF1-02AF-101CB3FFD8A8}"/>
              </a:ext>
            </a:extLst>
          </p:cNvPr>
          <p:cNvSpPr>
            <a:spLocks/>
          </p:cNvSpPr>
          <p:nvPr/>
        </p:nvSpPr>
        <p:spPr bwMode="auto">
          <a:xfrm>
            <a:off x="8610600" y="2251669"/>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verify)</a:t>
            </a:r>
          </a:p>
        </p:txBody>
      </p:sp>
      <p:cxnSp>
        <p:nvCxnSpPr>
          <p:cNvPr id="6" name="Straight Arrow Connector 5">
            <a:extLst>
              <a:ext uri="{FF2B5EF4-FFF2-40B4-BE49-F238E27FC236}">
                <a16:creationId xmlns:a16="http://schemas.microsoft.com/office/drawing/2014/main" id="{2DB4ABBD-97D1-C096-474C-852FC03376FB}"/>
              </a:ext>
            </a:extLst>
          </p:cNvPr>
          <p:cNvCxnSpPr>
            <a:cxnSpLocks/>
            <a:stCxn id="5" idx="1"/>
          </p:cNvCxnSpPr>
          <p:nvPr/>
        </p:nvCxnSpPr>
        <p:spPr>
          <a:xfrm flipH="1">
            <a:off x="8059615" y="2649835"/>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AutoShape 9">
            <a:extLst>
              <a:ext uri="{FF2B5EF4-FFF2-40B4-BE49-F238E27FC236}">
                <a16:creationId xmlns:a16="http://schemas.microsoft.com/office/drawing/2014/main" id="{E7E69513-27BB-856D-C3D2-6FC0847A087F}"/>
              </a:ext>
            </a:extLst>
          </p:cNvPr>
          <p:cNvSpPr>
            <a:spLocks/>
          </p:cNvSpPr>
          <p:nvPr/>
        </p:nvSpPr>
        <p:spPr bwMode="auto">
          <a:xfrm>
            <a:off x="8610600" y="3205808"/>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a:t>
            </a:r>
          </a:p>
        </p:txBody>
      </p:sp>
      <p:cxnSp>
        <p:nvCxnSpPr>
          <p:cNvPr id="11" name="Straight Arrow Connector 10">
            <a:extLst>
              <a:ext uri="{FF2B5EF4-FFF2-40B4-BE49-F238E27FC236}">
                <a16:creationId xmlns:a16="http://schemas.microsoft.com/office/drawing/2014/main" id="{653CE71B-6C2A-B1C8-70FC-E72681DCBB3E}"/>
              </a:ext>
            </a:extLst>
          </p:cNvPr>
          <p:cNvCxnSpPr>
            <a:cxnSpLocks/>
            <a:stCxn id="10" idx="1"/>
          </p:cNvCxnSpPr>
          <p:nvPr/>
        </p:nvCxnSpPr>
        <p:spPr>
          <a:xfrm flipH="1">
            <a:off x="6359769" y="3603974"/>
            <a:ext cx="2250831"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AutoShape 9">
            <a:extLst>
              <a:ext uri="{FF2B5EF4-FFF2-40B4-BE49-F238E27FC236}">
                <a16:creationId xmlns:a16="http://schemas.microsoft.com/office/drawing/2014/main" id="{6DC10A29-E4CB-D706-2A7D-493CD6C764FA}"/>
              </a:ext>
            </a:extLst>
          </p:cNvPr>
          <p:cNvSpPr>
            <a:spLocks/>
          </p:cNvSpPr>
          <p:nvPr/>
        </p:nvSpPr>
        <p:spPr bwMode="auto">
          <a:xfrm>
            <a:off x="8610600" y="4126176"/>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a:t>
            </a:r>
          </a:p>
        </p:txBody>
      </p:sp>
      <p:cxnSp>
        <p:nvCxnSpPr>
          <p:cNvPr id="14" name="Straight Arrow Connector 13">
            <a:extLst>
              <a:ext uri="{FF2B5EF4-FFF2-40B4-BE49-F238E27FC236}">
                <a16:creationId xmlns:a16="http://schemas.microsoft.com/office/drawing/2014/main" id="{8BE86B85-1CEB-78C2-A223-E8AA258E9936}"/>
              </a:ext>
            </a:extLst>
          </p:cNvPr>
          <p:cNvCxnSpPr>
            <a:cxnSpLocks/>
            <a:stCxn id="13" idx="1"/>
          </p:cNvCxnSpPr>
          <p:nvPr/>
        </p:nvCxnSpPr>
        <p:spPr>
          <a:xfrm flipH="1">
            <a:off x="8059615" y="4524342"/>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684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D3ED-EB28-C90D-F454-85BBD3F8B49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86BEA1-3FE5-822E-8442-D5BE3D69354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28</a:t>
            </a:fld>
            <a:endParaRPr lang="en-US"/>
          </a:p>
        </p:txBody>
      </p:sp>
      <p:sp>
        <p:nvSpPr>
          <p:cNvPr id="2" name="Title 1">
            <a:extLst>
              <a:ext uri="{FF2B5EF4-FFF2-40B4-BE49-F238E27FC236}">
                <a16:creationId xmlns:a16="http://schemas.microsoft.com/office/drawing/2014/main" id="{28BAB9EE-A165-8787-43BA-A5D4F5AAA894}"/>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F610B0FB-ADBF-4939-C2F7-A320A490E1F4}"/>
              </a:ext>
            </a:extLst>
          </p:cNvPr>
          <p:cNvSpPr txBox="1"/>
          <p:nvPr/>
        </p:nvSpPr>
        <p:spPr>
          <a:xfrm>
            <a:off x="744069" y="1555036"/>
            <a:ext cx="11354146" cy="342395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addStudent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return an ID distinct from any ID in the database'</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endParaRPr lang="en-US" b="0">
              <a:solidFill>
                <a:srgbClr val="795E26"/>
              </a:solidFill>
              <a:effectLst/>
              <a:latin typeface="Menlo" panose="020B0609030804020204" pitchFamily="49" charset="0"/>
            </a:endParaRPr>
          </a:p>
          <a:p>
            <a:pPr>
              <a:lnSpc>
                <a:spcPct val="110000"/>
              </a:lnSpc>
              <a:buNone/>
            </a:pPr>
            <a:r>
              <a:rPr lang="en-US" b="0">
                <a:solidFill>
                  <a:srgbClr val="008000"/>
                </a:solidFill>
                <a:effectLst/>
                <a:latin typeface="Menlo" panose="020B0609030804020204" pitchFamily="49" charset="0"/>
              </a:rPr>
              <a:t>    // we'll add 3 students and check to see that their IDs are all different.</a:t>
            </a:r>
            <a:endParaRPr lang="en-US" b="0">
              <a:solidFill>
                <a:srgbClr val="3B3B3B"/>
              </a:solidFill>
              <a:effectLst/>
              <a:latin typeface="Menlo" panose="020B0609030804020204" pitchFamily="49" charset="0"/>
            </a:endParaRP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corey</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id3</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'del’</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not</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not</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id3</a:t>
            </a:r>
            <a:r>
              <a:rPr lang="en-US" b="0">
                <a:solidFill>
                  <a:srgbClr val="3B3B3B"/>
                </a:solidFill>
                <a:effectLst/>
                <a:latin typeface="Menlo" panose="020B0609030804020204" pitchFamily="49" charset="0"/>
              </a:rPr>
              <a:t>);</a:t>
            </a:r>
          </a:p>
          <a:p>
            <a:pPr>
              <a:lnSpc>
                <a:spcPct val="110000"/>
              </a:lnSpc>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not</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id3</a:t>
            </a:r>
            <a:r>
              <a:rPr lang="en-US" b="0">
                <a:solidFill>
                  <a:srgbClr val="3B3B3B"/>
                </a:solidFill>
                <a:effectLst/>
                <a:latin typeface="Menlo" panose="020B0609030804020204" pitchFamily="49" charset="0"/>
              </a:rPr>
              <a:t>);</a:t>
            </a:r>
          </a:p>
          <a:p>
            <a:pPr>
              <a:lnSpc>
                <a:spcPct val="110000"/>
              </a:lnSpc>
              <a:buNone/>
            </a:pPr>
            <a:r>
              <a:rPr lang="en-US" b="0">
                <a:solidFill>
                  <a:srgbClr val="3B3B3B"/>
                </a:solidFill>
                <a:effectLst/>
                <a:latin typeface="Menlo" panose="020B0609030804020204" pitchFamily="49" charset="0"/>
              </a:rPr>
              <a:t>  });</a:t>
            </a:r>
          </a:p>
          <a:p>
            <a:pPr>
              <a:lnSpc>
                <a:spcPct val="110000"/>
              </a:lnSpc>
              <a:buNone/>
            </a:pPr>
            <a:r>
              <a:rPr lang="en-US" b="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715072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7A9CB-D4E5-3428-E8C6-F320EB6E41C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2032A9C-7FE0-542E-D328-1DA19D34993F}"/>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29</a:t>
            </a:fld>
            <a:endParaRPr lang="en-US"/>
          </a:p>
        </p:txBody>
      </p:sp>
      <p:sp>
        <p:nvSpPr>
          <p:cNvPr id="2" name="Title 1">
            <a:extLst>
              <a:ext uri="{FF2B5EF4-FFF2-40B4-BE49-F238E27FC236}">
                <a16:creationId xmlns:a16="http://schemas.microsoft.com/office/drawing/2014/main" id="{09145ACD-D6E4-774F-523F-2678FC0960C8}"/>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AA9B8750-ED62-4345-DF6D-792748ADE401}"/>
              </a:ext>
            </a:extLst>
          </p:cNvPr>
          <p:cNvSpPr txBox="1"/>
          <p:nvPr/>
        </p:nvSpPr>
        <p:spPr>
          <a:xfrm>
            <a:off x="744068" y="1555036"/>
            <a:ext cx="11834794"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addStudent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permit adding a student w/ same name as an existing student’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not</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a:t>
            </a:r>
          </a:p>
          <a:p>
            <a:pPr>
              <a:lnSpc>
                <a:spcPct val="110000"/>
              </a:lnSpc>
            </a:pPr>
            <a:r>
              <a:rPr lang="en-US" b="0">
                <a:solidFill>
                  <a:srgbClr val="3B3B3B"/>
                </a:solidFill>
                <a:effectLst/>
                <a:latin typeface="Menlo" panose="020B0609030804020204" pitchFamily="49" charset="0"/>
              </a:rPr>
              <a:t>  });</a:t>
            </a:r>
          </a:p>
          <a:p>
            <a:pPr>
              <a:lnSpc>
                <a:spcPct val="110000"/>
              </a:lnSpc>
              <a:buNone/>
            </a:pPr>
            <a:r>
              <a:rPr lang="en-US" b="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1013568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72850-973D-8EAB-83F6-FA8C0303B79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1B332F-7D57-99F6-0353-6C1BD1948AF6}"/>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30</a:t>
            </a:fld>
            <a:endParaRPr lang="en-US"/>
          </a:p>
        </p:txBody>
      </p:sp>
      <p:sp>
        <p:nvSpPr>
          <p:cNvPr id="2" name="Title 1">
            <a:extLst>
              <a:ext uri="{FF2B5EF4-FFF2-40B4-BE49-F238E27FC236}">
                <a16:creationId xmlns:a16="http://schemas.microsoft.com/office/drawing/2014/main" id="{C7511F12-D9AC-6766-82BE-1123401E4011}"/>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5489491B-3E78-75A6-E256-C5789A1C7D37}"/>
              </a:ext>
            </a:extLst>
          </p:cNvPr>
          <p:cNvSpPr txBox="1"/>
          <p:nvPr/>
        </p:nvSpPr>
        <p:spPr>
          <a:xfrm>
            <a:off x="744068" y="1555036"/>
            <a:ext cx="11834794"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a:solidFill>
                  <a:srgbClr val="795E26"/>
                </a:solidFill>
                <a:effectLst/>
                <a:latin typeface="Menlo" panose="020B0609030804020204" pitchFamily="49" charset="0"/>
              </a:rPr>
              <a:t>describe</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addStudent</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795E26"/>
                </a:solidFill>
                <a:effectLst/>
                <a:latin typeface="Menlo" panose="020B0609030804020204" pitchFamily="49" charset="0"/>
              </a:rPr>
              <a:t>  it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'should permit adding a student w/ same name as an existing student’</a:t>
            </a:r>
            <a:r>
              <a:rPr lang="en-US" b="0">
                <a:solidFill>
                  <a:srgbClr val="3B3B3B"/>
                </a:solidFill>
                <a:effectLst/>
                <a:latin typeface="Menlo" panose="020B0609030804020204" pitchFamily="49" charset="0"/>
              </a:rPr>
              <a:t>, () </a:t>
            </a:r>
            <a:r>
              <a:rPr lang="en-US" b="0">
                <a:solidFill>
                  <a:srgbClr val="0000FF"/>
                </a:solidFill>
                <a:effectLst/>
                <a:latin typeface="Menlo" panose="020B0609030804020204" pitchFamily="49" charset="0"/>
              </a:rPr>
              <a:t>=&gt;</a:t>
            </a:r>
            <a:r>
              <a:rPr lang="en-US" b="0">
                <a:solidFill>
                  <a:srgbClr val="3B3B3B"/>
                </a:solidFill>
                <a:effectLst/>
                <a:latin typeface="Menlo" panose="020B0609030804020204" pitchFamily="49" charset="0"/>
              </a:rPr>
              <a:t> {</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0000FF"/>
                </a:solidFill>
                <a:effectLst/>
                <a:latin typeface="Menlo" panose="020B0609030804020204" pitchFamily="49" charset="0"/>
              </a:rPr>
              <a:t>    const</a:t>
            </a:r>
            <a:r>
              <a:rPr lang="en-US" b="0">
                <a:solidFill>
                  <a:srgbClr val="3B3B3B"/>
                </a:solidFill>
                <a:effectLst/>
                <a:latin typeface="Menlo" panose="020B0609030804020204" pitchFamily="49" charset="0"/>
              </a:rPr>
              <a:t> </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 </a:t>
            </a:r>
            <a:r>
              <a:rPr lang="en-US" b="0">
                <a:solidFill>
                  <a:srgbClr val="000000"/>
                </a:solidFill>
                <a:effectLst/>
                <a:latin typeface="Menlo" panose="020B0609030804020204" pitchFamily="49" charset="0"/>
              </a:rPr>
              <a:t>=</a:t>
            </a:r>
            <a:r>
              <a:rPr lang="en-US" b="0">
                <a:solidFill>
                  <a:srgbClr val="3B3B3B"/>
                </a:solidFill>
                <a:effectLst/>
                <a:latin typeface="Menlo" panose="020B0609030804020204" pitchFamily="49" charset="0"/>
              </a:rPr>
              <a:t> </a:t>
            </a:r>
            <a:r>
              <a:rPr lang="en-US" b="0" err="1">
                <a:solidFill>
                  <a:srgbClr val="001080"/>
                </a:solidFill>
                <a:effectLst/>
                <a:latin typeface="Menlo" panose="020B0609030804020204" pitchFamily="49" charset="0"/>
              </a:rPr>
              <a:t>db</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addStudent</a:t>
            </a:r>
            <a:r>
              <a:rPr lang="en-US" b="0">
                <a:solidFill>
                  <a:srgbClr val="3B3B3B"/>
                </a:solidFill>
                <a:effectLst/>
                <a:latin typeface="Menlo" panose="020B0609030804020204" pitchFamily="49" charset="0"/>
              </a:rPr>
              <a:t>(</a:t>
            </a:r>
            <a:r>
              <a:rPr lang="en-US" b="0">
                <a:solidFill>
                  <a:srgbClr val="A31515"/>
                </a:solidFill>
                <a:effectLst/>
                <a:latin typeface="Menlo" panose="020B0609030804020204" pitchFamily="49" charset="0"/>
              </a:rPr>
              <a:t>'</a:t>
            </a:r>
            <a:r>
              <a:rPr lang="en-US" b="0" err="1">
                <a:solidFill>
                  <a:srgbClr val="A31515"/>
                </a:solidFill>
                <a:effectLst/>
                <a:latin typeface="Menlo" panose="020B0609030804020204" pitchFamily="49" charset="0"/>
              </a:rPr>
              <a:t>blair</a:t>
            </a:r>
            <a:r>
              <a:rPr lang="en-US" b="0">
                <a:solidFill>
                  <a:srgbClr val="A31515"/>
                </a:solidFill>
                <a:effectLst/>
                <a:latin typeface="Menlo" panose="020B0609030804020204" pitchFamily="49" charset="0"/>
              </a:rPr>
              <a:t>’</a:t>
            </a:r>
            <a:r>
              <a:rPr lang="en-US" b="0">
                <a:solidFill>
                  <a:srgbClr val="3B3B3B"/>
                </a:solidFill>
                <a:effectLst/>
                <a:latin typeface="Menlo" panose="020B0609030804020204" pitchFamily="49" charset="0"/>
              </a:rPr>
              <a:t>);</a:t>
            </a:r>
          </a:p>
          <a:p>
            <a:pPr>
              <a:lnSpc>
                <a:spcPct val="110000"/>
              </a:lnSpc>
              <a:buNone/>
            </a:pPr>
            <a:r>
              <a:rPr lang="en-US" b="0">
                <a:solidFill>
                  <a:srgbClr val="795E26"/>
                </a:solidFill>
                <a:effectLst/>
                <a:latin typeface="Menlo" panose="020B0609030804020204" pitchFamily="49" charset="0"/>
              </a:rPr>
              <a:t>    expect</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id1</a:t>
            </a:r>
            <a:r>
              <a:rPr lang="en-US" b="0">
                <a:solidFill>
                  <a:srgbClr val="3B3B3B"/>
                </a:solidFill>
                <a:effectLst/>
                <a:latin typeface="Menlo" panose="020B0609030804020204" pitchFamily="49" charset="0"/>
              </a:rPr>
              <a:t>).</a:t>
            </a:r>
            <a:r>
              <a:rPr lang="en-US" b="0" err="1">
                <a:solidFill>
                  <a:srgbClr val="001080"/>
                </a:solidFill>
                <a:effectLst/>
                <a:latin typeface="Menlo" panose="020B0609030804020204" pitchFamily="49" charset="0"/>
              </a:rPr>
              <a:t>not</a:t>
            </a:r>
            <a:r>
              <a:rPr lang="en-US" b="0" err="1">
                <a:solidFill>
                  <a:srgbClr val="3B3B3B"/>
                </a:solidFill>
                <a:effectLst/>
                <a:latin typeface="Menlo" panose="020B0609030804020204" pitchFamily="49" charset="0"/>
              </a:rPr>
              <a:t>.</a:t>
            </a:r>
            <a:r>
              <a:rPr lang="en-US" b="0" err="1">
                <a:solidFill>
                  <a:srgbClr val="795E26"/>
                </a:solidFill>
                <a:effectLst/>
                <a:latin typeface="Menlo" panose="020B0609030804020204" pitchFamily="49" charset="0"/>
              </a:rPr>
              <a:t>toEqual</a:t>
            </a:r>
            <a:r>
              <a:rPr lang="en-US" b="0">
                <a:solidFill>
                  <a:srgbClr val="3B3B3B"/>
                </a:solidFill>
                <a:effectLst/>
                <a:latin typeface="Menlo" panose="020B0609030804020204" pitchFamily="49" charset="0"/>
              </a:rPr>
              <a:t>(</a:t>
            </a:r>
            <a:r>
              <a:rPr lang="en-US" b="0">
                <a:solidFill>
                  <a:srgbClr val="0070C1"/>
                </a:solidFill>
                <a:effectLst/>
                <a:latin typeface="Menlo" panose="020B0609030804020204" pitchFamily="49" charset="0"/>
              </a:rPr>
              <a:t>id2</a:t>
            </a:r>
            <a:r>
              <a:rPr lang="en-US" b="0">
                <a:solidFill>
                  <a:srgbClr val="3B3B3B"/>
                </a:solidFill>
                <a:effectLst/>
                <a:latin typeface="Menlo" panose="020B0609030804020204" pitchFamily="49" charset="0"/>
              </a:rPr>
              <a:t>);</a:t>
            </a:r>
          </a:p>
          <a:p>
            <a:pPr>
              <a:lnSpc>
                <a:spcPct val="110000"/>
              </a:lnSpc>
            </a:pPr>
            <a:r>
              <a:rPr lang="en-US" b="0">
                <a:solidFill>
                  <a:srgbClr val="3B3B3B"/>
                </a:solidFill>
                <a:effectLst/>
                <a:latin typeface="Menlo" panose="020B0609030804020204" pitchFamily="49" charset="0"/>
              </a:rPr>
              <a:t>  });</a:t>
            </a:r>
          </a:p>
          <a:p>
            <a:pPr>
              <a:lnSpc>
                <a:spcPct val="110000"/>
              </a:lnSpc>
              <a:buNone/>
            </a:pPr>
            <a:r>
              <a:rPr lang="en-US" b="0">
                <a:solidFill>
                  <a:srgbClr val="3B3B3B"/>
                </a:solidFill>
                <a:effectLst/>
                <a:latin typeface="Menlo" panose="020B0609030804020204" pitchFamily="49" charset="0"/>
              </a:rPr>
              <a:t>});</a:t>
            </a:r>
          </a:p>
        </p:txBody>
      </p:sp>
      <p:sp>
        <p:nvSpPr>
          <p:cNvPr id="5" name="TextBox 4">
            <a:extLst>
              <a:ext uri="{FF2B5EF4-FFF2-40B4-BE49-F238E27FC236}">
                <a16:creationId xmlns:a16="http://schemas.microsoft.com/office/drawing/2014/main" id="{7DFDD326-458B-9B8F-1E5A-F956F4D2F126}"/>
              </a:ext>
            </a:extLst>
          </p:cNvPr>
          <p:cNvSpPr txBox="1"/>
          <p:nvPr/>
        </p:nvSpPr>
        <p:spPr>
          <a:xfrm>
            <a:off x="3873500" y="3760191"/>
            <a:ext cx="3759200" cy="165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000" dirty="0">
                <a:solidFill>
                  <a:srgbClr val="FF0000"/>
                </a:solidFill>
              </a:rPr>
              <a:t>TODO </a:t>
            </a:r>
            <a:r>
              <a:rPr lang="en-US" sz="4000" b="1" dirty="0">
                <a:solidFill>
                  <a:srgbClr val="FF0000"/>
                </a:solidFill>
              </a:rPr>
              <a:t>error example</a:t>
            </a:r>
            <a:endParaRPr lang="en-US" sz="4000" dirty="0">
              <a:solidFill>
                <a:srgbClr val="FF0000"/>
              </a:solidFill>
            </a:endParaRPr>
          </a:p>
        </p:txBody>
      </p:sp>
    </p:spTree>
    <p:extLst>
      <p:ext uri="{BB962C8B-B14F-4D97-AF65-F5344CB8AC3E}">
        <p14:creationId xmlns:p14="http://schemas.microsoft.com/office/powerpoint/2010/main" val="2383690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C5B6E-6AE0-F544-0A66-BA1917FA6AB2}"/>
              </a:ext>
            </a:extLst>
          </p:cNvPr>
          <p:cNvSpPr txBox="1"/>
          <p:nvPr/>
        </p:nvSpPr>
        <p:spPr>
          <a:xfrm>
            <a:off x="838199" y="1732057"/>
            <a:ext cx="10773578" cy="341632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dirty="0" err="1">
                <a:solidFill>
                  <a:srgbClr val="795E26"/>
                </a:solidFill>
                <a:effectLst/>
                <a:latin typeface="Consolas" panose="020B0609020204030204" pitchFamily="49" charset="0"/>
              </a:rPr>
              <a:t>beforeEach</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db.initialize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795E26"/>
                </a:solidFill>
                <a:effectLst/>
                <a:latin typeface="Consolas" panose="020B0609020204030204" pitchFamily="49" charset="0"/>
              </a:rPr>
              <a:t>describe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'tests for </a:t>
            </a:r>
            <a:r>
              <a:rPr lang="en-US" b="0" dirty="0" err="1">
                <a:solidFill>
                  <a:srgbClr val="A31515"/>
                </a:solidFill>
                <a:effectLst/>
                <a:latin typeface="Consolas" panose="020B0609020204030204" pitchFamily="49" charset="0"/>
              </a:rPr>
              <a:t>addStudent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addStudent</a:t>
            </a:r>
            <a:r>
              <a:rPr lang="en-US" b="0" dirty="0">
                <a:solidFill>
                  <a:srgbClr val="A31515"/>
                </a:solidFill>
                <a:effectLst/>
                <a:latin typeface="Consolas" panose="020B0609020204030204" pitchFamily="49" charset="0"/>
              </a:rPr>
              <a:t> should add a student to the database'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db</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nameToIDs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toEqual</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id1</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db</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addStudent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db</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nameToIDs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toEqual</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id1</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endParaRPr lang="en-US" b="0" dirty="0">
              <a:solidFill>
                <a:srgbClr val="000000"/>
              </a:solidFill>
              <a:effectLst/>
              <a:latin typeface="Consolas" panose="020B0609020204030204" pitchFamily="49" charset="0"/>
            </a:endParaRPr>
          </a:p>
        </p:txBody>
      </p:sp>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A quick word about cleanup</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31</a:t>
            </a:fld>
            <a:endParaRPr lang="en-US"/>
          </a:p>
        </p:txBody>
      </p:sp>
      <p:grpSp>
        <p:nvGrpSpPr>
          <p:cNvPr id="12" name="Group 11">
            <a:extLst>
              <a:ext uri="{FF2B5EF4-FFF2-40B4-BE49-F238E27FC236}">
                <a16:creationId xmlns:a16="http://schemas.microsoft.com/office/drawing/2014/main" id="{02B43628-5357-48D9-C1AB-02F58DD23665}"/>
              </a:ext>
            </a:extLst>
          </p:cNvPr>
          <p:cNvGrpSpPr/>
          <p:nvPr/>
        </p:nvGrpSpPr>
        <p:grpSpPr>
          <a:xfrm>
            <a:off x="4032487" y="1449517"/>
            <a:ext cx="5111827" cy="1285021"/>
            <a:chOff x="3712684" y="2558296"/>
            <a:chExt cx="5111827" cy="1285021"/>
          </a:xfrm>
        </p:grpSpPr>
        <p:sp>
          <p:nvSpPr>
            <p:cNvPr id="9" name="AutoShape 9">
              <a:extLst>
                <a:ext uri="{FF2B5EF4-FFF2-40B4-BE49-F238E27FC236}">
                  <a16:creationId xmlns:a16="http://schemas.microsoft.com/office/drawing/2014/main" id="{0976A1DB-D28F-DDD7-CED8-58403B21C0BF}"/>
                </a:ext>
              </a:extLst>
            </p:cNvPr>
            <p:cNvSpPr>
              <a:spLocks/>
            </p:cNvSpPr>
            <p:nvPr/>
          </p:nvSpPr>
          <p:spPr bwMode="auto">
            <a:xfrm>
              <a:off x="5328450" y="2558296"/>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11" name="Straight Arrow Connector 10">
              <a:extLst>
                <a:ext uri="{FF2B5EF4-FFF2-40B4-BE49-F238E27FC236}">
                  <a16:creationId xmlns:a16="http://schemas.microsoft.com/office/drawing/2014/main" id="{69684802-571C-8FA9-DA3E-C90BC10CB80A}"/>
                </a:ext>
              </a:extLst>
            </p:cNvPr>
            <p:cNvCxnSpPr>
              <a:stCxn id="9" idx="1"/>
            </p:cNvCxnSpPr>
            <p:nvPr/>
          </p:nvCxnSpPr>
          <p:spPr>
            <a:xfrm flipH="1">
              <a:off x="3712684" y="3200807"/>
              <a:ext cx="1615766" cy="16118"/>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Content Placeholder 2">
            <a:extLst>
              <a:ext uri="{FF2B5EF4-FFF2-40B4-BE49-F238E27FC236}">
                <a16:creationId xmlns:a16="http://schemas.microsoft.com/office/drawing/2014/main" id="{88C922C3-603E-D6F0-750E-B27F16097F24}"/>
              </a:ext>
            </a:extLst>
          </p:cNvPr>
          <p:cNvSpPr>
            <a:spLocks noGrp="1"/>
          </p:cNvSpPr>
          <p:nvPr>
            <p:ph idx="1"/>
          </p:nvPr>
        </p:nvSpPr>
        <p:spPr>
          <a:xfrm>
            <a:off x="824021" y="5065792"/>
            <a:ext cx="9648463" cy="1290558"/>
          </a:xfrm>
        </p:spPr>
        <p:txBody>
          <a:bodyPr>
            <a:normAutofit/>
          </a:bodyPr>
          <a:lstStyle/>
          <a:p>
            <a:r>
              <a:rPr lang="en-US" dirty="0"/>
              <a:t>Our test left a student in our database at the end of the test.</a:t>
            </a:r>
          </a:p>
          <a:p>
            <a:r>
              <a:rPr lang="en-US" dirty="0"/>
              <a:t>Use </a:t>
            </a:r>
            <a:r>
              <a:rPr lang="en-US" b="0" dirty="0" err="1">
                <a:solidFill>
                  <a:srgbClr val="795E26"/>
                </a:solidFill>
                <a:effectLst/>
                <a:latin typeface="Consolas" panose="020B0609020204030204" pitchFamily="49" charset="0"/>
              </a:rPr>
              <a:t>afterEach</a:t>
            </a:r>
            <a:r>
              <a:rPr lang="en-US" dirty="0"/>
              <a:t>() if needed. </a:t>
            </a:r>
          </a:p>
        </p:txBody>
      </p:sp>
      <p:sp>
        <p:nvSpPr>
          <p:cNvPr id="3" name="TextBox 2">
            <a:extLst>
              <a:ext uri="{FF2B5EF4-FFF2-40B4-BE49-F238E27FC236}">
                <a16:creationId xmlns:a16="http://schemas.microsoft.com/office/drawing/2014/main" id="{6C7DBF31-079B-7D48-46FB-953589D885FA}"/>
              </a:ext>
            </a:extLst>
          </p:cNvPr>
          <p:cNvSpPr txBox="1"/>
          <p:nvPr/>
        </p:nvSpPr>
        <p:spPr>
          <a:xfrm>
            <a:off x="7852577" y="3780908"/>
            <a:ext cx="3759200" cy="165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000" dirty="0">
                <a:solidFill>
                  <a:srgbClr val="FF0000"/>
                </a:solidFill>
              </a:rPr>
              <a:t>TODO </a:t>
            </a:r>
            <a:r>
              <a:rPr lang="en-US" sz="4000" b="1" dirty="0">
                <a:solidFill>
                  <a:srgbClr val="FF0000"/>
                </a:solidFill>
              </a:rPr>
              <a:t>update</a:t>
            </a:r>
            <a:endParaRPr lang="en-US" sz="4000" dirty="0">
              <a:solidFill>
                <a:srgbClr val="FF0000"/>
              </a:solidFill>
            </a:endParaRPr>
          </a:p>
        </p:txBody>
      </p:sp>
    </p:spTree>
    <p:extLst>
      <p:ext uri="{BB962C8B-B14F-4D97-AF65-F5344CB8AC3E}">
        <p14:creationId xmlns:p14="http://schemas.microsoft.com/office/powerpoint/2010/main" val="9395548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7D45D-23B0-E21E-9A9E-E8F200F1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25755-ACA7-3890-35A1-7DD1E9CF3CBE}"/>
              </a:ext>
            </a:extLst>
          </p:cNvPr>
          <p:cNvSpPr>
            <a:spLocks noGrp="1"/>
          </p:cNvSpPr>
          <p:nvPr>
            <p:ph type="title"/>
          </p:nvPr>
        </p:nvSpPr>
        <p:spPr/>
        <p:txBody>
          <a:bodyPr/>
          <a:lstStyle/>
          <a:p>
            <a:r>
              <a:rPr lang="en-US"/>
              <a:t>…now TDD lets us implement </a:t>
            </a:r>
            <a:r>
              <a:rPr lang="en-US" err="1"/>
              <a:t>addStudent</a:t>
            </a:r>
            <a:r>
              <a:rPr lang="en-US"/>
              <a:t>!</a:t>
            </a:r>
          </a:p>
        </p:txBody>
      </p:sp>
      <p:sp>
        <p:nvSpPr>
          <p:cNvPr id="5" name="Content Placeholder 4">
            <a:extLst>
              <a:ext uri="{FF2B5EF4-FFF2-40B4-BE49-F238E27FC236}">
                <a16:creationId xmlns:a16="http://schemas.microsoft.com/office/drawing/2014/main" id="{2CC0F007-BB9D-7A51-F58C-1EA9644E83F3}"/>
              </a:ext>
            </a:extLst>
          </p:cNvPr>
          <p:cNvSpPr>
            <a:spLocks noGrp="1"/>
          </p:cNvSpPr>
          <p:nvPr>
            <p:ph idx="1"/>
          </p:nvPr>
        </p:nvSpPr>
        <p:spPr>
          <a:xfrm>
            <a:off x="838199" y="1500159"/>
            <a:ext cx="10322169" cy="1688517"/>
          </a:xfrm>
        </p:spPr>
        <p:txBody>
          <a:bodyPr>
            <a:normAutofit/>
          </a:bodyPr>
          <a:lstStyle/>
          <a:p>
            <a:pPr marL="0" indent="0">
              <a:buNone/>
            </a:pPr>
            <a:r>
              <a:rPr lang="en-US"/>
              <a:t>Implementing the </a:t>
            </a:r>
            <a:r>
              <a:rPr lang="en-US" err="1"/>
              <a:t>TranscriptDB</a:t>
            </a:r>
            <a:r>
              <a:rPr lang="en-US"/>
              <a:t> according to the </a:t>
            </a:r>
            <a:r>
              <a:rPr lang="en-US" err="1"/>
              <a:t>TranscriptService</a:t>
            </a:r>
            <a:r>
              <a:rPr lang="en-US"/>
              <a:t> spec will let us turn our testable behaviors into fully executable tests.</a:t>
            </a:r>
          </a:p>
        </p:txBody>
      </p:sp>
      <p:sp>
        <p:nvSpPr>
          <p:cNvPr id="3" name="Slide Number Placeholder 2">
            <a:extLst>
              <a:ext uri="{FF2B5EF4-FFF2-40B4-BE49-F238E27FC236}">
                <a16:creationId xmlns:a16="http://schemas.microsoft.com/office/drawing/2014/main" id="{5E92E3A7-C02D-703B-56BD-94FA6F071027}"/>
              </a:ext>
            </a:extLst>
          </p:cNvPr>
          <p:cNvSpPr>
            <a:spLocks noGrp="1"/>
          </p:cNvSpPr>
          <p:nvPr>
            <p:ph type="sldNum" sz="quarter" idx="12"/>
          </p:nvPr>
        </p:nvSpPr>
        <p:spPr/>
        <p:txBody>
          <a:bodyPr/>
          <a:lstStyle/>
          <a:p>
            <a:fld id="{20F37917-FD3A-4669-9018-DA04BCDD3D75}" type="slidenum">
              <a:rPr lang="en-US" smtClean="0"/>
              <a:pPr/>
              <a:t>32</a:t>
            </a:fld>
            <a:endParaRPr lang="en-US"/>
          </a:p>
        </p:txBody>
      </p:sp>
      <p:grpSp>
        <p:nvGrpSpPr>
          <p:cNvPr id="6" name="Group 5">
            <a:extLst>
              <a:ext uri="{FF2B5EF4-FFF2-40B4-BE49-F238E27FC236}">
                <a16:creationId xmlns:a16="http://schemas.microsoft.com/office/drawing/2014/main" id="{699F15D9-00BA-F146-965A-3D5E61FB4703}"/>
              </a:ext>
            </a:extLst>
          </p:cNvPr>
          <p:cNvGrpSpPr/>
          <p:nvPr/>
        </p:nvGrpSpPr>
        <p:grpSpPr>
          <a:xfrm>
            <a:off x="435253" y="2610651"/>
            <a:ext cx="11321493" cy="4110824"/>
            <a:chOff x="133350" y="1786330"/>
            <a:chExt cx="11321493" cy="4110824"/>
          </a:xfrm>
        </p:grpSpPr>
        <p:sp>
          <p:nvSpPr>
            <p:cNvPr id="7" name="Rectangle: Rounded Corners 8">
              <a:extLst>
                <a:ext uri="{FF2B5EF4-FFF2-40B4-BE49-F238E27FC236}">
                  <a16:creationId xmlns:a16="http://schemas.microsoft.com/office/drawing/2014/main" id="{37D04995-0B29-D574-44D6-1C1347C7A3F1}"/>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Satisfaction Conditions</a:t>
              </a:r>
            </a:p>
          </p:txBody>
        </p:sp>
        <p:sp>
          <p:nvSpPr>
            <p:cNvPr id="8" name="Rectangle: Rounded Corners 9">
              <a:extLst>
                <a:ext uri="{FF2B5EF4-FFF2-40B4-BE49-F238E27FC236}">
                  <a16:creationId xmlns:a16="http://schemas.microsoft.com/office/drawing/2014/main" id="{B1BFD337-6AA2-B07D-05F3-02949B505BD2}"/>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Executable Tests</a:t>
              </a:r>
            </a:p>
          </p:txBody>
        </p:sp>
        <p:sp>
          <p:nvSpPr>
            <p:cNvPr id="9" name="Rectangle: Rounded Corners 10">
              <a:extLst>
                <a:ext uri="{FF2B5EF4-FFF2-40B4-BE49-F238E27FC236}">
                  <a16:creationId xmlns:a16="http://schemas.microsoft.com/office/drawing/2014/main" id="{65FF3A29-047C-BCB2-3409-D935F1458029}"/>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Testable Behaviors</a:t>
              </a:r>
            </a:p>
          </p:txBody>
        </p:sp>
        <p:sp>
          <p:nvSpPr>
            <p:cNvPr id="10" name="Rectangle: Rounded Corners 11">
              <a:extLst>
                <a:ext uri="{FF2B5EF4-FFF2-40B4-BE49-F238E27FC236}">
                  <a16:creationId xmlns:a16="http://schemas.microsoft.com/office/drawing/2014/main" id="{0A5EA2C0-21C5-A177-B818-3F5288A8414F}"/>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Executing Code</a:t>
              </a:r>
            </a:p>
          </p:txBody>
        </p:sp>
        <p:sp>
          <p:nvSpPr>
            <p:cNvPr id="11" name="Isosceles Triangle 13">
              <a:extLst>
                <a:ext uri="{FF2B5EF4-FFF2-40B4-BE49-F238E27FC236}">
                  <a16:creationId xmlns:a16="http://schemas.microsoft.com/office/drawing/2014/main" id="{2ACAF0E2-4772-7950-1F0F-4183B101134D}"/>
                </a:ext>
              </a:extLst>
            </p:cNvPr>
            <p:cNvSpPr/>
            <p:nvPr/>
          </p:nvSpPr>
          <p:spPr>
            <a:xfrm rot="5400000">
              <a:off x="227364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2" name="Isosceles Triangle 14">
              <a:extLst>
                <a:ext uri="{FF2B5EF4-FFF2-40B4-BE49-F238E27FC236}">
                  <a16:creationId xmlns:a16="http://schemas.microsoft.com/office/drawing/2014/main" id="{6942D7D3-34AC-8A7A-5E55-5B03E9DD4068}"/>
                </a:ext>
              </a:extLst>
            </p:cNvPr>
            <p:cNvSpPr/>
            <p:nvPr/>
          </p:nvSpPr>
          <p:spPr>
            <a:xfrm rot="5400000">
              <a:off x="537213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3" name="Isosceles Triangle 15">
              <a:extLst>
                <a:ext uri="{FF2B5EF4-FFF2-40B4-BE49-F238E27FC236}">
                  <a16:creationId xmlns:a16="http://schemas.microsoft.com/office/drawing/2014/main" id="{CD688A54-81A6-4752-D593-1DAE613F4C6B}"/>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4" name="TextBox 13">
              <a:extLst>
                <a:ext uri="{FF2B5EF4-FFF2-40B4-BE49-F238E27FC236}">
                  <a16:creationId xmlns:a16="http://schemas.microsoft.com/office/drawing/2014/main" id="{8F9C8517-35C9-604B-2A9C-F6D7519C4AE5}"/>
                </a:ext>
              </a:extLst>
            </p:cNvPr>
            <p:cNvSpPr txBox="1"/>
            <p:nvPr/>
          </p:nvSpPr>
          <p:spPr>
            <a:xfrm>
              <a:off x="1600232" y="1821455"/>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Analyze</a:t>
              </a:r>
            </a:p>
          </p:txBody>
        </p:sp>
        <p:sp>
          <p:nvSpPr>
            <p:cNvPr id="15" name="TextBox 14">
              <a:extLst>
                <a:ext uri="{FF2B5EF4-FFF2-40B4-BE49-F238E27FC236}">
                  <a16:creationId xmlns:a16="http://schemas.microsoft.com/office/drawing/2014/main" id="{C5C74A3D-107C-A976-8FBC-38494CD8F27E}"/>
                </a:ext>
              </a:extLst>
            </p:cNvPr>
            <p:cNvSpPr txBox="1"/>
            <p:nvPr/>
          </p:nvSpPr>
          <p:spPr>
            <a:xfrm>
              <a:off x="4694927"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Design</a:t>
              </a:r>
            </a:p>
          </p:txBody>
        </p:sp>
        <p:sp>
          <p:nvSpPr>
            <p:cNvPr id="16" name="TextBox 15">
              <a:extLst>
                <a:ext uri="{FF2B5EF4-FFF2-40B4-BE49-F238E27FC236}">
                  <a16:creationId xmlns:a16="http://schemas.microsoft.com/office/drawing/2014/main" id="{0AF3C444-3E10-AB01-92CB-6DD7B9D74DD4}"/>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Code</a:t>
              </a:r>
            </a:p>
          </p:txBody>
        </p:sp>
        <p:sp>
          <p:nvSpPr>
            <p:cNvPr id="17" name="Arrow: Curved Left 19">
              <a:extLst>
                <a:ext uri="{FF2B5EF4-FFF2-40B4-BE49-F238E27FC236}">
                  <a16:creationId xmlns:a16="http://schemas.microsoft.com/office/drawing/2014/main" id="{AB7C0D20-D749-EC73-6E8B-CB49056A9F50}"/>
                </a:ext>
              </a:extLst>
            </p:cNvPr>
            <p:cNvSpPr/>
            <p:nvPr/>
          </p:nvSpPr>
          <p:spPr>
            <a:xfrm rot="5400000">
              <a:off x="8696614" y="2651423"/>
              <a:ext cx="576654" cy="2815637"/>
            </a:xfrm>
            <a:prstGeom prst="curvedLeftArrow">
              <a:avLst>
                <a:gd name="adj1" fmla="val 25001"/>
                <a:gd name="adj2" fmla="val 50000"/>
                <a:gd name="adj3" fmla="val 38214"/>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sp>
          <p:nvSpPr>
            <p:cNvPr id="18" name="Arrow: Curved Left 20">
              <a:extLst>
                <a:ext uri="{FF2B5EF4-FFF2-40B4-BE49-F238E27FC236}">
                  <a16:creationId xmlns:a16="http://schemas.microsoft.com/office/drawing/2014/main" id="{40078796-E590-1AF2-7A37-3AE2581B0C77}"/>
                </a:ext>
              </a:extLst>
            </p:cNvPr>
            <p:cNvSpPr/>
            <p:nvPr/>
          </p:nvSpPr>
          <p:spPr>
            <a:xfrm rot="5400000">
              <a:off x="6769522" y="1163813"/>
              <a:ext cx="1367579" cy="6581775"/>
            </a:xfrm>
            <a:prstGeom prst="curvedLeftArrow">
              <a:avLst>
                <a:gd name="adj1" fmla="val 25000"/>
                <a:gd name="adj2" fmla="val 50000"/>
                <a:gd name="adj3" fmla="val 25000"/>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sp>
          <p:nvSpPr>
            <p:cNvPr id="19" name="Arrow: Curved Left 21">
              <a:extLst>
                <a:ext uri="{FF2B5EF4-FFF2-40B4-BE49-F238E27FC236}">
                  <a16:creationId xmlns:a16="http://schemas.microsoft.com/office/drawing/2014/main" id="{C6790096-E3C0-2B73-9081-85A5C1003C25}"/>
                </a:ext>
              </a:extLst>
            </p:cNvPr>
            <p:cNvSpPr/>
            <p:nvPr/>
          </p:nvSpPr>
          <p:spPr>
            <a:xfrm rot="5400000">
              <a:off x="5032879" y="-135194"/>
              <a:ext cx="2126243" cy="9938454"/>
            </a:xfrm>
            <a:prstGeom prst="curvedLeftArrow">
              <a:avLst>
                <a:gd name="adj1" fmla="val 14986"/>
                <a:gd name="adj2" fmla="val 50000"/>
                <a:gd name="adj3" fmla="val 13801"/>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grpSp>
    </p:spTree>
    <p:extLst>
      <p:ext uri="{BB962C8B-B14F-4D97-AF65-F5344CB8AC3E}">
        <p14:creationId xmlns:p14="http://schemas.microsoft.com/office/powerpoint/2010/main" val="1609379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6E8AF-BD74-88AB-9E01-FB6FACEFE331}"/>
              </a:ext>
            </a:extLst>
          </p:cNvPr>
          <p:cNvSpPr>
            <a:spLocks noGrp="1"/>
          </p:cNvSpPr>
          <p:nvPr>
            <p:ph type="title"/>
          </p:nvPr>
        </p:nvSpPr>
        <p:spPr/>
        <p:txBody>
          <a:bodyPr/>
          <a:lstStyle/>
          <a:p>
            <a:r>
              <a:rPr lang="en-US"/>
              <a:t>Review</a:t>
            </a:r>
          </a:p>
        </p:txBody>
      </p:sp>
      <p:sp>
        <p:nvSpPr>
          <p:cNvPr id="3" name="Content Placeholder 2">
            <a:extLst>
              <a:ext uri="{FF2B5EF4-FFF2-40B4-BE49-F238E27FC236}">
                <a16:creationId xmlns:a16="http://schemas.microsoft.com/office/drawing/2014/main" id="{184B73AD-3850-13B8-7AB8-5D8ED30F0C3A}"/>
              </a:ext>
            </a:extLst>
          </p:cNvPr>
          <p:cNvSpPr>
            <a:spLocks noGrp="1"/>
          </p:cNvSpPr>
          <p:nvPr>
            <p:ph idx="1"/>
          </p:nvPr>
        </p:nvSpPr>
        <p:spPr/>
        <p:txBody>
          <a:bodyPr/>
          <a:lstStyle/>
          <a:p>
            <a:pPr marL="0" indent="0">
              <a:buNone/>
            </a:pPr>
            <a:r>
              <a:rPr lang="en-US" dirty="0"/>
              <a:t>It’s the end of the lesson, so you should be prepared to:</a:t>
            </a:r>
          </a:p>
          <a:p>
            <a:endParaRPr lang="en-US" dirty="0"/>
          </a:p>
        </p:txBody>
      </p:sp>
      <p:sp>
        <p:nvSpPr>
          <p:cNvPr id="4" name="Slide Number Placeholder 3">
            <a:extLst>
              <a:ext uri="{FF2B5EF4-FFF2-40B4-BE49-F238E27FC236}">
                <a16:creationId xmlns:a16="http://schemas.microsoft.com/office/drawing/2014/main" id="{98A884B0-329A-C1C7-01BF-6013C6128833}"/>
              </a:ext>
            </a:extLst>
          </p:cNvPr>
          <p:cNvSpPr>
            <a:spLocks noGrp="1"/>
          </p:cNvSpPr>
          <p:nvPr>
            <p:ph type="sldNum" sz="quarter" idx="12"/>
          </p:nvPr>
        </p:nvSpPr>
        <p:spPr/>
        <p:txBody>
          <a:bodyPr/>
          <a:lstStyle/>
          <a:p>
            <a:fld id="{20F37917-FD3A-4669-9018-DA04BCDD3D75}" type="slidenum">
              <a:rPr lang="en-US" smtClean="0"/>
              <a:t>33</a:t>
            </a:fld>
            <a:endParaRPr lang="en-US"/>
          </a:p>
        </p:txBody>
      </p:sp>
      <p:sp>
        <p:nvSpPr>
          <p:cNvPr id="5" name="TextBox 4">
            <a:extLst>
              <a:ext uri="{FF2B5EF4-FFF2-40B4-BE49-F238E27FC236}">
                <a16:creationId xmlns:a16="http://schemas.microsoft.com/office/drawing/2014/main" id="{C02FE2FD-D306-EDA9-6BCB-E12A65EEB91A}"/>
              </a:ext>
            </a:extLst>
          </p:cNvPr>
          <p:cNvSpPr txBox="1"/>
          <p:nvPr/>
        </p:nvSpPr>
        <p:spPr>
          <a:xfrm>
            <a:off x="7852577" y="3780908"/>
            <a:ext cx="3759200" cy="165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000" dirty="0">
                <a:solidFill>
                  <a:srgbClr val="FF0000"/>
                </a:solidFill>
              </a:rPr>
              <a:t>TODO </a:t>
            </a:r>
            <a:r>
              <a:rPr lang="en-US" sz="4000" b="1" dirty="0">
                <a:solidFill>
                  <a:srgbClr val="FF0000"/>
                </a:solidFill>
              </a:rPr>
              <a:t>update</a:t>
            </a:r>
            <a:endParaRPr lang="en-US" sz="4000" dirty="0">
              <a:solidFill>
                <a:srgbClr val="FF0000"/>
              </a:solidFill>
            </a:endParaRPr>
          </a:p>
        </p:txBody>
      </p:sp>
    </p:spTree>
    <p:extLst>
      <p:ext uri="{BB962C8B-B14F-4D97-AF65-F5344CB8AC3E}">
        <p14:creationId xmlns:p14="http://schemas.microsoft.com/office/powerpoint/2010/main" val="3814196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22553</TotalTime>
  <Words>4191</Words>
  <Application>Microsoft Macintosh PowerPoint</Application>
  <PresentationFormat>Widescreen</PresentationFormat>
  <Paragraphs>478</Paragraphs>
  <Slides>33</Slides>
  <Notes>20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Ink Free</vt:lpstr>
      <vt:lpstr>Arial</vt:lpstr>
      <vt:lpstr>Verdana</vt:lpstr>
      <vt:lpstr>Consolas</vt:lpstr>
      <vt:lpstr>Menlo</vt:lpstr>
      <vt:lpstr>Calibri</vt:lpstr>
      <vt:lpstr>Helvetica Neue</vt:lpstr>
      <vt:lpstr>Times New Roman</vt:lpstr>
      <vt:lpstr>Calibri Light</vt:lpstr>
      <vt:lpstr>Wingdings</vt:lpstr>
      <vt:lpstr>Office Theme</vt:lpstr>
      <vt:lpstr>CS 4530: Fundamentals of Software Engineering Module 1.2: From Requirements to Code</vt:lpstr>
      <vt:lpstr>Learning Goals for this Lesson</vt:lpstr>
      <vt:lpstr>Non-Goals for this Lesson</vt:lpstr>
      <vt:lpstr>The big picture</vt:lpstr>
      <vt:lpstr>Part 1: Requirements analysis</vt:lpstr>
      <vt:lpstr>Overall question: How to make sure we are building the right thing</vt:lpstr>
      <vt:lpstr>Why is requirements analysis hard?</vt:lpstr>
      <vt:lpstr>How do we capture the requirements?</vt:lpstr>
      <vt:lpstr>Common Elements</vt:lpstr>
      <vt:lpstr>Requirements gathering frameworks inform the structure and priority of user stories</vt:lpstr>
      <vt:lpstr>Requirements gathering frameworks inform the structure and priority of user stories</vt:lpstr>
      <vt:lpstr>VSD Example – Informed Consent</vt:lpstr>
      <vt:lpstr>Part 3: Test-Driven Development</vt:lpstr>
      <vt:lpstr>Review: User Stories</vt:lpstr>
      <vt:lpstr>Review: Conditions of Satisfaction</vt:lpstr>
      <vt:lpstr>Test Driven Development (TDD)</vt:lpstr>
      <vt:lpstr>The TDD Cycle</vt:lpstr>
      <vt:lpstr>CoS are ultimately about the user</vt:lpstr>
      <vt:lpstr>CoS are ultimately about the user</vt:lpstr>
      <vt:lpstr>Analyzing CoS to get testable behaviors</vt:lpstr>
      <vt:lpstr>Analyzing CoS to get testable behaviors</vt:lpstr>
      <vt:lpstr>The tiniest introduction to Vitest</vt:lpstr>
      <vt:lpstr>The tiniest introduction to Vitest</vt:lpstr>
      <vt:lpstr>The tiniest introduction to Vitest</vt:lpstr>
      <vt:lpstr>The tiniest introduction to Vitest</vt:lpstr>
      <vt:lpstr>Turning testable behaviors into Vitest tests</vt:lpstr>
      <vt:lpstr>Turning testable behaviors into Vitest tests</vt:lpstr>
      <vt:lpstr>Turning testable behaviors into Vitest tests</vt:lpstr>
      <vt:lpstr>Turning testable behaviors into Vitest tests</vt:lpstr>
      <vt:lpstr>Turning testable behaviors into Vitest tests</vt:lpstr>
      <vt:lpstr>A quick word about cleanup</vt:lpstr>
      <vt:lpstr>…now TDD lets us implement addStudent!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225</cp:revision>
  <dcterms:created xsi:type="dcterms:W3CDTF">2021-01-07T15:19:22Z</dcterms:created>
  <dcterms:modified xsi:type="dcterms:W3CDTF">2025-12-18T02:40:27Z</dcterms:modified>
</cp:coreProperties>
</file>