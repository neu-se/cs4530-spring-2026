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3"/>
  </p:notesMasterIdLst>
  <p:sldIdLst>
    <p:sldId id="485" r:id="rId2"/>
    <p:sldId id="575" r:id="rId3"/>
    <p:sldId id="576" r:id="rId4"/>
    <p:sldId id="548" r:id="rId5"/>
    <p:sldId id="550" r:id="rId6"/>
    <p:sldId id="578" r:id="rId7"/>
    <p:sldId id="579" r:id="rId8"/>
    <p:sldId id="570" r:id="rId9"/>
    <p:sldId id="552" r:id="rId10"/>
    <p:sldId id="537" r:id="rId11"/>
    <p:sldId id="536" r:id="rId12"/>
    <p:sldId id="535" r:id="rId13"/>
    <p:sldId id="580" r:id="rId14"/>
    <p:sldId id="569" r:id="rId15"/>
    <p:sldId id="559" r:id="rId16"/>
    <p:sldId id="560" r:id="rId17"/>
    <p:sldId id="561" r:id="rId18"/>
    <p:sldId id="562" r:id="rId19"/>
    <p:sldId id="563" r:id="rId20"/>
    <p:sldId id="581" r:id="rId21"/>
    <p:sldId id="539" r:id="rId22"/>
  </p:sldIdLst>
  <p:sldSz cx="12192000" cy="6858000"/>
  <p:notesSz cx="9240838" cy="6854825"/>
  <p:embeddedFontLst>
    <p:embeddedFont>
      <p:font typeface="Ink Free" panose="03080402000500000000" pitchFamily="66" charset="0"/>
      <p:regular r:id="rId24"/>
    </p:embeddedFont>
    <p:embeddedFont>
      <p:font typeface="Verdana" panose="020B060403050404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5"/>
            <p14:sldId id="576"/>
            <p14:sldId id="548"/>
            <p14:sldId id="550"/>
            <p14:sldId id="578"/>
            <p14:sldId id="579"/>
            <p14:sldId id="570"/>
            <p14:sldId id="552"/>
            <p14:sldId id="537"/>
            <p14:sldId id="536"/>
            <p14:sldId id="535"/>
            <p14:sldId id="580"/>
            <p14:sldId id="569"/>
            <p14:sldId id="559"/>
            <p14:sldId id="560"/>
            <p14:sldId id="561"/>
            <p14:sldId id="562"/>
            <p14:sldId id="563"/>
            <p14:sldId id="581"/>
            <p14:sldId id="53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01" autoAdjust="0"/>
    <p:restoredTop sz="72517" autoAdjust="0"/>
  </p:normalViewPr>
  <p:slideViewPr>
    <p:cSldViewPr snapToGrid="0">
      <p:cViewPr varScale="1">
        <p:scale>
          <a:sx n="91" d="100"/>
          <a:sy n="91" d="100"/>
        </p:scale>
        <p:origin x="1872" y="176"/>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12/17/25</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more about requirements gathering and where user stories actually come from in the next module.</a:t>
            </a:r>
          </a:p>
          <a:p>
            <a:endParaRPr lang="en-US" dirty="0"/>
          </a:p>
          <a:p>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endParaRPr lang="en-US" dirty="0"/>
          </a:p>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User stories and COSs must be prioritized as Essential, Desirable or Extension.</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[Note: on the project you get 100 points for delivering your MVP (all</a:t>
            </a:r>
          </a:p>
          <a:p>
            <a:r>
              <a:rPr lang="en-US" dirty="0"/>
              <a:t>essential user stories and their essential COSs) + up to 50 additional points for delivering</a:t>
            </a:r>
          </a:p>
          <a:p>
            <a:r>
              <a:rPr lang="en-US" dirty="0"/>
              <a:t>extra stories, so be careful about what you call "essential".  OTOH,</a:t>
            </a:r>
          </a:p>
          <a:p>
            <a:r>
              <a:rPr lang="en-US" dirty="0"/>
              <a:t>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3695901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12/17/25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12/17/25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12/17/25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12/17/25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12/17/25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12/17/25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12/17/25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12/17/25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12/17/25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12/17/25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12/17/25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12/17/25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12/17/25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and Rob Simmons</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tool to keep our designs focused on the goal of meeting needs of people</a:t>
            </a:r>
          </a:p>
          <a:p>
            <a:r>
              <a:rPr lang="en-US" dirty="0"/>
              <a:t>…a tool for keeping large collaborative teams on the same page</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a:t>Where do user stories fit in?</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Roles are positions or functions that people inhabit!</a:t>
            </a:r>
          </a:p>
          <a:p>
            <a:pPr lvl="1"/>
            <a:r>
              <a:rPr lang="en-US"/>
              <a:t>“As a web server…” is not a user story!</a:t>
            </a:r>
          </a:p>
          <a:p>
            <a:pPr lvl="1"/>
            <a:r>
              <a:rPr lang="en-US"/>
              <a:t>“As a human being…” is better, but that’s still not a role</a:t>
            </a:r>
          </a:p>
          <a:p>
            <a:pPr lvl="1"/>
            <a:r>
              <a:rPr lang="en-US"/>
              <a:t>“As a user…” is almost always a cop-out</a:t>
            </a:r>
          </a:p>
          <a:p>
            <a:r>
              <a:rPr lang="en-US"/>
              <a:t>The person is not you!</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a specific benefit</a:t>
            </a:r>
          </a:p>
          <a:p>
            <a:pPr lvl="1"/>
            <a:r>
              <a:rPr lang="en-US" dirty="0"/>
              <a:t>Because we’re building software, this is usually a benefit we can provide by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a:t>
            </a:r>
          </a:p>
          <a:p>
            <a:pPr lvl="1"/>
            <a:r>
              <a:rPr lang="en-US" dirty="0"/>
              <a:t>“As a College Administrator, I want a web application that does &lt;this&gt; and &lt;that&gt; so that I can…” is not a user story!</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8</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302331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Examples: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540235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60"/>
            <a:ext cx="5668926" cy="4351338"/>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pPr lvl="1"/>
            <a:endParaRPr lang="en-US" dirty="0"/>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12</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a:t>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200" y="1500160"/>
            <a:ext cx="7887346" cy="4351338"/>
          </a:xfrm>
        </p:spPr>
        <p:txBody>
          <a:bodyPr/>
          <a:lstStyle/>
          <a:p>
            <a:r>
              <a:rPr lang="en-US"/>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60"/>
            <a:ext cx="7887346" cy="4351338"/>
          </a:xfrm>
        </p:spPr>
        <p:txBody>
          <a:bodyPr>
            <a:normAutofit/>
          </a:bodyPr>
          <a:lstStyle/>
          <a:p>
            <a:r>
              <a:rPr lang="en-US" dirty="0"/>
              <a:t>1.1 I should be able to report the location of a pothole to the system (E)</a:t>
            </a:r>
          </a:p>
          <a:p>
            <a:r>
              <a:rPr lang="en-US" dirty="0"/>
              <a:t>1.2 I should be able to see whether the pothole I report has been repaired (E)</a:t>
            </a:r>
          </a:p>
          <a:p>
            <a:r>
              <a:rPr lang="en-US"/>
              <a:t>1.3 I should be able to see whether others have reported potholes near me (D)</a:t>
            </a:r>
          </a:p>
          <a:p>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7887346" cy="4351338"/>
          </a:xfrm>
        </p:spPr>
        <p:txBody>
          <a:bodyPr/>
          <a:lstStyle/>
          <a:p>
            <a:r>
              <a:rPr lang="en-US"/>
              <a:t>As a pothole-repair-truck driver, I want the system to display the potholes I should be working on today. (E)</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200" y="1500160"/>
            <a:ext cx="7887346" cy="4351338"/>
          </a:xfrm>
        </p:spPr>
        <p:txBody>
          <a:bodyPr>
            <a:normAutofit/>
          </a:bodyPr>
          <a:lstStyle/>
          <a:p>
            <a:r>
              <a:rPr lang="en-US"/>
              <a:t>2.1 I should be able to see my list of potholes for today (E)</a:t>
            </a:r>
          </a:p>
          <a:p>
            <a:r>
              <a:rPr lang="en-US"/>
              <a:t>2.2 I should be able to report that I repaired a given pothole (E)</a:t>
            </a:r>
          </a:p>
          <a:p>
            <a:r>
              <a:rPr lang="en-US"/>
              <a:t>2.3 I should be able to report that I was unable to repair a given pothole, and to supply a reason (E)</a:t>
            </a:r>
          </a:p>
          <a:p>
            <a:r>
              <a:rPr lang="en-US"/>
              <a:t>2.4 My daily list of potholes should be listed in an order that cuts down the time I spend driving from job to job (D)</a:t>
            </a:r>
          </a:p>
          <a:p>
            <a:endParaRPr lang="en-US"/>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7887346" cy="4351338"/>
          </a:xfrm>
        </p:spPr>
        <p:txBody>
          <a:bodyPr/>
          <a:lstStyle/>
          <a:p>
            <a:r>
              <a:rPr lang="en-US"/>
              <a:t>As a maintenance supervisor, I want to be able to control the order in which potholes are repaired (D?)</a:t>
            </a:r>
          </a:p>
          <a:p>
            <a:endParaRPr lang="en-US"/>
          </a:p>
          <a:p>
            <a:endParaRPr lang="en-US"/>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200" y="1500160"/>
            <a:ext cx="7887346" cy="4351338"/>
          </a:xfrm>
        </p:spPr>
        <p:txBody>
          <a:bodyPr>
            <a:normAutofit/>
          </a:bodyPr>
          <a:lstStyle/>
          <a:p>
            <a:r>
              <a:rPr lang="en-US"/>
              <a:t>3.1 I should be able to give a higher priority to potholes on a particular street (E)</a:t>
            </a:r>
          </a:p>
          <a:p>
            <a:r>
              <a:rPr lang="en-US"/>
              <a:t>3.2 I should be able to give a higher priority potholes in a particular neighborhood (E)</a:t>
            </a:r>
          </a:p>
          <a:p>
            <a:r>
              <a:rPr lang="en-US"/>
              <a:t>3.3 I should be able to see on a map where there are a lot of potholes (D)</a:t>
            </a:r>
          </a:p>
          <a:p>
            <a:r>
              <a:rPr lang="en-US"/>
              <a:t>3.4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21</a:t>
            </a:fld>
            <a:endParaRPr lang="en-US"/>
          </a:p>
        </p:txBody>
      </p:sp>
    </p:spTree>
    <p:extLst>
      <p:ext uri="{BB962C8B-B14F-4D97-AF65-F5344CB8AC3E}">
        <p14:creationId xmlns:p14="http://schemas.microsoft.com/office/powerpoint/2010/main" val="14671865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14407</TotalTime>
  <Words>2347</Words>
  <Application>Microsoft Macintosh PowerPoint</Application>
  <PresentationFormat>Widescreen</PresentationFormat>
  <Paragraphs>179</Paragraphs>
  <Slides>21</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Ink Free</vt:lpstr>
      <vt:lpstr>Arial</vt:lpstr>
      <vt:lpstr>Verdana</vt:lpstr>
      <vt:lpstr>Calibri</vt:lpstr>
      <vt:lpstr>Helvetica Neue</vt:lpstr>
      <vt:lpstr>Office Theme</vt:lpstr>
      <vt:lpstr>CS 4530: Fundamentals of Software Engineering Module 1.2: User Stories</vt:lpstr>
      <vt:lpstr>What are user stories?</vt:lpstr>
      <vt:lpstr>Where do user stories fit in?</vt:lpstr>
      <vt:lpstr>Learning Goals for this Lesson</vt:lpstr>
      <vt:lpstr>Components of a user story</vt:lpstr>
      <vt:lpstr>Roles: “who”</vt:lpstr>
      <vt:lpstr>Capabilities: “what”</vt:lpstr>
      <vt:lpstr>Capabilities: “what”</vt:lpstr>
      <vt:lpstr>Benefit: “why?”</vt:lpstr>
      <vt:lpstr>Properties of a good user story</vt:lpstr>
      <vt:lpstr>Examples:</vt:lpstr>
      <vt:lpstr>Conditions of Satisfaction fill in details of the desired behavior</vt:lpstr>
      <vt:lpstr>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Minimum Viable Product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478</cp:revision>
  <cp:lastPrinted>2025-08-26T18:49:02Z</cp:lastPrinted>
  <dcterms:created xsi:type="dcterms:W3CDTF">2021-01-07T15:19:22Z</dcterms:created>
  <dcterms:modified xsi:type="dcterms:W3CDTF">2025-12-18T00:37:15Z</dcterms:modified>
</cp:coreProperties>
</file>