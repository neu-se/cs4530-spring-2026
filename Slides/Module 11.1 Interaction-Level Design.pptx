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9"/>
  </p:notesMasterIdLst>
  <p:sldIdLst>
    <p:sldId id="485" r:id="rId2"/>
    <p:sldId id="773" r:id="rId3"/>
    <p:sldId id="541" r:id="rId4"/>
    <p:sldId id="496" r:id="rId5"/>
    <p:sldId id="500" r:id="rId6"/>
    <p:sldId id="498" r:id="rId7"/>
    <p:sldId id="499" r:id="rId8"/>
    <p:sldId id="457" r:id="rId9"/>
    <p:sldId id="714" r:id="rId10"/>
    <p:sldId id="715" r:id="rId11"/>
    <p:sldId id="527" r:id="rId12"/>
    <p:sldId id="458" r:id="rId13"/>
    <p:sldId id="514" r:id="rId14"/>
    <p:sldId id="528" r:id="rId15"/>
    <p:sldId id="435" r:id="rId16"/>
    <p:sldId id="501" r:id="rId17"/>
    <p:sldId id="716" r:id="rId18"/>
    <p:sldId id="717" r:id="rId19"/>
    <p:sldId id="507" r:id="rId20"/>
    <p:sldId id="529" r:id="rId21"/>
    <p:sldId id="771" r:id="rId22"/>
    <p:sldId id="772" r:id="rId23"/>
    <p:sldId id="451" r:id="rId24"/>
    <p:sldId id="516" r:id="rId25"/>
    <p:sldId id="705" r:id="rId26"/>
    <p:sldId id="706" r:id="rId27"/>
    <p:sldId id="523" r:id="rId28"/>
    <p:sldId id="533" r:id="rId29"/>
    <p:sldId id="712" r:id="rId30"/>
    <p:sldId id="511" r:id="rId31"/>
    <p:sldId id="709" r:id="rId32"/>
    <p:sldId id="713" r:id="rId33"/>
    <p:sldId id="456" r:id="rId34"/>
    <p:sldId id="774" r:id="rId35"/>
    <p:sldId id="471" r:id="rId36"/>
    <p:sldId id="775" r:id="rId37"/>
    <p:sldId id="710" r:id="rId38"/>
  </p:sldIdLst>
  <p:sldSz cx="12192000" cy="6858000"/>
  <p:notesSz cx="6858000" cy="9144000"/>
  <p:embeddedFontLst>
    <p:embeddedFont>
      <p:font typeface="Consolas" panose="020B0609020204030204" pitchFamily="49" charset="0"/>
      <p:regular r:id="rId40"/>
      <p:bold r:id="rId41"/>
      <p:italic r:id="rId42"/>
      <p:boldItalic r:id="rId43"/>
    </p:embeddedFont>
    <p:embeddedFont>
      <p:font typeface="Ink Free" panose="03080402000500000000" pitchFamily="66" charset="0"/>
      <p:regular r:id="rId44"/>
    </p:embeddedFont>
    <p:embeddedFont>
      <p:font typeface="Verdana" panose="020B0604030504040204" pitchFamily="34" charset="0"/>
      <p:regular r:id="rId45"/>
      <p:bold r:id="rId46"/>
      <p:italic r:id="rId47"/>
      <p:boldItalic r:id="rId4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Interaction Scale" id="{574FCA2E-624B-445D-BF60-769BEA85A615}">
          <p14:sldIdLst>
            <p14:sldId id="485"/>
            <p14:sldId id="773"/>
            <p14:sldId id="541"/>
            <p14:sldId id="496"/>
            <p14:sldId id="500"/>
            <p14:sldId id="498"/>
            <p14:sldId id="499"/>
            <p14:sldId id="457"/>
            <p14:sldId id="714"/>
            <p14:sldId id="715"/>
            <p14:sldId id="527"/>
            <p14:sldId id="458"/>
            <p14:sldId id="514"/>
            <p14:sldId id="528"/>
            <p14:sldId id="435"/>
            <p14:sldId id="501"/>
            <p14:sldId id="716"/>
            <p14:sldId id="717"/>
            <p14:sldId id="507"/>
            <p14:sldId id="529"/>
            <p14:sldId id="771"/>
            <p14:sldId id="772"/>
            <p14:sldId id="451"/>
            <p14:sldId id="516"/>
            <p14:sldId id="705"/>
            <p14:sldId id="706"/>
            <p14:sldId id="523"/>
            <p14:sldId id="533"/>
            <p14:sldId id="712"/>
            <p14:sldId id="511"/>
            <p14:sldId id="709"/>
            <p14:sldId id="713"/>
            <p14:sldId id="456"/>
            <p14:sldId id="774"/>
            <p14:sldId id="471"/>
            <p14:sldId id="775"/>
            <p14:sldId id="7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7F99"/>
    <a:srgbClr val="0B8658"/>
    <a:srgbClr val="0000FF"/>
    <a:srgbClr val="AF00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57" autoAdjust="0"/>
    <p:restoredTop sz="79221" autoAdjust="0"/>
  </p:normalViewPr>
  <p:slideViewPr>
    <p:cSldViewPr snapToGrid="0">
      <p:cViewPr>
        <p:scale>
          <a:sx n="99" d="100"/>
          <a:sy n="99" d="100"/>
        </p:scale>
        <p:origin x="1152" y="1288"/>
      </p:cViewPr>
      <p:guideLst>
        <p:guide orient="horz" pos="151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-124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BF1F72-D5C6-45C1-8861-C60BF5F24714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997C9A2-714F-40F1-A449-E3B567BF2191}">
      <dgm:prSet custT="1"/>
      <dgm:spPr/>
      <dgm:t>
        <a:bodyPr/>
        <a:lstStyle/>
        <a:p>
          <a:r>
            <a:rPr lang="en-US" sz="2400" dirty="0"/>
            <a:t>The Structural Scale</a:t>
          </a:r>
        </a:p>
      </dgm:t>
    </dgm:pt>
    <dgm:pt modelId="{BA698C14-60FB-412B-AEAE-731859E29542}" type="parTrans" cxnId="{2075DAD4-179E-4962-A3A4-8AF294EC5EA6}">
      <dgm:prSet/>
      <dgm:spPr/>
      <dgm:t>
        <a:bodyPr/>
        <a:lstStyle/>
        <a:p>
          <a:endParaRPr lang="en-US" sz="2400"/>
        </a:p>
      </dgm:t>
    </dgm:pt>
    <dgm:pt modelId="{422E5A6E-833A-4E82-AE6D-14E4A987983A}" type="sibTrans" cxnId="{2075DAD4-179E-4962-A3A4-8AF294EC5EA6}">
      <dgm:prSet/>
      <dgm:spPr/>
      <dgm:t>
        <a:bodyPr/>
        <a:lstStyle/>
        <a:p>
          <a:endParaRPr lang="en-US" sz="2400"/>
        </a:p>
      </dgm:t>
    </dgm:pt>
    <dgm:pt modelId="{B0F8E3E1-1A0E-460F-8AAF-64338F4B4FD6}">
      <dgm:prSet custT="1"/>
      <dgm:spPr/>
      <dgm:t>
        <a:bodyPr/>
        <a:lstStyle/>
        <a:p>
          <a:r>
            <a:rPr lang="en-US" sz="2400" dirty="0"/>
            <a:t>key questions: what are the pieces? how do they fit together to form a coherent whole?</a:t>
          </a:r>
        </a:p>
      </dgm:t>
    </dgm:pt>
    <dgm:pt modelId="{EEE8EA9A-411A-491E-84CA-6BA517715CEC}" type="parTrans" cxnId="{110FBA75-72E0-409F-B4C9-470BE287D593}">
      <dgm:prSet/>
      <dgm:spPr/>
      <dgm:t>
        <a:bodyPr/>
        <a:lstStyle/>
        <a:p>
          <a:endParaRPr lang="en-US" sz="2400"/>
        </a:p>
      </dgm:t>
    </dgm:pt>
    <dgm:pt modelId="{5A230061-F20B-47A7-95D3-A494EBECEA98}" type="sibTrans" cxnId="{110FBA75-72E0-409F-B4C9-470BE287D593}">
      <dgm:prSet/>
      <dgm:spPr/>
      <dgm:t>
        <a:bodyPr/>
        <a:lstStyle/>
        <a:p>
          <a:endParaRPr lang="en-US" sz="2400"/>
        </a:p>
      </dgm:t>
    </dgm:pt>
    <dgm:pt modelId="{039B0968-54C3-43D9-AE1B-2E3AC07C27AD}">
      <dgm:prSet custT="1"/>
      <dgm:spPr/>
      <dgm:t>
        <a:bodyPr/>
        <a:lstStyle/>
        <a:p>
          <a:r>
            <a:rPr lang="en-US" sz="2400" dirty="0"/>
            <a:t>The Interaction Scale</a:t>
          </a:r>
        </a:p>
      </dgm:t>
    </dgm:pt>
    <dgm:pt modelId="{723301F6-EFFE-4D7B-9CF2-4318A56ECE12}" type="parTrans" cxnId="{BCE89210-284B-4F70-A369-5A242DBD0592}">
      <dgm:prSet/>
      <dgm:spPr/>
      <dgm:t>
        <a:bodyPr/>
        <a:lstStyle/>
        <a:p>
          <a:endParaRPr lang="en-US" sz="2400"/>
        </a:p>
      </dgm:t>
    </dgm:pt>
    <dgm:pt modelId="{6A5712B8-688E-4DCA-B67B-72AC37CCABC7}" type="sibTrans" cxnId="{BCE89210-284B-4F70-A369-5A242DBD0592}">
      <dgm:prSet/>
      <dgm:spPr/>
      <dgm:t>
        <a:bodyPr/>
        <a:lstStyle/>
        <a:p>
          <a:endParaRPr lang="en-US" sz="2400"/>
        </a:p>
      </dgm:t>
    </dgm:pt>
    <dgm:pt modelId="{09F6E43F-326A-4A31-8B24-D1AB47D1B06D}">
      <dgm:prSet custT="1"/>
      <dgm:spPr/>
      <dgm:t>
        <a:bodyPr/>
        <a:lstStyle/>
        <a:p>
          <a:r>
            <a:rPr lang="en-US" sz="2400"/>
            <a:t>key questions: how do the pieces interact? how are they related?</a:t>
          </a:r>
        </a:p>
      </dgm:t>
    </dgm:pt>
    <dgm:pt modelId="{856A42FA-8545-4DB2-AACD-50ED5C4BFAA8}" type="parTrans" cxnId="{0AAF3186-1AF3-471C-877F-3E28FE723B8E}">
      <dgm:prSet/>
      <dgm:spPr/>
      <dgm:t>
        <a:bodyPr/>
        <a:lstStyle/>
        <a:p>
          <a:endParaRPr lang="en-US" sz="2400"/>
        </a:p>
      </dgm:t>
    </dgm:pt>
    <dgm:pt modelId="{781215CD-EA2E-4807-B623-5F5774866BE2}" type="sibTrans" cxnId="{0AAF3186-1AF3-471C-877F-3E28FE723B8E}">
      <dgm:prSet/>
      <dgm:spPr/>
      <dgm:t>
        <a:bodyPr/>
        <a:lstStyle/>
        <a:p>
          <a:endParaRPr lang="en-US" sz="2400"/>
        </a:p>
      </dgm:t>
    </dgm:pt>
    <dgm:pt modelId="{50A5330E-7DD1-478A-B165-0DCE625AF6CF}">
      <dgm:prSet custT="1"/>
      <dgm:spPr/>
      <dgm:t>
        <a:bodyPr/>
        <a:lstStyle/>
        <a:p>
          <a:r>
            <a:rPr lang="en-US" sz="2400" dirty="0"/>
            <a:t>The Code Scale</a:t>
          </a:r>
        </a:p>
      </dgm:t>
    </dgm:pt>
    <dgm:pt modelId="{591C638D-F63E-45B1-A615-D76CC647E053}" type="parTrans" cxnId="{884F0D94-B0D3-42D2-91B1-8DAC601919F5}">
      <dgm:prSet/>
      <dgm:spPr/>
      <dgm:t>
        <a:bodyPr/>
        <a:lstStyle/>
        <a:p>
          <a:endParaRPr lang="en-US" sz="2400"/>
        </a:p>
      </dgm:t>
    </dgm:pt>
    <dgm:pt modelId="{43538A64-B372-4F01-8018-1ABFAEFB32A9}" type="sibTrans" cxnId="{884F0D94-B0D3-42D2-91B1-8DAC601919F5}">
      <dgm:prSet/>
      <dgm:spPr/>
      <dgm:t>
        <a:bodyPr/>
        <a:lstStyle/>
        <a:p>
          <a:endParaRPr lang="en-US" sz="2400"/>
        </a:p>
      </dgm:t>
    </dgm:pt>
    <dgm:pt modelId="{59922340-1B1E-4188-AF21-455A9791F1CB}">
      <dgm:prSet custT="1"/>
      <dgm:spPr/>
      <dgm:t>
        <a:bodyPr/>
        <a:lstStyle/>
        <a:p>
          <a:r>
            <a:rPr lang="en-US" sz="2400" dirty="0"/>
            <a:t>key question: how can I make the actual code easy to test, understand, and modify?</a:t>
          </a:r>
        </a:p>
      </dgm:t>
    </dgm:pt>
    <dgm:pt modelId="{F387A055-1625-443A-9A9F-6F74B22C4CBB}" type="parTrans" cxnId="{6E3E67EF-19DF-42B5-8F99-A9DCFB288705}">
      <dgm:prSet/>
      <dgm:spPr/>
      <dgm:t>
        <a:bodyPr/>
        <a:lstStyle/>
        <a:p>
          <a:endParaRPr lang="en-US" sz="2400"/>
        </a:p>
      </dgm:t>
    </dgm:pt>
    <dgm:pt modelId="{80093C4C-4F6E-43BA-AFAD-4FD03F5834BB}" type="sibTrans" cxnId="{6E3E67EF-19DF-42B5-8F99-A9DCFB288705}">
      <dgm:prSet/>
      <dgm:spPr/>
      <dgm:t>
        <a:bodyPr/>
        <a:lstStyle/>
        <a:p>
          <a:endParaRPr lang="en-US" sz="2400"/>
        </a:p>
      </dgm:t>
    </dgm:pt>
    <dgm:pt modelId="{9297A8EA-EDBF-4876-934C-BD09FBE3EAE8}" type="pres">
      <dgm:prSet presAssocID="{DDBF1F72-D5C6-45C1-8861-C60BF5F24714}" presName="linear" presStyleCnt="0">
        <dgm:presLayoutVars>
          <dgm:dir/>
          <dgm:animLvl val="lvl"/>
          <dgm:resizeHandles val="exact"/>
        </dgm:presLayoutVars>
      </dgm:prSet>
      <dgm:spPr/>
    </dgm:pt>
    <dgm:pt modelId="{D03D9693-B636-4256-8302-E48214907012}" type="pres">
      <dgm:prSet presAssocID="{E997C9A2-714F-40F1-A449-E3B567BF2191}" presName="parentLin" presStyleCnt="0"/>
      <dgm:spPr/>
    </dgm:pt>
    <dgm:pt modelId="{F9AADC45-FE44-4219-B108-D2AE3D8E173B}" type="pres">
      <dgm:prSet presAssocID="{E997C9A2-714F-40F1-A449-E3B567BF2191}" presName="parentLeftMargin" presStyleLbl="node1" presStyleIdx="0" presStyleCnt="3"/>
      <dgm:spPr/>
    </dgm:pt>
    <dgm:pt modelId="{43D2748E-F233-4117-A263-D994A3D777A0}" type="pres">
      <dgm:prSet presAssocID="{E997C9A2-714F-40F1-A449-E3B567BF2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5AB6A0D-CA8F-4833-9E04-B3504D8AE5BA}" type="pres">
      <dgm:prSet presAssocID="{E997C9A2-714F-40F1-A449-E3B567BF2191}" presName="negativeSpace" presStyleCnt="0"/>
      <dgm:spPr/>
    </dgm:pt>
    <dgm:pt modelId="{766C274E-0DCD-4D35-A637-3B7C31718B43}" type="pres">
      <dgm:prSet presAssocID="{E997C9A2-714F-40F1-A449-E3B567BF2191}" presName="childText" presStyleLbl="conFgAcc1" presStyleIdx="0" presStyleCnt="3">
        <dgm:presLayoutVars>
          <dgm:bulletEnabled val="1"/>
        </dgm:presLayoutVars>
      </dgm:prSet>
      <dgm:spPr/>
    </dgm:pt>
    <dgm:pt modelId="{AA447152-ACAC-4163-8BAB-AC05B811D065}" type="pres">
      <dgm:prSet presAssocID="{422E5A6E-833A-4E82-AE6D-14E4A987983A}" presName="spaceBetweenRectangles" presStyleCnt="0"/>
      <dgm:spPr/>
    </dgm:pt>
    <dgm:pt modelId="{F93080E5-07C3-43D8-B00B-16C7DAA7B786}" type="pres">
      <dgm:prSet presAssocID="{039B0968-54C3-43D9-AE1B-2E3AC07C27AD}" presName="parentLin" presStyleCnt="0"/>
      <dgm:spPr/>
    </dgm:pt>
    <dgm:pt modelId="{21FE5E6B-A9D8-4FEE-A374-A6805A219E77}" type="pres">
      <dgm:prSet presAssocID="{039B0968-54C3-43D9-AE1B-2E3AC07C27AD}" presName="parentLeftMargin" presStyleLbl="node1" presStyleIdx="0" presStyleCnt="3"/>
      <dgm:spPr/>
    </dgm:pt>
    <dgm:pt modelId="{5DA3FF59-85F1-4735-B3A9-18751F101F6E}" type="pres">
      <dgm:prSet presAssocID="{039B0968-54C3-43D9-AE1B-2E3AC07C27A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2B9FD75-A93D-4DD6-9443-3E2DA3E8CB29}" type="pres">
      <dgm:prSet presAssocID="{039B0968-54C3-43D9-AE1B-2E3AC07C27AD}" presName="negativeSpace" presStyleCnt="0"/>
      <dgm:spPr/>
    </dgm:pt>
    <dgm:pt modelId="{0D116FDA-C199-4724-BDFF-B6B6DD9C39F4}" type="pres">
      <dgm:prSet presAssocID="{039B0968-54C3-43D9-AE1B-2E3AC07C27AD}" presName="childText" presStyleLbl="conFgAcc1" presStyleIdx="1" presStyleCnt="3" custScaleX="100000">
        <dgm:presLayoutVars>
          <dgm:bulletEnabled val="1"/>
        </dgm:presLayoutVars>
      </dgm:prSet>
      <dgm:spPr/>
    </dgm:pt>
    <dgm:pt modelId="{611A4537-2325-423B-8AB3-12304A086352}" type="pres">
      <dgm:prSet presAssocID="{6A5712B8-688E-4DCA-B67B-72AC37CCABC7}" presName="spaceBetweenRectangles" presStyleCnt="0"/>
      <dgm:spPr/>
    </dgm:pt>
    <dgm:pt modelId="{6D33FFAF-C011-460D-9D3A-77BD73B8DFD6}" type="pres">
      <dgm:prSet presAssocID="{50A5330E-7DD1-478A-B165-0DCE625AF6CF}" presName="parentLin" presStyleCnt="0"/>
      <dgm:spPr/>
    </dgm:pt>
    <dgm:pt modelId="{AD6E4FFD-51E2-4D96-B11B-E0830BF5D494}" type="pres">
      <dgm:prSet presAssocID="{50A5330E-7DD1-478A-B165-0DCE625AF6CF}" presName="parentLeftMargin" presStyleLbl="node1" presStyleIdx="1" presStyleCnt="3"/>
      <dgm:spPr/>
    </dgm:pt>
    <dgm:pt modelId="{22921543-69A4-4F5E-BB18-7A033233EAEB}" type="pres">
      <dgm:prSet presAssocID="{50A5330E-7DD1-478A-B165-0DCE625AF6C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9AB8D06-BF35-4639-85E1-F15A5DBEF129}" type="pres">
      <dgm:prSet presAssocID="{50A5330E-7DD1-478A-B165-0DCE625AF6CF}" presName="negativeSpace" presStyleCnt="0"/>
      <dgm:spPr/>
    </dgm:pt>
    <dgm:pt modelId="{A19FAB4D-117A-4965-8A0A-D6E6E7E1F541}" type="pres">
      <dgm:prSet presAssocID="{50A5330E-7DD1-478A-B165-0DCE625AF6C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09E500-AE07-4957-B752-ED34A65CBE83}" type="presOf" srcId="{09F6E43F-326A-4A31-8B24-D1AB47D1B06D}" destId="{0D116FDA-C199-4724-BDFF-B6B6DD9C39F4}" srcOrd="0" destOrd="0" presId="urn:microsoft.com/office/officeart/2005/8/layout/list1"/>
    <dgm:cxn modelId="{BCE89210-284B-4F70-A369-5A242DBD0592}" srcId="{DDBF1F72-D5C6-45C1-8861-C60BF5F24714}" destId="{039B0968-54C3-43D9-AE1B-2E3AC07C27AD}" srcOrd="1" destOrd="0" parTransId="{723301F6-EFFE-4D7B-9CF2-4318A56ECE12}" sibTransId="{6A5712B8-688E-4DCA-B67B-72AC37CCABC7}"/>
    <dgm:cxn modelId="{8597131C-6FED-4BF4-A1CA-E891C66D69EB}" type="presOf" srcId="{039B0968-54C3-43D9-AE1B-2E3AC07C27AD}" destId="{5DA3FF59-85F1-4735-B3A9-18751F101F6E}" srcOrd="1" destOrd="0" presId="urn:microsoft.com/office/officeart/2005/8/layout/list1"/>
    <dgm:cxn modelId="{D1ACD242-53AC-48B3-9F94-02F3C4DFD8FE}" type="presOf" srcId="{E997C9A2-714F-40F1-A449-E3B567BF2191}" destId="{43D2748E-F233-4117-A263-D994A3D777A0}" srcOrd="1" destOrd="0" presId="urn:microsoft.com/office/officeart/2005/8/layout/list1"/>
    <dgm:cxn modelId="{E328FB6B-1AFC-4766-8E7E-E588B84987B3}" type="presOf" srcId="{50A5330E-7DD1-478A-B165-0DCE625AF6CF}" destId="{AD6E4FFD-51E2-4D96-B11B-E0830BF5D494}" srcOrd="0" destOrd="0" presId="urn:microsoft.com/office/officeart/2005/8/layout/list1"/>
    <dgm:cxn modelId="{110FBA75-72E0-409F-B4C9-470BE287D593}" srcId="{E997C9A2-714F-40F1-A449-E3B567BF2191}" destId="{B0F8E3E1-1A0E-460F-8AAF-64338F4B4FD6}" srcOrd="0" destOrd="0" parTransId="{EEE8EA9A-411A-491E-84CA-6BA517715CEC}" sibTransId="{5A230061-F20B-47A7-95D3-A494EBECEA98}"/>
    <dgm:cxn modelId="{0AAF3186-1AF3-471C-877F-3E28FE723B8E}" srcId="{039B0968-54C3-43D9-AE1B-2E3AC07C27AD}" destId="{09F6E43F-326A-4A31-8B24-D1AB47D1B06D}" srcOrd="0" destOrd="0" parTransId="{856A42FA-8545-4DB2-AACD-50ED5C4BFAA8}" sibTransId="{781215CD-EA2E-4807-B623-5F5774866BE2}"/>
    <dgm:cxn modelId="{884F0D94-B0D3-42D2-91B1-8DAC601919F5}" srcId="{DDBF1F72-D5C6-45C1-8861-C60BF5F24714}" destId="{50A5330E-7DD1-478A-B165-0DCE625AF6CF}" srcOrd="2" destOrd="0" parTransId="{591C638D-F63E-45B1-A615-D76CC647E053}" sibTransId="{43538A64-B372-4F01-8018-1ABFAEFB32A9}"/>
    <dgm:cxn modelId="{D700F5B3-132F-4121-A8A3-C386328B5ED6}" type="presOf" srcId="{039B0968-54C3-43D9-AE1B-2E3AC07C27AD}" destId="{21FE5E6B-A9D8-4FEE-A374-A6805A219E77}" srcOrd="0" destOrd="0" presId="urn:microsoft.com/office/officeart/2005/8/layout/list1"/>
    <dgm:cxn modelId="{60296CB4-AA24-4474-9767-5C6E5CB9A0DF}" type="presOf" srcId="{B0F8E3E1-1A0E-460F-8AAF-64338F4B4FD6}" destId="{766C274E-0DCD-4D35-A637-3B7C31718B43}" srcOrd="0" destOrd="0" presId="urn:microsoft.com/office/officeart/2005/8/layout/list1"/>
    <dgm:cxn modelId="{2075DAD4-179E-4962-A3A4-8AF294EC5EA6}" srcId="{DDBF1F72-D5C6-45C1-8861-C60BF5F24714}" destId="{E997C9A2-714F-40F1-A449-E3B567BF2191}" srcOrd="0" destOrd="0" parTransId="{BA698C14-60FB-412B-AEAE-731859E29542}" sibTransId="{422E5A6E-833A-4E82-AE6D-14E4A987983A}"/>
    <dgm:cxn modelId="{43B651D9-5097-4B0E-896A-DD51B85C54CF}" type="presOf" srcId="{E997C9A2-714F-40F1-A449-E3B567BF2191}" destId="{F9AADC45-FE44-4219-B108-D2AE3D8E173B}" srcOrd="0" destOrd="0" presId="urn:microsoft.com/office/officeart/2005/8/layout/list1"/>
    <dgm:cxn modelId="{D9BDABDB-507D-4BC6-A62C-9E2953A92B05}" type="presOf" srcId="{59922340-1B1E-4188-AF21-455A9791F1CB}" destId="{A19FAB4D-117A-4965-8A0A-D6E6E7E1F541}" srcOrd="0" destOrd="0" presId="urn:microsoft.com/office/officeart/2005/8/layout/list1"/>
    <dgm:cxn modelId="{D4A0F8EA-463C-4DD5-8943-B16845E58816}" type="presOf" srcId="{50A5330E-7DD1-478A-B165-0DCE625AF6CF}" destId="{22921543-69A4-4F5E-BB18-7A033233EAEB}" srcOrd="1" destOrd="0" presId="urn:microsoft.com/office/officeart/2005/8/layout/list1"/>
    <dgm:cxn modelId="{6E3E67EF-19DF-42B5-8F99-A9DCFB288705}" srcId="{50A5330E-7DD1-478A-B165-0DCE625AF6CF}" destId="{59922340-1B1E-4188-AF21-455A9791F1CB}" srcOrd="0" destOrd="0" parTransId="{F387A055-1625-443A-9A9F-6F74B22C4CBB}" sibTransId="{80093C4C-4F6E-43BA-AFAD-4FD03F5834BB}"/>
    <dgm:cxn modelId="{F706E7FD-2503-4EC3-9467-7B3407639FE1}" type="presOf" srcId="{DDBF1F72-D5C6-45C1-8861-C60BF5F24714}" destId="{9297A8EA-EDBF-4876-934C-BD09FBE3EAE8}" srcOrd="0" destOrd="0" presId="urn:microsoft.com/office/officeart/2005/8/layout/list1"/>
    <dgm:cxn modelId="{6BEABD16-F8DB-4BC5-9EB0-E2DDD908C950}" type="presParOf" srcId="{9297A8EA-EDBF-4876-934C-BD09FBE3EAE8}" destId="{D03D9693-B636-4256-8302-E48214907012}" srcOrd="0" destOrd="0" presId="urn:microsoft.com/office/officeart/2005/8/layout/list1"/>
    <dgm:cxn modelId="{4D03AD0A-3B08-40B3-98A3-59922C4BDAAE}" type="presParOf" srcId="{D03D9693-B636-4256-8302-E48214907012}" destId="{F9AADC45-FE44-4219-B108-D2AE3D8E173B}" srcOrd="0" destOrd="0" presId="urn:microsoft.com/office/officeart/2005/8/layout/list1"/>
    <dgm:cxn modelId="{B5F4258D-4A4A-4BB9-8DF1-FFA9873E2C62}" type="presParOf" srcId="{D03D9693-B636-4256-8302-E48214907012}" destId="{43D2748E-F233-4117-A263-D994A3D777A0}" srcOrd="1" destOrd="0" presId="urn:microsoft.com/office/officeart/2005/8/layout/list1"/>
    <dgm:cxn modelId="{F5557E9E-D71B-4650-A06C-3A6830FB29F2}" type="presParOf" srcId="{9297A8EA-EDBF-4876-934C-BD09FBE3EAE8}" destId="{A5AB6A0D-CA8F-4833-9E04-B3504D8AE5BA}" srcOrd="1" destOrd="0" presId="urn:microsoft.com/office/officeart/2005/8/layout/list1"/>
    <dgm:cxn modelId="{31C4F58D-76CF-4495-8BB2-33906ED27663}" type="presParOf" srcId="{9297A8EA-EDBF-4876-934C-BD09FBE3EAE8}" destId="{766C274E-0DCD-4D35-A637-3B7C31718B43}" srcOrd="2" destOrd="0" presId="urn:microsoft.com/office/officeart/2005/8/layout/list1"/>
    <dgm:cxn modelId="{D00748B2-0325-46E7-94E6-235E01AF15BD}" type="presParOf" srcId="{9297A8EA-EDBF-4876-934C-BD09FBE3EAE8}" destId="{AA447152-ACAC-4163-8BAB-AC05B811D065}" srcOrd="3" destOrd="0" presId="urn:microsoft.com/office/officeart/2005/8/layout/list1"/>
    <dgm:cxn modelId="{FBE0A8A2-E349-4605-859A-C47EFF140FD0}" type="presParOf" srcId="{9297A8EA-EDBF-4876-934C-BD09FBE3EAE8}" destId="{F93080E5-07C3-43D8-B00B-16C7DAA7B786}" srcOrd="4" destOrd="0" presId="urn:microsoft.com/office/officeart/2005/8/layout/list1"/>
    <dgm:cxn modelId="{5A87BB54-D5B6-4B5F-BB46-2BC24C39908B}" type="presParOf" srcId="{F93080E5-07C3-43D8-B00B-16C7DAA7B786}" destId="{21FE5E6B-A9D8-4FEE-A374-A6805A219E77}" srcOrd="0" destOrd="0" presId="urn:microsoft.com/office/officeart/2005/8/layout/list1"/>
    <dgm:cxn modelId="{4FE43BB2-F0F6-4456-8929-FE078F4ABAFB}" type="presParOf" srcId="{F93080E5-07C3-43D8-B00B-16C7DAA7B786}" destId="{5DA3FF59-85F1-4735-B3A9-18751F101F6E}" srcOrd="1" destOrd="0" presId="urn:microsoft.com/office/officeart/2005/8/layout/list1"/>
    <dgm:cxn modelId="{5A902045-FB3A-4CF8-B5E5-BBF0F93ABAFB}" type="presParOf" srcId="{9297A8EA-EDBF-4876-934C-BD09FBE3EAE8}" destId="{22B9FD75-A93D-4DD6-9443-3E2DA3E8CB29}" srcOrd="5" destOrd="0" presId="urn:microsoft.com/office/officeart/2005/8/layout/list1"/>
    <dgm:cxn modelId="{FE12769D-941C-4652-8FC1-538DB7487AFF}" type="presParOf" srcId="{9297A8EA-EDBF-4876-934C-BD09FBE3EAE8}" destId="{0D116FDA-C199-4724-BDFF-B6B6DD9C39F4}" srcOrd="6" destOrd="0" presId="urn:microsoft.com/office/officeart/2005/8/layout/list1"/>
    <dgm:cxn modelId="{34F648A7-A291-4DB2-B8F5-AC1D04449B57}" type="presParOf" srcId="{9297A8EA-EDBF-4876-934C-BD09FBE3EAE8}" destId="{611A4537-2325-423B-8AB3-12304A086352}" srcOrd="7" destOrd="0" presId="urn:microsoft.com/office/officeart/2005/8/layout/list1"/>
    <dgm:cxn modelId="{7F8A46EB-6F9B-49E6-82AF-C25900F3AC41}" type="presParOf" srcId="{9297A8EA-EDBF-4876-934C-BD09FBE3EAE8}" destId="{6D33FFAF-C011-460D-9D3A-77BD73B8DFD6}" srcOrd="8" destOrd="0" presId="urn:microsoft.com/office/officeart/2005/8/layout/list1"/>
    <dgm:cxn modelId="{415C05E3-6BA5-4063-9913-3ECFF34D8C41}" type="presParOf" srcId="{6D33FFAF-C011-460D-9D3A-77BD73B8DFD6}" destId="{AD6E4FFD-51E2-4D96-B11B-E0830BF5D494}" srcOrd="0" destOrd="0" presId="urn:microsoft.com/office/officeart/2005/8/layout/list1"/>
    <dgm:cxn modelId="{A0E3255D-5BFA-4D05-AF63-B1D5AB073E82}" type="presParOf" srcId="{6D33FFAF-C011-460D-9D3A-77BD73B8DFD6}" destId="{22921543-69A4-4F5E-BB18-7A033233EAEB}" srcOrd="1" destOrd="0" presId="urn:microsoft.com/office/officeart/2005/8/layout/list1"/>
    <dgm:cxn modelId="{337328A1-6852-4DC7-93C0-9B359B6FF530}" type="presParOf" srcId="{9297A8EA-EDBF-4876-934C-BD09FBE3EAE8}" destId="{09AB8D06-BF35-4639-85E1-F15A5DBEF129}" srcOrd="9" destOrd="0" presId="urn:microsoft.com/office/officeart/2005/8/layout/list1"/>
    <dgm:cxn modelId="{61B22968-D0FB-44BF-A9B3-0A61BD7E1885}" type="presParOf" srcId="{9297A8EA-EDBF-4876-934C-BD09FBE3EAE8}" destId="{A19FAB4D-117A-4965-8A0A-D6E6E7E1F54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C274E-0DCD-4D35-A637-3B7C31718B43}">
      <dsp:nvSpPr>
        <dsp:cNvPr id="0" name=""/>
        <dsp:cNvSpPr/>
      </dsp:nvSpPr>
      <dsp:spPr>
        <a:xfrm>
          <a:off x="0" y="24916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questions: what are the pieces? how do they fit together to form a coherent whole?</a:t>
          </a:r>
        </a:p>
      </dsp:txBody>
      <dsp:txXfrm>
        <a:off x="0" y="249164"/>
        <a:ext cx="7886700" cy="1126125"/>
      </dsp:txXfrm>
    </dsp:sp>
    <dsp:sp modelId="{43D2748E-F233-4117-A263-D994A3D777A0}">
      <dsp:nvSpPr>
        <dsp:cNvPr id="0" name=""/>
        <dsp:cNvSpPr/>
      </dsp:nvSpPr>
      <dsp:spPr>
        <a:xfrm>
          <a:off x="394335" y="5728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Structural Scale</a:t>
          </a:r>
        </a:p>
      </dsp:txBody>
      <dsp:txXfrm>
        <a:off x="413069" y="76018"/>
        <a:ext cx="5483222" cy="346292"/>
      </dsp:txXfrm>
    </dsp:sp>
    <dsp:sp modelId="{0D116FDA-C199-4724-BDFF-B6B6DD9C39F4}">
      <dsp:nvSpPr>
        <dsp:cNvPr id="0" name=""/>
        <dsp:cNvSpPr/>
      </dsp:nvSpPr>
      <dsp:spPr>
        <a:xfrm>
          <a:off x="0" y="1637369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key questions: how do the pieces interact? how are they related?</a:t>
          </a:r>
        </a:p>
      </dsp:txBody>
      <dsp:txXfrm>
        <a:off x="0" y="1637369"/>
        <a:ext cx="7886700" cy="1126125"/>
      </dsp:txXfrm>
    </dsp:sp>
    <dsp:sp modelId="{5DA3FF59-85F1-4735-B3A9-18751F101F6E}">
      <dsp:nvSpPr>
        <dsp:cNvPr id="0" name=""/>
        <dsp:cNvSpPr/>
      </dsp:nvSpPr>
      <dsp:spPr>
        <a:xfrm>
          <a:off x="394335" y="1445489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Interaction Scale</a:t>
          </a:r>
        </a:p>
      </dsp:txBody>
      <dsp:txXfrm>
        <a:off x="413069" y="1464223"/>
        <a:ext cx="5483222" cy="346292"/>
      </dsp:txXfrm>
    </dsp:sp>
    <dsp:sp modelId="{A19FAB4D-117A-4965-8A0A-D6E6E7E1F541}">
      <dsp:nvSpPr>
        <dsp:cNvPr id="0" name=""/>
        <dsp:cNvSpPr/>
      </dsp:nvSpPr>
      <dsp:spPr>
        <a:xfrm>
          <a:off x="0" y="302557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question: how can I make the actual code easy to test, understand, and modify?</a:t>
          </a:r>
        </a:p>
      </dsp:txBody>
      <dsp:txXfrm>
        <a:off x="0" y="3025574"/>
        <a:ext cx="7886700" cy="1126125"/>
      </dsp:txXfrm>
    </dsp:sp>
    <dsp:sp modelId="{22921543-69A4-4F5E-BB18-7A033233EAEB}">
      <dsp:nvSpPr>
        <dsp:cNvPr id="0" name=""/>
        <dsp:cNvSpPr/>
      </dsp:nvSpPr>
      <dsp:spPr>
        <a:xfrm>
          <a:off x="394335" y="283369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Code Scale</a:t>
          </a:r>
        </a:p>
      </dsp:txBody>
      <dsp:txXfrm>
        <a:off x="413069" y="2852428"/>
        <a:ext cx="5483222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E5181-6CF5-45F7-A87A-E0E0B1FD7549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37F07-1250-4CCE-B198-1B2887014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70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6, the Interaction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55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0C241-5462-88A8-BAD6-F6D148C1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7D905-FA73-73E1-5BB6-A2DC7F632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EDCFF-A4FE-D4E6-AE4B-B4FA28C22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B5EB7-3583-DDC3-0F23-9DB94E0E6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198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6B659-26A4-D7B8-3AE7-617FEADC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3BC5-B298-3A04-9230-11674AD7B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FD6611-929D-65CE-6D6E-806DF493B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big picture of the course, we’ve seen this picture before we motivated code-level design principles. The main topic of that lecture was writing your code to minimize the cognitive load of understanding programs.</a:t>
            </a:r>
          </a:p>
          <a:p>
            <a:endParaRPr lang="en-US" dirty="0"/>
          </a:p>
          <a:p>
            <a:r>
              <a:rPr lang="en-US" dirty="0"/>
              <a:t>Today, we’re going to move up and talk about the interaction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002D0-83D5-0890-6F2A-AEFEB5664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8142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part of today’s lecture is a bit of a review; these are things you probably learned in OOD, and our goal is to connect them to what we’ve discussed in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695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378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a concrete example.   Here is the interface for a simple clock.  </a:t>
            </a:r>
          </a:p>
          <a:p>
            <a:endParaRPr lang="en-US" dirty="0"/>
          </a:p>
          <a:p>
            <a:r>
              <a:rPr lang="en-US" dirty="0"/>
              <a:t>It has three methods: reset, tick, and </a:t>
            </a:r>
            <a:r>
              <a:rPr lang="en-US" dirty="0" err="1"/>
              <a:t>currentTime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Note that the interface includes a description of what each method is supposed to do.  This is part of the "make your Data Mean Something" pattern we talked about last time. [ROB NOTE FOR MITCH: I’m not entirely certain what this means but I pulled it from the previous slides.]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21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39649-5E0B-A889-3495-B8BBB906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CA8A3-1F9C-2773-CE33-7D1313D2C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0AD0C-90DF-4CDE-D2D8-8622F3484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we write code that </a:t>
            </a:r>
            <a:r>
              <a:rPr lang="en-US" b="1" dirty="0"/>
              <a:t>uses</a:t>
            </a:r>
            <a:r>
              <a:rPr lang="en-US" dirty="0"/>
              <a:t> a clock, any client code — code that needs to know about the time — needs to keep track of the clock, </a:t>
            </a:r>
          </a:p>
          <a:p>
            <a:endParaRPr lang="en-US" dirty="0"/>
          </a:p>
          <a:p>
            <a:r>
              <a:rPr lang="en-US" dirty="0"/>
              <a:t>The constructor says “</a:t>
            </a:r>
            <a:r>
              <a:rPr lang="en-US" dirty="0" err="1"/>
              <a:t>theclock:IPullingClock</a:t>
            </a:r>
            <a:r>
              <a:rPr lang="en-US" dirty="0"/>
              <a:t>”, because this client depends only on the fact that ‘</a:t>
            </a:r>
            <a:r>
              <a:rPr lang="en-US" dirty="0" err="1"/>
              <a:t>theClock</a:t>
            </a:r>
            <a:r>
              <a:rPr lang="en-US" dirty="0"/>
              <a:t>’ obeys the Interface. We’re not requiring a specific clock implementation, we’re accepting anything that respects the interface.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23756-645B-5270-2B06-CCE9863C6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22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4210-B3C1-AF15-6052-47A14A7F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F65FE5-237E-F07E-F800-61F527778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B1878-436F-4949-1F7E-F7C2A76D7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a concrete example.   Here is the interface for a simple clock.  Here we've used the typescript convention to specify that 'time' is a getter.</a:t>
            </a:r>
          </a:p>
          <a:p>
            <a:endParaRPr lang="en-US" dirty="0"/>
          </a:p>
          <a:p>
            <a:r>
              <a:rPr lang="en-US" dirty="0"/>
              <a:t>It has three methods: reset, tick, and time.  Note that the interface includes a description of what each method is supposed to do.  This is part of the "make your Data Mean Something" pattern we talked about last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B8660-997C-CE79-E7BA-F750FA1BA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222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let's implement  </a:t>
            </a:r>
            <a:r>
              <a:rPr lang="en-US" dirty="0" err="1"/>
              <a:t>IClock</a:t>
            </a:r>
            <a:r>
              <a:rPr lang="en-US" dirty="0"/>
              <a:t>, and a </a:t>
            </a:r>
            <a:r>
              <a:rPr lang="en-US" dirty="0" err="1"/>
              <a:t>ClockClient</a:t>
            </a:r>
            <a:r>
              <a:rPr lang="en-US" dirty="0"/>
              <a:t> that uses it.  </a:t>
            </a:r>
            <a:r>
              <a:rPr lang="en-US" dirty="0" err="1"/>
              <a:t>SimpleClock</a:t>
            </a:r>
            <a:r>
              <a:rPr lang="en-US" dirty="0"/>
              <a:t> is the producer, and </a:t>
            </a:r>
            <a:r>
              <a:rPr lang="en-US" dirty="0" err="1"/>
              <a:t>ClockClient</a:t>
            </a:r>
            <a:r>
              <a:rPr lang="en-US" dirty="0"/>
              <a:t> is the consumer.</a:t>
            </a:r>
          </a:p>
          <a:p>
            <a:endParaRPr lang="en-US" dirty="0"/>
          </a:p>
          <a:p>
            <a:r>
              <a:rPr lang="en-US" dirty="0"/>
              <a:t>Notice that constructor says “</a:t>
            </a:r>
            <a:r>
              <a:rPr lang="en-US" dirty="0" err="1"/>
              <a:t>theclock:IClock</a:t>
            </a:r>
            <a:r>
              <a:rPr lang="en-US" dirty="0"/>
              <a:t>”, because this client depends only on the fact that ‘</a:t>
            </a:r>
            <a:r>
              <a:rPr lang="en-US" dirty="0" err="1"/>
              <a:t>theclock</a:t>
            </a:r>
            <a:r>
              <a:rPr lang="en-US" dirty="0"/>
              <a:t>’ obeys the specification of </a:t>
            </a:r>
            <a:r>
              <a:rPr lang="en-US" dirty="0" err="1"/>
              <a:t>IClock</a:t>
            </a:r>
            <a:r>
              <a:rPr lang="en-US" dirty="0"/>
              <a:t>.   If it had said "</a:t>
            </a:r>
            <a:r>
              <a:rPr lang="en-US" dirty="0" err="1"/>
              <a:t>theclock:SimpleClock</a:t>
            </a:r>
            <a:r>
              <a:rPr lang="en-US" dirty="0"/>
              <a:t>" then the compiler would reject any attempt to build a </a:t>
            </a:r>
            <a:r>
              <a:rPr lang="en-US" dirty="0" err="1"/>
              <a:t>ClockClient</a:t>
            </a:r>
            <a:r>
              <a:rPr lang="en-US" dirty="0"/>
              <a:t> using any other implementation of </a:t>
            </a:r>
            <a:r>
              <a:rPr lang="en-US" dirty="0" err="1"/>
              <a:t>IClock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70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822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there is more than one consumer, this is typically called the Observer Pattern, or the Publish-Subscribe Pattern, or the Listener Pattern.</a:t>
            </a:r>
          </a:p>
          <a:p>
            <a:endParaRPr lang="en-US" dirty="0"/>
          </a:p>
          <a:p>
            <a:r>
              <a:rPr lang="en-US" dirty="0"/>
              <a:t>&lt;read slide&gt;</a:t>
            </a:r>
          </a:p>
          <a:p>
            <a:endParaRPr lang="en-US" dirty="0"/>
          </a:p>
          <a:p>
            <a:r>
              <a:rPr lang="en-US" dirty="0"/>
              <a:t>Let’s see how this works, in more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281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an interface for a clock using the Push pattern.  </a:t>
            </a:r>
          </a:p>
          <a:p>
            <a:r>
              <a:rPr lang="en-US" dirty="0"/>
              <a:t>&lt;Go through methods&gt;</a:t>
            </a:r>
          </a:p>
          <a:p>
            <a:r>
              <a:rPr lang="en-US" dirty="0"/>
              <a:t>The description of `</a:t>
            </a:r>
            <a:r>
              <a:rPr lang="en-US" dirty="0" err="1"/>
              <a:t>addListener</a:t>
            </a:r>
            <a:r>
              <a:rPr lang="en-US" dirty="0"/>
              <a:t>` indicates an expectation that a clock may have more than one consumer or listener.</a:t>
            </a:r>
          </a:p>
          <a:p>
            <a:r>
              <a:rPr lang="en-US" dirty="0"/>
              <a:t>A more complete description might mention that the clock can handle some maximum number of consumers, but we don’t care about that here.</a:t>
            </a:r>
          </a:p>
          <a:p>
            <a:endParaRPr lang="en-US" dirty="0"/>
          </a:p>
          <a:p>
            <a:r>
              <a:rPr lang="en-US" dirty="0"/>
              <a:t>Note that we specify that the listeners/consumers/observers are notified by sending them a notify message with the current time.   If we didn’t specify this, we wouldn’t know how to write a listener.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1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AE064-9424-7B4F-CE92-AA97D64F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E964A-6713-5174-703A-460260452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3CD97-9869-CA55-2B0E-AD2E724A3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PushingClockClient has almost exactly the same interface as the </a:t>
            </a:r>
            <a:r>
              <a:rPr lang="en-US" dirty="0" err="1"/>
              <a:t>PullingClock</a:t>
            </a:r>
            <a:r>
              <a:rPr lang="en-US" dirty="0"/>
              <a:t> — the only difference constructor takes an </a:t>
            </a:r>
            <a:r>
              <a:rPr lang="en-US" dirty="0" err="1"/>
              <a:t>IPushingClock</a:t>
            </a:r>
            <a:r>
              <a:rPr lang="en-US" dirty="0"/>
              <a:t> instead of an </a:t>
            </a:r>
            <a:r>
              <a:rPr lang="en-US" dirty="0" err="1"/>
              <a:t>IPullingClock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But the implementation is quite different — the pulling clock client had hang on to the reference to the clock. The pushing clock client just hands the clock a function, which gives the pushing clock instructions on how to contact the client. After the constructor returns, the pushing clock client doesn’t have any way of contacting the pushing clock again.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D5A9-F513-B6CD-CA72-D8E3CF1B33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43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221E-B032-932B-49FF-18A76ED87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A3789-4872-0B99-00A9-57B266740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011AA-1EE6-3110-BBAF-0EB2C9C0F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of the pulling clock don’t hold on to any references to the clock — so the clock has to hold on to references to its clients. Whenever the time changes, the clock fulfills its obligation to contact all its clients.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807B9-47ED-DC3E-C2D2-DE1E162A2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4464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Here’s a side-by-side comparison of the tradeoffs.  </a:t>
            </a:r>
          </a:p>
          <a:p>
            <a:endParaRPr lang="en-US" dirty="0"/>
          </a:p>
          <a:p>
            <a:r>
              <a:rPr lang="en-US" dirty="0"/>
              <a:t>Note that if the data is changing rapidly, but the consumer only asks for it rarely, then Pull is better because it leads to less traffic. </a:t>
            </a:r>
          </a:p>
          <a:p>
            <a:r>
              <a:rPr lang="en-US" dirty="0"/>
              <a:t>Similarly, if the data is changing slowly, but the consumer needs it often, the Push is better because that leads to less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485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699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8C21D-5FCE-712A-AAC7-D84626F7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93F5C-51B8-DD1A-C4AC-15C46607B6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03BA7-34CA-B194-A397-845910860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previous slides describe a very specific instance of producer/consumer, but at this point you all have experience with several concrete example of this patterns.</a:t>
            </a:r>
          </a:p>
          <a:p>
            <a:endParaRPr lang="en-US" dirty="0"/>
          </a:p>
          <a:p>
            <a:r>
              <a:rPr lang="en-US" dirty="0"/>
              <a:t>HTTP and </a:t>
            </a:r>
            <a:r>
              <a:rPr lang="en-US" dirty="0" err="1"/>
              <a:t>WebSockets</a:t>
            </a:r>
            <a:r>
              <a:rPr lang="en-US" dirty="0"/>
              <a:t> are large-scale examples of the push and pull pattern being used for communication between these systems: HTTP uses the pull pattern, and </a:t>
            </a:r>
            <a:r>
              <a:rPr lang="en-US" dirty="0" err="1"/>
              <a:t>websockets</a:t>
            </a:r>
            <a:r>
              <a:rPr lang="en-US" dirty="0"/>
              <a:t> allows for updates to be pushed to multiple clients.</a:t>
            </a:r>
          </a:p>
        </p:txBody>
      </p:sp>
    </p:spTree>
    <p:extLst>
      <p:ext uri="{BB962C8B-B14F-4D97-AF65-F5344CB8AC3E}">
        <p14:creationId xmlns:p14="http://schemas.microsoft.com/office/powerpoint/2010/main" val="22899491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8A9D7-1F5A-F397-C3B6-5654D3BF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BA58C-538B-16D2-41C6-BBB626B3F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87749-1A1D-478A-82E3-65256B44E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you create a button with an `</a:t>
            </a:r>
            <a:r>
              <a:rPr lang="en-US" dirty="0" err="1"/>
              <a:t>onClick</a:t>
            </a:r>
            <a:r>
              <a:rPr lang="en-US" dirty="0"/>
              <a:t>` handler, what is acting as the producer, and what is acting as the consumer?</a:t>
            </a:r>
          </a:p>
          <a:p>
            <a:endParaRPr lang="en-US" dirty="0"/>
          </a:p>
          <a:p>
            <a:r>
              <a:rPr lang="en-US" dirty="0"/>
              <a:t>(click to reveal)</a:t>
            </a:r>
          </a:p>
        </p:txBody>
      </p:sp>
    </p:spTree>
    <p:extLst>
      <p:ext uri="{BB962C8B-B14F-4D97-AF65-F5344CB8AC3E}">
        <p14:creationId xmlns:p14="http://schemas.microsoft.com/office/powerpoint/2010/main" val="11354492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lots of details and variations to work out here.  &lt;read slide&gt; It all depends on the application in which we are using the pattern.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2858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  <a:p>
            <a:r>
              <a:rPr lang="en-US" dirty="0"/>
              <a:t>In this situation, the typed-emitter pattern might be useful.  This pattern shows how to use the typed-emitter package in 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762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922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 emitters come in many shapes and forms. Here is a typical emitter interface that allows you to register for an event (using `on’), unregister (using `off’) or emit events.</a:t>
            </a:r>
          </a:p>
          <a:p>
            <a:endParaRPr lang="en-US" dirty="0"/>
          </a:p>
          <a:p>
            <a:r>
              <a:rPr lang="en-US" dirty="0"/>
              <a:t>Sometimes `on’ is also called `subscribe’ or `register’.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643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we set up a server.  Most of the hard work is done by the function </a:t>
            </a:r>
            <a:r>
              <a:rPr lang="en-US" b="1" dirty="0"/>
              <a:t>Server</a:t>
            </a:r>
            <a:r>
              <a:rPr lang="en-US" b="0" dirty="0"/>
              <a:t> </a:t>
            </a:r>
            <a:r>
              <a:rPr lang="en-US" b="0" dirty="0" err="1"/>
              <a:t>whichis</a:t>
            </a:r>
            <a:r>
              <a:rPr lang="en-US" b="0" dirty="0"/>
              <a:t> part of the 'socket.io' package.</a:t>
            </a:r>
          </a:p>
          <a:p>
            <a:r>
              <a:rPr lang="en-US" b="0" dirty="0"/>
              <a:t>When the server receives a connection on port 8080, it creates a socket and passes to io.  It's up to us to create handlers for the events that this server may receive.  This is accomplished by </a:t>
            </a:r>
            <a:r>
              <a:rPr lang="en-US" b="0" dirty="0" err="1"/>
              <a:t>startServerHandlers</a:t>
            </a:r>
            <a:r>
              <a:rPr lang="en-US" b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239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336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client, we import from socket.io</a:t>
            </a:r>
            <a:r>
              <a:rPr lang="en-US" b="1" dirty="0"/>
              <a:t>-client</a:t>
            </a:r>
            <a:r>
              <a:rPr lang="en-US" b="0" dirty="0"/>
              <a:t>, which supplies us with a socket.  And again we start handlers for the various events that can happen on that socket.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737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get back to clocks for one last pattern: The Singleton Pattern.</a:t>
            </a:r>
          </a:p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37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53B7E-37AB-1F35-92A1-2F790136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FF86E-0FAD-8252-B0BA-AD0EB56F9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529F6-8565-86F8-E773-D1501EE5C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start with a test-driven development description of what we want: when we create two clocks, we want them to always be aliases of each other, so that ticks and resets of one clock affect the other clock.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16E5B-CA22-B6C2-9DE2-6E54A8AF2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9432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a lot of much more Java-Object looking ways of implementing this idea, but this is probably the most straightforward way of implementing this in JavaScript.</a:t>
            </a:r>
          </a:p>
          <a:p>
            <a:endParaRPr lang="en-US" dirty="0"/>
          </a:p>
          <a:p>
            <a:r>
              <a:rPr lang="en-US" dirty="0"/>
              <a:t>A JavaScript file is a module, and local information that isn’t exported from the module can’t be accessed outside the module. </a:t>
            </a:r>
          </a:p>
          <a:p>
            <a:endParaRPr lang="en-US" dirty="0"/>
          </a:p>
          <a:p>
            <a:r>
              <a:rPr lang="en-US" dirty="0"/>
              <a:t>Because the </a:t>
            </a:r>
            <a:r>
              <a:rPr lang="en-US" dirty="0" err="1"/>
              <a:t>PrivateClock</a:t>
            </a:r>
            <a:r>
              <a:rPr lang="en-US" dirty="0"/>
              <a:t> implementation isn’t exported, this file is the only file that is allowed to make a </a:t>
            </a:r>
            <a:r>
              <a:rPr lang="en-US" dirty="0" err="1"/>
              <a:t>PrivateClock</a:t>
            </a:r>
            <a:r>
              <a:rPr lang="en-US" dirty="0"/>
              <a:t>. Initially we don’t call the constructor (it’s usually, though not always, a bad idea to have code that runs immediately when a file is loaded in JavaScript).</a:t>
            </a:r>
          </a:p>
          <a:p>
            <a:endParaRPr lang="en-US" dirty="0"/>
          </a:p>
          <a:p>
            <a:r>
              <a:rPr lang="en-US" dirty="0"/>
              <a:t>The only way to access a </a:t>
            </a:r>
            <a:r>
              <a:rPr lang="en-US" dirty="0" err="1"/>
              <a:t>PrivateClock</a:t>
            </a:r>
            <a:r>
              <a:rPr lang="en-US" dirty="0"/>
              <a:t> is through the `</a:t>
            </a:r>
            <a:r>
              <a:rPr lang="en-US" dirty="0" err="1"/>
              <a:t>clockInstance</a:t>
            </a:r>
            <a:r>
              <a:rPr lang="en-US" dirty="0"/>
              <a:t>` method that is exported from the module, and so the first time the function is called, we’ll create a new clock and return it. Every future time we access the clock we’ll just return the one we already constructed.</a:t>
            </a:r>
          </a:p>
          <a:p>
            <a:endParaRPr lang="en-US" dirty="0"/>
          </a:p>
          <a:p>
            <a:r>
              <a:rPr lang="en-US" dirty="0"/>
              <a:t>That `</a:t>
            </a:r>
            <a:r>
              <a:rPr lang="en-US" dirty="0" err="1"/>
              <a:t>clockInstance</a:t>
            </a:r>
            <a:r>
              <a:rPr lang="en-US" dirty="0"/>
              <a:t>` function is what we’ll call in our tests to produce a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76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F06F-1527-600A-0D2B-C3CB89C1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FB5DB-FEF7-9E26-AEC5-2CA370D9F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AC3B5-E162-B394-E8CF-4079E5668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Are there other instances where you’ve seen the singleton pattern and/or your </a:t>
            </a:r>
          </a:p>
        </p:txBody>
      </p:sp>
    </p:spTree>
    <p:extLst>
      <p:ext uri="{BB962C8B-B14F-4D97-AF65-F5344CB8AC3E}">
        <p14:creationId xmlns:p14="http://schemas.microsoft.com/office/powerpoint/2010/main" val="622078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75A46-0EFE-95BA-C28F-606D60977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CE454-9E15-4D73-B4E8-9FDDAE3DD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9E4F5-2BE0-68D2-D500-BEBDD3E9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4A9ED-6EBE-F0D7-86AF-8354205D8C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261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665163"/>
            <a:ext cx="10814539" cy="23876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37828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3055777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794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3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and Comment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46272" y="1631794"/>
            <a:ext cx="310752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71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90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88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7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2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3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43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3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56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8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78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9803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47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diagramQuickStyle" Target="../diagrams/quickStyle1.xml"/><Relationship Id="rId5" Type="http://schemas.openxmlformats.org/officeDocument/2006/relationships/image" Target="../media/image3.png"/><Relationship Id="rId15" Type="http://schemas.openxmlformats.org/officeDocument/2006/relationships/image" Target="../media/image8.svg"/><Relationship Id="rId10" Type="http://schemas.openxmlformats.org/officeDocument/2006/relationships/diagramLayout" Target="../diagrams/layout1.xml"/><Relationship Id="rId4" Type="http://schemas.openxmlformats.org/officeDocument/2006/relationships/image" Target="../media/image2.svg"/><Relationship Id="rId9" Type="http://schemas.openxmlformats.org/officeDocument/2006/relationships/diagramData" Target="../diagrams/data1.xm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socket.io/docs/v4/tutorial/introduct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65BC5-92E6-4F5A-B981-1C5EE97586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altLang="en-US" sz="3200" dirty="0">
                <a:sym typeface="Helvetica Neue" charset="0"/>
              </a:rPr>
              <a:t>CS 4530: Fundamentals of Software Engineering</a:t>
            </a:r>
            <a:br>
              <a:rPr lang="en-US" altLang="en-US" sz="3200" dirty="0">
                <a:sym typeface="Helvetica Neue" charset="0"/>
              </a:rPr>
            </a:br>
            <a:br>
              <a:rPr lang="en-US" altLang="en-US" sz="3200" dirty="0">
                <a:sym typeface="Helvetica Neue" charset="0"/>
              </a:rPr>
            </a:br>
            <a:r>
              <a:rPr lang="en-US" altLang="en-US" sz="3200" dirty="0">
                <a:sym typeface="Helvetica Neue" charset="0"/>
              </a:rPr>
              <a:t>Module 11.1</a:t>
            </a:r>
            <a:r>
              <a:rPr lang="en-US" altLang="en-US" dirty="0">
                <a:sym typeface="Helvetica Neue" charset="0"/>
              </a:rPr>
              <a:t>: Interaction-Level Design Patterns</a:t>
            </a:r>
            <a:endParaRPr lang="en-US" sz="32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B356C44-32EB-4AC4-94B7-A86895491E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/>
              <a:t>Adeel Bhutta, Mitch Wand, and Rob Simmons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Khoury College of Computer Sciences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C5E2E-7170-455B-A37A-DBAC705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7BC06A-54D1-4D10-B536-9DF33B2C3997}"/>
              </a:ext>
            </a:extLst>
          </p:cNvPr>
          <p:cNvSpPr/>
          <p:nvPr/>
        </p:nvSpPr>
        <p:spPr>
          <a:xfrm>
            <a:off x="539260" y="571001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>
                <a:solidFill>
                  <a:srgbClr val="5C5962"/>
                </a:solidFill>
              </a:rPr>
              <a:t>© 2025 </a:t>
            </a:r>
            <a:r>
              <a:rPr lang="en-US" dirty="0">
                <a:solidFill>
                  <a:srgbClr val="5C5962"/>
                </a:solidFill>
              </a:rPr>
              <a:t>Released under the </a:t>
            </a:r>
            <a:r>
              <a:rPr lang="en-US" dirty="0">
                <a:solidFill>
                  <a:srgbClr val="D41B2C"/>
                </a:solidFill>
                <a:hlinkClick r:id="rId3"/>
              </a:rPr>
              <a:t>CC BY-SA</a:t>
            </a:r>
            <a:r>
              <a:rPr lang="en-US" dirty="0">
                <a:solidFill>
                  <a:srgbClr val="5C5962"/>
                </a:solidFill>
              </a:rPr>
              <a:t> license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610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4C2AD-73A8-4536-7F0C-671EEF0A7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D9826-3B16-B5A9-B606-1CC5F4F6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CD710-045B-8896-FD2F-D07414612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FC13-7A7F-FF1F-0C57-73E90C13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34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01B9-2466-775F-9945-0AA3BF1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A028-FAB1-1B83-230D-A2A7ACC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A Different Perspective On The Three Scales of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45973-E455-4D19-F7AF-C0CD6AD36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Diagonal Corners Rounded 6">
            <a:extLst>
              <a:ext uri="{FF2B5EF4-FFF2-40B4-BE49-F238E27FC236}">
                <a16:creationId xmlns:a16="http://schemas.microsoft.com/office/drawing/2014/main" id="{217C3D1C-8076-1F5E-1393-915FB419E8D3}"/>
              </a:ext>
            </a:extLst>
          </p:cNvPr>
          <p:cNvSpPr/>
          <p:nvPr/>
        </p:nvSpPr>
        <p:spPr>
          <a:xfrm>
            <a:off x="3094269" y="4395624"/>
            <a:ext cx="974268" cy="974268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F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Diagonal Corners Rounded 10">
            <a:extLst>
              <a:ext uri="{FF2B5EF4-FFF2-40B4-BE49-F238E27FC236}">
                <a16:creationId xmlns:a16="http://schemas.microsoft.com/office/drawing/2014/main" id="{87934854-9BDC-4419-5DA1-17074754446C}"/>
              </a:ext>
            </a:extLst>
          </p:cNvPr>
          <p:cNvSpPr/>
          <p:nvPr/>
        </p:nvSpPr>
        <p:spPr>
          <a:xfrm>
            <a:off x="3071193" y="5639377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5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Diagonal Corners Rounded 13">
            <a:extLst>
              <a:ext uri="{FF2B5EF4-FFF2-40B4-BE49-F238E27FC236}">
                <a16:creationId xmlns:a16="http://schemas.microsoft.com/office/drawing/2014/main" id="{27472C62-8F56-60AE-3A5C-1C98732725BC}"/>
              </a:ext>
            </a:extLst>
          </p:cNvPr>
          <p:cNvSpPr/>
          <p:nvPr/>
        </p:nvSpPr>
        <p:spPr>
          <a:xfrm>
            <a:off x="3094269" y="3151870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70C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phic 8" descr="Thought bubble with solid fill">
            <a:extLst>
              <a:ext uri="{FF2B5EF4-FFF2-40B4-BE49-F238E27FC236}">
                <a16:creationId xmlns:a16="http://schemas.microsoft.com/office/drawing/2014/main" id="{44DFB269-9E93-472D-3E52-7A63FD351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62618" y="3220221"/>
            <a:ext cx="837566" cy="837566"/>
          </a:xfrm>
          <a:prstGeom prst="rect">
            <a:avLst/>
          </a:prstGeom>
        </p:spPr>
      </p:pic>
      <p:pic>
        <p:nvPicPr>
          <p:cNvPr id="10" name="Graphic 9" descr="Flowchart with solid fill">
            <a:extLst>
              <a:ext uri="{FF2B5EF4-FFF2-40B4-BE49-F238E27FC236}">
                <a16:creationId xmlns:a16="http://schemas.microsoft.com/office/drawing/2014/main" id="{66B25BCE-41F5-B8E6-C6AC-2CC1E009BC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30067" y="4425557"/>
            <a:ext cx="914400" cy="914400"/>
          </a:xfrm>
          <a:prstGeom prst="rect">
            <a:avLst/>
          </a:prstGeom>
        </p:spPr>
      </p:pic>
      <p:pic>
        <p:nvPicPr>
          <p:cNvPr id="13" name="Graphic 12" descr="Hammer1 with solid fill">
            <a:extLst>
              <a:ext uri="{FF2B5EF4-FFF2-40B4-BE49-F238E27FC236}">
                <a16:creationId xmlns:a16="http://schemas.microsoft.com/office/drawing/2014/main" id="{9F9E6C59-1343-BC33-D69C-2152717045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53974" y="5722158"/>
            <a:ext cx="808704" cy="808704"/>
          </a:xfrm>
          <a:prstGeom prst="rect">
            <a:avLst/>
          </a:prstGeom>
        </p:spPr>
      </p:pic>
      <p:sp>
        <p:nvSpPr>
          <p:cNvPr id="22" name="Freeform: Shape 15">
            <a:extLst>
              <a:ext uri="{FF2B5EF4-FFF2-40B4-BE49-F238E27FC236}">
                <a16:creationId xmlns:a16="http://schemas.microsoft.com/office/drawing/2014/main" id="{5FC6DAE1-4D2D-05C5-1D12-5A7DF51F75C6}"/>
              </a:ext>
            </a:extLst>
          </p:cNvPr>
          <p:cNvSpPr/>
          <p:nvPr/>
        </p:nvSpPr>
        <p:spPr>
          <a:xfrm>
            <a:off x="-96363" y="5766510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implementing</a:t>
            </a:r>
          </a:p>
        </p:txBody>
      </p:sp>
      <p:sp>
        <p:nvSpPr>
          <p:cNvPr id="23" name="Freeform: Shape 15">
            <a:extLst>
              <a:ext uri="{FF2B5EF4-FFF2-40B4-BE49-F238E27FC236}">
                <a16:creationId xmlns:a16="http://schemas.microsoft.com/office/drawing/2014/main" id="{0981FCE9-2E0A-3572-6096-0A8EB3D48BA3}"/>
              </a:ext>
            </a:extLst>
          </p:cNvPr>
          <p:cNvSpPr/>
          <p:nvPr/>
        </p:nvSpPr>
        <p:spPr>
          <a:xfrm>
            <a:off x="-58857" y="4522757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ORGANIZING</a:t>
            </a:r>
          </a:p>
        </p:txBody>
      </p:sp>
      <p:sp>
        <p:nvSpPr>
          <p:cNvPr id="24" name="Freeform: Shape 15">
            <a:extLst>
              <a:ext uri="{FF2B5EF4-FFF2-40B4-BE49-F238E27FC236}">
                <a16:creationId xmlns:a16="http://schemas.microsoft.com/office/drawing/2014/main" id="{B3F2A6AB-4079-45BD-05C9-8734825D2A7C}"/>
              </a:ext>
            </a:extLst>
          </p:cNvPr>
          <p:cNvSpPr/>
          <p:nvPr/>
        </p:nvSpPr>
        <p:spPr>
          <a:xfrm>
            <a:off x="-58857" y="3275362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PLANNING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2A109580-CA22-046C-3F35-36C47E316D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3080360"/>
              </p:ext>
            </p:extLst>
          </p:nvPr>
        </p:nvGraphicFramePr>
        <p:xfrm>
          <a:off x="4319921" y="2697301"/>
          <a:ext cx="7886700" cy="42089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B1ED607E-FF83-0E76-64D4-1F8574A322F1}"/>
              </a:ext>
            </a:extLst>
          </p:cNvPr>
          <p:cNvGrpSpPr/>
          <p:nvPr/>
        </p:nvGrpSpPr>
        <p:grpSpPr>
          <a:xfrm>
            <a:off x="5608866" y="1618318"/>
            <a:ext cx="974267" cy="974267"/>
            <a:chOff x="4314206" y="2403793"/>
            <a:chExt cx="1887187" cy="1887187"/>
          </a:xfrm>
        </p:grpSpPr>
        <p:sp>
          <p:nvSpPr>
            <p:cNvPr id="8" name="Rectangle: Diagonal Corners Rounded 10">
              <a:extLst>
                <a:ext uri="{FF2B5EF4-FFF2-40B4-BE49-F238E27FC236}">
                  <a16:creationId xmlns:a16="http://schemas.microsoft.com/office/drawing/2014/main" id="{D88323CA-8945-1A18-1520-E936BE893E2F}"/>
                </a:ext>
              </a:extLst>
            </p:cNvPr>
            <p:cNvSpPr/>
            <p:nvPr/>
          </p:nvSpPr>
          <p:spPr>
            <a:xfrm>
              <a:off x="4314206" y="2403793"/>
              <a:ext cx="1887187" cy="1887187"/>
            </a:xfrm>
            <a:prstGeom prst="round2DiagRect">
              <a:avLst>
                <a:gd name="adj1" fmla="val 29727"/>
                <a:gd name="adj2" fmla="val 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Rectangle 10" descr="Illustrator with solid fill">
              <a:extLst>
                <a:ext uri="{FF2B5EF4-FFF2-40B4-BE49-F238E27FC236}">
                  <a16:creationId xmlns:a16="http://schemas.microsoft.com/office/drawing/2014/main" id="{EA2622CD-02AC-6C37-58EE-26939A76FAE4}"/>
                </a:ext>
              </a:extLst>
            </p:cNvPr>
            <p:cNvSpPr/>
            <p:nvPr/>
          </p:nvSpPr>
          <p:spPr>
            <a:xfrm>
              <a:off x="4314206" y="2403794"/>
              <a:ext cx="1887186" cy="1887186"/>
            </a:xfrm>
            <a:prstGeom prst="rect">
              <a:avLst/>
            </a:pr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" name="Freeform: Shape 15">
            <a:extLst>
              <a:ext uri="{FF2B5EF4-FFF2-40B4-BE49-F238E27FC236}">
                <a16:creationId xmlns:a16="http://schemas.microsoft.com/office/drawing/2014/main" id="{4D0CE143-D451-F1A1-B8C0-978732285142}"/>
              </a:ext>
            </a:extLst>
          </p:cNvPr>
          <p:cNvSpPr/>
          <p:nvPr/>
        </p:nvSpPr>
        <p:spPr>
          <a:xfrm>
            <a:off x="6796221" y="1712122"/>
            <a:ext cx="2263562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l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PROGRAMS</a:t>
            </a:r>
          </a:p>
        </p:txBody>
      </p:sp>
    </p:spTree>
    <p:extLst>
      <p:ext uri="{BB962C8B-B14F-4D97-AF65-F5344CB8AC3E}">
        <p14:creationId xmlns:p14="http://schemas.microsoft.com/office/powerpoint/2010/main" val="34546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0B63D-BA2A-9CC0-CF4B-BB55A5402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Design at the Interaction Level corresponds to “OOD Design Patterns”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65F9A-31BE-788E-C939-758FEA63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Four people in the 90’s wrote a book that lists a lot of patterns.</a:t>
            </a:r>
          </a:p>
          <a:p>
            <a:r>
              <a:rPr lang="en-US" dirty="0"/>
              <a:t>But this is not the be-all and end-all of patterns</a:t>
            </a:r>
          </a:p>
          <a:p>
            <a:r>
              <a:rPr lang="en-US" dirty="0"/>
              <a:t>We’ll see patterns at lots of different levels.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5331-B22B-9182-3A30-24943C624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6" name="Picture 5" descr="A book cover with a design pattern&#10;&#10;Description automatically generated">
            <a:extLst>
              <a:ext uri="{FF2B5EF4-FFF2-40B4-BE49-F238E27FC236}">
                <a16:creationId xmlns:a16="http://schemas.microsoft.com/office/drawing/2014/main" id="{7E890BC2-38E9-5C27-FD42-F2ED9C963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3" y="2384178"/>
            <a:ext cx="3094567" cy="385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906D6-717F-C95E-C7BA-4A6611B09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Pattern?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C592F-1F68-3262-275C-DAAE28472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Pattern is a summary of a standard solution (or solutions) to a specific class of problems.</a:t>
            </a:r>
          </a:p>
          <a:p>
            <a:r>
              <a:rPr lang="en-US" dirty="0"/>
              <a:t>A pattern should contain </a:t>
            </a:r>
          </a:p>
          <a:p>
            <a:pPr lvl="1"/>
            <a:r>
              <a:rPr lang="en-US" dirty="0"/>
              <a:t>A statement of the problem being solved</a:t>
            </a:r>
          </a:p>
          <a:p>
            <a:pPr lvl="1"/>
            <a:r>
              <a:rPr lang="en-US" dirty="0"/>
              <a:t>A solution of the problem</a:t>
            </a:r>
          </a:p>
          <a:p>
            <a:pPr lvl="1"/>
            <a:r>
              <a:rPr lang="en-US" dirty="0"/>
              <a:t>Alternative solutions</a:t>
            </a:r>
          </a:p>
          <a:p>
            <a:pPr lvl="1"/>
            <a:r>
              <a:rPr lang="en-US" dirty="0"/>
              <a:t>A discussion of tradeoffs among the solutions.</a:t>
            </a:r>
          </a:p>
          <a:p>
            <a:r>
              <a:rPr lang="en-US" dirty="0"/>
              <a:t>For maximum usefulness, a pattern should have a name.</a:t>
            </a:r>
          </a:p>
          <a:p>
            <a:pPr lvl="1"/>
            <a:r>
              <a:rPr lang="en-US" dirty="0"/>
              <a:t>So you can say “here I’m using pattern P” and people will know what you had in mind.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B116E2-E9F3-69DB-8F23-6FA68CDD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171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A179F-10F8-FAD1-A286-2AAF5D292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help communicate intent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618D1-BC1F-00BF-115E-9BA4FC702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your code uses a well-known pattern, then the reader has a head start in understanding your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7F925-0FB9-D83B-41C8-901CDE6C2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94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A36DC-409B-1A95-F269-C95F9658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are intended to be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B3910-5E1D-C9C0-0E7F-69500A17C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not engage in discussion about whether a particular piece of code is or is not a “correct” instance of a particular pattern.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47BFD-C831-FFEF-1B5F-EB98D8AEC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555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155BEF8-786F-4A11-92EC-982C8864D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Interface For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BD227-C161-4162-B2AF-7AFE9FFC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8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B656AB-4242-0551-47E0-F723B829CA79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IPullingClock.ts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DAFC0-4E52-F5F7-4BCC-74599170B41C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428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CF578-FC2E-9667-1FCE-E5DEAD92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93AC72-4E54-9E73-0291-1BFB31A7D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Using the Interface For a Simple Slock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98BC8-9F59-5073-87C1-BB9775D8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9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686D83-DF94-8673-9833-7FB04DD6610F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BA258E-412A-A339-ED86-66BC03F35167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  <a:alpha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8445A-43E8-159C-B1E5-7456CBC913B5}"/>
              </a:ext>
            </a:extLst>
          </p:cNvPr>
          <p:cNvSpPr txBox="1"/>
          <p:nvPr/>
        </p:nvSpPr>
        <p:spPr>
          <a:xfrm>
            <a:off x="4756469" y="2259914"/>
            <a:ext cx="7435531" cy="409342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constructor(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b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945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5E6A8-BAE1-E74D-6AC4-604C51A2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72499A-19FF-6D80-C0AE-36A1A73B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Implementing the Interface For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F98CA2-0E5B-A42F-73F1-0A1E21659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10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409C48-C3D6-76E3-6ACD-D7E5404F8E51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BF9637-3261-1EF9-E4E8-9D1EE3C75DA9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sets the time to 0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increments the time */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returns current time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chemeClr val="accent4">
                    <a:lumMod val="50000"/>
                    <a:alpha val="50000"/>
                  </a:schemeClr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EBC34F-1781-53CC-BE15-CC1BF5D7D955}"/>
              </a:ext>
            </a:extLst>
          </p:cNvPr>
          <p:cNvSpPr txBox="1"/>
          <p:nvPr/>
        </p:nvSpPr>
        <p:spPr>
          <a:xfrm>
            <a:off x="4756469" y="2259914"/>
            <a:ext cx="743553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436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5294-1E07-1631-B526-D86FDEFB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call this the "demand-pull" pattern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68602D-89EA-1CBC-DBDF-B0E3A6731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when the client needs some data, it </a:t>
            </a:r>
            <a:r>
              <a:rPr lang="en-US" i="1" dirty="0"/>
              <a:t>pulls</a:t>
            </a:r>
            <a:r>
              <a:rPr lang="en-US" dirty="0"/>
              <a:t> the data it needs from the server.</a:t>
            </a:r>
          </a:p>
          <a:p>
            <a:r>
              <a:rPr lang="en-US" dirty="0"/>
              <a:t>Alternative names: you could call the </a:t>
            </a:r>
            <a:r>
              <a:rPr lang="en-US" dirty="0" err="1"/>
              <a:t>SimpleClock</a:t>
            </a:r>
            <a:r>
              <a:rPr lang="en-US" dirty="0"/>
              <a:t> the “producer” and call the </a:t>
            </a:r>
            <a:r>
              <a:rPr lang="en-US" dirty="0" err="1"/>
              <a:t>ClockClient</a:t>
            </a:r>
            <a:r>
              <a:rPr lang="en-US" dirty="0"/>
              <a:t> the “consumer”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78C23-FF6D-E6EC-580D-CDE97BD42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11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22690-D5BB-465B-91B5-631473DD9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simpleClockUsingPull.ts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1340F-D86A-4056-B183-34C325AB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EA479B-1118-49C6-B718-DB9189AC9DA4}"/>
              </a:ext>
            </a:extLst>
          </p:cNvPr>
          <p:cNvSpPr txBox="1"/>
          <p:nvPr/>
        </p:nvSpPr>
        <p:spPr>
          <a:xfrm>
            <a:off x="785109" y="1761432"/>
            <a:ext cx="6926698" cy="480131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"./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clientTime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AC96520-B8C4-796E-18FA-D95CA5394859}"/>
              </a:ext>
            </a:extLst>
          </p:cNvPr>
          <p:cNvSpPr/>
          <p:nvPr/>
        </p:nvSpPr>
        <p:spPr>
          <a:xfrm>
            <a:off x="6096000" y="136525"/>
            <a:ext cx="5870542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547E0-8745-0296-3E34-5C36244F2E82}"/>
              </a:ext>
            </a:extLst>
          </p:cNvPr>
          <p:cNvSpPr/>
          <p:nvPr/>
        </p:nvSpPr>
        <p:spPr>
          <a:xfrm>
            <a:off x="7292714" y="2887139"/>
            <a:ext cx="2833748" cy="6880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solidFill>
                  <a:schemeClr val="tx1"/>
                </a:solidFill>
                <a:latin typeface="Ink Free" panose="03080402000500000000" pitchFamily="66" charset="0"/>
              </a:rPr>
              <a:t>SimpleClock</a:t>
            </a:r>
            <a:r>
              <a:rPr lang="en-US" b="1" dirty="0">
                <a:solidFill>
                  <a:schemeClr val="tx1"/>
                </a:solidFill>
                <a:latin typeface="Ink Free" panose="03080402000500000000" pitchFamily="66" charset="0"/>
              </a:rPr>
              <a:t> is the Producer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B12048-2355-7B79-BF56-1A6431BF14F8}"/>
              </a:ext>
            </a:extLst>
          </p:cNvPr>
          <p:cNvSpPr/>
          <p:nvPr/>
        </p:nvSpPr>
        <p:spPr>
          <a:xfrm>
            <a:off x="7272881" y="4612218"/>
            <a:ext cx="2833748" cy="68801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>
                <a:solidFill>
                  <a:schemeClr val="tx1"/>
                </a:solidFill>
                <a:latin typeface="Ink Free" panose="03080402000500000000" pitchFamily="66" charset="0"/>
              </a:rPr>
              <a:t>ClockClient</a:t>
            </a:r>
            <a:r>
              <a:rPr lang="en-US" b="1" dirty="0">
                <a:solidFill>
                  <a:schemeClr val="tx1"/>
                </a:solidFill>
                <a:latin typeface="Ink Free" panose="03080402000500000000" pitchFamily="66" charset="0"/>
              </a:rPr>
              <a:t> is the Consumer</a:t>
            </a:r>
          </a:p>
        </p:txBody>
      </p:sp>
    </p:spTree>
    <p:extLst>
      <p:ext uri="{BB962C8B-B14F-4D97-AF65-F5344CB8AC3E}">
        <p14:creationId xmlns:p14="http://schemas.microsoft.com/office/powerpoint/2010/main" val="152966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0736-2C8C-93C2-D2DE-C47B49EA3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there's a potential problem here.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4EF45-5945-BD5D-70C8-8F8E73A83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clock ticks once per second, but there are dozens of clients, each asking for the time every 10 msec?</a:t>
            </a:r>
          </a:p>
          <a:p>
            <a:r>
              <a:rPr lang="en-US" dirty="0"/>
              <a:t>Our clock might be overwhelmed by polling behavior</a:t>
            </a:r>
          </a:p>
          <a:p>
            <a:r>
              <a:rPr lang="en-US" dirty="0"/>
              <a:t>Can we do better for the situation where the clock updates rarely, but the clients need the values often?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9A2F1-B28C-7ACD-954E-DC341AC3C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85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B44F-0765-D4C2-E910-15003B3D3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'data-push'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E24C4-A2DA-776A-3936-7A9220250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We'd like to arrange it so that the server </a:t>
            </a:r>
            <a:r>
              <a:rPr lang="en-US" i="1" dirty="0"/>
              <a:t>pushes</a:t>
            </a:r>
            <a:r>
              <a:rPr lang="en-US" dirty="0"/>
              <a:t> the data to the consumer only when it changes</a:t>
            </a:r>
          </a:p>
          <a:p>
            <a:r>
              <a:rPr lang="en-US" dirty="0"/>
              <a:t>To accomplish that, the consumer needs to advertise an 'update' method that the producer can call.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E542D-BB0A-D55C-4961-9719DC9C9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40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136B-3925-4CDD-8431-763EB2B1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called the Listener or Observer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2E15C-7FAB-4AB5-A6A4-2B463B6E1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8911442" cy="4965034"/>
          </a:xfrm>
        </p:spPr>
        <p:txBody>
          <a:bodyPr>
            <a:normAutofit/>
          </a:bodyPr>
          <a:lstStyle/>
          <a:p>
            <a:r>
              <a:rPr lang="en-US" dirty="0"/>
              <a:t>Also called "publish-subscribe pattern” (or “pub/sub”)</a:t>
            </a:r>
          </a:p>
          <a:p>
            <a:pPr lvl="1"/>
            <a:r>
              <a:rPr lang="en-US" dirty="0"/>
              <a:t>Some people make fine-grained distinctions between pub/sub and observer/observable; we won’t do that here.</a:t>
            </a:r>
          </a:p>
          <a:p>
            <a:r>
              <a:rPr lang="en-US" dirty="0"/>
              <a:t>The object being observed (the “subject”) keeps a list of the objects who need to be notified when something changes.</a:t>
            </a:r>
          </a:p>
          <a:p>
            <a:pPr lvl="1"/>
            <a:r>
              <a:rPr lang="en-US" dirty="0"/>
              <a:t>subject = producer = publisher</a:t>
            </a:r>
          </a:p>
          <a:p>
            <a:r>
              <a:rPr lang="en-US" dirty="0"/>
              <a:t>When a new object (i.e., the “consumer”) wants to be notified when the subject changes, it registers with ("subscribes to") the subject/producer/publisher</a:t>
            </a:r>
          </a:p>
          <a:p>
            <a:pPr lvl="1"/>
            <a:r>
              <a:rPr lang="en-US" dirty="0"/>
              <a:t>observer = consumer = subscriber = listener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0836B-0482-4596-8EAE-7D980463B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679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14BAD-A4B2-4495-B53C-4D8A97E08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Interface For a Clock </a:t>
            </a:r>
            <a:r>
              <a:rPr lang="en-US" dirty="0"/>
              <a:t>U</a:t>
            </a:r>
            <a:r>
              <a:rPr lang="en-US" sz="3600" dirty="0"/>
              <a:t>sing the Push Pattern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52729-EEAF-4C8C-BCE0-6730721B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16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6A7977-8F3E-578F-0410-B9988554EBC0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BCFCF4-D8D5-869B-B117-2860983444EB}"/>
              </a:ext>
            </a:extLst>
          </p:cNvPr>
          <p:cNvSpPr txBox="1"/>
          <p:nvPr/>
        </p:nvSpPr>
        <p:spPr>
          <a:xfrm>
            <a:off x="448914" y="1654602"/>
            <a:ext cx="9304686" cy="47089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number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void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00069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C9C2-1E79-B1BE-55AA-2047E3B1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3AE6-CB74-F788-5EA1-8C99DC6A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the Interface </a:t>
            </a:r>
            <a:br>
              <a:rPr lang="en-US" dirty="0"/>
            </a:br>
            <a:r>
              <a:rPr lang="en-US" dirty="0"/>
              <a:t>For a Clock Using the Push Pattern 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0E51BA-DACC-9EFF-FC6C-EFFB464D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17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9650EF-B03B-3508-CF2E-9E0BEED7CAD5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pushingClockClients.ts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57C92-5C75-53B0-631B-D605A6A8654C}"/>
              </a:ext>
            </a:extLst>
          </p:cNvPr>
          <p:cNvSpPr txBox="1"/>
          <p:nvPr/>
        </p:nvSpPr>
        <p:spPr>
          <a:xfrm>
            <a:off x="448914" y="1654602"/>
            <a:ext cx="9304686" cy="47089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2000" dirty="0">
                <a:solidFill>
                  <a:srgbClr val="002060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lt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number</a:t>
            </a:r>
            <a:endParaRPr lang="en-US" sz="2000" dirty="0">
              <a:solidFill>
                <a:schemeClr val="tx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>
                    <a:alpha val="50000"/>
                  </a:srgbClr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  <a:endParaRPr lang="en-US" sz="2000" dirty="0">
              <a:solidFill>
                <a:schemeClr val="tx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C42E3-4A4B-9ED6-5F55-DCA2527464C2}"/>
              </a:ext>
            </a:extLst>
          </p:cNvPr>
          <p:cNvSpPr txBox="1"/>
          <p:nvPr/>
        </p:nvSpPr>
        <p:spPr>
          <a:xfrm>
            <a:off x="5482257" y="3007674"/>
            <a:ext cx="9304686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17868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CAB1A-A7E6-61AA-1773-4CFAEC26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991EA-E175-A5F2-65D3-788A2C4C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Implementing the </a:t>
            </a:r>
            <a:br>
              <a:rPr lang="en-US" dirty="0"/>
            </a:br>
            <a:r>
              <a:rPr lang="en-US" dirty="0"/>
              <a:t>Interface For a Clock Using the Push Pattern 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9AC2E7-53A7-C575-A4D3-E3D96C822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18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711EB7-0CE7-D599-6915-B5D83762E052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EEE40-1EC3-2D81-ADAD-DEF2E681728A}"/>
              </a:ext>
            </a:extLst>
          </p:cNvPr>
          <p:cNvSpPr txBox="1"/>
          <p:nvPr/>
        </p:nvSpPr>
        <p:spPr>
          <a:xfrm>
            <a:off x="448914" y="1654602"/>
            <a:ext cx="9304686" cy="532453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PushingClock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= 0;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_observers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forEach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2902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A409-9B57-F622-0182-DA5FD3551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 vs. Pull: Tradeoffs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230B33C-B724-20D5-0BA8-B5BE3182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063159"/>
              </p:ext>
            </p:extLst>
          </p:nvPr>
        </p:nvGraphicFramePr>
        <p:xfrm>
          <a:off x="814647" y="1673817"/>
          <a:ext cx="8445731" cy="3826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6877">
                  <a:extLst>
                    <a:ext uri="{9D8B030D-6E8A-4147-A177-3AD203B41FA5}">
                      <a16:colId xmlns:a16="http://schemas.microsoft.com/office/drawing/2014/main" val="2990107930"/>
                    </a:ext>
                  </a:extLst>
                </a:gridCol>
                <a:gridCol w="4508854">
                  <a:extLst>
                    <a:ext uri="{9D8B030D-6E8A-4147-A177-3AD203B41FA5}">
                      <a16:colId xmlns:a16="http://schemas.microsoft.com/office/drawing/2014/main" val="2876557378"/>
                    </a:ext>
                  </a:extLst>
                </a:gridCol>
              </a:tblGrid>
              <a:tr h="62671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PULL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32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PUSH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1852569"/>
                  </a:ext>
                </a:extLst>
              </a:tr>
              <a:tr h="800342">
                <a:tc>
                  <a:txBody>
                    <a:bodyPr/>
                    <a:lstStyle/>
                    <a:p>
                      <a:r>
                        <a:rPr lang="en-US" dirty="0"/>
                        <a:t>The Consumer knows about the Producer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Producer knows about the Consumer(s)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5075167"/>
                  </a:ext>
                </a:extLst>
              </a:tr>
              <a:tr h="7991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The Producer must have a method that the Consumer can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The Consumer must have a method that producer can use to notify 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784251"/>
                  </a:ext>
                </a:extLst>
              </a:tr>
              <a:tr h="8003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The Consumer asks the Producer for the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Producer notifies the Consumer whenever the data is updated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891794"/>
                  </a:ext>
                </a:extLst>
              </a:tr>
              <a:tr h="800342">
                <a:tc>
                  <a:txBody>
                    <a:bodyPr/>
                    <a:lstStyle/>
                    <a:p>
                      <a:r>
                        <a:rPr lang="en-US" dirty="0"/>
                        <a:t>Better when updates are more frequent than 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Better when updates are rarer than requests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99156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8015C0-DF6D-C88F-F5B8-A87F2EC8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75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DF9E-E9E2-2953-43DE-91E918B78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 or Pull?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31F8DF-A8CE-A56C-5337-425AB20D4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20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EEC14D2-43C3-7E26-A6DB-98214755704D}"/>
              </a:ext>
            </a:extLst>
          </p:cNvPr>
          <p:cNvGrpSpPr/>
          <p:nvPr/>
        </p:nvGrpSpPr>
        <p:grpSpPr>
          <a:xfrm>
            <a:off x="3117273" y="2441647"/>
            <a:ext cx="2978727" cy="2798618"/>
            <a:chOff x="2923309" y="1995055"/>
            <a:chExt cx="2978727" cy="279861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9C53C64-64DF-60BC-1C61-395799E0F4D4}"/>
                </a:ext>
              </a:extLst>
            </p:cNvPr>
            <p:cNvCxnSpPr/>
            <p:nvPr/>
          </p:nvCxnSpPr>
          <p:spPr>
            <a:xfrm flipV="1">
              <a:off x="2923309" y="1995055"/>
              <a:ext cx="0" cy="279861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FD39A2A-AA60-79C2-DB15-952F2E1C14D7}"/>
                </a:ext>
              </a:extLst>
            </p:cNvPr>
            <p:cNvCxnSpPr>
              <a:cxnSpLocks/>
            </p:cNvCxnSpPr>
            <p:nvPr/>
          </p:nvCxnSpPr>
          <p:spPr>
            <a:xfrm>
              <a:off x="2923309" y="4793673"/>
              <a:ext cx="297872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436092-79E6-A688-DC46-9B16C7965DCC}"/>
              </a:ext>
            </a:extLst>
          </p:cNvPr>
          <p:cNvSpPr txBox="1"/>
          <p:nvPr/>
        </p:nvSpPr>
        <p:spPr>
          <a:xfrm>
            <a:off x="6328506" y="5055599"/>
            <a:ext cx="2590774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01BAC9-E6CC-2DB6-7C83-7E1AB1BB64C9}"/>
              </a:ext>
            </a:extLst>
          </p:cNvPr>
          <p:cNvSpPr txBox="1"/>
          <p:nvPr/>
        </p:nvSpPr>
        <p:spPr>
          <a:xfrm>
            <a:off x="2015862" y="1897871"/>
            <a:ext cx="2464136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more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data requests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58AA83-58D1-CE3B-D3C0-72DF26858A37}"/>
              </a:ext>
            </a:extLst>
          </p:cNvPr>
          <p:cNvCxnSpPr>
            <a:cxnSpLocks/>
          </p:cNvCxnSpPr>
          <p:nvPr/>
        </p:nvCxnSpPr>
        <p:spPr>
          <a:xfrm flipV="1">
            <a:off x="3117273" y="2546568"/>
            <a:ext cx="2978727" cy="2628936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FF36403-8C51-A363-634F-E8D5C714C3D0}"/>
              </a:ext>
            </a:extLst>
          </p:cNvPr>
          <p:cNvSpPr txBox="1"/>
          <p:nvPr/>
        </p:nvSpPr>
        <p:spPr>
          <a:xfrm>
            <a:off x="4606635" y="3983432"/>
            <a:ext cx="2862634" cy="92333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faster;</a:t>
            </a:r>
          </a:p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prefer to only pull when needed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85942B-7C93-389C-D269-E3E3DBF79DAE}"/>
              </a:ext>
            </a:extLst>
          </p:cNvPr>
          <p:cNvSpPr txBox="1"/>
          <p:nvPr/>
        </p:nvSpPr>
        <p:spPr>
          <a:xfrm>
            <a:off x="3247930" y="2432702"/>
            <a:ext cx="2000726" cy="120032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slowly;</a:t>
            </a:r>
          </a:p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prefer to push on change</a:t>
            </a:r>
          </a:p>
        </p:txBody>
      </p:sp>
    </p:spTree>
    <p:extLst>
      <p:ext uri="{BB962C8B-B14F-4D97-AF65-F5344CB8AC3E}">
        <p14:creationId xmlns:p14="http://schemas.microsoft.com/office/powerpoint/2010/main" val="3401055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8354F-412A-030F-C76F-0F97BC064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8ED9-D34E-88F1-87EC-48CC9ECA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(1)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97BA6-9443-4C57-6ADB-B5FCB90C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15AAAA-6500-1A5D-3B11-BEDE945B993D}"/>
              </a:ext>
            </a:extLst>
          </p:cNvPr>
          <p:cNvSpPr txBox="1"/>
          <p:nvPr/>
        </p:nvSpPr>
        <p:spPr>
          <a:xfrm>
            <a:off x="838200" y="1630959"/>
            <a:ext cx="3969830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4000" b="1" dirty="0">
                <a:solidFill>
                  <a:schemeClr val="tx1"/>
                </a:solidFill>
              </a:rPr>
              <a:t>HTTP 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(one-way, client initiates)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85E896-3761-E052-A7AB-7A56FBC10211}"/>
              </a:ext>
            </a:extLst>
          </p:cNvPr>
          <p:cNvSpPr txBox="1"/>
          <p:nvPr/>
        </p:nvSpPr>
        <p:spPr>
          <a:xfrm>
            <a:off x="6445409" y="1630959"/>
            <a:ext cx="5375679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4000" b="1">
                <a:solidFill>
                  <a:schemeClr val="tx1"/>
                </a:solidFill>
              </a:rPr>
              <a:t>Web Sockets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(two-way after client opens socket)</a:t>
            </a:r>
            <a:endParaRPr lang="en-US" sz="2400" b="1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EB4B98-D004-A376-0DCF-0AFDEA024117}"/>
              </a:ext>
            </a:extLst>
          </p:cNvPr>
          <p:cNvCxnSpPr/>
          <p:nvPr/>
        </p:nvCxnSpPr>
        <p:spPr>
          <a:xfrm>
            <a:off x="5832596" y="1674415"/>
            <a:ext cx="0" cy="5047060"/>
          </a:xfrm>
          <a:prstGeom prst="line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Content Placeholder 7" descr="A diagram of a connection&#10;&#10;Description automatically generated">
            <a:extLst>
              <a:ext uri="{FF2B5EF4-FFF2-40B4-BE49-F238E27FC236}">
                <a16:creationId xmlns:a16="http://schemas.microsoft.com/office/drawing/2014/main" id="{1DD90867-CB8B-CED8-FF09-CA87EB0278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38" b="18120"/>
          <a:stretch/>
        </p:blipFill>
        <p:spPr>
          <a:xfrm>
            <a:off x="0" y="2690916"/>
            <a:ext cx="5832592" cy="3847996"/>
          </a:xfrm>
        </p:spPr>
      </p:pic>
      <p:pic>
        <p:nvPicPr>
          <p:cNvPr id="15" name="Picture 14" descr="A diagram of a server&#10;&#10;Description automatically generated">
            <a:extLst>
              <a:ext uri="{FF2B5EF4-FFF2-40B4-BE49-F238E27FC236}">
                <a16:creationId xmlns:a16="http://schemas.microsoft.com/office/drawing/2014/main" id="{0E1E94F6-1CEF-A466-AA2E-722573BF2E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8" b="18997"/>
          <a:stretch/>
        </p:blipFill>
        <p:spPr>
          <a:xfrm>
            <a:off x="6006113" y="2599940"/>
            <a:ext cx="6165274" cy="393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328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2BD7-6861-FA6F-D3A6-9756DCBA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EA2CA-62D5-2710-031B-0734B98D8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(2)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97B8C-D478-C3A3-30CC-451F372AB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0D1824-A919-8668-4F08-D9C3A5B8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1630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clock and JavaScript event handling both use </a:t>
            </a:r>
            <a:r>
              <a:rPr lang="en-US" i="1" dirty="0"/>
              <a:t>callbacks</a:t>
            </a:r>
            <a:r>
              <a:rPr lang="en-US" dirty="0"/>
              <a:t> — a mini-pattern of their own — with the push pattern. </a:t>
            </a:r>
          </a:p>
          <a:p>
            <a:r>
              <a:rPr lang="en-US" dirty="0"/>
              <a:t>With `</a:t>
            </a:r>
            <a:r>
              <a:rPr lang="en-US" dirty="0" err="1"/>
              <a:t>onClick</a:t>
            </a:r>
            <a:r>
              <a:rPr lang="en-US" dirty="0"/>
              <a:t>`, the browser is the producer/server, your app is the consumer/client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1818E9-6F6D-EBD4-A7D3-A27937C77130}"/>
              </a:ext>
            </a:extLst>
          </p:cNvPr>
          <p:cNvSpPr txBox="1"/>
          <p:nvPr/>
        </p:nvSpPr>
        <p:spPr>
          <a:xfrm>
            <a:off x="369345" y="3264330"/>
            <a:ext cx="9304686" cy="31286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})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06E03-8585-5006-C96E-6E600988B5D4}"/>
              </a:ext>
            </a:extLst>
          </p:cNvPr>
          <p:cNvSpPr txBox="1"/>
          <p:nvPr/>
        </p:nvSpPr>
        <p:spPr>
          <a:xfrm>
            <a:off x="6327819" y="3130790"/>
            <a:ext cx="6096001" cy="185683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&lt;button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navigate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`/profile/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</a:t>
            </a:r>
            <a:r>
              <a:rPr lang="en-US" sz="2000" dirty="0" err="1">
                <a:solidFill>
                  <a:srgbClr val="257F99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username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View Profile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272309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DC859-1347-46AF-9887-6DAA85F2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 and Variations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7E8AC-B462-4A86-A2E6-0AAA24BD3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does the consumer get an initial value?</a:t>
            </a:r>
          </a:p>
          <a:p>
            <a:pPr lvl="1"/>
            <a:r>
              <a:rPr lang="en-US" dirty="0"/>
              <a:t>Here we’ve had the producer supply it when the consumer registers</a:t>
            </a:r>
          </a:p>
          <a:p>
            <a:r>
              <a:rPr lang="en-US" dirty="0"/>
              <a:t>Should there be an unsubscribe method?</a:t>
            </a:r>
          </a:p>
          <a:p>
            <a:r>
              <a:rPr lang="en-US" dirty="0"/>
              <a:t>What data should be passed with the </a:t>
            </a:r>
            <a:r>
              <a:rPr lang="en-US" b="1" dirty="0"/>
              <a:t>notify</a:t>
            </a:r>
            <a:r>
              <a:rPr lang="en-US" dirty="0"/>
              <a:t> message?</a:t>
            </a:r>
          </a:p>
          <a:p>
            <a:pPr lvl="1"/>
            <a:r>
              <a:rPr lang="en-US" dirty="0"/>
              <a:t>this should be specified in the interface</a:t>
            </a:r>
          </a:p>
          <a:p>
            <a:r>
              <a:rPr lang="en-US" dirty="0"/>
              <a:t>Might there be several kinds of notifications?</a:t>
            </a:r>
          </a:p>
          <a:p>
            <a:pPr lvl="1"/>
            <a:r>
              <a:rPr lang="en-US" dirty="0"/>
              <a:t>leads to the emitter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B26F9-4056-48A9-8892-90566FC5D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7527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96D1-FA45-8CD6-B51A-398E86028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#3: The Typed-Emitter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ACDFF-56BA-6FFD-1291-0E30622EE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data source wants to notify its listeners with several different kinds of messages?</a:t>
            </a:r>
          </a:p>
          <a:p>
            <a:r>
              <a:rPr lang="en-US" dirty="0"/>
              <a:t>Maybe with different data payloads?</a:t>
            </a:r>
          </a:p>
          <a:p>
            <a:r>
              <a:rPr lang="en-US" dirty="0"/>
              <a:t>And what if we want to take advantage of type-checking?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02C04-9341-C144-5FF3-A9302EE3C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4796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A5C7-E930-B593-6F0A-56F638266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Emitters use a server/client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33DE4D-89BE-92FA-8486-BBEF08438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Client can send a message to its server</a:t>
            </a:r>
          </a:p>
          <a:p>
            <a:r>
              <a:rPr lang="en-US" dirty="0"/>
              <a:t>Server can send a message to an individual client</a:t>
            </a:r>
          </a:p>
          <a:p>
            <a:r>
              <a:rPr lang="en-US" dirty="0"/>
              <a:t>…or to some or all its clients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C038C6-2796-D387-17C5-31C1106CC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25</a:t>
            </a:fld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2B2399-059C-ABAC-1002-EA677217A992}"/>
              </a:ext>
            </a:extLst>
          </p:cNvPr>
          <p:cNvSpPr/>
          <p:nvPr/>
        </p:nvSpPr>
        <p:spPr>
          <a:xfrm>
            <a:off x="3503676" y="1911096"/>
            <a:ext cx="2048256" cy="89611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834BDF0-FEE6-A269-ACF6-4DF0442A47A5}"/>
              </a:ext>
            </a:extLst>
          </p:cNvPr>
          <p:cNvSpPr/>
          <p:nvPr/>
        </p:nvSpPr>
        <p:spPr>
          <a:xfrm>
            <a:off x="1024936" y="3990182"/>
            <a:ext cx="2048256" cy="89611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Client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F2D89F3-F2B2-1D9E-A6E9-B7854D267955}"/>
              </a:ext>
            </a:extLst>
          </p:cNvPr>
          <p:cNvSpPr/>
          <p:nvPr/>
        </p:nvSpPr>
        <p:spPr>
          <a:xfrm>
            <a:off x="3503676" y="3964472"/>
            <a:ext cx="2048256" cy="89611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Client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3C07B8A-A578-AB84-3D98-0FCE33D7E3A8}"/>
              </a:ext>
            </a:extLst>
          </p:cNvPr>
          <p:cNvSpPr/>
          <p:nvPr/>
        </p:nvSpPr>
        <p:spPr>
          <a:xfrm>
            <a:off x="5982416" y="3970218"/>
            <a:ext cx="2048256" cy="89611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Client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8AC14B4-9F73-BE8A-E9D5-5068D00D6C44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2049064" y="2807208"/>
            <a:ext cx="2478740" cy="1182974"/>
          </a:xfrm>
          <a:prstGeom prst="straightConnector1">
            <a:avLst/>
          </a:prstGeom>
          <a:ln w="101600">
            <a:solidFill>
              <a:srgbClr val="00B0F0"/>
            </a:solidFill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A2E0E5-435D-EEEB-F4B3-3F06AF5804C0}"/>
              </a:ext>
            </a:extLst>
          </p:cNvPr>
          <p:cNvCxnSpPr>
            <a:cxnSpLocks/>
            <a:stCxn id="9" idx="0"/>
            <a:endCxn id="6" idx="2"/>
          </p:cNvCxnSpPr>
          <p:nvPr/>
        </p:nvCxnSpPr>
        <p:spPr>
          <a:xfrm flipH="1" flipV="1">
            <a:off x="4527804" y="2807208"/>
            <a:ext cx="2478740" cy="1163010"/>
          </a:xfrm>
          <a:prstGeom prst="straightConnector1">
            <a:avLst/>
          </a:prstGeom>
          <a:ln w="101600">
            <a:solidFill>
              <a:srgbClr val="00B0F0"/>
            </a:solidFill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BDA279-527C-055D-1330-26C459F426D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4527804" y="2807208"/>
            <a:ext cx="0" cy="1157264"/>
          </a:xfrm>
          <a:prstGeom prst="straightConnector1">
            <a:avLst/>
          </a:prstGeom>
          <a:ln w="101600">
            <a:solidFill>
              <a:srgbClr val="00B0F0"/>
            </a:solidFill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55029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CF8CD-06A1-2916-222F-7B2EFB3D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Typed Emitters use types to specify messages that servers and clients can exchange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6BE42-61AC-9E97-AA7B-5AE4F6736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697CA3-A545-1469-C557-48E3BFB36511}"/>
              </a:ext>
            </a:extLst>
          </p:cNvPr>
          <p:cNvSpPr txBox="1"/>
          <p:nvPr/>
        </p:nvSpPr>
        <p:spPr>
          <a:xfrm>
            <a:off x="838199" y="1631794"/>
            <a:ext cx="9574161" cy="397031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 simple ping-pong protocol for testing WebSocket connections.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server starts with (ping 0)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client replies to server 'ping n' with 'pong n'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(n &lt;= 5)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server replies to client 'pong n' with 'ping n+1'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'ping'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count:number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void;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'pong'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string,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count:number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void;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'goodbye'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string)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void;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716AAB-53BB-AE74-70FB-085E76A26F61}"/>
              </a:ext>
            </a:extLst>
          </p:cNvPr>
          <p:cNvSpPr txBox="1"/>
          <p:nvPr/>
        </p:nvSpPr>
        <p:spPr>
          <a:xfrm>
            <a:off x="8417396" y="3057832"/>
            <a:ext cx="3550920" cy="20313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Note: this is the interface for the socket-io implementation of emitters.  Other implementations use somewhat different interfaces.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35F510-82EE-81DD-9D16-674C87BBB6C7}"/>
              </a:ext>
            </a:extLst>
          </p:cNvPr>
          <p:cNvSpPr/>
          <p:nvPr/>
        </p:nvSpPr>
        <p:spPr>
          <a:xfrm>
            <a:off x="5874591" y="5633727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webSocketsSimple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shared.ts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4795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08315-FAFF-DEDD-AFF5-DB61B986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Emitters typically provide many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9A3370-B546-40F5-67DE-9984CD8F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FFB7-FCBD-EB81-2B2B-F9FA562B1B75}"/>
              </a:ext>
            </a:extLst>
          </p:cNvPr>
          <p:cNvSpPr txBox="1"/>
          <p:nvPr/>
        </p:nvSpPr>
        <p:spPr>
          <a:xfrm>
            <a:off x="1147487" y="1588631"/>
            <a:ext cx="10515600" cy="433965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EventEmitter</a:t>
            </a:r>
            <a:r>
              <a:rPr lang="en-US" sz="20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endParaRPr lang="en-US" sz="200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/** The event callbacks are called with the passed arguments */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emit(type, ...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/** Run callback every time event is emitted */ </a:t>
            </a:r>
          </a:p>
          <a:p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on(event, callback);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Run callback when event is emitted just for the first time */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once(event, callback);</a:t>
            </a:r>
          </a:p>
          <a:p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/** Removes the callback for event */ </a:t>
            </a:r>
          </a:p>
          <a:p>
            <a:r>
              <a:rPr lang="en-US" dirty="0">
                <a:solidFill>
                  <a:srgbClr val="FFC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off(event, callback);</a:t>
            </a:r>
          </a:p>
          <a:p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/** Removes all callbacks for event */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off(event);</a:t>
            </a:r>
          </a:p>
          <a:p>
            <a:r>
              <a:rPr lang="en-US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/** Removes all callbacks for all events */ </a:t>
            </a:r>
          </a:p>
          <a:p>
            <a:r>
              <a:rPr lang="en-US" dirty="0">
                <a:solidFill>
                  <a:srgbClr val="FFC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off();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50529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86D32-C8DF-F294-9077-866C3815B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pattern can be used across multiple machines using </a:t>
            </a:r>
            <a:r>
              <a:rPr lang="en-US" dirty="0" err="1"/>
              <a:t>websockets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C4A49-06F3-F5C3-8558-DB3C7A2B8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Websockets</a:t>
            </a:r>
            <a:r>
              <a:rPr lang="en-US" dirty="0"/>
              <a:t> is a standard, but low-level protocol for sending messages between machines.</a:t>
            </a:r>
          </a:p>
          <a:p>
            <a:r>
              <a:rPr lang="en-US" dirty="0">
                <a:hlinkClick r:id="rId2"/>
              </a:rPr>
              <a:t>Socket.io</a:t>
            </a:r>
            <a:r>
              <a:rPr lang="en-US" dirty="0"/>
              <a:t> provides a typed-emitter-style programming model for </a:t>
            </a:r>
            <a:r>
              <a:rPr lang="en-US" dirty="0" err="1"/>
              <a:t>webSockets</a:t>
            </a:r>
            <a:r>
              <a:rPr lang="en-US" dirty="0"/>
              <a:t>.</a:t>
            </a:r>
          </a:p>
          <a:p>
            <a:r>
              <a:rPr lang="en-US" dirty="0"/>
              <a:t>It also provides automatic reconnection, broadcast rooms, and other goodies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D7866B-3705-19D9-27B7-E255BF9AA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479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C0776-874D-B772-63F3-8CE797DE9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Server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53FA0-DFCC-33F3-B73F-BCD1D3ADA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4CEDA1-CE41-FE79-B704-ED0AD540CAE5}"/>
              </a:ext>
            </a:extLst>
          </p:cNvPr>
          <p:cNvSpPr txBox="1"/>
          <p:nvPr/>
        </p:nvSpPr>
        <p:spPr>
          <a:xfrm>
            <a:off x="838200" y="1646679"/>
            <a:ext cx="10911348" cy="418576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createServer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createHttpServer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"http"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"socket.io"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'./shared'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corsParams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origin: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"http://localhost:8080"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140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Updated to match client port</a:t>
            </a:r>
            <a:endParaRPr lang="en-US" sz="140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methods: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"GET"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"POST"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httpServer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createHttpServer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io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sz="14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sz="14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httpServer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{ </a:t>
            </a:r>
            <a:r>
              <a:rPr lang="en-US" sz="140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cors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corsParams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io</a:t>
            </a:r>
            <a:r>
              <a:rPr lang="en-US" sz="140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"connection"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socket</a:t>
            </a:r>
            <a:r>
              <a:rPr lang="en-US" sz="140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sz="140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'server reports new connection'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startServerHandlers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      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})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40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server.ts</a:t>
            </a:r>
            <a:r>
              <a:rPr lang="en-US" sz="140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Listening on port 8080'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httpServer</a:t>
            </a:r>
            <a:r>
              <a:rPr lang="en-US" sz="140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listen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8080</a:t>
            </a:r>
            <a:r>
              <a:rPr lang="en-US" sz="140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en-US" sz="140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63FB538-2DC8-D560-D6DF-663A1A38A3F8}"/>
              </a:ext>
            </a:extLst>
          </p:cNvPr>
          <p:cNvSpPr/>
          <p:nvPr/>
        </p:nvSpPr>
        <p:spPr>
          <a:xfrm rot="10800000">
            <a:off x="4928212" y="4643952"/>
            <a:ext cx="947451" cy="407624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49485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677E4E2-5681-59CD-D88E-BC8645627D21}"/>
              </a:ext>
            </a:extLst>
          </p:cNvPr>
          <p:cNvSpPr txBox="1"/>
          <p:nvPr/>
        </p:nvSpPr>
        <p:spPr>
          <a:xfrm>
            <a:off x="838200" y="1646679"/>
            <a:ext cx="10911348" cy="440120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startServerHandlers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&gt;){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'sending initial ping'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emit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'ping'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send initial ping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'pong'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`server received pong from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with count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emit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'ping'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reply with ping n+1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`server disconnecting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after 5 pings`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disconnect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'goodbye'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`server received goodbye from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});;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092A30-D3D4-8EF3-4E56-A7F5EB652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Finishing the server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16974-0AD7-F4FD-DB61-E993F4281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30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5C4BD2F-6E4A-0EC4-EA05-B4EB2F905906}"/>
              </a:ext>
            </a:extLst>
          </p:cNvPr>
          <p:cNvSpPr/>
          <p:nvPr/>
        </p:nvSpPr>
        <p:spPr>
          <a:xfrm>
            <a:off x="5802715" y="251440"/>
            <a:ext cx="617456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webSocketsSimple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server.ts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6E8F6-EE36-F5D3-5D54-E5D9B3B6974F}"/>
              </a:ext>
            </a:extLst>
          </p:cNvPr>
          <p:cNvSpPr txBox="1"/>
          <p:nvPr/>
        </p:nvSpPr>
        <p:spPr>
          <a:xfrm>
            <a:off x="9360103" y="3163432"/>
            <a:ext cx="2497393" cy="120032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Here's where the server implements the protocol we saw before</a:t>
            </a:r>
          </a:p>
        </p:txBody>
      </p:sp>
    </p:spTree>
    <p:extLst>
      <p:ext uri="{BB962C8B-B14F-4D97-AF65-F5344CB8AC3E}">
        <p14:creationId xmlns:p14="http://schemas.microsoft.com/office/powerpoint/2010/main" val="28624269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FD7A6-AF9C-B311-CA8D-EB2907438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client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306B9-4DB1-BB19-8A1F-98EB8A5D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1E81EE-7B82-82EB-AFB6-24D4B8C64270}"/>
              </a:ext>
            </a:extLst>
          </p:cNvPr>
          <p:cNvSpPr txBox="1"/>
          <p:nvPr/>
        </p:nvSpPr>
        <p:spPr>
          <a:xfrm>
            <a:off x="838200" y="1612676"/>
            <a:ext cx="10803194" cy="461664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io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'socket.io-client'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'./shared'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clientURL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"http://localhost:8080"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Ensure this matches the server URL</a:t>
            </a: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io</a:t>
            </a:r>
            <a:r>
              <a:rPr lang="en-US" sz="14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70C1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clientURL</a:t>
            </a:r>
            <a:r>
              <a:rPr lang="en-US" sz="14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`connecting to`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clientURL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startClientHandlers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event handlers started`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 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DB8F0DE-B77C-A396-D83A-0AC53DCEB2E6}"/>
              </a:ext>
            </a:extLst>
          </p:cNvPr>
          <p:cNvSpPr/>
          <p:nvPr/>
        </p:nvSpPr>
        <p:spPr>
          <a:xfrm>
            <a:off x="5802715" y="251440"/>
            <a:ext cx="617456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webSocketsSimple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client.ts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9218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89EEA1-B9BA-DB84-4DA8-449ACBC11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client handlers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19C1D-25EF-6743-0C53-A341578FF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19DE8F-C576-F010-119A-E13C140E993B}"/>
              </a:ext>
            </a:extLst>
          </p:cNvPr>
          <p:cNvSpPr txBox="1"/>
          <p:nvPr/>
        </p:nvSpPr>
        <p:spPr>
          <a:xfrm>
            <a:off x="1054864" y="1624382"/>
            <a:ext cx="9973019" cy="504753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startClientHandlers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ServerToClientEvents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ClientToServerEvents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&gt;,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system starts by sending 'connect'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'connect'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connected to server on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clientURL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});</a:t>
            </a: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'ping'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received ping with count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emit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'pong'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reply with pong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US" sz="14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clientName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received ping with count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1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&gt; 5, this shouldn't happen`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sz="1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disconnect</a:t>
            </a: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disconnect if count exceeds 5</a:t>
            </a: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pPr>
              <a:buNone/>
            </a:pPr>
            <a:endParaRPr lang="en-US" sz="1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     </a:t>
            </a:r>
          </a:p>
          <a:p>
            <a:pPr>
              <a:buNone/>
            </a:pPr>
            <a: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br>
              <a:rPr lang="en-US" sz="1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310170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63C2-291F-4BCD-8481-B88CD1E4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Pattern #3: The Singleton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CA140-84F5-4AD7-B8BC-646247EE7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Maybe you only want one clock in your system.</a:t>
            </a:r>
          </a:p>
          <a:p>
            <a:r>
              <a:rPr lang="en-US" dirty="0"/>
              <a:t>You can't just say "new Clock" because that always creates a new object of class Clock.</a:t>
            </a:r>
          </a:p>
          <a:p>
            <a:r>
              <a:rPr lang="en-US" dirty="0"/>
              <a:t>We'll solve this in two steps.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3305-C092-409F-B45A-522B05B8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62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3A7E-7DBB-FE3F-E069-E22DC1B3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F32E-5BF9-4E47-A2D7-D3DCFF8DC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Test-Driven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67877-E86F-6A86-3A03-009D300E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8FECE-8D4B-B764-A808-8E17620C4EBB}"/>
              </a:ext>
            </a:extLst>
          </p:cNvPr>
          <p:cNvSpPr txBox="1"/>
          <p:nvPr/>
        </p:nvSpPr>
        <p:spPr>
          <a:xfrm>
            <a:off x="6352862" y="2454730"/>
            <a:ext cx="6795033" cy="42934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NOT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dirty="0">
                <a:solidFill>
                  <a:srgbClr val="3B3B3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b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D9495-680C-8617-8B56-B1A601EAADE9}"/>
              </a:ext>
            </a:extLst>
          </p:cNvPr>
          <p:cNvSpPr txBox="1"/>
          <p:nvPr/>
        </p:nvSpPr>
        <p:spPr>
          <a:xfrm>
            <a:off x="109470" y="2454730"/>
            <a:ext cx="7173532" cy="339323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</p:txBody>
      </p: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E7ADD3C5-8721-7A8A-6E42-47C907AC0489}"/>
              </a:ext>
            </a:extLst>
          </p:cNvPr>
          <p:cNvSpPr/>
          <p:nvPr/>
        </p:nvSpPr>
        <p:spPr>
          <a:xfrm>
            <a:off x="178295" y="1554484"/>
            <a:ext cx="617456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simpleClockUsingPull.test.ts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6">
            <a:extLst>
              <a:ext uri="{FF2B5EF4-FFF2-40B4-BE49-F238E27FC236}">
                <a16:creationId xmlns:a16="http://schemas.microsoft.com/office/drawing/2014/main" id="{869BA67F-3060-775D-1E0E-C4359BF86D82}"/>
              </a:ext>
            </a:extLst>
          </p:cNvPr>
          <p:cNvSpPr/>
          <p:nvPr/>
        </p:nvSpPr>
        <p:spPr>
          <a:xfrm>
            <a:off x="6525433" y="1554483"/>
            <a:ext cx="5488272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singletonClock.test.ts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26398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A5EA6-CF4D-4035-A399-4CBDD782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2658BD7-C743-4498-B8E6-00AE5BBA1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Singleton Pattern Implementation: First-time Through Switch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20959D-3B69-DD5F-B300-8888A743892B}"/>
              </a:ext>
            </a:extLst>
          </p:cNvPr>
          <p:cNvSpPr txBox="1"/>
          <p:nvPr/>
        </p:nvSpPr>
        <p:spPr>
          <a:xfrm>
            <a:off x="838199" y="1653312"/>
            <a:ext cx="9027017" cy="501675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private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clockInstance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if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2340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32827-2EC9-3606-6DF6-056EA752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99039-2C8B-9FAA-ADC5-05B6C6783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Singleton Pattern</a:t>
            </a:r>
            <a:br>
              <a:rPr lang="en-US" dirty="0"/>
            </a:br>
            <a:r>
              <a:rPr lang="en-US" dirty="0"/>
              <a:t>We’ve Seen This Already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E9FC4-DB74-4412-6983-36B2442D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9DB4E5-C7C0-2937-CEE8-60F390A8F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2299108"/>
          </a:xfrm>
        </p:spPr>
        <p:txBody>
          <a:bodyPr>
            <a:normAutofit/>
          </a:bodyPr>
          <a:lstStyle/>
          <a:p>
            <a:r>
              <a:rPr lang="en-US" dirty="0"/>
              <a:t>Each repository model (</a:t>
            </a:r>
            <a:r>
              <a:rPr lang="en-US" dirty="0" err="1"/>
              <a:t>GameRepo</a:t>
            </a:r>
            <a:r>
              <a:rPr lang="en-US" dirty="0"/>
              <a:t>, </a:t>
            </a:r>
            <a:r>
              <a:rPr lang="en-US" dirty="0" err="1"/>
              <a:t>ChatRepo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keeps track of a singleton </a:t>
            </a:r>
            <a:r>
              <a:rPr lang="en-US" dirty="0" err="1"/>
              <a:t>Keyv</a:t>
            </a:r>
            <a:r>
              <a:rPr lang="en-US" dirty="0"/>
              <a:t> object specific to that repository</a:t>
            </a:r>
          </a:p>
          <a:p>
            <a:r>
              <a:rPr lang="en-US" dirty="0"/>
              <a:t>The first time a repository method is accessed, a first-time-through switch initializes the key-value store</a:t>
            </a:r>
          </a:p>
        </p:txBody>
      </p:sp>
    </p:spTree>
    <p:extLst>
      <p:ext uri="{BB962C8B-B14F-4D97-AF65-F5344CB8AC3E}">
        <p14:creationId xmlns:p14="http://schemas.microsoft.com/office/powerpoint/2010/main" val="38722275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8E75-41BF-6816-4C99-47F0A73D1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03696-F4D1-8102-5E11-D92019E77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49BBD-1189-EC22-36CC-A0D3530445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20247-978D-16B0-2ADE-41650DD4D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7565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>
          <a:solidFill>
            <a:srgbClr val="0070C0"/>
          </a:solidFill>
        </a:ln>
      </a:spPr>
      <a:bodyPr rtlCol="0" anchor="ctr"/>
      <a:lstStyle>
        <a:defPPr algn="l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2700" cap="flat" cmpd="sng" algn="ctr">
          <a:noFill/>
          <a:prstDash val="solid"/>
          <a:miter lim="800000"/>
        </a:ln>
        <a:effectLst/>
      </a:spPr>
      <a:bodyPr wrap="square">
        <a:spAutoFit/>
      </a:bodyPr>
      <a:lstStyle>
        <a:defPPr algn="l">
          <a:defRPr b="0" dirty="0">
            <a:solidFill>
              <a:srgbClr val="AF00DB"/>
            </a:solidFill>
            <a:effectLst/>
            <a:latin typeface="Consolas" panose="020B06090202040302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33266</TotalTime>
  <Words>4497</Words>
  <Application>Microsoft Macintosh PowerPoint</Application>
  <PresentationFormat>Widescreen</PresentationFormat>
  <Paragraphs>564</Paragraphs>
  <Slides>37</Slides>
  <Notes>30</Notes>
  <HiddenSlides>12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Ink Free</vt:lpstr>
      <vt:lpstr>Consolas</vt:lpstr>
      <vt:lpstr>Verdana</vt:lpstr>
      <vt:lpstr>Arial</vt:lpstr>
      <vt:lpstr>Calibri</vt:lpstr>
      <vt:lpstr>Helvetica Neue</vt:lpstr>
      <vt:lpstr>Office Theme</vt:lpstr>
      <vt:lpstr>CS 4530: Fundamentals of Software Engineering  Module 11.1: Interaction-Level Design Patterns</vt:lpstr>
      <vt:lpstr>Review: Learning Goals for this Lesson</vt:lpstr>
      <vt:lpstr>A Different Perspective On The Three Scales of Design</vt:lpstr>
      <vt:lpstr>Design at the Interaction Level corresponds to “OOD Design Patterns”</vt:lpstr>
      <vt:lpstr>What is a Pattern?</vt:lpstr>
      <vt:lpstr>Patterns help communicate intent</vt:lpstr>
      <vt:lpstr>Patterns are intended to be flexible</vt:lpstr>
      <vt:lpstr>Example: Interface For a Simple Clock</vt:lpstr>
      <vt:lpstr>Example: Using the Interface For a Simple Slock</vt:lpstr>
      <vt:lpstr>Example: Implementing the Interface For a Simple Clock</vt:lpstr>
      <vt:lpstr>We call this the "demand-pull" pattern</vt:lpstr>
      <vt:lpstr>simpleClockUsingPull.ts</vt:lpstr>
      <vt:lpstr>But there's a potential problem here.</vt:lpstr>
      <vt:lpstr>The 'data-push' pattern</vt:lpstr>
      <vt:lpstr>This is called the Listener or Observer Pattern</vt:lpstr>
      <vt:lpstr>Interface For a Clock Using the Push Pattern </vt:lpstr>
      <vt:lpstr>Using the Interface  For a Clock Using the Push Pattern </vt:lpstr>
      <vt:lpstr>Implementing the  Interface For a Clock Using the Push Pattern </vt:lpstr>
      <vt:lpstr>Push vs. Pull: Tradeoffs</vt:lpstr>
      <vt:lpstr>Push or Pull?</vt:lpstr>
      <vt:lpstr>Push or Pull? We’ve Seen This Already (1)</vt:lpstr>
      <vt:lpstr>Push or Pull? We’ve Seen This Already (2)</vt:lpstr>
      <vt:lpstr>Details and Variations</vt:lpstr>
      <vt:lpstr>Pattern #3: The Typed-Emitter Pattern</vt:lpstr>
      <vt:lpstr>Emitters use a server/client model</vt:lpstr>
      <vt:lpstr>Typed Emitters use types to specify messages that servers and clients can exchange</vt:lpstr>
      <vt:lpstr>Emitters typically provide many methods</vt:lpstr>
      <vt:lpstr>This pattern can be used across multiple machines using websockets.</vt:lpstr>
      <vt:lpstr>Creating a Server </vt:lpstr>
      <vt:lpstr>Finishing the server</vt:lpstr>
      <vt:lpstr>Building a client</vt:lpstr>
      <vt:lpstr>The client handlers</vt:lpstr>
      <vt:lpstr>Pattern #3: The Singleton Pattern</vt:lpstr>
      <vt:lpstr>Test-Driven Development</vt:lpstr>
      <vt:lpstr>One Singleton Pattern Implementation: First-time Through Switch</vt:lpstr>
      <vt:lpstr>Singleton Pattern We’ve Seen This Already</vt:lpstr>
      <vt:lpstr>Review: Learning Goals for this Lesson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title</dc:title>
  <dc:creator>Mitchell Wand</dc:creator>
  <cp:lastModifiedBy>Simmons, Rob</cp:lastModifiedBy>
  <cp:revision>190</cp:revision>
  <dcterms:created xsi:type="dcterms:W3CDTF">2021-01-07T15:19:22Z</dcterms:created>
  <dcterms:modified xsi:type="dcterms:W3CDTF">2026-02-07T16:42:26Z</dcterms:modified>
</cp:coreProperties>
</file>