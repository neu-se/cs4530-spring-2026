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485" r:id="rId2"/>
    <p:sldId id="720" r:id="rId3"/>
    <p:sldId id="535" r:id="rId4"/>
    <p:sldId id="744" r:id="rId5"/>
    <p:sldId id="745" r:id="rId6"/>
    <p:sldId id="746" r:id="rId7"/>
    <p:sldId id="747" r:id="rId8"/>
    <p:sldId id="768" r:id="rId9"/>
    <p:sldId id="769" r:id="rId10"/>
    <p:sldId id="773" r:id="rId11"/>
    <p:sldId id="770" r:id="rId12"/>
    <p:sldId id="774" r:id="rId13"/>
    <p:sldId id="771" r:id="rId14"/>
    <p:sldId id="772" r:id="rId15"/>
    <p:sldId id="767" r:id="rId16"/>
    <p:sldId id="753" r:id="rId17"/>
    <p:sldId id="755" r:id="rId18"/>
    <p:sldId id="756" r:id="rId19"/>
    <p:sldId id="757" r:id="rId20"/>
    <p:sldId id="758" r:id="rId21"/>
    <p:sldId id="759" r:id="rId22"/>
    <p:sldId id="726" r:id="rId23"/>
    <p:sldId id="728" r:id="rId24"/>
    <p:sldId id="761" r:id="rId25"/>
    <p:sldId id="760" r:id="rId26"/>
    <p:sldId id="762" r:id="rId27"/>
    <p:sldId id="764" r:id="rId28"/>
    <p:sldId id="725" r:id="rId29"/>
    <p:sldId id="765" r:id="rId30"/>
    <p:sldId id="733" r:id="rId31"/>
    <p:sldId id="731" r:id="rId32"/>
    <p:sldId id="741" r:id="rId33"/>
    <p:sldId id="734" r:id="rId34"/>
    <p:sldId id="581" r:id="rId35"/>
    <p:sldId id="732" r:id="rId36"/>
    <p:sldId id="735" r:id="rId37"/>
  </p:sldIdLst>
  <p:sldSz cx="12192000" cy="6858000"/>
  <p:notesSz cx="6858000" cy="9144000"/>
  <p:embeddedFontLst>
    <p:embeddedFont>
      <p:font typeface="Andale Mono" panose="020B0509000000000004" pitchFamily="49" charset="0"/>
      <p:regular r:id="rId39"/>
    </p:embeddedFont>
    <p:embeddedFont>
      <p:font typeface="Consolas" panose="020B0609020204030204" pitchFamily="49" charset="0"/>
      <p:regular r:id="rId40"/>
      <p:bold r:id="rId41"/>
      <p:italic r:id="rId42"/>
      <p:boldItalic r:id="rId43"/>
    </p:embeddedFont>
    <p:embeddedFont>
      <p:font typeface="Ink Free" panose="03080402000500000000" pitchFamily="66" charset="0"/>
      <p:regular r:id="rId44"/>
    </p:embeddedFont>
    <p:embeddedFont>
      <p:font typeface="Verdana" panose="020B0604030504040204" pitchFamily="34" charset="0"/>
      <p:regular r:id="rId45"/>
      <p:bold r:id="rId46"/>
      <p:italic r:id="rId47"/>
      <p:bold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535"/>
            <p14:sldId id="744"/>
            <p14:sldId id="745"/>
            <p14:sldId id="746"/>
            <p14:sldId id="747"/>
            <p14:sldId id="768"/>
            <p14:sldId id="769"/>
            <p14:sldId id="773"/>
            <p14:sldId id="770"/>
            <p14:sldId id="774"/>
            <p14:sldId id="771"/>
            <p14:sldId id="772"/>
            <p14:sldId id="767"/>
            <p14:sldId id="753"/>
            <p14:sldId id="755"/>
            <p14:sldId id="756"/>
            <p14:sldId id="757"/>
            <p14:sldId id="758"/>
            <p14:sldId id="759"/>
            <p14:sldId id="726"/>
            <p14:sldId id="728"/>
            <p14:sldId id="761"/>
            <p14:sldId id="760"/>
            <p14:sldId id="762"/>
            <p14:sldId id="764"/>
            <p14:sldId id="725"/>
            <p14:sldId id="765"/>
            <p14:sldId id="733"/>
            <p14:sldId id="731"/>
            <p14:sldId id="741"/>
            <p14:sldId id="734"/>
            <p14:sldId id="581"/>
            <p14:sldId id="732"/>
            <p14:sldId id="73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4" autoAdjust="0"/>
    <p:restoredTop sz="69367" autoAdjust="0"/>
  </p:normalViewPr>
  <p:slideViewPr>
    <p:cSldViewPr snapToGrid="0">
      <p:cViewPr varScale="1">
        <p:scale>
          <a:sx n="116" d="100"/>
          <a:sy n="116" d="100"/>
        </p:scale>
        <p:origin x="2360" y="18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1380229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enormous stack of technology used to connect the physics of electronic communication to the goal of streaming </a:t>
            </a:r>
            <a:r>
              <a:rPr lang="en-US" dirty="0" err="1"/>
              <a:t>Severence</a:t>
            </a:r>
            <a:r>
              <a:rPr lang="en-US" dirty="0"/>
              <a:t> on Apple TV. Again, there’s are multiple other courses on this.</a:t>
            </a:r>
          </a:p>
          <a:p>
            <a:endParaRPr lang="en-US" dirty="0"/>
          </a:p>
          <a:p>
            <a:r>
              <a:rPr lang="en-US" dirty="0"/>
              <a:t>BUT — sometimes software engineering does involve working in settings where you don’t have all the context, relying on abstractions, standards, and design patterns. It’s hard, but important, to learn how to judge whether you need to learn more, or whether you can ignore the details, or whether you need to find or hire an expert who knows more.</a:t>
            </a:r>
          </a:p>
          <a:p>
            <a:endParaRPr lang="en-US" dirty="0"/>
          </a:p>
          <a:p>
            <a:r>
              <a:rPr lang="en-US" dirty="0"/>
              <a:t>For this class, you basically will basically only ever even think about two of these layers </a:t>
            </a:r>
          </a:p>
          <a:p>
            <a:r>
              <a:rPr lang="en-US" dirty="0"/>
              <a:t>(click)</a:t>
            </a:r>
          </a:p>
          <a:p>
            <a:r>
              <a:rPr lang="en-US" dirty="0"/>
              <a:t>the transport layer and the application layer.</a:t>
            </a:r>
          </a:p>
        </p:txBody>
      </p:sp>
      <p:sp>
        <p:nvSpPr>
          <p:cNvPr id="4" name="Slide Number Placeholder 3"/>
          <p:cNvSpPr>
            <a:spLocks noGrp="1"/>
          </p:cNvSpPr>
          <p:nvPr>
            <p:ph type="sldNum" sz="quarter" idx="5"/>
          </p:nvPr>
        </p:nvSpPr>
        <p:spPr/>
        <p:txBody>
          <a:bodyPr/>
          <a:lstStyle/>
          <a:p>
            <a:fld id="{3927C2FE-14BE-B74D-96F0-2A5DC4BF0069}" type="slidenum">
              <a:rPr lang="en-US" smtClean="0"/>
              <a:t>6</a:t>
            </a:fld>
            <a:endParaRPr lang="en-US"/>
          </a:p>
        </p:txBody>
      </p:sp>
    </p:spTree>
    <p:extLst>
      <p:ext uri="{BB962C8B-B14F-4D97-AF65-F5344CB8AC3E}">
        <p14:creationId xmlns:p14="http://schemas.microsoft.com/office/powerpoint/2010/main" val="32535273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7A38-58B5-5C22-7CE0-89B6F49B3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3F5C-DCEA-0E2A-CDB3-E1736431F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A2785-A63C-3E81-CD81-D5E037E498DE}"/>
              </a:ext>
            </a:extLst>
          </p:cNvPr>
          <p:cNvSpPr>
            <a:spLocks noGrp="1"/>
          </p:cNvSpPr>
          <p:nvPr>
            <p:ph type="body" idx="1"/>
          </p:nvPr>
        </p:nvSpPr>
        <p:spPr/>
        <p:txBody>
          <a:bodyPr/>
          <a:lstStyle/>
          <a:p>
            <a:r>
              <a:rPr lang="en-US" dirty="0"/>
              <a:t>One layer that’s worth mentioning, not because we’ll be using that deeply but because you’re likely to have heard about it before, is the “Transport layer” — if you’ve heard of TCP or UDP, that’s technology that exists at the transport layer. If you haven’t, that’s no big deal.</a:t>
            </a:r>
          </a:p>
          <a:p>
            <a:endParaRPr lang="en-US" dirty="0"/>
          </a:p>
          <a:p>
            <a:r>
              <a:rPr lang="en-US" dirty="0"/>
              <a:t>It’s an oversimplification, but you can think of the transport layer as giving you the ability to </a:t>
            </a:r>
            <a:r>
              <a:rPr lang="en-US" b="1" dirty="0"/>
              <a:t>send a single message</a:t>
            </a:r>
            <a:r>
              <a:rPr lang="en-US" dirty="0"/>
              <a:t>: a single message represents is an arrow drawn from the client to the server, or the server to the client.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of you will never have to think about </a:t>
            </a:r>
            <a:r>
              <a:rPr lang="en-US" i="1" dirty="0"/>
              <a:t>how</a:t>
            </a:r>
            <a:r>
              <a:rPr lang="en-US" dirty="0"/>
              <a:t> networks send a single message — in other words, about how the transport layer is implemented and how it relies on other layers — in the same way you’ll never need to understand how chips implement an instruction set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many other </a:t>
            </a:r>
          </a:p>
          <a:p>
            <a:endParaRPr lang="en-US" dirty="0"/>
          </a:p>
        </p:txBody>
      </p:sp>
      <p:sp>
        <p:nvSpPr>
          <p:cNvPr id="4" name="Slide Number Placeholder 3">
            <a:extLst>
              <a:ext uri="{FF2B5EF4-FFF2-40B4-BE49-F238E27FC236}">
                <a16:creationId xmlns:a16="http://schemas.microsoft.com/office/drawing/2014/main" id="{C282CCFA-5209-9AB7-3946-4767DCB6E66E}"/>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3956171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it’s just too high-level.)</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8A0D-0364-D981-00E6-C0A5E811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8A986-4F0D-02AC-7C82-E334C1FDB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9F028-6929-7A3F-6935-71CEA38BA18F}"/>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5FB566CE-249E-292A-9A2B-7A30C2144B32}"/>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24156645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probably see </a:t>
            </a:r>
            <a:r>
              <a:rPr lang="en-US" i="0" dirty="0" err="1"/>
              <a:t>GameNite</a:t>
            </a:r>
            <a:r>
              <a:rPr lang="en-US" i="0" dirty="0"/>
              <a:t> incorporates aspects of both. </a:t>
            </a:r>
            <a:br>
              <a:rPr lang="en-US" i="0" dirty="0"/>
            </a:br>
            <a:br>
              <a:rPr lang="en-US" i="0" dirty="0"/>
            </a:br>
            <a:r>
              <a:rPr lang="en-US" i="0" dirty="0"/>
              <a:t>(What 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58E39-E148-2F91-12EA-C15239832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E5FC-B696-C919-340A-0970F32D0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76EE9-4219-4693-2540-EC6AC482D7E2}"/>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a:t>
            </a:r>
            <a:r>
              <a:rPr lang="en-US" i="1" dirty="0"/>
              <a:t>set up </a:t>
            </a:r>
            <a:r>
              <a:rPr lang="en-US" dirty="0"/>
              <a:t>a persistent connection (the ”socket”) and either player can push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p:txBody>
      </p:sp>
      <p:sp>
        <p:nvSpPr>
          <p:cNvPr id="4" name="Slide Number Placeholder 3">
            <a:extLst>
              <a:ext uri="{FF2B5EF4-FFF2-40B4-BE49-F238E27FC236}">
                <a16:creationId xmlns:a16="http://schemas.microsoft.com/office/drawing/2014/main" id="{882E92E9-14B5-CC8A-EAA5-A972F199FB2A}"/>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26929509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HTTP is a function call. 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12</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C21D-5FCE-712A-AAC7-D84626F7E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3F5C-51B8-DD1A-C4AC-15C46607B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03BA7-34CA-B194-A397-84591086002E}"/>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HTTP and </a:t>
            </a:r>
            <a:r>
              <a:rPr lang="en-US" dirty="0" err="1"/>
              <a:t>WebSockets</a:t>
            </a:r>
            <a:r>
              <a:rPr lang="en-US" dirty="0"/>
              <a:t> are the two most important client-server communication technologies, and REST/RPC and message-passing or event-driven-programming are the most important design patterns.</a:t>
            </a:r>
          </a:p>
          <a:p>
            <a:endParaRPr lang="en-US" dirty="0"/>
          </a:p>
          <a:p>
            <a:r>
              <a:rPr lang="en-US" dirty="0"/>
              <a:t>Q: Do you really need both?</a:t>
            </a:r>
          </a:p>
          <a:p>
            <a:r>
              <a:rPr lang="en-US" dirty="0"/>
              <a:t>(A: if you only have HTTP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HTTP applications are also, in general, easier to test, and it’s more expensive for the server to always be keeping track of all the connected clients, which is unnecessary if clients are always initiating messages.)</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2289949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We’ve already seen implementations of HTTP request/response pairs in the activity from the previous module. </a:t>
            </a:r>
          </a:p>
          <a:p>
            <a:endParaRPr lang="en-US" dirty="0"/>
          </a:p>
          <a:p>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14</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16</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Here’s the same controller, but we’re highlighting where we’ve added Zod validation.</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19</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1/13/26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1/13/26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1/13/26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1/13/26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1/13/26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1/13/26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1/13/26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1/13/26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1/13/26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1/13/26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1/13/26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5.tif"/><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a:sym typeface="Helvetica Neue" charset="0"/>
              </a:rPr>
              <a:t>Module 4: </a:t>
            </a:r>
            <a:r>
              <a:rPr lang="en-US" altLang="en-US" dirty="0">
                <a:sym typeface="Helvetica Neue" charset="0"/>
              </a:rPr>
              <a:t>Web Applications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3</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would be too slow if it ran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74878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B4E61-C4A9-797B-416D-FE3F7EAD7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651B-D0D6-5B08-E7D7-EC16ADAB1D9C}"/>
              </a:ext>
            </a:extLst>
          </p:cNvPr>
          <p:cNvSpPr>
            <a:spLocks noGrp="1"/>
          </p:cNvSpPr>
          <p:nvPr>
            <p:ph type="title"/>
          </p:nvPr>
        </p:nvSpPr>
        <p:spPr/>
        <p:txBody>
          <a:bodyPr/>
          <a:lstStyle/>
          <a:p>
            <a:r>
              <a:rPr lang="en-US" dirty="0"/>
              <a:t>An Insultingly Shallow Intro to Networking</a:t>
            </a:r>
          </a:p>
        </p:txBody>
      </p:sp>
      <p:sp>
        <p:nvSpPr>
          <p:cNvPr id="4" name="Slide Number Placeholder 3">
            <a:extLst>
              <a:ext uri="{FF2B5EF4-FFF2-40B4-BE49-F238E27FC236}">
                <a16:creationId xmlns:a16="http://schemas.microsoft.com/office/drawing/2014/main" id="{B9065F54-CB85-1874-E1FF-12A3037F3779}"/>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C40A694C-4385-626D-0D5F-9FBA3C17093A}"/>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5A9A470-8CCA-5C31-DC52-77C51D548202}"/>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663E9BF5-82F5-4D6E-BAC7-E5A123BCC2D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615655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6A2E9-3A34-5E44-83FC-E7E8F0914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5E818-65BE-19A1-AA49-ED71C3A33516}"/>
              </a:ext>
            </a:extLst>
          </p:cNvPr>
          <p:cNvSpPr>
            <a:spLocks noGrp="1"/>
          </p:cNvSpPr>
          <p:nvPr>
            <p:ph type="title"/>
          </p:nvPr>
        </p:nvSpPr>
        <p:spPr/>
        <p:txBody>
          <a:bodyPr/>
          <a:lstStyle/>
          <a:p>
            <a:r>
              <a:rPr lang="en-US" dirty="0"/>
              <a:t>Networking is a Big Stack Of Layered Abstractions</a:t>
            </a:r>
          </a:p>
        </p:txBody>
      </p:sp>
      <p:sp>
        <p:nvSpPr>
          <p:cNvPr id="4" name="Slide Number Placeholder 3">
            <a:extLst>
              <a:ext uri="{FF2B5EF4-FFF2-40B4-BE49-F238E27FC236}">
                <a16:creationId xmlns:a16="http://schemas.microsoft.com/office/drawing/2014/main" id="{AE40C6F4-A347-F847-B882-30C2ACF58C47}"/>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1026" name="Picture 2" descr="The Physical Layer: sending cable, bitstream, receiving cable">
            <a:extLst>
              <a:ext uri="{FF2B5EF4-FFF2-40B4-BE49-F238E27FC236}">
                <a16:creationId xmlns:a16="http://schemas.microsoft.com/office/drawing/2014/main" id="{D13E6EA6-3019-BE30-47E3-1F92E7B92E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080" y="5373450"/>
            <a:ext cx="4437089" cy="14079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Data Link Layer: frame creation, frames sent between networks">
            <a:extLst>
              <a:ext uri="{FF2B5EF4-FFF2-40B4-BE49-F238E27FC236}">
                <a16:creationId xmlns:a16="http://schemas.microsoft.com/office/drawing/2014/main" id="{48896D7C-3488-FDEB-9833-C18AF298D2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3187"/>
          <a:stretch/>
        </p:blipFill>
        <p:spPr bwMode="auto">
          <a:xfrm>
            <a:off x="4005080" y="4680966"/>
            <a:ext cx="4437089" cy="1222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Network Layer: packets creation, transport, packets assembly">
            <a:extLst>
              <a:ext uri="{FF2B5EF4-FFF2-40B4-BE49-F238E27FC236}">
                <a16:creationId xmlns:a16="http://schemas.microsoft.com/office/drawing/2014/main" id="{F6FD62D4-DA26-D5EE-4671-BF899F5EE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3050"/>
          <a:stretch/>
        </p:blipFill>
        <p:spPr bwMode="auto">
          <a:xfrm>
            <a:off x="4012063" y="3833998"/>
            <a:ext cx="4430107" cy="12222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e Transport Layer: segment, transport, reassembly">
            <a:extLst>
              <a:ext uri="{FF2B5EF4-FFF2-40B4-BE49-F238E27FC236}">
                <a16:creationId xmlns:a16="http://schemas.microsoft.com/office/drawing/2014/main" id="{F3980284-6680-AD92-A4FB-239836B86B2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3050"/>
          <a:stretch/>
        </p:blipFill>
        <p:spPr bwMode="auto">
          <a:xfrm>
            <a:off x="4012062" y="2987031"/>
            <a:ext cx="4430107" cy="122229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36298F-A514-3A9B-E66A-7F56DA57A66D}"/>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1044" name="Picture 20" descr="The Session Layer: session of communication">
            <a:extLst>
              <a:ext uri="{FF2B5EF4-FFF2-40B4-BE49-F238E27FC236}">
                <a16:creationId xmlns:a16="http://schemas.microsoft.com/office/drawing/2014/main" id="{EDB38E54-616D-702D-6B7A-8F51A1DAF97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8200" b="9412"/>
          <a:stretch/>
        </p:blipFill>
        <p:spPr bwMode="auto">
          <a:xfrm>
            <a:off x="4169988" y="2876221"/>
            <a:ext cx="4437089" cy="73760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Presentation Layer: encryption, compression, translation">
            <a:extLst>
              <a:ext uri="{FF2B5EF4-FFF2-40B4-BE49-F238E27FC236}">
                <a16:creationId xmlns:a16="http://schemas.microsoft.com/office/drawing/2014/main" id="{0827270C-F81E-3409-E440-8B3F415CAC5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3132"/>
          <a:stretch/>
        </p:blipFill>
        <p:spPr bwMode="auto">
          <a:xfrm>
            <a:off x="4687745" y="1713481"/>
            <a:ext cx="3740460" cy="10310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he Application Layer: content requested and returned in required format">
            <a:extLst>
              <a:ext uri="{FF2B5EF4-FFF2-40B4-BE49-F238E27FC236}">
                <a16:creationId xmlns:a16="http://schemas.microsoft.com/office/drawing/2014/main" id="{D0E6A634-32FC-0654-F4CE-0A830CB1168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26517" b="17263"/>
          <a:stretch/>
        </p:blipFill>
        <p:spPr bwMode="auto">
          <a:xfrm>
            <a:off x="4005080" y="1494764"/>
            <a:ext cx="4437089" cy="7227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C7F586-40EE-3FB8-8895-37F1F51E775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0" name="Rectangle 9">
            <a:extLst>
              <a:ext uri="{FF2B5EF4-FFF2-40B4-BE49-F238E27FC236}">
                <a16:creationId xmlns:a16="http://schemas.microsoft.com/office/drawing/2014/main" id="{04A50B18-7BD7-5A0D-8A56-5E42DDC4126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pic>
        <p:nvPicPr>
          <p:cNvPr id="9" name="Picture 18" descr="The Application Layer: content requested and returned in required format">
            <a:extLst>
              <a:ext uri="{FF2B5EF4-FFF2-40B4-BE49-F238E27FC236}">
                <a16:creationId xmlns:a16="http://schemas.microsoft.com/office/drawing/2014/main" id="{E9DD255C-F7BD-90BA-2C3E-EBF6089CCA7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9722" b="17263"/>
          <a:stretch>
            <a:fillRect/>
          </a:stretch>
        </p:blipFill>
        <p:spPr bwMode="auto">
          <a:xfrm>
            <a:off x="4012062" y="1274591"/>
            <a:ext cx="4437089" cy="93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649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2" fill="hold" nodeType="clickEffect">
                                  <p:stCondLst>
                                    <p:cond delay="0"/>
                                  </p:stCondLst>
                                  <p:childTnLst>
                                    <p:anim calcmode="lin" valueType="num">
                                      <p:cBhvr additive="base">
                                        <p:cTn id="6" dur="500"/>
                                        <p:tgtEl>
                                          <p:spTgt spid="1044"/>
                                        </p:tgtEl>
                                        <p:attrNameLst>
                                          <p:attrName>ppt_x</p:attrName>
                                        </p:attrNameLst>
                                      </p:cBhvr>
                                      <p:tavLst>
                                        <p:tav tm="0">
                                          <p:val>
                                            <p:strVal val="ppt_x"/>
                                          </p:val>
                                        </p:tav>
                                        <p:tav tm="100000">
                                          <p:val>
                                            <p:strVal val="1+ppt_w/2"/>
                                          </p:val>
                                        </p:tav>
                                      </p:tavLst>
                                    </p:anim>
                                    <p:anim calcmode="lin" valueType="num">
                                      <p:cBhvr additive="base">
                                        <p:cTn id="7" dur="500"/>
                                        <p:tgtEl>
                                          <p:spTgt spid="1044"/>
                                        </p:tgtEl>
                                        <p:attrNameLst>
                                          <p:attrName>ppt_y</p:attrName>
                                        </p:attrNameLst>
                                      </p:cBhvr>
                                      <p:tavLst>
                                        <p:tav tm="0">
                                          <p:val>
                                            <p:strVal val="ppt_y"/>
                                          </p:val>
                                        </p:tav>
                                        <p:tav tm="100000">
                                          <p:val>
                                            <p:strVal val="ppt_y"/>
                                          </p:val>
                                        </p:tav>
                                      </p:tavLst>
                                    </p:anim>
                                    <p:set>
                                      <p:cBhvr>
                                        <p:cTn id="8" dur="1" fill="hold">
                                          <p:stCondLst>
                                            <p:cond delay="499"/>
                                          </p:stCondLst>
                                        </p:cTn>
                                        <p:tgtEl>
                                          <p:spTgt spid="1044"/>
                                        </p:tgtEl>
                                        <p:attrNameLst>
                                          <p:attrName>style.visibility</p:attrName>
                                        </p:attrNameLst>
                                      </p:cBhvr>
                                      <p:to>
                                        <p:strVal val="hidden"/>
                                      </p:to>
                                    </p:set>
                                  </p:childTnLst>
                                </p:cTn>
                              </p:par>
                              <p:par>
                                <p:cTn id="9" presetID="2" presetClass="exit" presetSubtype="2" fill="hold" nodeType="withEffect">
                                  <p:stCondLst>
                                    <p:cond delay="0"/>
                                  </p:stCondLst>
                                  <p:childTnLst>
                                    <p:anim calcmode="lin" valueType="num">
                                      <p:cBhvr additive="base">
                                        <p:cTn id="10" dur="500"/>
                                        <p:tgtEl>
                                          <p:spTgt spid="1040"/>
                                        </p:tgtEl>
                                        <p:attrNameLst>
                                          <p:attrName>ppt_x</p:attrName>
                                        </p:attrNameLst>
                                      </p:cBhvr>
                                      <p:tavLst>
                                        <p:tav tm="0">
                                          <p:val>
                                            <p:strVal val="ppt_x"/>
                                          </p:val>
                                        </p:tav>
                                        <p:tav tm="100000">
                                          <p:val>
                                            <p:strVal val="1+ppt_w/2"/>
                                          </p:val>
                                        </p:tav>
                                      </p:tavLst>
                                    </p:anim>
                                    <p:anim calcmode="lin" valueType="num">
                                      <p:cBhvr additive="base">
                                        <p:cTn id="11" dur="500"/>
                                        <p:tgtEl>
                                          <p:spTgt spid="1040"/>
                                        </p:tgtEl>
                                        <p:attrNameLst>
                                          <p:attrName>ppt_y</p:attrName>
                                        </p:attrNameLst>
                                      </p:cBhvr>
                                      <p:tavLst>
                                        <p:tav tm="0">
                                          <p:val>
                                            <p:strVal val="ppt_y"/>
                                          </p:val>
                                        </p:tav>
                                        <p:tav tm="100000">
                                          <p:val>
                                            <p:strVal val="ppt_y"/>
                                          </p:val>
                                        </p:tav>
                                      </p:tavLst>
                                    </p:anim>
                                    <p:set>
                                      <p:cBhvr>
                                        <p:cTn id="12" dur="1" fill="hold">
                                          <p:stCondLst>
                                            <p:cond delay="499"/>
                                          </p:stCondLst>
                                        </p:cTn>
                                        <p:tgtEl>
                                          <p:spTgt spid="1040"/>
                                        </p:tgtEl>
                                        <p:attrNameLst>
                                          <p:attrName>style.visibility</p:attrName>
                                        </p:attrNameLst>
                                      </p:cBhvr>
                                      <p:to>
                                        <p:strVal val="hidden"/>
                                      </p:to>
                                    </p:set>
                                  </p:childTnLst>
                                </p:cTn>
                              </p:par>
                              <p:par>
                                <p:cTn id="13" presetID="2" presetClass="exit" presetSubtype="2" fill="hold" nodeType="withEffect">
                                  <p:stCondLst>
                                    <p:cond delay="0"/>
                                  </p:stCondLst>
                                  <p:childTnLst>
                                    <p:anim calcmode="lin" valueType="num">
                                      <p:cBhvr additive="base">
                                        <p:cTn id="14" dur="500"/>
                                        <p:tgtEl>
                                          <p:spTgt spid="1030"/>
                                        </p:tgtEl>
                                        <p:attrNameLst>
                                          <p:attrName>ppt_x</p:attrName>
                                        </p:attrNameLst>
                                      </p:cBhvr>
                                      <p:tavLst>
                                        <p:tav tm="0">
                                          <p:val>
                                            <p:strVal val="ppt_x"/>
                                          </p:val>
                                        </p:tav>
                                        <p:tav tm="100000">
                                          <p:val>
                                            <p:strVal val="1+ppt_w/2"/>
                                          </p:val>
                                        </p:tav>
                                      </p:tavLst>
                                    </p:anim>
                                    <p:anim calcmode="lin" valueType="num">
                                      <p:cBhvr additive="base">
                                        <p:cTn id="15" dur="500"/>
                                        <p:tgtEl>
                                          <p:spTgt spid="1030"/>
                                        </p:tgtEl>
                                        <p:attrNameLst>
                                          <p:attrName>ppt_y</p:attrName>
                                        </p:attrNameLst>
                                      </p:cBhvr>
                                      <p:tavLst>
                                        <p:tav tm="0">
                                          <p:val>
                                            <p:strVal val="ppt_y"/>
                                          </p:val>
                                        </p:tav>
                                        <p:tav tm="100000">
                                          <p:val>
                                            <p:strVal val="ppt_y"/>
                                          </p:val>
                                        </p:tav>
                                      </p:tavLst>
                                    </p:anim>
                                    <p:set>
                                      <p:cBhvr>
                                        <p:cTn id="16" dur="1" fill="hold">
                                          <p:stCondLst>
                                            <p:cond delay="499"/>
                                          </p:stCondLst>
                                        </p:cTn>
                                        <p:tgtEl>
                                          <p:spTgt spid="1030"/>
                                        </p:tgtEl>
                                        <p:attrNameLst>
                                          <p:attrName>style.visibility</p:attrName>
                                        </p:attrNameLst>
                                      </p:cBhvr>
                                      <p:to>
                                        <p:strVal val="hidden"/>
                                      </p:to>
                                    </p:set>
                                  </p:childTnLst>
                                </p:cTn>
                              </p:par>
                              <p:par>
                                <p:cTn id="17" presetID="2" presetClass="exit" presetSubtype="2" fill="hold" nodeType="withEffect">
                                  <p:stCondLst>
                                    <p:cond delay="0"/>
                                  </p:stCondLst>
                                  <p:childTnLst>
                                    <p:anim calcmode="lin" valueType="num">
                                      <p:cBhvr additive="base">
                                        <p:cTn id="18" dur="500"/>
                                        <p:tgtEl>
                                          <p:spTgt spid="1028"/>
                                        </p:tgtEl>
                                        <p:attrNameLst>
                                          <p:attrName>ppt_x</p:attrName>
                                        </p:attrNameLst>
                                      </p:cBhvr>
                                      <p:tavLst>
                                        <p:tav tm="0">
                                          <p:val>
                                            <p:strVal val="ppt_x"/>
                                          </p:val>
                                        </p:tav>
                                        <p:tav tm="100000">
                                          <p:val>
                                            <p:strVal val="1+ppt_w/2"/>
                                          </p:val>
                                        </p:tav>
                                      </p:tavLst>
                                    </p:anim>
                                    <p:anim calcmode="lin" valueType="num">
                                      <p:cBhvr additive="base">
                                        <p:cTn id="19" dur="500"/>
                                        <p:tgtEl>
                                          <p:spTgt spid="1028"/>
                                        </p:tgtEl>
                                        <p:attrNameLst>
                                          <p:attrName>ppt_y</p:attrName>
                                        </p:attrNameLst>
                                      </p:cBhvr>
                                      <p:tavLst>
                                        <p:tav tm="0">
                                          <p:val>
                                            <p:strVal val="ppt_y"/>
                                          </p:val>
                                        </p:tav>
                                        <p:tav tm="100000">
                                          <p:val>
                                            <p:strVal val="ppt_y"/>
                                          </p:val>
                                        </p:tav>
                                      </p:tavLst>
                                    </p:anim>
                                    <p:set>
                                      <p:cBhvr>
                                        <p:cTn id="20" dur="1" fill="hold">
                                          <p:stCondLst>
                                            <p:cond delay="499"/>
                                          </p:stCondLst>
                                        </p:cTn>
                                        <p:tgtEl>
                                          <p:spTgt spid="1028"/>
                                        </p:tgtEl>
                                        <p:attrNameLst>
                                          <p:attrName>style.visibility</p:attrName>
                                        </p:attrNameLst>
                                      </p:cBhvr>
                                      <p:to>
                                        <p:strVal val="hidden"/>
                                      </p:to>
                                    </p:set>
                                  </p:childTnLst>
                                </p:cTn>
                              </p:par>
                              <p:par>
                                <p:cTn id="21" presetID="2" presetClass="exit" presetSubtype="2" fill="hold" nodeType="withEffect">
                                  <p:stCondLst>
                                    <p:cond delay="0"/>
                                  </p:stCondLst>
                                  <p:childTnLst>
                                    <p:anim calcmode="lin" valueType="num">
                                      <p:cBhvr additive="base">
                                        <p:cTn id="22" dur="500"/>
                                        <p:tgtEl>
                                          <p:spTgt spid="1026"/>
                                        </p:tgtEl>
                                        <p:attrNameLst>
                                          <p:attrName>ppt_x</p:attrName>
                                        </p:attrNameLst>
                                      </p:cBhvr>
                                      <p:tavLst>
                                        <p:tav tm="0">
                                          <p:val>
                                            <p:strVal val="ppt_x"/>
                                          </p:val>
                                        </p:tav>
                                        <p:tav tm="100000">
                                          <p:val>
                                            <p:strVal val="1+ppt_w/2"/>
                                          </p:val>
                                        </p:tav>
                                      </p:tavLst>
                                    </p:anim>
                                    <p:anim calcmode="lin" valueType="num">
                                      <p:cBhvr additive="base">
                                        <p:cTn id="23" dur="500"/>
                                        <p:tgtEl>
                                          <p:spTgt spid="1026"/>
                                        </p:tgtEl>
                                        <p:attrNameLst>
                                          <p:attrName>ppt_y</p:attrName>
                                        </p:attrNameLst>
                                      </p:cBhvr>
                                      <p:tavLst>
                                        <p:tav tm="0">
                                          <p:val>
                                            <p:strVal val="ppt_y"/>
                                          </p:val>
                                        </p:tav>
                                        <p:tav tm="100000">
                                          <p:val>
                                            <p:strVal val="ppt_y"/>
                                          </p:val>
                                        </p:tav>
                                      </p:tavLst>
                                    </p:anim>
                                    <p:set>
                                      <p:cBhvr>
                                        <p:cTn id="24" dur="1" fill="hold">
                                          <p:stCondLst>
                                            <p:cond delay="499"/>
                                          </p:stCondLst>
                                        </p:cTn>
                                        <p:tgtEl>
                                          <p:spTgt spid="102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4419-01AF-4C0D-844C-F1E4769CA35C}"/>
            </a:ext>
          </a:extLst>
        </p:cNvPr>
        <p:cNvGrpSpPr/>
        <p:nvPr/>
      </p:nvGrpSpPr>
      <p:grpSpPr>
        <a:xfrm>
          <a:off x="0" y="0"/>
          <a:ext cx="0" cy="0"/>
          <a:chOff x="0" y="0"/>
          <a:chExt cx="0" cy="0"/>
        </a:xfrm>
      </p:grpSpPr>
      <p:sp>
        <p:nvSpPr>
          <p:cNvPr id="22" name="Title 21">
            <a:extLst>
              <a:ext uri="{FF2B5EF4-FFF2-40B4-BE49-F238E27FC236}">
                <a16:creationId xmlns:a16="http://schemas.microsoft.com/office/drawing/2014/main" id="{7F0FFC74-9E67-056D-8AC8-FC24020AD324}"/>
              </a:ext>
            </a:extLst>
          </p:cNvPr>
          <p:cNvSpPr>
            <a:spLocks noGrp="1"/>
          </p:cNvSpPr>
          <p:nvPr>
            <p:ph type="title"/>
          </p:nvPr>
        </p:nvSpPr>
        <p:spPr/>
        <p:txBody>
          <a:bodyPr/>
          <a:lstStyle/>
          <a:p>
            <a:r>
              <a:rPr lang="en-US" dirty="0"/>
              <a:t>The Transport Layer Provides an Abstraction: Sending Messages</a:t>
            </a:r>
          </a:p>
        </p:txBody>
      </p:sp>
      <p:sp>
        <p:nvSpPr>
          <p:cNvPr id="4" name="Slide Number Placeholder 3">
            <a:extLst>
              <a:ext uri="{FF2B5EF4-FFF2-40B4-BE49-F238E27FC236}">
                <a16:creationId xmlns:a16="http://schemas.microsoft.com/office/drawing/2014/main" id="{81E950AA-7FA8-C75D-165E-D018B0D914A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7" name="Rectangle 6">
            <a:extLst>
              <a:ext uri="{FF2B5EF4-FFF2-40B4-BE49-F238E27FC236}">
                <a16:creationId xmlns:a16="http://schemas.microsoft.com/office/drawing/2014/main" id="{14506AAA-CD15-0E28-CB84-BFA468571D54}"/>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9" name="Rectangle 8">
            <a:extLst>
              <a:ext uri="{FF2B5EF4-FFF2-40B4-BE49-F238E27FC236}">
                <a16:creationId xmlns:a16="http://schemas.microsoft.com/office/drawing/2014/main" id="{5A381F31-FE9C-1201-C3AC-0D416CA2EB7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5" name="TextBox 4">
            <a:extLst>
              <a:ext uri="{FF2B5EF4-FFF2-40B4-BE49-F238E27FC236}">
                <a16:creationId xmlns:a16="http://schemas.microsoft.com/office/drawing/2014/main" id="{2A607DB7-994A-A23A-4FE0-5C597BD4A803}"/>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2050" name="Picture 2" descr="The Transport Layer: segment, transport, reassembly">
            <a:extLst>
              <a:ext uri="{FF2B5EF4-FFF2-40B4-BE49-F238E27FC236}">
                <a16:creationId xmlns:a16="http://schemas.microsoft.com/office/drawing/2014/main" id="{4DE606F9-A349-E4A0-BDCF-46F8EB0E65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411"/>
          <a:stretch/>
        </p:blipFill>
        <p:spPr bwMode="auto">
          <a:xfrm>
            <a:off x="2564049" y="1685199"/>
            <a:ext cx="7063902" cy="155984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B67F7BF-FBE6-9A0E-2FBC-704DB76AFEDE}"/>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20" descr="The Session Layer: session of communication">
            <a:extLst>
              <a:ext uri="{FF2B5EF4-FFF2-40B4-BE49-F238E27FC236}">
                <a16:creationId xmlns:a16="http://schemas.microsoft.com/office/drawing/2014/main" id="{9C03FA65-2EE9-5C3C-2FCF-E7B1110027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8200" b="26325"/>
          <a:stretch/>
        </p:blipFill>
        <p:spPr bwMode="auto">
          <a:xfrm>
            <a:off x="2740022" y="5447008"/>
            <a:ext cx="5684131" cy="63984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38B2AB2A-D6AC-8FA4-95A9-1271FE20E507}"/>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6004E6-72FD-041F-AB0C-163ED53650BF}"/>
              </a:ext>
            </a:extLst>
          </p:cNvPr>
          <p:cNvCxnSpPr/>
          <p:nvPr/>
        </p:nvCxnSpPr>
        <p:spPr>
          <a:xfrm flipH="1">
            <a:off x="2354094" y="55606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265582E-FD09-803C-2435-55581F432287}"/>
              </a:ext>
            </a:extLst>
          </p:cNvPr>
          <p:cNvCxnSpPr/>
          <p:nvPr/>
        </p:nvCxnSpPr>
        <p:spPr>
          <a:xfrm flipH="1">
            <a:off x="2354094" y="5638404"/>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186AA05-09D5-5EDA-ED03-5CD56874F9C7}"/>
              </a:ext>
            </a:extLst>
          </p:cNvPr>
          <p:cNvCxnSpPr/>
          <p:nvPr/>
        </p:nvCxnSpPr>
        <p:spPr>
          <a:xfrm flipH="1">
            <a:off x="2347673" y="5813555"/>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1AB65F-9591-71AC-9F58-C02408FDAC49}"/>
              </a:ext>
            </a:extLst>
          </p:cNvPr>
          <p:cNvCxnSpPr/>
          <p:nvPr/>
        </p:nvCxnSpPr>
        <p:spPr>
          <a:xfrm flipH="1">
            <a:off x="2354094" y="590753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AA66137-FED6-DC20-E70E-9E3E7D5A203C}"/>
              </a:ext>
            </a:extLst>
          </p:cNvPr>
          <p:cNvCxnSpPr/>
          <p:nvPr/>
        </p:nvCxnSpPr>
        <p:spPr>
          <a:xfrm flipH="1">
            <a:off x="2347673" y="601287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4C73A6AE-021E-F364-738D-E4841413D6C3}"/>
              </a:ext>
            </a:extLst>
          </p:cNvPr>
          <p:cNvSpPr>
            <a:spLocks noGrp="1"/>
          </p:cNvSpPr>
          <p:nvPr>
            <p:ph idx="1"/>
          </p:nvPr>
        </p:nvSpPr>
        <p:spPr>
          <a:xfrm>
            <a:off x="3253985" y="3114464"/>
            <a:ext cx="5949392" cy="2767830"/>
          </a:xfrm>
        </p:spPr>
        <p:txBody>
          <a:bodyPr>
            <a:normAutofit/>
          </a:bodyPr>
          <a:lstStyle/>
          <a:p>
            <a:pPr marL="0" indent="0">
              <a:buNone/>
            </a:pPr>
            <a:r>
              <a:rPr lang="en-US" dirty="0"/>
              <a:t>Transport Layer</a:t>
            </a:r>
          </a:p>
          <a:p>
            <a:pPr lvl="1"/>
            <a:r>
              <a:rPr lang="en-US" dirty="0"/>
              <a:t>TCP you may have heard of</a:t>
            </a:r>
          </a:p>
          <a:p>
            <a:pPr lvl="1"/>
            <a:r>
              <a:rPr lang="en-US" dirty="0"/>
              <a:t>UDP you don’t need for this class</a:t>
            </a:r>
          </a:p>
          <a:p>
            <a:pPr lvl="1"/>
            <a:r>
              <a:rPr lang="en-US" dirty="0"/>
              <a:t>QUIC is new</a:t>
            </a:r>
          </a:p>
          <a:p>
            <a:pPr marL="0" indent="0">
              <a:buNone/>
            </a:pPr>
            <a:r>
              <a:rPr lang="en-US" dirty="0"/>
              <a:t>Abstraction: </a:t>
            </a:r>
            <a:r>
              <a:rPr lang="en-US" i="1" dirty="0"/>
              <a:t>sending a message</a:t>
            </a:r>
            <a:endParaRPr lang="en-US" dirty="0"/>
          </a:p>
          <a:p>
            <a:endParaRPr lang="en-US" dirty="0"/>
          </a:p>
        </p:txBody>
      </p:sp>
    </p:spTree>
    <p:extLst>
      <p:ext uri="{BB962C8B-B14F-4D97-AF65-F5344CB8AC3E}">
        <p14:creationId xmlns:p14="http://schemas.microsoft.com/office/powerpoint/2010/main" val="187803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Application Layer Abstraction #1: HTTP</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DC0E-E16C-B1AE-9BB9-3DB0D9E24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42245-00B1-D468-5A0A-597F5675621D}"/>
              </a:ext>
            </a:extLst>
          </p:cNvPr>
          <p:cNvSpPr>
            <a:spLocks noGrp="1"/>
          </p:cNvSpPr>
          <p:nvPr>
            <p:ph type="title"/>
          </p:nvPr>
        </p:nvSpPr>
        <p:spPr/>
        <p:txBody>
          <a:bodyPr>
            <a:normAutofit/>
          </a:bodyPr>
          <a:lstStyle/>
          <a:p>
            <a:r>
              <a:rPr lang="en-US" dirty="0"/>
              <a:t>Application Layer Abstraction #1: HTTP</a:t>
            </a:r>
          </a:p>
        </p:txBody>
      </p:sp>
      <p:sp>
        <p:nvSpPr>
          <p:cNvPr id="4" name="Slide Number Placeholder 3">
            <a:extLst>
              <a:ext uri="{FF2B5EF4-FFF2-40B4-BE49-F238E27FC236}">
                <a16:creationId xmlns:a16="http://schemas.microsoft.com/office/drawing/2014/main" id="{5C1AFE7C-E583-11DC-DC4F-FDE3B0921712}"/>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A0E1061D-72FF-72CF-55E1-E67DCCC7CB59}"/>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0D717198-8764-21D5-0F21-F2947247122B}"/>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EE5BAB92-20AA-AA66-8393-6B8806A528BA}"/>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43F5007-6F94-6491-CF52-57C17A7C5292}"/>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A51F983C-8541-F5E0-B08D-EDCF421E5F61}"/>
              </a:ext>
            </a:extLst>
          </p:cNvPr>
          <p:cNvSpPr>
            <a:spLocks noGrp="1"/>
          </p:cNvSpPr>
          <p:nvPr>
            <p:ph idx="1"/>
          </p:nvPr>
        </p:nvSpPr>
        <p:spPr>
          <a:xfrm>
            <a:off x="838199" y="1500160"/>
            <a:ext cx="10037323" cy="748882"/>
          </a:xfrm>
        </p:spPr>
        <p:txBody>
          <a:bodyPr/>
          <a:lstStyle/>
          <a:p>
            <a:pPr marL="0" indent="0">
              <a:buNone/>
            </a:pPr>
            <a:r>
              <a:rPr lang="en-US" dirty="0"/>
              <a:t>Remember: HTTP requests don’t have to come from a browser!</a:t>
            </a:r>
          </a:p>
        </p:txBody>
      </p:sp>
      <p:cxnSp>
        <p:nvCxnSpPr>
          <p:cNvPr id="13" name="Straight Arrow Connector 12">
            <a:extLst>
              <a:ext uri="{FF2B5EF4-FFF2-40B4-BE49-F238E27FC236}">
                <a16:creationId xmlns:a16="http://schemas.microsoft.com/office/drawing/2014/main" id="{BC113BC1-4D69-652C-9648-04D4975C0A4D}"/>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BF180D-B6E9-2E0E-09BF-A0D5F7120B8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E7368F3D-34D9-7C51-A59F-C8449034E992}"/>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4BB966F-C797-6BFA-A780-7D6B535F824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CBB770-6265-9CF8-1380-121EBECA4F5F}"/>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BD0A1A15-9CDD-45E0-D8BB-5D81249738C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C93BEC9-9BBE-CB81-F585-10F86AC0A60F}"/>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1481AA4-85EC-2EC7-6C26-D2DC88CFD7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0BB4992-05C2-7607-6D3C-6EC9CB25FE8C}"/>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AA37FBD-2EBA-B7E6-0933-C6FEC076FDE1}"/>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F0492904-C3E3-7693-9EDD-2291B556D625}"/>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813D24A7-64EC-7F69-3F20-A84AA8C3400A}"/>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599761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Good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2002B-DF17-B2A8-050F-199CF0356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CB09-DA59-B9C8-3D58-8499C7EAAD90}"/>
              </a:ext>
            </a:extLst>
          </p:cNvPr>
          <p:cNvSpPr>
            <a:spLocks noGrp="1"/>
          </p:cNvSpPr>
          <p:nvPr>
            <p:ph type="title"/>
          </p:nvPr>
        </p:nvSpPr>
        <p:spPr/>
        <p:txBody>
          <a:bodyPr/>
          <a:lstStyle/>
          <a:p>
            <a:r>
              <a:rPr lang="en-US" dirty="0"/>
              <a:t>Application Layer Abstraction #2: </a:t>
            </a:r>
            <a:r>
              <a:rPr lang="en-US" dirty="0" err="1"/>
              <a:t>WebSockets</a:t>
            </a:r>
            <a:endParaRPr lang="en-US" dirty="0"/>
          </a:p>
        </p:txBody>
      </p:sp>
      <p:sp>
        <p:nvSpPr>
          <p:cNvPr id="4" name="Slide Number Placeholder 3">
            <a:extLst>
              <a:ext uri="{FF2B5EF4-FFF2-40B4-BE49-F238E27FC236}">
                <a16:creationId xmlns:a16="http://schemas.microsoft.com/office/drawing/2014/main" id="{A0EA64DD-E470-2B23-CAA5-AD22B70CCB99}"/>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6DBF371E-C81B-81DD-09FE-B05C2E38DF28}"/>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E6000443-09F6-B2EF-24A6-5294EEF788C2}"/>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3E5403E4-6208-84ED-C320-B660B7701A73}"/>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81014768-6E7B-263E-4C01-A0395FB76A34}"/>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49D21B6A-EFBA-711D-6655-4E02872D3EA6}"/>
              </a:ext>
            </a:extLst>
          </p:cNvPr>
          <p:cNvSpPr>
            <a:spLocks noGrp="1"/>
          </p:cNvSpPr>
          <p:nvPr>
            <p:ph idx="1"/>
          </p:nvPr>
        </p:nvSpPr>
        <p:spPr>
          <a:xfrm>
            <a:off x="838199" y="1500160"/>
            <a:ext cx="11353801" cy="748882"/>
          </a:xfrm>
        </p:spPr>
        <p:txBody>
          <a:bodyPr>
            <a:normAutofit fontScale="92500"/>
          </a:bodyPr>
          <a:lstStyle/>
          <a:p>
            <a:pPr marL="0" indent="0">
              <a:buNone/>
            </a:pPr>
            <a:r>
              <a:rPr lang="en-US" dirty="0"/>
              <a:t>In a </a:t>
            </a:r>
            <a:r>
              <a:rPr lang="en-US" dirty="0" err="1"/>
              <a:t>WebSockets</a:t>
            </a:r>
            <a:r>
              <a:rPr lang="en-US" dirty="0"/>
              <a:t> session, client </a:t>
            </a:r>
            <a:r>
              <a:rPr lang="en-US" b="1" dirty="0"/>
              <a:t>or</a:t>
            </a:r>
            <a:r>
              <a:rPr lang="en-US" dirty="0"/>
              <a:t> server push messages (no response expected)</a:t>
            </a:r>
            <a:endParaRPr lang="en-US" b="1" dirty="0"/>
          </a:p>
        </p:txBody>
      </p:sp>
      <p:cxnSp>
        <p:nvCxnSpPr>
          <p:cNvPr id="13" name="Straight Arrow Connector 12">
            <a:extLst>
              <a:ext uri="{FF2B5EF4-FFF2-40B4-BE49-F238E27FC236}">
                <a16:creationId xmlns:a16="http://schemas.microsoft.com/office/drawing/2014/main" id="{53C3DEC7-1530-ECE4-515F-E4D7F34FF72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D407969-0594-0FED-C8DE-B22C0A572C0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7EC59F73-03BD-9E17-36CE-068FB825A433}"/>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947A3C0-7662-A6F6-5A63-69D0C1F164F2}"/>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3279808-B9E7-D5C8-3EAB-920625C63D5B}"/>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94B04D26-B95C-4D6F-F0F9-C5938562C755}"/>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F5AAB2E-665F-5FE4-DB75-C5FD98D15C11}"/>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A81A1CCC-AD13-B94B-E70B-DD179FDBF727}"/>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692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is Good for Event-Driven Design Patterns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60"/>
            <a:ext cx="5055825" cy="4118442"/>
          </a:xfrm>
        </p:spPr>
        <p:txBody>
          <a:bodyPr>
            <a:normAutofit/>
          </a:bodyPr>
          <a:lstStyle/>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a:p>
            <a:pPr marL="0" indent="0">
              <a:buNone/>
            </a:pPr>
            <a:endParaRPr lang="en-US" dirty="0"/>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354F-412A-030F-C76F-0F97BC064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C8ED9-D34E-88F1-87EC-48CC9ECAB8FC}"/>
              </a:ext>
            </a:extLst>
          </p:cNvPr>
          <p:cNvSpPr>
            <a:spLocks noGrp="1"/>
          </p:cNvSpPr>
          <p:nvPr>
            <p:ph type="title"/>
          </p:nvPr>
        </p:nvSpPr>
        <p:spPr/>
        <p:txBody>
          <a:bodyPr>
            <a:normAutofit/>
          </a:bodyPr>
          <a:lstStyle/>
          <a:p>
            <a:r>
              <a:rPr lang="en-US" dirty="0"/>
              <a:t>Application Layer Abstractions: </a:t>
            </a:r>
            <a:br>
              <a:rPr lang="en-US" dirty="0"/>
            </a:br>
            <a:r>
              <a:rPr lang="en-US" dirty="0"/>
              <a:t>HTTP Endpoints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09997BA6-9443-4C57-6ADB-B5FCB90C96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815AAAA-6500-1A5D-3B11-BEDE945B993D}"/>
              </a:ext>
            </a:extLst>
          </p:cNvPr>
          <p:cNvSpPr txBox="1"/>
          <p:nvPr/>
        </p:nvSpPr>
        <p:spPr>
          <a:xfrm>
            <a:off x="838200" y="1630959"/>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HTTP </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FE85E896-3761-E052-A7AB-7A56FBC10211}"/>
              </a:ext>
            </a:extLst>
          </p:cNvPr>
          <p:cNvSpPr txBox="1"/>
          <p:nvPr/>
        </p:nvSpPr>
        <p:spPr>
          <a:xfrm>
            <a:off x="6445409" y="1630959"/>
            <a:ext cx="5375679"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52EB4B98-D004-A376-0DCF-0AFDEA024117}"/>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1DD90867-CB8B-CED8-FF09-CA87EB027820}"/>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0E1E94F6-1CEF-A466-AA2E-722573BF2E82}"/>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3767328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14</a:t>
            </a:fld>
            <a:endParaRPr lang="en-US" dirty="0"/>
          </a:p>
        </p:txBody>
      </p:sp>
      <p:pic>
        <p:nvPicPr>
          <p:cNvPr id="1038" name="Picture 14" descr="The Session Layer: session of communication">
            <a:extLst>
              <a:ext uri="{FF2B5EF4-FFF2-40B4-BE49-F238E27FC236}">
                <a16:creationId xmlns:a16="http://schemas.microsoft.com/office/drawing/2014/main" id="{5FB68DF4-A138-A281-DC3F-3F65BB237F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r>
              <a:rPr lang="en-US" dirty="0"/>
              <a:t>The Controller: Knows about HTTP</a:t>
            </a:r>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1038" name="Picture 14" descr="The Session Layer: session of communication">
            <a:extLst>
              <a:ext uri="{FF2B5EF4-FFF2-40B4-BE49-F238E27FC236}">
                <a16:creationId xmlns:a16="http://schemas.microsoft.com/office/drawing/2014/main" id="{25D8580A-C0BB-F9C8-0EF4-4C6F83E64A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controlLogin</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controlLogin</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28322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17</a:t>
            </a:fld>
            <a:endParaRPr lang="en-US" dirty="0"/>
          </a:p>
        </p:txBody>
      </p:sp>
      <p:pic>
        <p:nvPicPr>
          <p:cNvPr id="1038" name="Picture 14" descr="The Session Layer: session of communication">
            <a:extLst>
              <a:ext uri="{FF2B5EF4-FFF2-40B4-BE49-F238E27FC236}">
                <a16:creationId xmlns:a16="http://schemas.microsoft.com/office/drawing/2014/main" id="{C817446A-B682-3B20-EAF3-09888AEE0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24086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18</a:t>
            </a:fld>
            <a:endParaRPr lang="en-US" dirty="0"/>
          </a:p>
        </p:txBody>
      </p:sp>
      <p:pic>
        <p:nvPicPr>
          <p:cNvPr id="1038" name="Picture 14" descr="The Session Layer: session of communication">
            <a:extLst>
              <a:ext uri="{FF2B5EF4-FFF2-40B4-BE49-F238E27FC236}">
                <a16:creationId xmlns:a16="http://schemas.microsoft.com/office/drawing/2014/main" id="{51EACEE3-18CD-6FA6-ECB7-D5BBE71811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decide what kind of response we give</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19</a:t>
            </a:fld>
            <a:endParaRPr lang="en-US" dirty="0"/>
          </a:p>
        </p:txBody>
      </p:sp>
      <p:pic>
        <p:nvPicPr>
          <p:cNvPr id="1038" name="Picture 14" descr="The Session Layer: session of communication">
            <a:extLst>
              <a:ext uri="{FF2B5EF4-FFF2-40B4-BE49-F238E27FC236}">
                <a16:creationId xmlns:a16="http://schemas.microsoft.com/office/drawing/2014/main" id="{F19AA7FA-56C2-7B25-DD0E-E4DD2C4704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20</a:t>
            </a:fld>
            <a:endParaRPr lang="en-US" dirty="0"/>
          </a:p>
        </p:txBody>
      </p:sp>
      <p:pic>
        <p:nvPicPr>
          <p:cNvPr id="1038" name="Picture 14" descr="The Session Layer: session of communication">
            <a:extLst>
              <a:ext uri="{FF2B5EF4-FFF2-40B4-BE49-F238E27FC236}">
                <a16:creationId xmlns:a16="http://schemas.microsoft.com/office/drawing/2014/main" id="{D9AECD53-5A14-9AEC-573F-58A00A7A4D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Foreshadowing</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r>
              <a:rPr lang="en-US" dirty="0"/>
              <a:t>; that’s a topic we’ll return to in a few weeks.</a:t>
            </a:r>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Controller knows if we’re or storing things in a database or in memory (like IP1)</a:t>
            </a:r>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6" name="Rectangle 5">
            <a:extLst>
              <a:ext uri="{FF2B5EF4-FFF2-40B4-BE49-F238E27FC236}">
                <a16:creationId xmlns:a16="http://schemas.microsoft.com/office/drawing/2014/main" id="{45A68782-2C9F-9644-6754-6A7278D87297}"/>
              </a:ext>
            </a:extLst>
          </p:cNvPr>
          <p:cNvSpPr/>
          <p:nvPr/>
        </p:nvSpPr>
        <p:spPr>
          <a:xfrm>
            <a:off x="11111749" y="5027974"/>
            <a:ext cx="954745"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User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855630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Review: three parts of a web server</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Controller-Service-Repository Servers</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p:txBody>
          <a:bodyPr/>
          <a:lstStyle/>
          <a:p>
            <a:r>
              <a:rPr lang="en-US" dirty="0"/>
              <a:t>We can test at both the service layer and the controller layer</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7482684" y="1474517"/>
            <a:ext cx="1207154" cy="3060161"/>
            <a:chOff x="7482684" y="1474517"/>
            <a:chExt cx="1207154" cy="3060161"/>
          </a:xfrm>
        </p:grpSpPr>
        <p:sp>
          <p:nvSpPr>
            <p:cNvPr id="22" name="Server">
              <a:extLst>
                <a:ext uri="{FF2B5EF4-FFF2-40B4-BE49-F238E27FC236}">
                  <a16:creationId xmlns:a16="http://schemas.microsoft.com/office/drawing/2014/main" id="{77132D96-F3D0-6726-4397-F08D5B5BC7C9}"/>
                </a:ext>
              </a:extLst>
            </p:cNvPr>
            <p:cNvSpPr/>
            <p:nvPr/>
          </p:nvSpPr>
          <p:spPr>
            <a:xfrm>
              <a:off x="7482684" y="1474517"/>
              <a:ext cx="1207154" cy="1457053"/>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pic>
        <p:nvPicPr>
          <p:cNvPr id="25" name="Picture 24">
            <a:extLst>
              <a:ext uri="{FF2B5EF4-FFF2-40B4-BE49-F238E27FC236}">
                <a16:creationId xmlns:a16="http://schemas.microsoft.com/office/drawing/2014/main" id="{5300A7AB-BB1E-0C7B-3D7B-7EB3187949A3}"/>
              </a:ext>
            </a:extLst>
          </p:cNvPr>
          <p:cNvPicPr>
            <a:picLocks noChangeAspect="1"/>
          </p:cNvPicPr>
          <p:nvPr/>
        </p:nvPicPr>
        <p:blipFill>
          <a:blip r:embed="rId3"/>
          <a:stretch>
            <a:fillRect/>
          </a:stretch>
        </p:blipFill>
        <p:spPr>
          <a:xfrm>
            <a:off x="8789795" y="1194798"/>
            <a:ext cx="1529525" cy="1433383"/>
          </a:xfrm>
          <a:prstGeom prst="rect">
            <a:avLst/>
          </a:prstGeom>
        </p:spPr>
      </p:pic>
      <p:pic>
        <p:nvPicPr>
          <p:cNvPr id="26" name="Picture 25">
            <a:extLst>
              <a:ext uri="{FF2B5EF4-FFF2-40B4-BE49-F238E27FC236}">
                <a16:creationId xmlns:a16="http://schemas.microsoft.com/office/drawing/2014/main" id="{55E5305B-7CBE-F650-4891-8360C69D72A7}"/>
              </a:ext>
            </a:extLst>
          </p:cNvPr>
          <p:cNvPicPr>
            <a:picLocks noChangeAspect="1"/>
          </p:cNvPicPr>
          <p:nvPr/>
        </p:nvPicPr>
        <p:blipFill>
          <a:blip r:embed="rId4"/>
          <a:stretch>
            <a:fillRect/>
          </a:stretch>
        </p:blipFill>
        <p:spPr>
          <a:xfrm>
            <a:off x="8789795" y="1137501"/>
            <a:ext cx="1284880" cy="1547975"/>
          </a:xfrm>
          <a:prstGeom prst="rect">
            <a:avLst/>
          </a:prstGeom>
        </p:spPr>
      </p:pic>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par>
                                <p:cTn id="7" presetID="9" presetClass="exit" presetSubtype="0" fill="hold" nodeType="withEffect">
                                  <p:stCondLst>
                                    <p:cond delay="0"/>
                                  </p:stCondLst>
                                  <p:childTnLst>
                                    <p:animEffect transition="out" filter="dissolve">
                                      <p:cBhvr>
                                        <p:cTn id="8" dur="2000"/>
                                        <p:tgtEl>
                                          <p:spTgt spid="25"/>
                                        </p:tgtEl>
                                      </p:cBhvr>
                                    </p:animEffect>
                                    <p:set>
                                      <p:cBhvr>
                                        <p:cTn id="9" dur="1" fill="hold">
                                          <p:stCondLst>
                                            <p:cond delay="1999"/>
                                          </p:stCondLst>
                                        </p:cTn>
                                        <p:tgtEl>
                                          <p:spTgt spid="25"/>
                                        </p:tgtEl>
                                        <p:attrNameLst>
                                          <p:attrName>style.visibility</p:attrName>
                                        </p:attrNameLst>
                                      </p:cBhvr>
                                      <p:to>
                                        <p:strVal val="hidden"/>
                                      </p:to>
                                    </p:set>
                                  </p:childTnLst>
                                </p:cTn>
                              </p:par>
                              <p:par>
                                <p:cTn id="10" presetID="9" presetClass="entr" presetSubtype="0" fill="hold" nodeType="withEffect">
                                  <p:stCondLst>
                                    <p:cond delay="1000"/>
                                  </p:stCondLst>
                                  <p:childTnLst>
                                    <p:set>
                                      <p:cBhvr>
                                        <p:cTn id="11" dur="1" fill="hold">
                                          <p:stCondLst>
                                            <p:cond delay="0"/>
                                          </p:stCondLst>
                                        </p:cTn>
                                        <p:tgtEl>
                                          <p:spTgt spid="26"/>
                                        </p:tgtEl>
                                        <p:attrNameLst>
                                          <p:attrName>style.visibility</p:attrName>
                                        </p:attrNameLst>
                                      </p:cBhvr>
                                      <p:to>
                                        <p:strVal val="visible"/>
                                      </p:to>
                                    </p:set>
                                    <p:animEffect transition="in" filter="dissolve">
                                      <p:cBhvr>
                                        <p:cTn id="12"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105356"/>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be in separate places</a:t>
            </a:r>
          </a:p>
          <a:p>
            <a:r>
              <a:rPr lang="en-US" dirty="0"/>
              <a:t>Games could have their business logic running on different servers, written in different programming languages, and accessed (by the server the client is connected to) through their own REST API!</a:t>
            </a:r>
          </a:p>
          <a:p>
            <a:r>
              <a:rPr lang="en-US" dirty="0"/>
              <a:t>This way lies microservices</a:t>
            </a:r>
          </a:p>
          <a:p>
            <a:pPr marL="0" indent="0">
              <a:buNone/>
            </a:pPr>
            <a:endParaRPr lang="en-US" dirty="0"/>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24354</TotalTime>
  <Words>6422</Words>
  <Application>Microsoft Macintosh PowerPoint</Application>
  <PresentationFormat>Widescreen</PresentationFormat>
  <Paragraphs>565</Paragraphs>
  <Slides>36</Slides>
  <Notes>31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Helvetica Neue</vt:lpstr>
      <vt:lpstr>Verdana</vt:lpstr>
      <vt:lpstr>Consolas</vt:lpstr>
      <vt:lpstr>Menlo</vt:lpstr>
      <vt:lpstr>Andale Mono</vt:lpstr>
      <vt:lpstr>Calibri</vt:lpstr>
      <vt:lpstr>Helvetica Light</vt:lpstr>
      <vt:lpstr>Ink Free</vt:lpstr>
      <vt:lpstr>Aptos</vt:lpstr>
      <vt:lpstr>Arial</vt:lpstr>
      <vt:lpstr>Office Theme</vt:lpstr>
      <vt:lpstr>CS 4530: Fundamentals of Software Engineering Module 4: Web Applications</vt:lpstr>
      <vt:lpstr>Learning Goals for this Lesson</vt:lpstr>
      <vt:lpstr>So, software engineering must encompass:</vt:lpstr>
      <vt:lpstr>Web Applications are Distributed Systems</vt:lpstr>
      <vt:lpstr>An Insultingly Shallow Intro to Networking</vt:lpstr>
      <vt:lpstr>Networking is a Big Stack Of Layered Abstractions</vt:lpstr>
      <vt:lpstr>The Transport Layer Provides an Abstraction: Sending Messages</vt:lpstr>
      <vt:lpstr>Application Layer Abstraction #1: HTTP</vt:lpstr>
      <vt:lpstr>Application Layer Abstraction #1: HTTP</vt:lpstr>
      <vt:lpstr>HTTP is Good for ”Function-call-like” Design Patterns</vt:lpstr>
      <vt:lpstr>Application Layer Abstraction #2: WebSockets</vt:lpstr>
      <vt:lpstr>WebSockets is is Good for Event-Driven Design Patterns</vt:lpstr>
      <vt:lpstr>Application Layer Abstractions:  HTTP Endpoints versus WebSockets</vt:lpstr>
      <vt:lpstr>HTTP Requests in Express</vt:lpstr>
      <vt:lpstr>Three parts of a web server</vt:lpstr>
      <vt:lpstr>The Controller: Knows about HTTP</vt:lpstr>
      <vt:lpstr>The Controller (with Zod Validation)</vt:lpstr>
      <vt:lpstr>The Controller Relies on the Service Layer</vt:lpstr>
      <vt:lpstr>The Service Layer Has Most of the Business Logic</vt:lpstr>
      <vt:lpstr>The Repository Layer Provides Persistence</vt:lpstr>
      <vt:lpstr>Foreshadowing</vt:lpstr>
      <vt:lpstr>Review: three parts of a web server</vt:lpstr>
      <vt:lpstr>Review: three parts of a web server</vt:lpstr>
      <vt:lpstr>Testing Controller-Service-Repository Servers</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255</cp:revision>
  <dcterms:created xsi:type="dcterms:W3CDTF">2021-01-07T15:19:22Z</dcterms:created>
  <dcterms:modified xsi:type="dcterms:W3CDTF">2026-01-13T15:57:27Z</dcterms:modified>
</cp:coreProperties>
</file>