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3"/>
  </p:notesMasterIdLst>
  <p:sldIdLst>
    <p:sldId id="485" r:id="rId2"/>
    <p:sldId id="601" r:id="rId3"/>
    <p:sldId id="747" r:id="rId4"/>
    <p:sldId id="712" r:id="rId5"/>
    <p:sldId id="714" r:id="rId6"/>
    <p:sldId id="715" r:id="rId7"/>
    <p:sldId id="604" r:id="rId8"/>
    <p:sldId id="746" r:id="rId9"/>
    <p:sldId id="609" r:id="rId10"/>
    <p:sldId id="722" r:id="rId11"/>
    <p:sldId id="606" r:id="rId12"/>
    <p:sldId id="610" r:id="rId13"/>
    <p:sldId id="723" r:id="rId14"/>
    <p:sldId id="613" r:id="rId15"/>
    <p:sldId id="724" r:id="rId16"/>
    <p:sldId id="614" r:id="rId17"/>
    <p:sldId id="725" r:id="rId18"/>
    <p:sldId id="615" r:id="rId19"/>
    <p:sldId id="721" r:id="rId20"/>
    <p:sldId id="735" r:id="rId21"/>
    <p:sldId id="616" r:id="rId22"/>
    <p:sldId id="620" r:id="rId23"/>
    <p:sldId id="726" r:id="rId24"/>
    <p:sldId id="730" r:id="rId25"/>
    <p:sldId id="728" r:id="rId26"/>
    <p:sldId id="734" r:id="rId27"/>
    <p:sldId id="731" r:id="rId28"/>
    <p:sldId id="732" r:id="rId29"/>
    <p:sldId id="733" r:id="rId30"/>
    <p:sldId id="611" r:id="rId31"/>
    <p:sldId id="741" r:id="rId32"/>
    <p:sldId id="738" r:id="rId33"/>
    <p:sldId id="742" r:id="rId34"/>
    <p:sldId id="743" r:id="rId35"/>
    <p:sldId id="380" r:id="rId36"/>
    <p:sldId id="740" r:id="rId37"/>
    <p:sldId id="718" r:id="rId38"/>
    <p:sldId id="621" r:id="rId39"/>
    <p:sldId id="622" r:id="rId40"/>
    <p:sldId id="744" r:id="rId41"/>
    <p:sldId id="745" r:id="rId42"/>
  </p:sldIdLst>
  <p:sldSz cx="12192000" cy="6858000"/>
  <p:notesSz cx="6858000" cy="9144000"/>
  <p:embeddedFontLst>
    <p:embeddedFont>
      <p:font typeface="Consolas" panose="020B0609020204030204" pitchFamily="49" charset="0"/>
      <p:regular r:id="rId44"/>
      <p:bold r:id="rId45"/>
      <p:italic r:id="rId46"/>
      <p:boldItalic r:id="rId47"/>
    </p:embeddedFont>
    <p:embeddedFont>
      <p:font typeface="Verdana" panose="020B0604030504040204" pitchFamily="34" charset="0"/>
      <p:regular r:id="rId48"/>
      <p:bold r:id="rId49"/>
      <p:italic r:id="rId50"/>
      <p:boldItalic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01"/>
            <p14:sldId id="747"/>
            <p14:sldId id="712"/>
            <p14:sldId id="714"/>
            <p14:sldId id="715"/>
            <p14:sldId id="604"/>
            <p14:sldId id="746"/>
            <p14:sldId id="609"/>
            <p14:sldId id="722"/>
            <p14:sldId id="606"/>
            <p14:sldId id="610"/>
            <p14:sldId id="723"/>
            <p14:sldId id="613"/>
            <p14:sldId id="724"/>
            <p14:sldId id="614"/>
            <p14:sldId id="725"/>
            <p14:sldId id="615"/>
            <p14:sldId id="721"/>
            <p14:sldId id="735"/>
            <p14:sldId id="616"/>
            <p14:sldId id="620"/>
            <p14:sldId id="726"/>
            <p14:sldId id="730"/>
            <p14:sldId id="728"/>
            <p14:sldId id="734"/>
            <p14:sldId id="731"/>
            <p14:sldId id="732"/>
            <p14:sldId id="733"/>
            <p14:sldId id="611"/>
            <p14:sldId id="741"/>
            <p14:sldId id="738"/>
            <p14:sldId id="742"/>
            <p14:sldId id="743"/>
            <p14:sldId id="380"/>
            <p14:sldId id="740"/>
            <p14:sldId id="718"/>
            <p14:sldId id="621"/>
            <p14:sldId id="622"/>
            <p14:sldId id="744"/>
            <p14:sldId id="7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284" autoAdjust="0"/>
    <p:restoredTop sz="60412" autoAdjust="0"/>
  </p:normalViewPr>
  <p:slideViewPr>
    <p:cSldViewPr snapToGrid="0">
      <p:cViewPr varScale="1">
        <p:scale>
          <a:sx n="51" d="100"/>
          <a:sy n="51" d="100"/>
        </p:scale>
        <p:origin x="1194" y="72"/>
      </p:cViewPr>
      <p:guideLst/>
    </p:cSldViewPr>
  </p:slideViewPr>
  <p:notesTextViewPr>
    <p:cViewPr>
      <p:scale>
        <a:sx n="100" d="100"/>
        <a:sy n="100" d="100"/>
      </p:scale>
      <p:origin x="0" y="0"/>
    </p:cViewPr>
  </p:notesTextViewPr>
  <p:sorterViewPr>
    <p:cViewPr>
      <p:scale>
        <a:sx n="100" d="100"/>
        <a:sy n="100" d="100"/>
      </p:scale>
      <p:origin x="0" y="-116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1814455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36DC8-180F-F23D-F00C-EB9706A35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63577-1AFC-9686-18CF-19ACFAF152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95FB06-AC84-5C44-D9C5-03A0561EE7CC}"/>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A862C652-7E8C-6538-870F-55779730AFB9}"/>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7303671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autocorrect shows its guess about the next word &lt;click&gt; Observe that it has also assigned probabilities to each of the alternatives.</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825043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24166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"When you're done" readable to your AI.</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5207487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 (Phil Rentier) writes: "[the original prompt] </a:t>
            </a:r>
            <a:r>
              <a:rPr lang="en-US" sz="1200" b="0" i="0" kern="1200" dirty="0">
                <a:solidFill>
                  <a:schemeClr val="tx1"/>
                </a:solidFill>
                <a:effectLst/>
                <a:latin typeface="+mn-lt"/>
                <a:ea typeface="+mn-ea"/>
                <a:cs typeface="+mn-cs"/>
              </a:rPr>
              <a:t>is the prompt equivalent of telling your GPS “take me somewhere nice.” You’ll end up </a:t>
            </a:r>
            <a:r>
              <a:rPr lang="en-US" sz="1200" b="0" i="1" kern="1200" dirty="0">
                <a:solidFill>
                  <a:schemeClr val="tx1"/>
                </a:solidFill>
                <a:effectLst/>
                <a:latin typeface="+mn-lt"/>
                <a:ea typeface="+mn-ea"/>
                <a:cs typeface="+mn-cs"/>
              </a:rPr>
              <a:t>somewhere</a:t>
            </a:r>
            <a:r>
              <a:rPr lang="en-US" sz="1200" b="0" i="0" kern="1200" dirty="0">
                <a:solidFill>
                  <a:schemeClr val="tx1"/>
                </a:solidFill>
                <a:effectLst/>
                <a:latin typeface="+mn-lt"/>
                <a:ea typeface="+mn-ea"/>
                <a:cs typeface="+mn-cs"/>
              </a:rPr>
              <a:t>. It might be a Michelin star restaurant. It might be a gas station in Ohio.</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778652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this pattern applies to other agents as well.</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4690689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8242112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129683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that Prof. Wand wrote. </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73928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731326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741596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Large portions of this slide deck were generated by Claude from the 3100 slides, which were in a Markdown dialect. Claude produced some slides, but they were in an entirely different design style. I then had to calibrate by giving Claude a sample of the slides we were using for this course, and Claude re-did the slides to match our style.</a:t>
            </a:r>
          </a:p>
          <a:p>
            <a:endParaRPr lang="en-US" dirty="0"/>
          </a:p>
          <a:p>
            <a:r>
              <a:rPr lang="en-US" dirty="0"/>
              <a:t>But the results were still far from perfect, and I spent a lot of time tweaking things-- splitting too-long bulleted lists into multiple slides, etc.</a:t>
            </a:r>
          </a:p>
          <a:p>
            <a:endParaRPr lang="en-US" dirty="0"/>
          </a:p>
          <a:p>
            <a:r>
              <a:rPr lang="en-US" dirty="0"/>
              <a:t>And this deck is the result of merging the Claude results with the similar slides I prepared for Fall 2025.</a:t>
            </a:r>
          </a:p>
          <a:p>
            <a:r>
              <a:rPr lang="en-US" dirty="0"/>
              <a:t>And also it incorporates more thinking about the subject, along with good new material I found on the web.</a:t>
            </a:r>
          </a:p>
          <a:p>
            <a:endParaRPr lang="en-US" dirty="0"/>
          </a:p>
          <a:p>
            <a:r>
              <a:rPr lang="en-US" dirty="0"/>
              <a:t>THE HUMAN MAKES THE FINAL DECISION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4027008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10001173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1112676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9FA94-A206-73EE-16EE-3C3B00217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94CDB-7627-04F4-253E-91D8DC140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0C682-DCBD-CEAC-2400-8F7D87357339}"/>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EDE372A5-2E08-9BE4-5DA4-BF3387A67D15}"/>
              </a:ext>
            </a:extLst>
          </p:cNvPr>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3427222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3/23/2026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3/23/2026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3/23/2026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3/23/2026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3/23/2026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3/23/2026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3/23/2026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3/23/2026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3/23/2026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3/23/2026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3/23/2026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medium.com/@rentierdigital/i-stopped-vibe-coding-and-started-prompt-contracts-claude-code-went-from-gambling-to-shipping-4080ef23efac"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16: Coding With AI Agents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r>
              <a:rPr lang="en-US" sz="2400" dirty="0"/>
              <a:t>based on material from Jon Bell</a:t>
            </a:r>
          </a:p>
          <a:p>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This Is Just the Beginning of Our Conversation</a:t>
            </a:r>
          </a:p>
        </p:txBody>
      </p:sp>
      <p:sp>
        <p:nvSpPr>
          <p:cNvPr id="3" name="Content Placeholder 2"/>
          <p:cNvSpPr>
            <a:spLocks noGrp="1"/>
          </p:cNvSpPr>
          <p:nvPr>
            <p:ph idx="1"/>
          </p:nvPr>
        </p:nvSpPr>
        <p:spPr/>
        <p:txBody>
          <a:bodyPr>
            <a:normAutofit/>
          </a:bodyPr>
          <a:lstStyle/>
          <a:p>
            <a:r>
              <a:rPr lang="en-US" dirty="0"/>
              <a:t>This topic is unlike anything covered so far:</a:t>
            </a:r>
          </a:p>
          <a:p>
            <a:pPr lvl="1"/>
            <a:r>
              <a:rPr lang="en-US" dirty="0"/>
              <a:t>The technology is evolving faster than any textbook can capture</a:t>
            </a:r>
          </a:p>
          <a:p>
            <a:pPr lvl="1"/>
            <a:r>
              <a:rPr lang="en-US" dirty="0"/>
              <a:t>There is genuine disagreement among experts about best practices</a:t>
            </a:r>
          </a:p>
          <a:p>
            <a:pPr lvl="1"/>
            <a:r>
              <a:rPr lang="en-US" dirty="0"/>
              <a:t>The hype is real—and so are the concerns</a:t>
            </a:r>
          </a:p>
          <a:p>
            <a:pPr lvl="1"/>
            <a:r>
              <a:rPr lang="en-US" dirty="0"/>
              <a:t>Your professors are learning alongside you, modeling the best practices we teach</a:t>
            </a:r>
          </a:p>
        </p:txBody>
      </p:sp>
      <p:sp>
        <p:nvSpPr>
          <p:cNvPr id="4" name="Slide Number Placeholder 3"/>
          <p:cNvSpPr>
            <a:spLocks noGrp="1"/>
          </p:cNvSpPr>
          <p:nvPr>
            <p:ph type="sldNum" sz="quarter" idx="12"/>
          </p:nvPr>
        </p:nvSpPr>
        <p:spPr/>
        <p:txBody>
          <a:bodyPr/>
          <a:lstStyle/>
          <a:p>
            <a:fld id="{20F37917-FD3A-4669-9018-DA04BCDD3D75}"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B59F7-F943-D131-4486-5A7A5E07E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747921-C340-4E3B-F8EA-859E17D5EB71}"/>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A027866-5943-EAFF-B95B-CDBBAC3FCB6E}"/>
              </a:ext>
            </a:extLst>
          </p:cNvPr>
          <p:cNvSpPr>
            <a:spLocks noGrp="1"/>
          </p:cNvSpPr>
          <p:nvPr>
            <p:ph idx="1"/>
          </p:nvPr>
        </p:nvSpPr>
        <p:spPr/>
        <p:txBody>
          <a:bodyPr>
            <a:normAutofit/>
          </a:bodyPr>
          <a:lstStyle/>
          <a:p>
            <a:r>
              <a:rPr lang="en-US" dirty="0"/>
              <a:t>By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760860A-70BC-1C53-7C90-3EF8E69CA061}"/>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604832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527B-80FC-87BE-E860-C89AA0CF49AF}"/>
              </a:ext>
            </a:extLst>
          </p:cNvPr>
          <p:cNvSpPr>
            <a:spLocks noGrp="1"/>
          </p:cNvSpPr>
          <p:nvPr>
            <p:ph type="title"/>
          </p:nvPr>
        </p:nvSpPr>
        <p:spPr>
          <a:xfrm>
            <a:off x="838200" y="365125"/>
            <a:ext cx="10515600" cy="1325563"/>
          </a:xfrm>
        </p:spPr>
        <p:txBody>
          <a:bodyPr anchor="b">
            <a:normAutofit/>
          </a:bodyPr>
          <a:lstStyle/>
          <a:p>
            <a:r>
              <a:rPr lang="en-US" dirty="0"/>
              <a:t>Our Slogan:</a:t>
            </a:r>
          </a:p>
        </p:txBody>
      </p:sp>
      <p:sp>
        <p:nvSpPr>
          <p:cNvPr id="13" name="Content Placeholder 2">
            <a:extLst>
              <a:ext uri="{FF2B5EF4-FFF2-40B4-BE49-F238E27FC236}">
                <a16:creationId xmlns:a16="http://schemas.microsoft.com/office/drawing/2014/main" id="{EB151071-294A-F995-93FE-3F67E262B62E}"/>
              </a:ext>
            </a:extLst>
          </p:cNvPr>
          <p:cNvSpPr>
            <a:spLocks noGrp="1"/>
          </p:cNvSpPr>
          <p:nvPr>
            <p:ph sz="half" idx="1"/>
          </p:nvPr>
        </p:nvSpPr>
        <p:spPr>
          <a:xfrm>
            <a:off x="838200" y="1825625"/>
            <a:ext cx="5181600" cy="4351338"/>
          </a:xfrm>
        </p:spPr>
        <p:txBody>
          <a:bodyPr anchor="ctr">
            <a:normAutofit/>
          </a:bodyPr>
          <a:lstStyle/>
          <a:p>
            <a:pPr marL="0" indent="0" algn="ctr">
              <a:buNone/>
            </a:pPr>
            <a:r>
              <a:rPr lang="en-US" sz="6000" dirty="0"/>
              <a:t>AI amplifies human capabilities; it doesn't replace them</a:t>
            </a:r>
          </a:p>
        </p:txBody>
      </p:sp>
      <p:pic>
        <p:nvPicPr>
          <p:cNvPr id="8" name="Content Placeholder 7" descr="A black background with a black square&#10;&#10;AI-generated content may be incorrect.">
            <a:extLst>
              <a:ext uri="{FF2B5EF4-FFF2-40B4-BE49-F238E27FC236}">
                <a16:creationId xmlns:a16="http://schemas.microsoft.com/office/drawing/2014/main" id="{EC2A5C55-3C4B-1D63-D920-5B2BEC612EE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738947" y="1825625"/>
            <a:ext cx="2564781" cy="2564781"/>
          </a:xfrm>
          <a:noFill/>
        </p:spPr>
      </p:pic>
      <p:sp>
        <p:nvSpPr>
          <p:cNvPr id="4" name="Slide Number Placeholder 3">
            <a:extLst>
              <a:ext uri="{FF2B5EF4-FFF2-40B4-BE49-F238E27FC236}">
                <a16:creationId xmlns:a16="http://schemas.microsoft.com/office/drawing/2014/main" id="{AC0D5BD4-5AB7-0476-E1AC-987EB8602F6B}"/>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20F37917-FD3A-4669-9018-DA04BCDD3D75}" type="slidenum">
              <a:rPr lang="en-US" smtClean="0"/>
              <a:pPr>
                <a:spcAft>
                  <a:spcPts val="600"/>
                </a:spcAft>
              </a:pPr>
              <a:t>4</a:t>
            </a:fld>
            <a:endParaRPr lang="en-US"/>
          </a:p>
        </p:txBody>
      </p:sp>
      <p:sp>
        <p:nvSpPr>
          <p:cNvPr id="9" name="TextBox 8">
            <a:extLst>
              <a:ext uri="{FF2B5EF4-FFF2-40B4-BE49-F238E27FC236}">
                <a16:creationId xmlns:a16="http://schemas.microsoft.com/office/drawing/2014/main" id="{24317F81-4DAC-18B3-E8AC-DACB99F40BCF}"/>
              </a:ext>
            </a:extLst>
          </p:cNvPr>
          <p:cNvSpPr txBox="1"/>
          <p:nvPr/>
        </p:nvSpPr>
        <p:spPr>
          <a:xfrm>
            <a:off x="2416036" y="6308209"/>
            <a:ext cx="94291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dirty="0">
                <a:solidFill>
                  <a:srgbClr val="AF00DB"/>
                </a:solidFill>
                <a:latin typeface="Consolas" panose="020B0609020204030204" pitchFamily="49" charset="0"/>
              </a:rPr>
              <a:t>https://thenounproject.com/browse/icons/term/ai-collaboration (CC BY 3.0)</a:t>
            </a:r>
            <a:endParaRPr lang="en-US" b="0" dirty="0">
              <a:solidFill>
                <a:srgbClr val="AF00DB"/>
              </a:solidFill>
              <a:effectLst/>
              <a:latin typeface="Consolas" panose="020B0609020204030204" pitchFamily="49" charset="0"/>
            </a:endParaRPr>
          </a:p>
        </p:txBody>
      </p:sp>
    </p:spTree>
    <p:extLst>
      <p:ext uri="{BB962C8B-B14F-4D97-AF65-F5344CB8AC3E}">
        <p14:creationId xmlns:p14="http://schemas.microsoft.com/office/powerpoint/2010/main" val="4160310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A9C703C-A96D-FEF5-BDE9-D1C52505F5D7}"/>
              </a:ext>
            </a:extLst>
          </p:cNvPr>
          <p:cNvSpPr>
            <a:spLocks noGrp="1"/>
          </p:cNvSpPr>
          <p:nvPr>
            <p:ph type="title"/>
          </p:nvPr>
        </p:nvSpPr>
        <p:spPr/>
        <p:txBody>
          <a:bodyPr/>
          <a:lstStyle/>
          <a:p>
            <a:r>
              <a:rPr lang="en-US" dirty="0"/>
              <a:t>Disclaimer</a:t>
            </a:r>
          </a:p>
        </p:txBody>
      </p:sp>
      <p:sp>
        <p:nvSpPr>
          <p:cNvPr id="7" name="Content Placeholder 6">
            <a:extLst>
              <a:ext uri="{FF2B5EF4-FFF2-40B4-BE49-F238E27FC236}">
                <a16:creationId xmlns:a16="http://schemas.microsoft.com/office/drawing/2014/main" id="{E9EED5E5-BFD2-42BB-33C3-63403B014727}"/>
              </a:ext>
            </a:extLst>
          </p:cNvPr>
          <p:cNvSpPr>
            <a:spLocks noGrp="1"/>
          </p:cNvSpPr>
          <p:nvPr>
            <p:ph idx="1"/>
          </p:nvPr>
        </p:nvSpPr>
        <p:spPr/>
        <p:txBody>
          <a:bodyPr/>
          <a:lstStyle/>
          <a:p>
            <a:r>
              <a:rPr lang="en-US" dirty="0"/>
              <a:t>I do not claim to be an expert on this subject</a:t>
            </a:r>
          </a:p>
          <a:p>
            <a:r>
              <a:rPr lang="en-US" dirty="0"/>
              <a:t>Much credit to Prof. Jon Bell and the CS 3100 team, on which this lecture is based.</a:t>
            </a:r>
          </a:p>
          <a:p>
            <a:endParaRPr lang="en-US" dirty="0"/>
          </a:p>
        </p:txBody>
      </p:sp>
      <p:sp>
        <p:nvSpPr>
          <p:cNvPr id="5" name="Slide Number Placeholder 4">
            <a:extLst>
              <a:ext uri="{FF2B5EF4-FFF2-40B4-BE49-F238E27FC236}">
                <a16:creationId xmlns:a16="http://schemas.microsoft.com/office/drawing/2014/main" id="{45B19BD3-7DA2-641A-8E91-C8CC6B43810A}"/>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328741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9B9F-9288-3181-47B5-402B46743ED0}"/>
              </a:ext>
            </a:extLst>
          </p:cNvPr>
          <p:cNvSpPr>
            <a:spLocks noGrp="1"/>
          </p:cNvSpPr>
          <p:nvPr>
            <p:ph type="title"/>
          </p:nvPr>
        </p:nvSpPr>
        <p:spPr/>
        <p:txBody>
          <a:bodyPr/>
          <a:lstStyle/>
          <a:p>
            <a:r>
              <a:rPr lang="en-US" dirty="0"/>
              <a:t>What is a Large Language Model (LLM?)</a:t>
            </a:r>
          </a:p>
        </p:txBody>
      </p:sp>
      <p:sp>
        <p:nvSpPr>
          <p:cNvPr id="3" name="Content Placeholder 2">
            <a:extLst>
              <a:ext uri="{FF2B5EF4-FFF2-40B4-BE49-F238E27FC236}">
                <a16:creationId xmlns:a16="http://schemas.microsoft.com/office/drawing/2014/main" id="{03A25CCF-4240-13AF-C6B6-0BD30B7C2170}"/>
              </a:ext>
            </a:extLst>
          </p:cNvPr>
          <p:cNvSpPr>
            <a:spLocks noGrp="1"/>
          </p:cNvSpPr>
          <p:nvPr>
            <p:ph idx="1"/>
          </p:nvPr>
        </p:nvSpPr>
        <p:spPr>
          <a:xfrm>
            <a:off x="838200" y="1467110"/>
            <a:ext cx="5829300" cy="4351338"/>
          </a:xfrm>
        </p:spPr>
        <p:txBody>
          <a:bodyPr>
            <a:normAutofit fontScale="92500" lnSpcReduction="10000"/>
          </a:bodyPr>
          <a:lstStyle/>
          <a:p>
            <a:r>
              <a:rPr lang="en-US" dirty="0"/>
              <a:t>Basically, it is an overgrown autocomplete.</a:t>
            </a:r>
          </a:p>
          <a:p>
            <a:r>
              <a:rPr lang="en-US" dirty="0"/>
              <a:t>Given a large database of texts and an initial segment of your input, it answers the question:</a:t>
            </a:r>
          </a:p>
          <a:p>
            <a:r>
              <a:rPr lang="en-US" dirty="0"/>
              <a:t>What is the most likely way in which this input would continue?</a:t>
            </a:r>
          </a:p>
          <a:p>
            <a:r>
              <a:rPr lang="en-US" dirty="0"/>
              <a:t>More accurately: it produces a probability distribution of likely continuations, and draws from that distribution (hence non-deterministic)</a:t>
            </a:r>
          </a:p>
        </p:txBody>
      </p:sp>
      <p:sp>
        <p:nvSpPr>
          <p:cNvPr id="4" name="Slide Number Placeholder 3">
            <a:extLst>
              <a:ext uri="{FF2B5EF4-FFF2-40B4-BE49-F238E27FC236}">
                <a16:creationId xmlns:a16="http://schemas.microsoft.com/office/drawing/2014/main" id="{4EBEDAF6-1B3E-FE98-06E4-9DB5D3A4FF2B}"/>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9" name="Picture 8">
            <a:extLst>
              <a:ext uri="{FF2B5EF4-FFF2-40B4-BE49-F238E27FC236}">
                <a16:creationId xmlns:a16="http://schemas.microsoft.com/office/drawing/2014/main" id="{B10960CE-ED6A-3DEF-B6B9-DD273B05C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3897" y="1343818"/>
            <a:ext cx="3949903" cy="5988358"/>
          </a:xfrm>
          <a:prstGeom prst="rect">
            <a:avLst/>
          </a:prstGeom>
        </p:spPr>
      </p:pic>
      <p:sp>
        <p:nvSpPr>
          <p:cNvPr id="5" name="Rectangle: Rounded Corners 4">
            <a:extLst>
              <a:ext uri="{FF2B5EF4-FFF2-40B4-BE49-F238E27FC236}">
                <a16:creationId xmlns:a16="http://schemas.microsoft.com/office/drawing/2014/main" id="{72384EFF-5AC9-A0B6-CF89-0AA12571735E}"/>
              </a:ext>
            </a:extLst>
          </p:cNvPr>
          <p:cNvSpPr/>
          <p:nvPr/>
        </p:nvSpPr>
        <p:spPr>
          <a:xfrm>
            <a:off x="8097253" y="3850105"/>
            <a:ext cx="2959768" cy="709863"/>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extLst>
      <p:ext uri="{BB962C8B-B14F-4D97-AF65-F5344CB8AC3E}">
        <p14:creationId xmlns:p14="http://schemas.microsoft.com/office/powerpoint/2010/main" val="387223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Why this matters</a:t>
            </a:r>
          </a:p>
        </p:txBody>
      </p:sp>
      <p:sp>
        <p:nvSpPr>
          <p:cNvPr id="5" name="Content Placeholder 4">
            <a:extLst>
              <a:ext uri="{FF2B5EF4-FFF2-40B4-BE49-F238E27FC236}">
                <a16:creationId xmlns:a16="http://schemas.microsoft.com/office/drawing/2014/main" id="{4384F351-8300-3415-9A42-5CD912600246}"/>
              </a:ext>
            </a:extLst>
          </p:cNvPr>
          <p:cNvSpPr>
            <a:spLocks noGrp="1"/>
          </p:cNvSpPr>
          <p:nvPr>
            <p:ph idx="1"/>
          </p:nvPr>
        </p:nvSpPr>
        <p:spPr/>
        <p:txBody>
          <a:bodyPr/>
          <a:lstStyle/>
          <a:p>
            <a:r>
              <a:rPr lang="en-US" dirty="0"/>
              <a:t>Explains hallucination: model predicts plausible-looking text, not necessarily true text</a:t>
            </a:r>
          </a:p>
          <a:p>
            <a:r>
              <a:rPr lang="en-US" dirty="0"/>
              <a:t>Explains why context matters: predictions depend on what came before</a:t>
            </a:r>
          </a:p>
          <a:p>
            <a:r>
              <a:rPr lang="en-US" dirty="0"/>
              <a:t>Explains strengths: patterns in code are highly predictable!</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E2C47-25F9-371D-0289-EBBC428D72CA}"/>
              </a:ext>
            </a:extLst>
          </p:cNvPr>
          <p:cNvSpPr>
            <a:spLocks noGrp="1"/>
          </p:cNvSpPr>
          <p:nvPr>
            <p:ph type="title"/>
          </p:nvPr>
        </p:nvSpPr>
        <p:spPr/>
        <p:txBody>
          <a:bodyPr/>
          <a:lstStyle/>
          <a:p>
            <a:r>
              <a:rPr lang="en-US" dirty="0"/>
              <a:t>What is an AI Coding Assistant?</a:t>
            </a:r>
          </a:p>
        </p:txBody>
      </p:sp>
      <p:sp>
        <p:nvSpPr>
          <p:cNvPr id="3" name="Content Placeholder 2">
            <a:extLst>
              <a:ext uri="{FF2B5EF4-FFF2-40B4-BE49-F238E27FC236}">
                <a16:creationId xmlns:a16="http://schemas.microsoft.com/office/drawing/2014/main" id="{8763C0F6-26DB-669B-0472-0425C2587BA5}"/>
              </a:ext>
            </a:extLst>
          </p:cNvPr>
          <p:cNvSpPr>
            <a:spLocks noGrp="1"/>
          </p:cNvSpPr>
          <p:nvPr>
            <p:ph idx="1"/>
          </p:nvPr>
        </p:nvSpPr>
        <p:spPr/>
        <p:txBody>
          <a:bodyPr/>
          <a:lstStyle/>
          <a:p>
            <a:r>
              <a:rPr lang="en-US" dirty="0"/>
              <a:t>An AI coding assistant typically consists of an LLM</a:t>
            </a:r>
          </a:p>
          <a:p>
            <a:pPr lvl="1"/>
            <a:r>
              <a:rPr lang="en-US" dirty="0"/>
              <a:t>trained on a large base of running code</a:t>
            </a:r>
          </a:p>
          <a:p>
            <a:pPr lvl="1"/>
            <a:r>
              <a:rPr lang="en-US" dirty="0"/>
              <a:t>operating in a loop with an IDE</a:t>
            </a:r>
          </a:p>
          <a:p>
            <a:pPr lvl="2"/>
            <a:r>
              <a:rPr lang="en-US" dirty="0"/>
              <a:t>it can add artifacts inside the IDE to its context</a:t>
            </a:r>
          </a:p>
          <a:p>
            <a:pPr lvl="2"/>
            <a:r>
              <a:rPr lang="en-US" dirty="0"/>
              <a:t>it can operate on your code (with your permission)</a:t>
            </a:r>
          </a:p>
        </p:txBody>
      </p:sp>
      <p:sp>
        <p:nvSpPr>
          <p:cNvPr id="4" name="Slide Number Placeholder 3">
            <a:extLst>
              <a:ext uri="{FF2B5EF4-FFF2-40B4-BE49-F238E27FC236}">
                <a16:creationId xmlns:a16="http://schemas.microsoft.com/office/drawing/2014/main" id="{FED3D2FF-2F59-07FB-15A4-3D7F192D81A5}"/>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175624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Coding Assistants: Strengths</a:t>
            </a:r>
          </a:p>
        </p:txBody>
      </p:sp>
      <p:sp>
        <p:nvSpPr>
          <p:cNvPr id="3" name="Content Placeholder 2"/>
          <p:cNvSpPr>
            <a:spLocks noGrp="1"/>
          </p:cNvSpPr>
          <p:nvPr>
            <p:ph idx="1"/>
          </p:nvPr>
        </p:nvSpPr>
        <p:spPr/>
        <p:txBody>
          <a:bodyPr>
            <a:normAutofit/>
          </a:bodyPr>
          <a:lstStyle/>
          <a:p>
            <a:r>
              <a:rPr lang="en-US" b="1" dirty="0"/>
              <a:t>Strengths:</a:t>
            </a:r>
          </a:p>
          <a:p>
            <a:pPr lvl="1"/>
            <a:r>
              <a:rPr lang="en-US" dirty="0"/>
              <a:t>Pattern recognition: recognizes and reproduces common coding patterns across millions of codebases</a:t>
            </a:r>
          </a:p>
          <a:p>
            <a:pPr lvl="1"/>
            <a:r>
              <a:rPr lang="en-US" dirty="0"/>
              <a:t>Syntax knowledge: extensive knowledge of languages, libraries, and frameworks</a:t>
            </a:r>
          </a:p>
          <a:p>
            <a:pPr lvl="1"/>
            <a:r>
              <a:rPr lang="en-US" dirty="0"/>
              <a:t>Cross-domain transfer: can apply patterns from one language to another</a:t>
            </a:r>
          </a:p>
          <a:p>
            <a:pPr lvl="1"/>
            <a:r>
              <a:rPr lang="en-US" dirty="0"/>
              <a:t>Rapid prototyping: generates boilerplate, tests, and common implementations quickly</a:t>
            </a:r>
          </a:p>
          <a:p>
            <a:pPr lvl="1"/>
            <a:r>
              <a:rPr lang="en-US" dirty="0"/>
              <a:t>AI in-the-loop: can run tests and evaluate the results</a:t>
            </a:r>
          </a:p>
          <a:p>
            <a:pPr lvl="2"/>
            <a:r>
              <a:rPr lang="en-US" dirty="0"/>
              <a:t>did it work? if not it can try something else</a:t>
            </a:r>
          </a:p>
        </p:txBody>
      </p:sp>
      <p:sp>
        <p:nvSpPr>
          <p:cNvPr id="4" name="Slide Number Placeholder 3"/>
          <p:cNvSpPr>
            <a:spLocks noGrp="1"/>
          </p:cNvSpPr>
          <p:nvPr>
            <p:ph type="sldNum" sz="quarter" idx="12"/>
          </p:nvPr>
        </p:nvSpPr>
        <p:spPr/>
        <p:txBody>
          <a:bodyPr/>
          <a:lstStyle/>
          <a:p>
            <a:fld id="{20F37917-FD3A-4669-9018-DA04BCDD3D75}"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9AB84-3277-7661-7E5C-C9534265FB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2CA1-3030-A88C-FBD7-DB04BD0510EB}"/>
              </a:ext>
            </a:extLst>
          </p:cNvPr>
          <p:cNvSpPr>
            <a:spLocks noGrp="1"/>
          </p:cNvSpPr>
          <p:nvPr>
            <p:ph type="title"/>
          </p:nvPr>
        </p:nvSpPr>
        <p:spPr/>
        <p:txBody>
          <a:bodyPr>
            <a:normAutofit/>
          </a:bodyPr>
          <a:lstStyle/>
          <a:p>
            <a:r>
              <a:rPr lang="en-US" sz="3200" dirty="0"/>
              <a:t>AI Coding Assistants: Limitations</a:t>
            </a:r>
          </a:p>
        </p:txBody>
      </p:sp>
      <p:sp>
        <p:nvSpPr>
          <p:cNvPr id="3" name="Content Placeholder 2">
            <a:extLst>
              <a:ext uri="{FF2B5EF4-FFF2-40B4-BE49-F238E27FC236}">
                <a16:creationId xmlns:a16="http://schemas.microsoft.com/office/drawing/2014/main" id="{D1884114-4089-DBDA-3432-AA8803D87824}"/>
              </a:ext>
            </a:extLst>
          </p:cNvPr>
          <p:cNvSpPr>
            <a:spLocks noGrp="1"/>
          </p:cNvSpPr>
          <p:nvPr>
            <p:ph idx="1"/>
          </p:nvPr>
        </p:nvSpPr>
        <p:spPr/>
        <p:txBody>
          <a:bodyPr>
            <a:normAutofit/>
          </a:bodyPr>
          <a:lstStyle/>
          <a:p>
            <a:r>
              <a:rPr lang="en-US" b="1" dirty="0"/>
              <a:t>Limitations:</a:t>
            </a:r>
          </a:p>
          <a:p>
            <a:pPr lvl="1"/>
            <a:r>
              <a:rPr lang="en-US" dirty="0"/>
              <a:t>Context window: can only see ~100K tokens at once — may miss parts of large codebases</a:t>
            </a:r>
          </a:p>
          <a:p>
            <a:pPr lvl="1"/>
            <a:r>
              <a:rPr lang="en-US" dirty="0"/>
              <a:t>Generates code based on patterns, not execution results</a:t>
            </a:r>
          </a:p>
          <a:p>
            <a:pPr lvl="1"/>
            <a:r>
              <a:rPr lang="en-US" dirty="0"/>
              <a:t>Hallucination: may generate plausible-looking code that doesn’t actually work</a:t>
            </a:r>
          </a:p>
          <a:p>
            <a:r>
              <a:rPr lang="en-US" i="1" dirty="0">
                <a:solidFill>
                  <a:srgbClr val="5C5962"/>
                </a:solidFill>
              </a:rPr>
              <a:t>Think of it as a well-read junior developer who has seen millions of codebases — but has never run your specific project.</a:t>
            </a:r>
          </a:p>
        </p:txBody>
      </p:sp>
      <p:sp>
        <p:nvSpPr>
          <p:cNvPr id="4" name="Slide Number Placeholder 3">
            <a:extLst>
              <a:ext uri="{FF2B5EF4-FFF2-40B4-BE49-F238E27FC236}">
                <a16:creationId xmlns:a16="http://schemas.microsoft.com/office/drawing/2014/main" id="{7D717E54-6CD7-9C07-43DB-3E964719F423}"/>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6476914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Context Is Everything</a:t>
            </a:r>
          </a:p>
        </p:txBody>
      </p:sp>
      <p:sp>
        <p:nvSpPr>
          <p:cNvPr id="3" name="Content Placeholder 2"/>
          <p:cNvSpPr>
            <a:spLocks noGrp="1"/>
          </p:cNvSpPr>
          <p:nvPr>
            <p:ph idx="1"/>
          </p:nvPr>
        </p:nvSpPr>
        <p:spPr/>
        <p:txBody>
          <a:bodyPr>
            <a:normAutofit/>
          </a:bodyPr>
          <a:lstStyle/>
          <a:p>
            <a:r>
              <a:rPr lang="en-US" b="1" dirty="0"/>
              <a:t>Rich context → High-quality output</a:t>
            </a:r>
          </a:p>
          <a:p>
            <a:r>
              <a:rPr lang="en-US" b="1" dirty="0"/>
              <a:t>Why IDE integration matters:</a:t>
            </a:r>
          </a:p>
          <a:p>
            <a:pPr lvl="1"/>
            <a:r>
              <a:rPr lang="en-US" dirty="0"/>
              <a:t>Copilot sees your open files → more context</a:t>
            </a:r>
          </a:p>
          <a:p>
            <a:pPr lvl="1"/>
            <a:r>
              <a:rPr lang="en-US" dirty="0"/>
              <a:t>Claude Code reads your whole codebase → even more context</a:t>
            </a:r>
          </a:p>
          <a:p>
            <a:pPr lvl="1"/>
            <a:r>
              <a:rPr lang="en-US" dirty="0"/>
              <a:t>More relevant context = better predictions</a:t>
            </a:r>
          </a:p>
        </p:txBody>
      </p:sp>
      <p:sp>
        <p:nvSpPr>
          <p:cNvPr id="4" name="Slide Number Placeholder 3"/>
          <p:cNvSpPr>
            <a:spLocks noGrp="1"/>
          </p:cNvSpPr>
          <p:nvPr>
            <p:ph type="sldNum" sz="quarter" idx="12"/>
          </p:nvPr>
        </p:nvSpPr>
        <p:spPr/>
        <p:txBody>
          <a:bodyPr/>
          <a:lstStyle/>
          <a:p>
            <a:fld id="{20F37917-FD3A-4669-9018-DA04BCDD3D75}"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Secret Sauce: Static Analysis Powers Context </a:t>
            </a:r>
          </a:p>
        </p:txBody>
      </p:sp>
      <p:sp>
        <p:nvSpPr>
          <p:cNvPr id="3" name="Content Placeholder 2"/>
          <p:cNvSpPr>
            <a:spLocks noGrp="1"/>
          </p:cNvSpPr>
          <p:nvPr>
            <p:ph idx="1"/>
          </p:nvPr>
        </p:nvSpPr>
        <p:spPr/>
        <p:txBody>
          <a:bodyPr>
            <a:normAutofit fontScale="92500"/>
          </a:bodyPr>
          <a:lstStyle/>
          <a:p>
            <a:r>
              <a:rPr lang="en-US" dirty="0"/>
              <a:t>How AI coding assistants automatically find the right context:</a:t>
            </a:r>
          </a:p>
          <a:p>
            <a:pPr lvl="1"/>
            <a:r>
              <a:rPr lang="en-US" dirty="0"/>
              <a:t>AST parsing: understands code structure, not just text</a:t>
            </a:r>
          </a:p>
          <a:p>
            <a:pPr lvl="1"/>
            <a:r>
              <a:rPr lang="en-US" dirty="0"/>
              <a:t>Semantic indexing: knows what symbols mean, where they’re defined</a:t>
            </a:r>
          </a:p>
          <a:p>
            <a:pPr lvl="1"/>
            <a:r>
              <a:rPr lang="en-US" dirty="0"/>
              <a:t>Call graphs: traces which functions call which</a:t>
            </a:r>
          </a:p>
          <a:p>
            <a:pPr lvl="1"/>
            <a:r>
              <a:rPr lang="en-US" dirty="0"/>
              <a:t>Type information: knows the types flowing through your code</a:t>
            </a:r>
          </a:p>
          <a:p>
            <a:r>
              <a:rPr lang="en-US" dirty="0"/>
              <a:t>When your cursor is in a method, the tool KNOWS the class you’re in, the interfaces it implements, the types of parameters, and available methods — and sends EXACTLY this to the LLM, not your whole codebase.</a:t>
            </a:r>
          </a:p>
        </p:txBody>
      </p:sp>
      <p:sp>
        <p:nvSpPr>
          <p:cNvPr id="4" name="Slide Number Placeholder 3"/>
          <p:cNvSpPr>
            <a:spLocks noGrp="1"/>
          </p:cNvSpPr>
          <p:nvPr>
            <p:ph type="sldNum" sz="quarter" idx="12"/>
          </p:nvPr>
        </p:nvSpPr>
        <p:spPr/>
        <p:txBody>
          <a:bodyPr/>
          <a:lstStyle/>
          <a:p>
            <a:fld id="{20F37917-FD3A-4669-9018-DA04BCDD3D75}"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EE8C-FB2B-C601-A2D3-6E6167E96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A242D-47E3-B9BD-91A6-DD9C94D5DD5E}"/>
              </a:ext>
            </a:extLst>
          </p:cNvPr>
          <p:cNvSpPr>
            <a:spLocks noGrp="1"/>
          </p:cNvSpPr>
          <p:nvPr>
            <p:ph type="title"/>
          </p:nvPr>
        </p:nvSpPr>
        <p:spPr/>
        <p:txBody>
          <a:bodyPr>
            <a:normAutofit/>
          </a:bodyPr>
          <a:lstStyle/>
          <a:p>
            <a:r>
              <a:rPr lang="en-US" sz="3200" dirty="0"/>
              <a:t>Static Analysis Can't Find Everything</a:t>
            </a:r>
          </a:p>
        </p:txBody>
      </p:sp>
      <p:sp>
        <p:nvSpPr>
          <p:cNvPr id="3" name="Content Placeholder 2">
            <a:extLst>
              <a:ext uri="{FF2B5EF4-FFF2-40B4-BE49-F238E27FC236}">
                <a16:creationId xmlns:a16="http://schemas.microsoft.com/office/drawing/2014/main" id="{6DE734B9-969F-93A5-9ABE-FB3705432F33}"/>
              </a:ext>
            </a:extLst>
          </p:cNvPr>
          <p:cNvSpPr>
            <a:spLocks noGrp="1"/>
          </p:cNvSpPr>
          <p:nvPr>
            <p:ph idx="1"/>
          </p:nvPr>
        </p:nvSpPr>
        <p:spPr/>
        <p:txBody>
          <a:bodyPr>
            <a:normAutofit/>
          </a:bodyPr>
          <a:lstStyle/>
          <a:p>
            <a:r>
              <a:rPr lang="en-US" dirty="0"/>
              <a:t>What tools can auto-find: related files, type definitions, call graphs, similar patterns, test files</a:t>
            </a:r>
          </a:p>
          <a:p>
            <a:r>
              <a:rPr lang="en-US" b="1" dirty="0">
                <a:solidFill>
                  <a:srgbClr val="D41B2C"/>
                </a:solidFill>
              </a:rPr>
              <a:t>What tools cannot auto-find: why a design was chosen, undocumented requirements, knowledge in your head</a:t>
            </a:r>
          </a:p>
          <a:p>
            <a:r>
              <a:rPr lang="en-US" i="1" dirty="0">
                <a:solidFill>
                  <a:srgbClr val="4472C4"/>
                </a:solidFill>
              </a:rPr>
              <a:t>This is why DESIGN.md and documentation matter — it’s context the tool CAN find.</a:t>
            </a:r>
          </a:p>
        </p:txBody>
      </p:sp>
      <p:sp>
        <p:nvSpPr>
          <p:cNvPr id="4" name="Slide Number Placeholder 3">
            <a:extLst>
              <a:ext uri="{FF2B5EF4-FFF2-40B4-BE49-F238E27FC236}">
                <a16:creationId xmlns:a16="http://schemas.microsoft.com/office/drawing/2014/main" id="{F9EACA1C-E946-B78E-FEC2-A2242D29D247}"/>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2700227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 6-Step Human-AI Collaboration Workflow</a:t>
            </a:r>
          </a:p>
        </p:txBody>
      </p:sp>
      <p:sp>
        <p:nvSpPr>
          <p:cNvPr id="5" name="Content Placeholder 4">
            <a:extLst>
              <a:ext uri="{FF2B5EF4-FFF2-40B4-BE49-F238E27FC236}">
                <a16:creationId xmlns:a16="http://schemas.microsoft.com/office/drawing/2014/main" id="{151A1E71-1B77-1F1F-9229-E11AD4A1957C}"/>
              </a:ext>
            </a:extLst>
          </p:cNvPr>
          <p:cNvSpPr>
            <a:spLocks noGrp="1"/>
          </p:cNvSpPr>
          <p:nvPr>
            <p:ph idx="1"/>
          </p:nvPr>
        </p:nvSpPr>
        <p:spPr/>
        <p:txBody>
          <a:bodyPr>
            <a:normAutofit/>
          </a:bodyPr>
          <a:lstStyle/>
          <a:p>
            <a:r>
              <a:rPr lang="en-US" dirty="0"/>
              <a:t>Identify — recognize what information AI needs</a:t>
            </a:r>
          </a:p>
          <a:p>
            <a:r>
              <a:rPr lang="en-US" dirty="0"/>
              <a:t>Engage — craft effective prompts with context</a:t>
            </a:r>
          </a:p>
          <a:p>
            <a:r>
              <a:rPr lang="en-US" dirty="0"/>
              <a:t>Evaluate — critically assess AI outputs against your success criteria</a:t>
            </a:r>
          </a:p>
          <a:p>
            <a:r>
              <a:rPr lang="en-US" dirty="0"/>
              <a:t>Calibrate — steer AI toward desired outcomes through feedback</a:t>
            </a:r>
          </a:p>
          <a:p>
            <a:r>
              <a:rPr lang="en-US" dirty="0"/>
              <a:t>Tweak — manually refine generated artifacts</a:t>
            </a:r>
          </a:p>
          <a:p>
            <a:r>
              <a:rPr lang="en-US" dirty="0"/>
              <a:t>Finalize — document decisions and rationale</a:t>
            </a:r>
          </a:p>
          <a:p>
            <a:pPr marL="514350" indent="-514350">
              <a:buFont typeface="+mj-lt"/>
              <a:buAutoNum type="arabicPeriod"/>
            </a:pPr>
            <a:endParaRPr lang="en-US" dirty="0"/>
          </a:p>
          <a:p>
            <a:pPr marL="514350" indent="-514350">
              <a:buFont typeface="+mj-lt"/>
              <a:buAutoNum type="arabicPeriod"/>
            </a:pPr>
            <a:endParaRPr lang="en-US" dirty="0"/>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14</a:t>
            </a:fld>
            <a:endParaRPr lang="en-US"/>
          </a:p>
        </p:txBody>
      </p:sp>
      <p:sp>
        <p:nvSpPr>
          <p:cNvPr id="6" name="TextBox 5">
            <a:extLst>
              <a:ext uri="{FF2B5EF4-FFF2-40B4-BE49-F238E27FC236}">
                <a16:creationId xmlns:a16="http://schemas.microsoft.com/office/drawing/2014/main" id="{0D526033-CFDE-2716-3A61-18D79E09EC43}"/>
              </a:ext>
            </a:extLst>
          </p:cNvPr>
          <p:cNvSpPr txBox="1"/>
          <p:nvPr/>
        </p:nvSpPr>
        <p:spPr>
          <a:xfrm>
            <a:off x="8995143" y="2068867"/>
            <a:ext cx="2743200" cy="269003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Based on Google research studying 21 expert developers working with AI</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This is not a rigid sequence — steps may overlap and you will often loop back.</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51AF-6752-FE35-2263-484D0226FE2D}"/>
              </a:ext>
            </a:extLst>
          </p:cNvPr>
          <p:cNvSpPr>
            <a:spLocks noGrp="1"/>
          </p:cNvSpPr>
          <p:nvPr>
            <p:ph type="title"/>
          </p:nvPr>
        </p:nvSpPr>
        <p:spPr/>
        <p:txBody>
          <a:bodyPr/>
          <a:lstStyle/>
          <a:p>
            <a:r>
              <a:rPr lang="en-US" dirty="0"/>
              <a:t>Identify: what information does the AI need?</a:t>
            </a:r>
          </a:p>
        </p:txBody>
      </p:sp>
      <p:sp>
        <p:nvSpPr>
          <p:cNvPr id="3" name="Content Placeholder 2">
            <a:extLst>
              <a:ext uri="{FF2B5EF4-FFF2-40B4-BE49-F238E27FC236}">
                <a16:creationId xmlns:a16="http://schemas.microsoft.com/office/drawing/2014/main" id="{4635FB2B-F42A-88A9-6945-BA0EB7792ABC}"/>
              </a:ext>
            </a:extLst>
          </p:cNvPr>
          <p:cNvSpPr>
            <a:spLocks noGrp="1"/>
          </p:cNvSpPr>
          <p:nvPr>
            <p:ph idx="1"/>
          </p:nvPr>
        </p:nvSpPr>
        <p:spPr/>
        <p:txBody>
          <a:bodyPr>
            <a:normAutofit/>
          </a:bodyPr>
          <a:lstStyle/>
          <a:p>
            <a:r>
              <a:rPr lang="en-US" dirty="0"/>
              <a:t>What are the domain concepts?</a:t>
            </a:r>
          </a:p>
          <a:p>
            <a:r>
              <a:rPr lang="en-US" dirty="0"/>
              <a:t>What level of detail is needed for the initial domain model?</a:t>
            </a:r>
          </a:p>
          <a:p>
            <a:r>
              <a:rPr lang="en-US" dirty="0"/>
              <a:t>What requirements information should be captured (user stories, functional requirements, non-functional requirements)?</a:t>
            </a:r>
          </a:p>
          <a:p>
            <a:r>
              <a:rPr lang="en-US" dirty="0"/>
              <a:t>What design artifacts would be useful for us to generate and maintain?</a:t>
            </a:r>
          </a:p>
          <a:p>
            <a:endParaRPr lang="en-US" dirty="0"/>
          </a:p>
        </p:txBody>
      </p:sp>
      <p:sp>
        <p:nvSpPr>
          <p:cNvPr id="4" name="Slide Number Placeholder 3">
            <a:extLst>
              <a:ext uri="{FF2B5EF4-FFF2-40B4-BE49-F238E27FC236}">
                <a16:creationId xmlns:a16="http://schemas.microsoft.com/office/drawing/2014/main" id="{0941EC46-8BF1-31F4-B020-C3D4B2915442}"/>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1592248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much context you need to provide depends on three things:</a:t>
            </a:r>
          </a:p>
        </p:txBody>
      </p:sp>
      <p:sp>
        <p:nvSpPr>
          <p:cNvPr id="7" name="Content Placeholder 6">
            <a:extLst>
              <a:ext uri="{FF2B5EF4-FFF2-40B4-BE49-F238E27FC236}">
                <a16:creationId xmlns:a16="http://schemas.microsoft.com/office/drawing/2014/main" id="{A0D390A0-5D64-D4F8-572E-02B63436AD0A}"/>
              </a:ext>
            </a:extLst>
          </p:cNvPr>
          <p:cNvSpPr>
            <a:spLocks noGrp="1"/>
          </p:cNvSpPr>
          <p:nvPr>
            <p:ph idx="1"/>
          </p:nvPr>
        </p:nvSpPr>
        <p:spPr/>
        <p:txBody>
          <a:bodyPr>
            <a:normAutofit fontScale="92500" lnSpcReduction="20000"/>
          </a:bodyPr>
          <a:lstStyle/>
          <a:p>
            <a:pPr marL="514350" indent="-514350">
              <a:buFont typeface="+mj-lt"/>
              <a:buAutoNum type="arabicPeriod"/>
            </a:pPr>
            <a:r>
              <a:rPr lang="en-US" b="1" dirty="0"/>
              <a:t>Your understanding: </a:t>
            </a:r>
            <a:r>
              <a:rPr lang="en-US" dirty="0"/>
              <a:t>Experts know exactly what context matters; novices may not know what to include. You can only identify relevant context for things you understand.</a:t>
            </a:r>
          </a:p>
          <a:p>
            <a:pPr marL="514350" indent="-514350">
              <a:buFont typeface="+mj-lt"/>
              <a:buAutoNum type="arabicPeriod"/>
            </a:pPr>
            <a:r>
              <a:rPr lang="en-US" b="1" dirty="0"/>
              <a:t>Model capabilities: </a:t>
            </a:r>
            <a:r>
              <a:rPr lang="en-US" dirty="0"/>
              <a:t>Frontier models infer much more from less. GPT-3.5 needed explicit instructions; Claude Opus can often infer intent.</a:t>
            </a:r>
          </a:p>
          <a:p>
            <a:pPr marL="514350" indent="-514350">
              <a:buFont typeface="+mj-lt"/>
              <a:buAutoNum type="arabicPeriod"/>
            </a:pPr>
            <a:r>
              <a:rPr lang="en-US" b="1" dirty="0"/>
              <a:t>Tool capabilities: </a:t>
            </a:r>
            <a:r>
              <a:rPr lang="en-US" dirty="0"/>
              <a:t>Basic Copilot sees only your open files. Cursor and Claude Code index your entire codebase and find files automatically.</a:t>
            </a:r>
          </a:p>
          <a:p>
            <a:r>
              <a:rPr lang="en-US" dirty="0"/>
              <a:t>When all three are HIGH: just describe intent — the system figures out context. When any is LOW: you must compensate manually</a:t>
            </a:r>
          </a:p>
        </p:txBody>
      </p:sp>
      <p:sp>
        <p:nvSpPr>
          <p:cNvPr id="4" name="Slide Number Placeholder 3"/>
          <p:cNvSpPr>
            <a:spLocks noGrp="1"/>
          </p:cNvSpPr>
          <p:nvPr>
            <p:ph type="sldNum" sz="quarter" idx="12"/>
          </p:nvPr>
        </p:nvSpPr>
        <p:spPr/>
        <p:txBody>
          <a:bodyPr/>
          <a:lstStyle/>
          <a:p>
            <a:fld id="{20F37917-FD3A-4669-9018-DA04BCDD3D75}"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AA3AF-7602-FFBD-5A00-2D1498E185C0}"/>
              </a:ext>
            </a:extLst>
          </p:cNvPr>
          <p:cNvSpPr>
            <a:spLocks noGrp="1"/>
          </p:cNvSpPr>
          <p:nvPr>
            <p:ph type="title"/>
          </p:nvPr>
        </p:nvSpPr>
        <p:spPr/>
        <p:txBody>
          <a:bodyPr/>
          <a:lstStyle/>
          <a:p>
            <a:r>
              <a:rPr lang="en-US" dirty="0"/>
              <a:t>Step 2: Engage</a:t>
            </a:r>
          </a:p>
        </p:txBody>
      </p:sp>
      <p:sp>
        <p:nvSpPr>
          <p:cNvPr id="3" name="Content Placeholder 2">
            <a:extLst>
              <a:ext uri="{FF2B5EF4-FFF2-40B4-BE49-F238E27FC236}">
                <a16:creationId xmlns:a16="http://schemas.microsoft.com/office/drawing/2014/main" id="{B6AE8898-D8E2-04AA-DCA8-ECCC8552D227}"/>
              </a:ext>
            </a:extLst>
          </p:cNvPr>
          <p:cNvSpPr>
            <a:spLocks noGrp="1"/>
          </p:cNvSpPr>
          <p:nvPr>
            <p:ph idx="1"/>
          </p:nvPr>
        </p:nvSpPr>
        <p:spPr/>
        <p:txBody>
          <a:bodyPr/>
          <a:lstStyle/>
          <a:p>
            <a:r>
              <a:rPr lang="en-US" dirty="0"/>
              <a:t>Craft effective prompts</a:t>
            </a:r>
          </a:p>
          <a:p>
            <a:r>
              <a:rPr lang="en-US" dirty="0"/>
              <a:t>The Plan-First Pattern and Contract-Prompt Pattern provide useful guidance for this step</a:t>
            </a:r>
          </a:p>
          <a:p>
            <a:endParaRPr lang="en-US" dirty="0"/>
          </a:p>
        </p:txBody>
      </p:sp>
      <p:sp>
        <p:nvSpPr>
          <p:cNvPr id="4" name="Slide Number Placeholder 3">
            <a:extLst>
              <a:ext uri="{FF2B5EF4-FFF2-40B4-BE49-F238E27FC236}">
                <a16:creationId xmlns:a16="http://schemas.microsoft.com/office/drawing/2014/main" id="{8A92A562-187C-68B4-6158-E191260FB69D}"/>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27619051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Plan-First Pattern, Part 1</a:t>
            </a:r>
          </a:p>
        </p:txBody>
      </p:sp>
      <p:sp>
        <p:nvSpPr>
          <p:cNvPr id="5" name="Content Placeholder 4">
            <a:extLst>
              <a:ext uri="{FF2B5EF4-FFF2-40B4-BE49-F238E27FC236}">
                <a16:creationId xmlns:a16="http://schemas.microsoft.com/office/drawing/2014/main" id="{DCB7043B-19FA-052C-AD68-FB77DF1F966E}"/>
              </a:ext>
            </a:extLst>
          </p:cNvPr>
          <p:cNvSpPr>
            <a:spLocks noGrp="1"/>
          </p:cNvSpPr>
          <p:nvPr>
            <p:ph idx="1"/>
          </p:nvPr>
        </p:nvSpPr>
        <p:spPr/>
        <p:txBody>
          <a:bodyPr>
            <a:normAutofit fontScale="92500" lnSpcReduction="20000"/>
          </a:bodyPr>
          <a:lstStyle/>
          <a:p>
            <a:r>
              <a:rPr lang="en-US" dirty="0"/>
              <a:t>Have the AI generate a PLAN first; generate code only after plan passes review.</a:t>
            </a:r>
          </a:p>
          <a:p>
            <a:r>
              <a:rPr lang="en-US" dirty="0"/>
              <a:t>A plan has a small evaluation surface (easier to review)</a:t>
            </a:r>
          </a:p>
          <a:p>
            <a:r>
              <a:rPr lang="en-US" dirty="0"/>
              <a:t>Expert review: “Wait, we should use sessions not JWT for this use case”</a:t>
            </a:r>
          </a:p>
          <a:p>
            <a:pPr lvl="1"/>
            <a:r>
              <a:rPr lang="en-US" dirty="0"/>
              <a:t>plan exposes architectural issues early.</a:t>
            </a:r>
          </a:p>
          <a:p>
            <a:r>
              <a:rPr lang="en-US" dirty="0"/>
              <a:t>Learner review: “I don’t know what JWT is — I should learn that before approving!”</a:t>
            </a:r>
          </a:p>
          <a:p>
            <a:pPr lvl="1"/>
            <a:r>
              <a:rPr lang="en-US" dirty="0"/>
              <a:t>plan reveals knowledge gaps.</a:t>
            </a:r>
          </a:p>
          <a:p>
            <a:r>
              <a:rPr lang="en-US" dirty="0"/>
              <a:t>Cost to fix at this stage: LOW</a:t>
            </a:r>
          </a:p>
          <a:p>
            <a:r>
              <a:rPr lang="en-US" b="1" dirty="0">
                <a:solidFill>
                  <a:srgbClr val="D41B2C"/>
                </a:solidFill>
              </a:rPr>
              <a:t>If you can’t evaluate the PLAN, you can’t evaluate the CODE. Plans reveal knowledge gaps early.</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63DA-DB94-FF7D-535E-5372E797B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CC5CD4-483E-2B9A-5B04-6C139303AA55}"/>
              </a:ext>
            </a:extLst>
          </p:cNvPr>
          <p:cNvSpPr>
            <a:spLocks noGrp="1"/>
          </p:cNvSpPr>
          <p:nvPr>
            <p:ph type="title"/>
          </p:nvPr>
        </p:nvSpPr>
        <p:spPr/>
        <p:txBody>
          <a:bodyPr>
            <a:normAutofit/>
          </a:bodyPr>
          <a:lstStyle/>
          <a:p>
            <a:r>
              <a:rPr lang="en-US" sz="3200" dirty="0"/>
              <a:t>The Plan-First Pattern, Part 2: </a:t>
            </a:r>
            <a:br>
              <a:rPr lang="en-US" sz="3200" dirty="0"/>
            </a:br>
            <a:r>
              <a:rPr lang="en-US" sz="3200" dirty="0"/>
              <a:t>Verify that the code matches the blueprint</a:t>
            </a:r>
          </a:p>
        </p:txBody>
      </p:sp>
      <p:sp>
        <p:nvSpPr>
          <p:cNvPr id="5" name="Content Placeholder 4">
            <a:extLst>
              <a:ext uri="{FF2B5EF4-FFF2-40B4-BE49-F238E27FC236}">
                <a16:creationId xmlns:a16="http://schemas.microsoft.com/office/drawing/2014/main" id="{996CBDD9-A8E6-BD26-675F-982B71CE60ED}"/>
              </a:ext>
            </a:extLst>
          </p:cNvPr>
          <p:cNvSpPr>
            <a:spLocks noGrp="1"/>
          </p:cNvSpPr>
          <p:nvPr>
            <p:ph idx="1"/>
          </p:nvPr>
        </p:nvSpPr>
        <p:spPr/>
        <p:txBody>
          <a:bodyPr>
            <a:normAutofit/>
          </a:bodyPr>
          <a:lstStyle/>
          <a:p>
            <a:r>
              <a:rPr lang="en-US" dirty="0"/>
              <a:t>After plan approval, AI generates code. Review code WITH the plan as a checklist.</a:t>
            </a:r>
          </a:p>
          <a:p>
            <a:r>
              <a:rPr lang="en-US" dirty="0"/>
              <a:t>“I know what to look for because I already approved the approach.”</a:t>
            </a:r>
          </a:p>
          <a:p>
            <a:r>
              <a:rPr lang="en-US" b="1" dirty="0">
                <a:solidFill>
                  <a:srgbClr val="D41B2C"/>
                </a:solidFill>
              </a:rPr>
              <a:t>If you can’t evaluate the PLAN, you can’t evaluate the CODE. Plans reveal knowledge gaps early.</a:t>
            </a:r>
          </a:p>
          <a:p>
            <a:r>
              <a:rPr lang="en-US" dirty="0"/>
              <a:t>Advanced usage: some of this review can be automated (with a separate, isolated AI)</a:t>
            </a:r>
          </a:p>
          <a:p>
            <a:r>
              <a:rPr lang="en-US" dirty="0"/>
              <a:t>But then you still have to review the review!</a:t>
            </a:r>
          </a:p>
          <a:p>
            <a:endParaRPr lang="en-US" dirty="0"/>
          </a:p>
        </p:txBody>
      </p:sp>
      <p:sp>
        <p:nvSpPr>
          <p:cNvPr id="4" name="Slide Number Placeholder 3">
            <a:extLst>
              <a:ext uri="{FF2B5EF4-FFF2-40B4-BE49-F238E27FC236}">
                <a16:creationId xmlns:a16="http://schemas.microsoft.com/office/drawing/2014/main" id="{C3325441-4731-9FEF-45FC-960907647DE9}"/>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30466098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D5A28-AD8F-D9A9-AEE8-01682F93F928}"/>
              </a:ext>
            </a:extLst>
          </p:cNvPr>
          <p:cNvSpPr>
            <a:spLocks noGrp="1"/>
          </p:cNvSpPr>
          <p:nvPr>
            <p:ph type="title"/>
          </p:nvPr>
        </p:nvSpPr>
        <p:spPr/>
        <p:txBody>
          <a:bodyPr/>
          <a:lstStyle/>
          <a:p>
            <a:r>
              <a:rPr lang="en-US" dirty="0"/>
              <a:t>You also need a plan to evaluate the plan (and the code)</a:t>
            </a:r>
          </a:p>
        </p:txBody>
      </p:sp>
      <p:sp>
        <p:nvSpPr>
          <p:cNvPr id="3" name="Content Placeholder 2">
            <a:extLst>
              <a:ext uri="{FF2B5EF4-FFF2-40B4-BE49-F238E27FC236}">
                <a16:creationId xmlns:a16="http://schemas.microsoft.com/office/drawing/2014/main" id="{290ED7E8-3C18-599D-F26A-1605F1D824E5}"/>
              </a:ext>
            </a:extLst>
          </p:cNvPr>
          <p:cNvSpPr>
            <a:spLocks noGrp="1"/>
          </p:cNvSpPr>
          <p:nvPr>
            <p:ph idx="1"/>
          </p:nvPr>
        </p:nvSpPr>
        <p:spPr/>
        <p:txBody>
          <a:bodyPr/>
          <a:lstStyle/>
          <a:p>
            <a:r>
              <a:rPr lang="en-US" dirty="0"/>
              <a:t>Assess AI outputs against expected results utilizing domain knowledge. </a:t>
            </a:r>
          </a:p>
          <a:p>
            <a:r>
              <a:rPr lang="en-US" dirty="0"/>
              <a:t>Compare output against expected end results and other success criteria.</a:t>
            </a:r>
          </a:p>
        </p:txBody>
      </p:sp>
      <p:sp>
        <p:nvSpPr>
          <p:cNvPr id="4" name="Slide Number Placeholder 3">
            <a:extLst>
              <a:ext uri="{FF2B5EF4-FFF2-40B4-BE49-F238E27FC236}">
                <a16:creationId xmlns:a16="http://schemas.microsoft.com/office/drawing/2014/main" id="{B402D061-2A18-B7F7-2B73-11D3EB76D128}"/>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20362978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Do You Know You’re Done?</a:t>
            </a:r>
          </a:p>
        </p:txBody>
      </p:sp>
      <p:sp>
        <p:nvSpPr>
          <p:cNvPr id="5" name="Content Placeholder 4">
            <a:extLst>
              <a:ext uri="{FF2B5EF4-FFF2-40B4-BE49-F238E27FC236}">
                <a16:creationId xmlns:a16="http://schemas.microsoft.com/office/drawing/2014/main" id="{3F46EACA-F5AA-4460-6349-07C7D3411E77}"/>
              </a:ext>
            </a:extLst>
          </p:cNvPr>
          <p:cNvSpPr>
            <a:spLocks noGrp="1"/>
          </p:cNvSpPr>
          <p:nvPr>
            <p:ph idx="1"/>
          </p:nvPr>
        </p:nvSpPr>
        <p:spPr/>
        <p:txBody>
          <a:bodyPr>
            <a:normAutofit fontScale="92500" lnSpcReduction="10000"/>
          </a:bodyPr>
          <a:lstStyle/>
          <a:p>
            <a:r>
              <a:rPr lang="en-US" b="1" dirty="0"/>
              <a:t>Whether waterfall or agile, you need to know what “done” means BEFORE you start each piece of work.</a:t>
            </a:r>
          </a:p>
          <a:p>
            <a:r>
              <a:rPr lang="en-US" b="1" dirty="0"/>
              <a:t>Without a definition of done:</a:t>
            </a:r>
          </a:p>
          <a:p>
            <a:pPr lvl="1"/>
            <a:r>
              <a:rPr lang="en-US" dirty="0"/>
              <a:t>“Make it better” — but better how? Better for whom?</a:t>
            </a:r>
          </a:p>
          <a:p>
            <a:pPr lvl="1"/>
            <a:r>
              <a:rPr lang="en-US" dirty="0"/>
              <a:t>Endless tweaking with no exit condition</a:t>
            </a:r>
          </a:p>
          <a:p>
            <a:pPr lvl="1"/>
            <a:r>
              <a:rPr lang="en-US" dirty="0"/>
              <a:t>“I’ll know it when I see it” rarely works in practice</a:t>
            </a:r>
          </a:p>
          <a:p>
            <a:r>
              <a:rPr lang="en-US" b="1" dirty="0"/>
              <a:t>With a definition of done:</a:t>
            </a:r>
          </a:p>
          <a:p>
            <a:pPr lvl="1"/>
            <a:r>
              <a:rPr lang="en-US" dirty="0"/>
              <a:t>Clear success criteria BEFORE you start prompting (or coding)</a:t>
            </a:r>
          </a:p>
          <a:p>
            <a:pPr lvl="1"/>
            <a:r>
              <a:rPr lang="en-US" dirty="0"/>
              <a:t>Each output can be checked against the criteria</a:t>
            </a:r>
          </a:p>
          <a:p>
            <a:pPr lvl="1"/>
            <a:r>
              <a:rPr lang="en-US" dirty="0"/>
              <a:t>The plan you approved in Plan Mode IS your definition of done</a:t>
            </a:r>
          </a:p>
          <a:p>
            <a:r>
              <a:rPr lang="en-US" dirty="0"/>
              <a:t>Remember: user stories, conditions of satisfaction, etc.</a:t>
            </a:r>
          </a:p>
          <a:p>
            <a:pPr marL="0" indent="0">
              <a:buNone/>
            </a:pPr>
            <a:endParaRPr lang="en-US" i="1" dirty="0">
              <a:solidFill>
                <a:srgbClr val="4472C4"/>
              </a:solidFill>
            </a:endParaRP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If you can't evaluate the AI output, maybe you shouldn't be using so much AI</a:t>
            </a:r>
          </a:p>
        </p:txBody>
      </p:sp>
      <p:sp>
        <p:nvSpPr>
          <p:cNvPr id="3" name="Content Placeholder 2"/>
          <p:cNvSpPr>
            <a:spLocks noGrp="1"/>
          </p:cNvSpPr>
          <p:nvPr>
            <p:ph idx="1"/>
          </p:nvPr>
        </p:nvSpPr>
        <p:spPr/>
        <p:txBody>
          <a:bodyPr>
            <a:normAutofit fontScale="92500" lnSpcReduction="10000"/>
          </a:bodyPr>
          <a:lstStyle/>
          <a:p>
            <a:r>
              <a:rPr lang="en-US" b="1" dirty="0"/>
              <a:t>Easy to evaluate — use AI freely:</a:t>
            </a:r>
          </a:p>
          <a:p>
            <a:pPr lvl="1"/>
            <a:r>
              <a:rPr lang="en-US" dirty="0"/>
              <a:t>Does the script run? Does it compile? Does the test pass? (binary yes/no — verify immediately)</a:t>
            </a:r>
          </a:p>
          <a:p>
            <a:r>
              <a:rPr lang="en-US" b="1" dirty="0"/>
              <a:t>Hard to evaluate — use AI carefully:</a:t>
            </a:r>
          </a:p>
          <a:p>
            <a:pPr lvl="1"/>
            <a:r>
              <a:rPr lang="en-US" dirty="0"/>
              <a:t>Does the quiz have confusing questions? → Give it to 100 students and find out</a:t>
            </a:r>
          </a:p>
          <a:p>
            <a:pPr lvl="1"/>
            <a:r>
              <a:rPr lang="en-US" dirty="0"/>
              <a:t>Is this architecture scalable? → Wait 6 months in production</a:t>
            </a:r>
          </a:p>
          <a:p>
            <a:pPr lvl="1"/>
            <a:r>
              <a:rPr lang="en-US" dirty="0"/>
              <a:t>Will users find this intuitive? → Ship and measure</a:t>
            </a:r>
          </a:p>
          <a:p>
            <a:r>
              <a:rPr lang="en-US" b="1" dirty="0">
                <a:solidFill>
                  <a:srgbClr val="4472C4"/>
                </a:solidFill>
              </a:rPr>
              <a:t>AI can help you GENERATE for any task. But for hard-to-evaluate outcomes, don’t rely on AI to EVALUATE — you need external validation: user testing, expert review, time in production.</a:t>
            </a:r>
          </a:p>
        </p:txBody>
      </p:sp>
      <p:sp>
        <p:nvSpPr>
          <p:cNvPr id="4" name="Slide Number Placeholder 3"/>
          <p:cNvSpPr>
            <a:spLocks noGrp="1"/>
          </p:cNvSpPr>
          <p:nvPr>
            <p:ph type="sldNum" sz="quarter" idx="12"/>
          </p:nvPr>
        </p:nvSpPr>
        <p:spPr/>
        <p:txBody>
          <a:bodyPr/>
          <a:lstStyle/>
          <a:p>
            <a:fld id="{20F37917-FD3A-4669-9018-DA04BCDD3D75}"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94322-1B41-ACC9-73CC-381A4724CF28}"/>
              </a:ext>
            </a:extLst>
          </p:cNvPr>
          <p:cNvSpPr>
            <a:spLocks noGrp="1"/>
          </p:cNvSpPr>
          <p:nvPr>
            <p:ph type="title"/>
          </p:nvPr>
        </p:nvSpPr>
        <p:spPr/>
        <p:txBody>
          <a:bodyPr/>
          <a:lstStyle/>
          <a:p>
            <a:r>
              <a:rPr lang="en-US" dirty="0"/>
              <a:t>The Contract-Prompt Pattern</a:t>
            </a:r>
          </a:p>
        </p:txBody>
      </p:sp>
      <p:sp>
        <p:nvSpPr>
          <p:cNvPr id="3" name="Content Placeholder 2">
            <a:extLst>
              <a:ext uri="{FF2B5EF4-FFF2-40B4-BE49-F238E27FC236}">
                <a16:creationId xmlns:a16="http://schemas.microsoft.com/office/drawing/2014/main" id="{F49652A4-606E-564C-241B-92DBF14C0021}"/>
              </a:ext>
            </a:extLst>
          </p:cNvPr>
          <p:cNvSpPr>
            <a:spLocks noGrp="1"/>
          </p:cNvSpPr>
          <p:nvPr>
            <p:ph idx="1"/>
          </p:nvPr>
        </p:nvSpPr>
        <p:spPr/>
        <p:txBody>
          <a:bodyPr/>
          <a:lstStyle/>
          <a:p>
            <a:r>
              <a:rPr lang="en-US" dirty="0"/>
              <a:t>Write prompts like like legal contracts, with four enforceable sections:</a:t>
            </a:r>
          </a:p>
          <a:p>
            <a:r>
              <a:rPr lang="en-US" b="1" dirty="0"/>
              <a:t>Goal</a:t>
            </a:r>
            <a:r>
              <a:rPr lang="en-US" dirty="0"/>
              <a:t> — the exact success metric. </a:t>
            </a:r>
          </a:p>
          <a:p>
            <a:r>
              <a:rPr lang="en-US" b="1" dirty="0"/>
              <a:t>Constraints</a:t>
            </a:r>
            <a:r>
              <a:rPr lang="en-US" dirty="0"/>
              <a:t> — hard boundaries that can’t be crossed. </a:t>
            </a:r>
          </a:p>
          <a:p>
            <a:r>
              <a:rPr lang="en-US" b="1" dirty="0"/>
              <a:t>Output Format</a:t>
            </a:r>
            <a:r>
              <a:rPr lang="en-US" dirty="0"/>
              <a:t> — the specific structure you expect. </a:t>
            </a:r>
          </a:p>
          <a:p>
            <a:r>
              <a:rPr lang="en-US" b="1" dirty="0"/>
              <a:t>Failure Conditions</a:t>
            </a:r>
            <a:r>
              <a:rPr lang="en-US" dirty="0"/>
              <a:t> — what makes the output unacceptable.</a:t>
            </a:r>
          </a:p>
          <a:p>
            <a:endParaRPr lang="en-US" dirty="0"/>
          </a:p>
        </p:txBody>
      </p:sp>
      <p:sp>
        <p:nvSpPr>
          <p:cNvPr id="4" name="Slide Number Placeholder 3">
            <a:extLst>
              <a:ext uri="{FF2B5EF4-FFF2-40B4-BE49-F238E27FC236}">
                <a16:creationId xmlns:a16="http://schemas.microsoft.com/office/drawing/2014/main" id="{C44E6C21-BCAF-87D7-E607-64A5A92BF90A}"/>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323087B9-73BC-7BFC-EB03-00F3266D821E}"/>
              </a:ext>
            </a:extLst>
          </p:cNvPr>
          <p:cNvSpPr txBox="1"/>
          <p:nvPr/>
        </p:nvSpPr>
        <p:spPr>
          <a:xfrm>
            <a:off x="3581401" y="5663325"/>
            <a:ext cx="7887345" cy="693025"/>
          </a:xfrm>
          <a:prstGeom prst="rect">
            <a:avLst/>
          </a:prstGeom>
          <a:noFill/>
          <a:ln w="127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buNone/>
            </a:pPr>
            <a:r>
              <a:rPr lang="en-US" dirty="0">
                <a:solidFill>
                  <a:schemeClr val="tx1"/>
                </a:solidFill>
              </a:rPr>
              <a:t>Phil Rentier, "</a:t>
            </a:r>
            <a:r>
              <a:rPr lang="en-US" i="0" dirty="0">
                <a:solidFill>
                  <a:srgbClr val="242424"/>
                </a:solidFill>
                <a:effectLst/>
                <a:latin typeface="sohne"/>
              </a:rPr>
              <a:t>I Stopped Vibe Coding and Started “Prompt Contracts” — Claude Code Went From Gambling to Shipping" in </a:t>
            </a:r>
            <a:r>
              <a:rPr lang="en-US" i="0" dirty="0">
                <a:solidFill>
                  <a:srgbClr val="242424"/>
                </a:solidFill>
                <a:effectLst/>
                <a:latin typeface="sohne"/>
                <a:hlinkClick r:id="rId3"/>
              </a:rPr>
              <a:t>Medium.com</a:t>
            </a:r>
            <a:r>
              <a:rPr lang="en-US" i="0" dirty="0">
                <a:solidFill>
                  <a:srgbClr val="242424"/>
                </a:solidFill>
                <a:effectLst/>
                <a:latin typeface="sohne"/>
              </a:rPr>
              <a:t>, Feb. 11, 2026</a:t>
            </a:r>
            <a:r>
              <a:rPr lang="en-US" dirty="0">
                <a:solidFill>
                  <a:schemeClr val="tx1"/>
                </a:solidFill>
              </a:rPr>
              <a:t> </a:t>
            </a:r>
          </a:p>
        </p:txBody>
      </p:sp>
    </p:spTree>
    <p:extLst>
      <p:ext uri="{BB962C8B-B14F-4D97-AF65-F5344CB8AC3E}">
        <p14:creationId xmlns:p14="http://schemas.microsoft.com/office/powerpoint/2010/main" val="748121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163010-8BFA-A77B-B128-8279C666DA9C}"/>
              </a:ext>
            </a:extLst>
          </p:cNvPr>
          <p:cNvSpPr>
            <a:spLocks noGrp="1"/>
          </p:cNvSpPr>
          <p:nvPr>
            <p:ph type="title"/>
          </p:nvPr>
        </p:nvSpPr>
        <p:spPr/>
        <p:txBody>
          <a:bodyPr/>
          <a:lstStyle/>
          <a:p>
            <a:r>
              <a:rPr lang="en-US" dirty="0"/>
              <a:t>Section 1: Goal</a:t>
            </a:r>
          </a:p>
        </p:txBody>
      </p:sp>
      <p:sp>
        <p:nvSpPr>
          <p:cNvPr id="4" name="Slide Number Placeholder 3">
            <a:extLst>
              <a:ext uri="{FF2B5EF4-FFF2-40B4-BE49-F238E27FC236}">
                <a16:creationId xmlns:a16="http://schemas.microsoft.com/office/drawing/2014/main" id="{436B2A81-7BBE-A17E-BB33-7B9B402B0FCD}"/>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7" name="TextBox 6">
            <a:extLst>
              <a:ext uri="{FF2B5EF4-FFF2-40B4-BE49-F238E27FC236}">
                <a16:creationId xmlns:a16="http://schemas.microsoft.com/office/drawing/2014/main" id="{B864B5A0-0F4F-920B-DCBE-9A669C8C92C9}"/>
              </a:ext>
            </a:extLst>
          </p:cNvPr>
          <p:cNvSpPr txBox="1"/>
          <p:nvPr/>
        </p:nvSpPr>
        <p:spPr>
          <a:xfrm>
            <a:off x="1018223" y="1664978"/>
            <a:ext cx="9131617"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1" dirty="0">
                <a:solidFill>
                  <a:srgbClr val="800000"/>
                </a:solidFill>
                <a:effectLst/>
                <a:latin typeface="Consolas" panose="020B0609020204030204" pitchFamily="49" charset="0"/>
              </a:rPr>
              <a:t># Goal (Before: vibe) Add a subscription system to the app</a:t>
            </a: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Add a subscription system to the app</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Goal (After) Implement Stripe subscription management </a:t>
            </a: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Success</a:t>
            </a:r>
            <a:endParaRPr lang="en-US" sz="2000" b="0" dirty="0">
              <a:solidFill>
                <a:srgbClr val="3B3B3B"/>
              </a:solidFill>
              <a:effectLst/>
              <a:latin typeface="Consolas" panose="020B0609020204030204" pitchFamily="49" charset="0"/>
            </a:endParaRP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subscribe to one of 3 tiers (free/pro/team)</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upgrade/downgrade instantly</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see billing status on /settings/billings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free user can subscribe to Pro,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see the charge on Stripe dashboard</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access gated features within 5 seconds.</a:t>
            </a:r>
            <a:endParaRPr lang="en-US" sz="20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B8441EE6-316B-516E-5951-F935E6AEA7BA}"/>
              </a:ext>
            </a:extLst>
          </p:cNvPr>
          <p:cNvSpPr txBox="1"/>
          <p:nvPr/>
        </p:nvSpPr>
        <p:spPr>
          <a:xfrm>
            <a:off x="9264966" y="4359898"/>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 difference is testability</a:t>
            </a:r>
          </a:p>
        </p:txBody>
      </p:sp>
    </p:spTree>
    <p:extLst>
      <p:ext uri="{BB962C8B-B14F-4D97-AF65-F5344CB8AC3E}">
        <p14:creationId xmlns:p14="http://schemas.microsoft.com/office/powerpoint/2010/main" val="4108946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9C60B-3BAC-FB73-0630-763A01518658}"/>
              </a:ext>
            </a:extLst>
          </p:cNvPr>
          <p:cNvSpPr>
            <a:spLocks noGrp="1"/>
          </p:cNvSpPr>
          <p:nvPr>
            <p:ph type="title"/>
          </p:nvPr>
        </p:nvSpPr>
        <p:spPr/>
        <p:txBody>
          <a:bodyPr/>
          <a:lstStyle/>
          <a:p>
            <a:r>
              <a:rPr lang="en-US" dirty="0"/>
              <a:t>Section 2: Constraints</a:t>
            </a:r>
          </a:p>
        </p:txBody>
      </p:sp>
      <p:sp>
        <p:nvSpPr>
          <p:cNvPr id="4" name="Slide Number Placeholder 3">
            <a:extLst>
              <a:ext uri="{FF2B5EF4-FFF2-40B4-BE49-F238E27FC236}">
                <a16:creationId xmlns:a16="http://schemas.microsoft.com/office/drawing/2014/main" id="{0923D8B2-FEEF-AC2C-8A06-EE65B119762C}"/>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0EB86BFA-54B5-B634-A48B-9F81B5DACDA6}"/>
              </a:ext>
            </a:extLst>
          </p:cNvPr>
          <p:cNvSpPr txBox="1"/>
          <p:nvPr/>
        </p:nvSpPr>
        <p:spPr>
          <a:xfrm>
            <a:off x="838200" y="1660129"/>
            <a:ext cx="9871710"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CLAUDE.md — Project Constraints (always active)</a:t>
            </a:r>
            <a:endParaRPr lang="en-US" b="0" dirty="0">
              <a:solidFill>
                <a:srgbClr val="3B3B3B"/>
              </a:solidFill>
              <a:effectLst/>
              <a:latin typeface="Consolas" panose="020B0609020204030204" pitchFamily="49" charset="0"/>
            </a:endParaRPr>
          </a:p>
          <a:p>
            <a:pPr>
              <a:buNone/>
            </a:pPr>
            <a:r>
              <a:rPr lang="en-US" b="1" dirty="0">
                <a:solidFill>
                  <a:srgbClr val="800000"/>
                </a:solidFill>
                <a:effectLst/>
                <a:latin typeface="Consolas" panose="020B0609020204030204" pitchFamily="49" charset="0"/>
              </a:rPr>
              <a:t>## Software Stack (non-negotiable, I will mass git revert you)</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Frontend: Next.js 14+ App Router, TypeScript strict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Backend: Convex for real-time data,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for auth + storage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Auth: Clerk (never roll custom auth, we are not animals)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Styling: Tailwind only — no CSS modules, no styled-components</a:t>
            </a:r>
          </a:p>
          <a:p>
            <a:pPr>
              <a:buNone/>
            </a:pPr>
            <a:r>
              <a:rPr lang="en-US" b="1" dirty="0">
                <a:solidFill>
                  <a:srgbClr val="800000"/>
                </a:solidFill>
                <a:effectLst/>
                <a:latin typeface="Consolas" panose="020B0609020204030204" pitchFamily="49" charset="0"/>
              </a:rPr>
              <a:t>## Hard Rules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install a new dependency without asking first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modify the database schema without showing the migration plan</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All API calls go through Convex functions, never direct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client calls from components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Environment variables go in .</a:t>
            </a:r>
            <a:r>
              <a:rPr lang="en-US" b="0" dirty="0" err="1">
                <a:solidFill>
                  <a:srgbClr val="3B3B3B"/>
                </a:solidFill>
                <a:effectLst/>
                <a:latin typeface="Consolas" panose="020B0609020204030204" pitchFamily="49" charset="0"/>
              </a:rPr>
              <a:t>env.local</a:t>
            </a:r>
            <a:r>
              <a:rPr lang="en-US" b="0" dirty="0">
                <a:solidFill>
                  <a:srgbClr val="3B3B3B"/>
                </a:solidFill>
                <a:effectLst/>
                <a:latin typeface="Consolas" panose="020B0609020204030204" pitchFamily="49" charset="0"/>
              </a:rPr>
              <a:t>, never hardcoded</a:t>
            </a:r>
          </a:p>
          <a:p>
            <a:pPr>
              <a:buNone/>
            </a:pPr>
            <a:r>
              <a:rPr lang="en-US" b="0" dirty="0">
                <a:solidFill>
                  <a:srgbClr val="3B3B3B"/>
                </a:solidFill>
                <a:effectLst/>
                <a:latin typeface="Consolas" panose="020B0609020204030204" pitchFamily="49" charset="0"/>
              </a:rPr>
              <a:t>  (I will find you and I will revert you)</a:t>
            </a:r>
          </a:p>
          <a:p>
            <a:pPr>
              <a:buNone/>
            </a:pPr>
            <a:r>
              <a:rPr lang="en-US" b="1" dirty="0">
                <a:solidFill>
                  <a:srgbClr val="800000"/>
                </a:solidFill>
                <a:effectLst/>
                <a:latin typeface="Consolas" panose="020B0609020204030204" pitchFamily="49" charset="0"/>
              </a:rPr>
              <a:t>## Patterns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Use server components by default, client components only when </a:t>
            </a:r>
          </a:p>
          <a:p>
            <a:pPr>
              <a:buNone/>
            </a:pPr>
            <a:r>
              <a:rPr lang="en-US" b="0" dirty="0">
                <a:solidFill>
                  <a:srgbClr val="3B3B3B"/>
                </a:solidFill>
                <a:effectLst/>
                <a:latin typeface="Consolas" panose="020B0609020204030204" pitchFamily="49" charset="0"/>
              </a:rPr>
              <a:t>  interactivity is required</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Error boundaries on every route segment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Zod validation on every user input</a:t>
            </a:r>
          </a:p>
        </p:txBody>
      </p:sp>
      <p:sp>
        <p:nvSpPr>
          <p:cNvPr id="7" name="TextBox 6">
            <a:extLst>
              <a:ext uri="{FF2B5EF4-FFF2-40B4-BE49-F238E27FC236}">
                <a16:creationId xmlns:a16="http://schemas.microsoft.com/office/drawing/2014/main" id="{A981F2BF-3493-6B16-EF70-3A95B3F47941}"/>
              </a:ext>
            </a:extLst>
          </p:cNvPr>
          <p:cNvSpPr txBox="1"/>
          <p:nvPr/>
        </p:nvSpPr>
        <p:spPr>
          <a:xfrm>
            <a:off x="9116111" y="431124"/>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These are your guardrails</a:t>
            </a:r>
          </a:p>
        </p:txBody>
      </p:sp>
    </p:spTree>
    <p:extLst>
      <p:ext uri="{BB962C8B-B14F-4D97-AF65-F5344CB8AC3E}">
        <p14:creationId xmlns:p14="http://schemas.microsoft.com/office/powerpoint/2010/main" val="4151560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1C8E-6D3B-DE1F-FD3E-9ACD719F4208}"/>
              </a:ext>
            </a:extLst>
          </p:cNvPr>
          <p:cNvSpPr>
            <a:spLocks noGrp="1"/>
          </p:cNvSpPr>
          <p:nvPr>
            <p:ph type="title"/>
          </p:nvPr>
        </p:nvSpPr>
        <p:spPr/>
        <p:txBody>
          <a:bodyPr/>
          <a:lstStyle/>
          <a:p>
            <a:r>
              <a:rPr lang="en-US" dirty="0"/>
              <a:t>Making sure the AI obeys the constraints</a:t>
            </a:r>
          </a:p>
        </p:txBody>
      </p:sp>
      <p:sp>
        <p:nvSpPr>
          <p:cNvPr id="3" name="Content Placeholder 2">
            <a:extLst>
              <a:ext uri="{FF2B5EF4-FFF2-40B4-BE49-F238E27FC236}">
                <a16:creationId xmlns:a16="http://schemas.microsoft.com/office/drawing/2014/main" id="{56639AE9-F121-3CA0-6CEC-718252EBBD93}"/>
              </a:ext>
            </a:extLst>
          </p:cNvPr>
          <p:cNvSpPr>
            <a:spLocks noGrp="1"/>
          </p:cNvSpPr>
          <p:nvPr>
            <p:ph idx="1"/>
          </p:nvPr>
        </p:nvSpPr>
        <p:spPr/>
        <p:txBody>
          <a:bodyPr/>
          <a:lstStyle/>
          <a:p>
            <a:r>
              <a:rPr lang="en-US" dirty="0"/>
              <a:t>When you start a new session, always say:</a:t>
            </a:r>
          </a:p>
          <a:p>
            <a:endParaRPr lang="en-US" dirty="0"/>
          </a:p>
          <a:p>
            <a:endParaRPr lang="en-US" dirty="0"/>
          </a:p>
          <a:p>
            <a:r>
              <a:rPr lang="en-US" dirty="0"/>
              <a:t>It's kind of like a handshake, to make sure that you and the AI are talking about the same thing.</a:t>
            </a:r>
          </a:p>
        </p:txBody>
      </p:sp>
      <p:sp>
        <p:nvSpPr>
          <p:cNvPr id="4" name="Slide Number Placeholder 3">
            <a:extLst>
              <a:ext uri="{FF2B5EF4-FFF2-40B4-BE49-F238E27FC236}">
                <a16:creationId xmlns:a16="http://schemas.microsoft.com/office/drawing/2014/main" id="{14ECDE52-C429-0C5D-260D-5D103C61704C}"/>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6" name="TextBox 5">
            <a:extLst>
              <a:ext uri="{FF2B5EF4-FFF2-40B4-BE49-F238E27FC236}">
                <a16:creationId xmlns:a16="http://schemas.microsoft.com/office/drawing/2014/main" id="{4DE8CDF6-4E36-3C1F-1BCC-920584D4E1BE}"/>
              </a:ext>
            </a:extLst>
          </p:cNvPr>
          <p:cNvSpPr txBox="1"/>
          <p:nvPr/>
        </p:nvSpPr>
        <p:spPr>
          <a:xfrm>
            <a:off x="1185862" y="2235932"/>
            <a:ext cx="9558337" cy="646331"/>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Read CLAUDE.md and confirm you understand the project constraints before doing anything.</a:t>
            </a:r>
          </a:p>
        </p:txBody>
      </p:sp>
    </p:spTree>
    <p:extLst>
      <p:ext uri="{BB962C8B-B14F-4D97-AF65-F5344CB8AC3E}">
        <p14:creationId xmlns:p14="http://schemas.microsoft.com/office/powerpoint/2010/main" val="22490611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D4F7C-D35F-D719-70B9-9CE379686CA6}"/>
              </a:ext>
            </a:extLst>
          </p:cNvPr>
          <p:cNvSpPr>
            <a:spLocks noGrp="1"/>
          </p:cNvSpPr>
          <p:nvPr>
            <p:ph type="title"/>
          </p:nvPr>
        </p:nvSpPr>
        <p:spPr/>
        <p:txBody>
          <a:bodyPr/>
          <a:lstStyle/>
          <a:p>
            <a:r>
              <a:rPr lang="en-US" dirty="0"/>
              <a:t>Section 3: Format</a:t>
            </a:r>
          </a:p>
        </p:txBody>
      </p:sp>
      <p:sp>
        <p:nvSpPr>
          <p:cNvPr id="3" name="Content Placeholder 2">
            <a:extLst>
              <a:ext uri="{FF2B5EF4-FFF2-40B4-BE49-F238E27FC236}">
                <a16:creationId xmlns:a16="http://schemas.microsoft.com/office/drawing/2014/main" id="{D93E6876-B5C9-0639-5865-380FAA0BF51C}"/>
              </a:ext>
            </a:extLst>
          </p:cNvPr>
          <p:cNvSpPr>
            <a:spLocks noGrp="1"/>
          </p:cNvSpPr>
          <p:nvPr>
            <p:ph idx="1"/>
          </p:nvPr>
        </p:nvSpPr>
        <p:spPr/>
        <p:txBody>
          <a:bodyPr/>
          <a:lstStyle/>
          <a:p>
            <a:r>
              <a:rPr lang="en-US" dirty="0"/>
              <a:t>Tell it what to hand you</a:t>
            </a:r>
          </a:p>
          <a:p>
            <a:r>
              <a:rPr lang="en-US" dirty="0"/>
              <a:t>Before:</a:t>
            </a:r>
          </a:p>
          <a:p>
            <a:r>
              <a:rPr lang="en-US" dirty="0"/>
              <a:t>After:</a:t>
            </a:r>
          </a:p>
        </p:txBody>
      </p:sp>
      <p:sp>
        <p:nvSpPr>
          <p:cNvPr id="4" name="Slide Number Placeholder 3">
            <a:extLst>
              <a:ext uri="{FF2B5EF4-FFF2-40B4-BE49-F238E27FC236}">
                <a16:creationId xmlns:a16="http://schemas.microsoft.com/office/drawing/2014/main" id="{983F4F07-1344-43F1-B71F-669C8CF02D2E}"/>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6" name="TextBox 5">
            <a:extLst>
              <a:ext uri="{FF2B5EF4-FFF2-40B4-BE49-F238E27FC236}">
                <a16:creationId xmlns:a16="http://schemas.microsoft.com/office/drawing/2014/main" id="{75FA9A8B-5F7D-EEF8-4E0E-48055C1E1147}"/>
              </a:ext>
            </a:extLst>
          </p:cNvPr>
          <p:cNvSpPr txBox="1"/>
          <p:nvPr/>
        </p:nvSpPr>
        <p:spPr>
          <a:xfrm>
            <a:off x="2350464" y="2152450"/>
            <a:ext cx="6097904" cy="2863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b="0" dirty="0">
                <a:solidFill>
                  <a:srgbClr val="3B3B3B"/>
                </a:solidFill>
                <a:effectLst/>
                <a:latin typeface="Consolas" panose="020B0609020204030204" pitchFamily="49" charset="0"/>
              </a:rPr>
              <a:t>Create an API endpoint for user onboarding</a:t>
            </a:r>
          </a:p>
        </p:txBody>
      </p:sp>
      <p:sp>
        <p:nvSpPr>
          <p:cNvPr id="8" name="TextBox 7">
            <a:extLst>
              <a:ext uri="{FF2B5EF4-FFF2-40B4-BE49-F238E27FC236}">
                <a16:creationId xmlns:a16="http://schemas.microsoft.com/office/drawing/2014/main" id="{D09235B8-F083-A3C3-672E-36FDB5AF0B05}"/>
              </a:ext>
            </a:extLst>
          </p:cNvPr>
          <p:cNvSpPr txBox="1"/>
          <p:nvPr/>
        </p:nvSpPr>
        <p:spPr>
          <a:xfrm>
            <a:off x="1574652" y="3091100"/>
            <a:ext cx="8972846"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FORMAT: </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Convex function in convex/</a:t>
            </a:r>
            <a:r>
              <a:rPr lang="en-US" b="0" dirty="0" err="1">
                <a:solidFill>
                  <a:srgbClr val="3B3B3B"/>
                </a:solidFill>
                <a:effectLst/>
                <a:latin typeface="Consolas" panose="020B0609020204030204" pitchFamily="49" charset="0"/>
              </a:rPr>
              <a:t>users.ts</a:t>
            </a:r>
            <a:r>
              <a:rPr lang="en-US" b="0" dirty="0">
                <a:solidFill>
                  <a:srgbClr val="3B3B3B"/>
                </a:solidFill>
                <a:effectLst/>
                <a:latin typeface="Consolas" panose="020B0609020204030204" pitchFamily="49" charset="0"/>
              </a:rPr>
              <a:t> (mutation, not action)</a:t>
            </a:r>
          </a:p>
          <a:p>
            <a:pPr>
              <a:buNone/>
            </a:pP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Zod schema for input validation in convex/schemas/</a:t>
            </a:r>
            <a:r>
              <a:rPr lang="en-US" b="0" dirty="0" err="1">
                <a:solidFill>
                  <a:srgbClr val="3B3B3B"/>
                </a:solidFill>
                <a:effectLst/>
                <a:latin typeface="Consolas" panose="020B0609020204030204" pitchFamily="49" charset="0"/>
              </a:rPr>
              <a:t>onboarding.ts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TypeScript types exported from convex/types/</a:t>
            </a:r>
            <a:r>
              <a:rPr lang="en-US" b="0" dirty="0" err="1">
                <a:solidFill>
                  <a:srgbClr val="3B3B3B"/>
                </a:solidFill>
                <a:effectLst/>
                <a:latin typeface="Consolas" panose="020B0609020204030204" pitchFamily="49" charset="0"/>
              </a:rPr>
              <a:t>user.ts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Include </a:t>
            </a:r>
            <a:r>
              <a:rPr lang="en-US" b="0" dirty="0" err="1">
                <a:solidFill>
                  <a:srgbClr val="3B3B3B"/>
                </a:solidFill>
                <a:effectLst/>
                <a:latin typeface="Consolas" panose="020B0609020204030204" pitchFamily="49" charset="0"/>
              </a:rPr>
              <a:t>JSDoc</a:t>
            </a:r>
            <a:r>
              <a:rPr lang="en-US" b="0" dirty="0">
                <a:solidFill>
                  <a:srgbClr val="3B3B3B"/>
                </a:solidFill>
                <a:effectLst/>
                <a:latin typeface="Consolas" panose="020B0609020204030204" pitchFamily="49" charset="0"/>
              </a:rPr>
              <a:t> on the public function</a:t>
            </a:r>
          </a:p>
          <a:p>
            <a:pPr>
              <a:buNone/>
            </a:pPr>
            <a:r>
              <a:rPr lang="en-US" b="0" dirty="0">
                <a:solidFill>
                  <a:srgbClr val="0451A5"/>
                </a:solidFill>
                <a:effectLst/>
                <a:latin typeface="Consolas" panose="020B0609020204030204" pitchFamily="49" charset="0"/>
              </a:rPr>
              <a:t>5.</a:t>
            </a:r>
            <a:r>
              <a:rPr lang="en-US" b="0" dirty="0">
                <a:solidFill>
                  <a:srgbClr val="3B3B3B"/>
                </a:solidFill>
                <a:effectLst/>
                <a:latin typeface="Consolas" panose="020B0609020204030204" pitchFamily="49" charset="0"/>
              </a:rPr>
              <a:t> Return { success: </a:t>
            </a:r>
            <a:r>
              <a:rPr lang="en-US" b="0" dirty="0" err="1">
                <a:solidFill>
                  <a:srgbClr val="3B3B3B"/>
                </a:solidFill>
                <a:effectLst/>
                <a:latin typeface="Consolas" panose="020B0609020204030204" pitchFamily="49" charset="0"/>
              </a:rPr>
              <a:t>boolean</a:t>
            </a:r>
            <a:r>
              <a:rPr lang="en-US" b="0" dirty="0">
                <a:solidFill>
                  <a:srgbClr val="3B3B3B"/>
                </a:solidFill>
                <a:effectLst/>
                <a:latin typeface="Consolas" panose="020B0609020204030204" pitchFamily="49" charset="0"/>
              </a:rPr>
              <a:t>, </a:t>
            </a:r>
            <a:r>
              <a:rPr lang="en-US" b="0" dirty="0" err="1">
                <a:solidFill>
                  <a:srgbClr val="3B3B3B"/>
                </a:solidFill>
                <a:effectLst/>
                <a:latin typeface="Consolas" panose="020B0609020204030204" pitchFamily="49" charset="0"/>
              </a:rPr>
              <a:t>userId</a:t>
            </a:r>
            <a:r>
              <a:rPr lang="en-US" b="0" dirty="0">
                <a:solidFill>
                  <a:srgbClr val="3B3B3B"/>
                </a:solidFill>
                <a:effectLst/>
                <a:latin typeface="Consolas" panose="020B0609020204030204" pitchFamily="49" charset="0"/>
              </a:rPr>
              <a:t>: string, error?: string }</a:t>
            </a:r>
          </a:p>
        </p:txBody>
      </p:sp>
      <p:sp>
        <p:nvSpPr>
          <p:cNvPr id="9" name="TextBox 8">
            <a:extLst>
              <a:ext uri="{FF2B5EF4-FFF2-40B4-BE49-F238E27FC236}">
                <a16:creationId xmlns:a16="http://schemas.microsoft.com/office/drawing/2014/main" id="{7253A3F6-A646-4CA8-0FAA-9DA36F10F4CD}"/>
              </a:ext>
            </a:extLst>
          </p:cNvPr>
          <p:cNvSpPr txBox="1"/>
          <p:nvPr/>
        </p:nvSpPr>
        <p:spPr>
          <a:xfrm>
            <a:off x="9116111" y="431124"/>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What you want delivered</a:t>
            </a:r>
          </a:p>
        </p:txBody>
      </p:sp>
    </p:spTree>
    <p:extLst>
      <p:ext uri="{BB962C8B-B14F-4D97-AF65-F5344CB8AC3E}">
        <p14:creationId xmlns:p14="http://schemas.microsoft.com/office/powerpoint/2010/main" val="617643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1FCFA-3856-9015-5839-2DBC897B1340}"/>
              </a:ext>
            </a:extLst>
          </p:cNvPr>
          <p:cNvSpPr>
            <a:spLocks noGrp="1"/>
          </p:cNvSpPr>
          <p:nvPr>
            <p:ph type="title"/>
          </p:nvPr>
        </p:nvSpPr>
        <p:spPr/>
        <p:txBody>
          <a:bodyPr/>
          <a:lstStyle/>
          <a:p>
            <a:r>
              <a:rPr lang="en-US" dirty="0"/>
              <a:t>Another way of communicating the output format</a:t>
            </a:r>
          </a:p>
        </p:txBody>
      </p:sp>
      <p:sp>
        <p:nvSpPr>
          <p:cNvPr id="7" name="Content Placeholder 6">
            <a:extLst>
              <a:ext uri="{FF2B5EF4-FFF2-40B4-BE49-F238E27FC236}">
                <a16:creationId xmlns:a16="http://schemas.microsoft.com/office/drawing/2014/main" id="{EE0E8BDC-C27C-C073-F230-43831DFE3402}"/>
              </a:ext>
            </a:extLst>
          </p:cNvPr>
          <p:cNvSpPr>
            <a:spLocks noGrp="1"/>
          </p:cNvSpPr>
          <p:nvPr>
            <p:ph idx="1"/>
          </p:nvPr>
        </p:nvSpPr>
        <p:spPr>
          <a:xfrm>
            <a:off x="838200" y="4682331"/>
            <a:ext cx="7887346" cy="1204119"/>
          </a:xfrm>
        </p:spPr>
        <p:txBody>
          <a:bodyPr/>
          <a:lstStyle/>
          <a:p>
            <a:r>
              <a:rPr lang="en-US" dirty="0"/>
              <a:t>Autogenerated README.md files can be a good basis for this portion of the prompt</a:t>
            </a:r>
          </a:p>
        </p:txBody>
      </p:sp>
      <p:sp>
        <p:nvSpPr>
          <p:cNvPr id="4" name="Slide Number Placeholder 3">
            <a:extLst>
              <a:ext uri="{FF2B5EF4-FFF2-40B4-BE49-F238E27FC236}">
                <a16:creationId xmlns:a16="http://schemas.microsoft.com/office/drawing/2014/main" id="{B8D7DC41-22E8-8FF6-E44E-966A518F673C}"/>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6" name="TextBox 5">
            <a:extLst>
              <a:ext uri="{FF2B5EF4-FFF2-40B4-BE49-F238E27FC236}">
                <a16:creationId xmlns:a16="http://schemas.microsoft.com/office/drawing/2014/main" id="{499D5DEE-D91C-5194-427D-389129054B52}"/>
              </a:ext>
            </a:extLst>
          </p:cNvPr>
          <p:cNvSpPr txBox="1"/>
          <p:nvPr/>
        </p:nvSpPr>
        <p:spPr>
          <a:xfrm>
            <a:off x="1048702" y="1734949"/>
            <a:ext cx="7238047" cy="25853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Repository Structure</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source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additionService.ts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business logic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additionController.ts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handling requests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test.ts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tests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scratchpad.ts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experimental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express.ts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express app setup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server.ts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to start the application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package.json</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dependencies and scripts</a:t>
            </a:r>
            <a:endParaRPr lang="en-US" dirty="0"/>
          </a:p>
        </p:txBody>
      </p:sp>
    </p:spTree>
    <p:extLst>
      <p:ext uri="{BB962C8B-B14F-4D97-AF65-F5344CB8AC3E}">
        <p14:creationId xmlns:p14="http://schemas.microsoft.com/office/powerpoint/2010/main" val="546583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68C58-E162-F9C8-36EF-AA42DF9BA58F}"/>
              </a:ext>
            </a:extLst>
          </p:cNvPr>
          <p:cNvSpPr>
            <a:spLocks noGrp="1"/>
          </p:cNvSpPr>
          <p:nvPr>
            <p:ph type="title"/>
          </p:nvPr>
        </p:nvSpPr>
        <p:spPr/>
        <p:txBody>
          <a:bodyPr/>
          <a:lstStyle/>
          <a:p>
            <a:r>
              <a:rPr lang="en-US" dirty="0"/>
              <a:t>Section 4: Failure Conditions</a:t>
            </a:r>
          </a:p>
        </p:txBody>
      </p:sp>
      <p:sp>
        <p:nvSpPr>
          <p:cNvPr id="7" name="Content Placeholder 6">
            <a:extLst>
              <a:ext uri="{FF2B5EF4-FFF2-40B4-BE49-F238E27FC236}">
                <a16:creationId xmlns:a16="http://schemas.microsoft.com/office/drawing/2014/main" id="{C904E577-2DBE-E2FF-0224-99F82DB94D57}"/>
              </a:ext>
            </a:extLst>
          </p:cNvPr>
          <p:cNvSpPr>
            <a:spLocks noGrp="1"/>
          </p:cNvSpPr>
          <p:nvPr>
            <p:ph idx="1"/>
          </p:nvPr>
        </p:nvSpPr>
        <p:spPr/>
        <p:txBody>
          <a:bodyPr/>
          <a:lstStyle/>
          <a:p>
            <a:r>
              <a:rPr lang="en-US" dirty="0"/>
              <a:t>Here's another example from the same web page:</a:t>
            </a:r>
          </a:p>
        </p:txBody>
      </p:sp>
      <p:sp>
        <p:nvSpPr>
          <p:cNvPr id="4" name="Slide Number Placeholder 3">
            <a:extLst>
              <a:ext uri="{FF2B5EF4-FFF2-40B4-BE49-F238E27FC236}">
                <a16:creationId xmlns:a16="http://schemas.microsoft.com/office/drawing/2014/main" id="{CBD16E13-7B62-8CD7-5DF5-29927156F39C}"/>
              </a:ext>
            </a:extLst>
          </p:cNvPr>
          <p:cNvSpPr>
            <a:spLocks noGrp="1"/>
          </p:cNvSpPr>
          <p:nvPr>
            <p:ph type="sldNum" sz="quarter" idx="12"/>
          </p:nvPr>
        </p:nvSpPr>
        <p:spPr/>
        <p:txBody>
          <a:bodyPr/>
          <a:lstStyle/>
          <a:p>
            <a:fld id="{20F37917-FD3A-4669-9018-DA04BCDD3D75}" type="slidenum">
              <a:rPr lang="en-US" smtClean="0"/>
              <a:t>29</a:t>
            </a:fld>
            <a:endParaRPr lang="en-US"/>
          </a:p>
        </p:txBody>
      </p:sp>
      <p:sp>
        <p:nvSpPr>
          <p:cNvPr id="6" name="TextBox 5">
            <a:extLst>
              <a:ext uri="{FF2B5EF4-FFF2-40B4-BE49-F238E27FC236}">
                <a16:creationId xmlns:a16="http://schemas.microsoft.com/office/drawing/2014/main" id="{FAD88D49-454E-FB69-9E27-49A5C9B8D878}"/>
              </a:ext>
            </a:extLst>
          </p:cNvPr>
          <p:cNvSpPr txBox="1"/>
          <p:nvPr/>
        </p:nvSpPr>
        <p:spPr>
          <a:xfrm>
            <a:off x="1201103" y="2551837"/>
            <a:ext cx="8278177"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FAILURE CONDITIONS: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Any component exceeds 150 lines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Fetches data client-side when it could be server-side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Uses any UI library besides Tailwind utility classes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Missing loading and error states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Missing TypeScript types on any function parameter</a:t>
            </a:r>
          </a:p>
        </p:txBody>
      </p:sp>
      <p:sp>
        <p:nvSpPr>
          <p:cNvPr id="8" name="TextBox 7">
            <a:extLst>
              <a:ext uri="{FF2B5EF4-FFF2-40B4-BE49-F238E27FC236}">
                <a16:creationId xmlns:a16="http://schemas.microsoft.com/office/drawing/2014/main" id="{CEB78A31-1EF8-3DB6-7E55-6AF19339049E}"/>
              </a:ext>
            </a:extLst>
          </p:cNvPr>
          <p:cNvSpPr txBox="1"/>
          <p:nvPr/>
        </p:nvSpPr>
        <p:spPr>
          <a:xfrm>
            <a:off x="8831872" y="855277"/>
            <a:ext cx="3016807"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More guardrails</a:t>
            </a:r>
          </a:p>
        </p:txBody>
      </p:sp>
    </p:spTree>
    <p:extLst>
      <p:ext uri="{BB962C8B-B14F-4D97-AF65-F5344CB8AC3E}">
        <p14:creationId xmlns:p14="http://schemas.microsoft.com/office/powerpoint/2010/main" val="13246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Prompting Myths That Don’t Actually Help</a:t>
            </a:r>
          </a:p>
        </p:txBody>
      </p:sp>
      <p:sp>
        <p:nvSpPr>
          <p:cNvPr id="3" name="Content Placeholder 2"/>
          <p:cNvSpPr>
            <a:spLocks noGrp="1"/>
          </p:cNvSpPr>
          <p:nvPr>
            <p:ph idx="1"/>
          </p:nvPr>
        </p:nvSpPr>
        <p:spPr/>
        <p:txBody>
          <a:bodyPr>
            <a:normAutofit fontScale="85000" lnSpcReduction="20000"/>
          </a:bodyPr>
          <a:lstStyle/>
          <a:p>
            <a:r>
              <a:rPr lang="en-US" b="1" dirty="0"/>
              <a:t>Myth: Persona prompts improve output</a:t>
            </a:r>
          </a:p>
          <a:p>
            <a:pPr lvl="1"/>
            <a:r>
              <a:rPr lang="en-US" dirty="0"/>
              <a:t>“You are a brilliant 10x engineer...” — Models don’t roleplay better code. Context and specificity matter, not flattery.</a:t>
            </a:r>
          </a:p>
          <a:p>
            <a:r>
              <a:rPr lang="en-US" b="1" dirty="0"/>
              <a:t>Myth: Politeness affects performance</a:t>
            </a:r>
          </a:p>
          <a:p>
            <a:pPr lvl="1"/>
            <a:r>
              <a:rPr lang="en-US" dirty="0"/>
              <a:t>“Please” and “Thank you” — Won’t affect the model, but polite communication is a good habit for talking to humans!</a:t>
            </a:r>
          </a:p>
          <a:p>
            <a:r>
              <a:rPr lang="en-US" b="1" dirty="0"/>
              <a:t>Myth: More instructions = better</a:t>
            </a:r>
          </a:p>
          <a:p>
            <a:pPr lvl="1"/>
            <a:r>
              <a:rPr lang="en-US" dirty="0"/>
              <a:t>500-word system prompts often perform WORSE — key details get lost. Be concise and specific.</a:t>
            </a:r>
          </a:p>
          <a:p>
            <a:r>
              <a:rPr lang="en-US" b="1" dirty="0"/>
              <a:t>Myth: Magic phrases always work</a:t>
            </a:r>
          </a:p>
          <a:p>
            <a:pPr lvl="1"/>
            <a:r>
              <a:rPr lang="en-US" dirty="0"/>
              <a:t>“Think step by step” — Useful for reasoning, but tools have built this in better. See: Plan Mode.</a:t>
            </a:r>
          </a:p>
          <a:p>
            <a:r>
              <a:rPr lang="en-US" b="1" dirty="0">
                <a:solidFill>
                  <a:srgbClr val="4472C4"/>
                </a:solidFill>
              </a:rPr>
              <a:t>What actually helps: Relevant context · Specific requirements · Concrete examples · Clear success criteria</a:t>
            </a:r>
          </a:p>
        </p:txBody>
      </p:sp>
      <p:sp>
        <p:nvSpPr>
          <p:cNvPr id="4" name="Slide Number Placeholder 3"/>
          <p:cNvSpPr>
            <a:spLocks noGrp="1"/>
          </p:cNvSpPr>
          <p:nvPr>
            <p:ph type="sldNum" sz="quarter" idx="12"/>
          </p:nvPr>
        </p:nvSpPr>
        <p:spPr/>
        <p:txBody>
          <a:bodyPr/>
          <a:lstStyle/>
          <a:p>
            <a:fld id="{20F37917-FD3A-4669-9018-DA04BCDD3D75}"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D91C1-E2C1-9A07-F65F-D6958EAFA359}"/>
              </a:ext>
            </a:extLst>
          </p:cNvPr>
          <p:cNvSpPr>
            <a:spLocks noGrp="1"/>
          </p:cNvSpPr>
          <p:nvPr>
            <p:ph type="title"/>
          </p:nvPr>
        </p:nvSpPr>
        <p:spPr/>
        <p:txBody>
          <a:bodyPr/>
          <a:lstStyle/>
          <a:p>
            <a:r>
              <a:rPr lang="en-US" dirty="0"/>
              <a:t>And now, back to the 6-step workflow…</a:t>
            </a:r>
          </a:p>
        </p:txBody>
      </p:sp>
      <p:sp>
        <p:nvSpPr>
          <p:cNvPr id="3" name="Content Placeholder 2">
            <a:extLst>
              <a:ext uri="{FF2B5EF4-FFF2-40B4-BE49-F238E27FC236}">
                <a16:creationId xmlns:a16="http://schemas.microsoft.com/office/drawing/2014/main" id="{C84415EA-BFDC-BBCB-EDE0-BAD220E7533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E2F5953-C783-8DB9-6CBF-3261792CA969}"/>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2227602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285D00-3901-4FF5-AFF0-9CF5FFB76B6B}"/>
              </a:ext>
            </a:extLst>
          </p:cNvPr>
          <p:cNvSpPr>
            <a:spLocks noGrp="1"/>
          </p:cNvSpPr>
          <p:nvPr>
            <p:ph type="title"/>
          </p:nvPr>
        </p:nvSpPr>
        <p:spPr/>
        <p:txBody>
          <a:bodyPr/>
          <a:lstStyle/>
          <a:p>
            <a:r>
              <a:rPr lang="en-US" dirty="0"/>
              <a:t>The final steps: Calibrate/Tweak/Finalize</a:t>
            </a:r>
          </a:p>
        </p:txBody>
      </p:sp>
      <p:sp>
        <p:nvSpPr>
          <p:cNvPr id="5" name="Content Placeholder 4">
            <a:extLst>
              <a:ext uri="{FF2B5EF4-FFF2-40B4-BE49-F238E27FC236}">
                <a16:creationId xmlns:a16="http://schemas.microsoft.com/office/drawing/2014/main" id="{B7BAC39C-2B9D-8EF7-31AA-49D2AF586286}"/>
              </a:ext>
            </a:extLst>
          </p:cNvPr>
          <p:cNvSpPr>
            <a:spLocks noGrp="1"/>
          </p:cNvSpPr>
          <p:nvPr>
            <p:ph idx="1"/>
          </p:nvPr>
        </p:nvSpPr>
        <p:spPr/>
        <p:txBody>
          <a:bodyPr>
            <a:normAutofit lnSpcReduction="10000"/>
          </a:bodyPr>
          <a:lstStyle/>
          <a:p>
            <a:r>
              <a:rPr lang="en-US" b="1" dirty="0"/>
              <a:t>Calibrate</a:t>
            </a:r>
            <a:r>
              <a:rPr lang="en-US" dirty="0"/>
              <a:t>: Steer AI toward desired outcomes through feedback</a:t>
            </a:r>
          </a:p>
          <a:p>
            <a:pPr lvl="1"/>
            <a:r>
              <a:rPr lang="en-US" dirty="0"/>
              <a:t>Example: “That’s close, but use interfaces instead of abstract classes”</a:t>
            </a:r>
          </a:p>
          <a:p>
            <a:pPr lvl="1"/>
            <a:r>
              <a:rPr lang="en-US" dirty="0"/>
              <a:t>This is a conversation — you may calibrate 3–4 times per task. This is normal.</a:t>
            </a:r>
          </a:p>
          <a:p>
            <a:r>
              <a:rPr lang="en-US" b="1" dirty="0"/>
              <a:t>Tweak</a:t>
            </a:r>
            <a:r>
              <a:rPr lang="en-US" dirty="0"/>
              <a:t>: Manually refine AI-generated artifacts</a:t>
            </a:r>
          </a:p>
          <a:p>
            <a:pPr lvl="1"/>
            <a:r>
              <a:rPr lang="en-US" dirty="0"/>
              <a:t>Naming, edge cases, comments, style adjustments. AI output is rarely perfect — this is expected.</a:t>
            </a:r>
          </a:p>
          <a:p>
            <a:r>
              <a:rPr lang="en-US" b="1" dirty="0"/>
              <a:t>Finalize</a:t>
            </a:r>
            <a:r>
              <a:rPr lang="en-US" dirty="0"/>
              <a:t>: Document decisions and rationale</a:t>
            </a:r>
          </a:p>
          <a:p>
            <a:pPr lvl="1"/>
            <a:r>
              <a:rPr lang="en-US" dirty="0"/>
              <a:t>Create artifacts to guide future development</a:t>
            </a:r>
          </a:p>
          <a:p>
            <a:endParaRPr lang="en-US" dirty="0"/>
          </a:p>
        </p:txBody>
      </p:sp>
      <p:sp>
        <p:nvSpPr>
          <p:cNvPr id="3" name="Slide Number Placeholder 2">
            <a:extLst>
              <a:ext uri="{FF2B5EF4-FFF2-40B4-BE49-F238E27FC236}">
                <a16:creationId xmlns:a16="http://schemas.microsoft.com/office/drawing/2014/main" id="{B3F4056A-1EB1-A3F3-0AD2-DF2E4D45229C}"/>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14395236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DEE51-8F0E-3D4A-3FD1-67C8CC3F186A}"/>
              </a:ext>
            </a:extLst>
          </p:cNvPr>
          <p:cNvSpPr>
            <a:spLocks noGrp="1"/>
          </p:cNvSpPr>
          <p:nvPr>
            <p:ph type="title"/>
          </p:nvPr>
        </p:nvSpPr>
        <p:spPr/>
        <p:txBody>
          <a:bodyPr/>
          <a:lstStyle/>
          <a:p>
            <a:r>
              <a:rPr lang="en-US" dirty="0"/>
              <a:t>Calibration and Tweaking</a:t>
            </a:r>
          </a:p>
        </p:txBody>
      </p:sp>
      <p:sp>
        <p:nvSpPr>
          <p:cNvPr id="3" name="Content Placeholder 2">
            <a:extLst>
              <a:ext uri="{FF2B5EF4-FFF2-40B4-BE49-F238E27FC236}">
                <a16:creationId xmlns:a16="http://schemas.microsoft.com/office/drawing/2014/main" id="{B0BC6DE9-CC52-E7BA-8FBD-B34CC5879882}"/>
              </a:ext>
            </a:extLst>
          </p:cNvPr>
          <p:cNvSpPr>
            <a:spLocks noGrp="1"/>
          </p:cNvSpPr>
          <p:nvPr>
            <p:ph idx="1"/>
          </p:nvPr>
        </p:nvSpPr>
        <p:spPr/>
        <p:txBody>
          <a:bodyPr/>
          <a:lstStyle/>
          <a:p>
            <a:r>
              <a:rPr lang="en-US" dirty="0"/>
              <a:t>Especially applicable for non-code AI-generated artifacts</a:t>
            </a:r>
          </a:p>
          <a:p>
            <a:pPr lvl="1"/>
            <a:r>
              <a:rPr lang="en-US" dirty="0"/>
              <a:t>text</a:t>
            </a:r>
          </a:p>
          <a:p>
            <a:pPr lvl="1"/>
            <a:r>
              <a:rPr lang="en-US" dirty="0"/>
              <a:t>diagrams</a:t>
            </a:r>
          </a:p>
          <a:p>
            <a:pPr lvl="1"/>
            <a:r>
              <a:rPr lang="en-US" dirty="0"/>
              <a:t>slides</a:t>
            </a:r>
          </a:p>
          <a:p>
            <a:pPr lvl="1"/>
            <a:r>
              <a:rPr lang="en-US" dirty="0" err="1"/>
              <a:t>etc</a:t>
            </a:r>
            <a:r>
              <a:rPr lang="en-US" dirty="0"/>
              <a:t>…</a:t>
            </a:r>
          </a:p>
        </p:txBody>
      </p:sp>
      <p:sp>
        <p:nvSpPr>
          <p:cNvPr id="4" name="Slide Number Placeholder 3">
            <a:extLst>
              <a:ext uri="{FF2B5EF4-FFF2-40B4-BE49-F238E27FC236}">
                <a16:creationId xmlns:a16="http://schemas.microsoft.com/office/drawing/2014/main" id="{14FA704E-9A0C-8AEC-88AA-C7E6B25FEC77}"/>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22278424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Finalizing</a:t>
            </a:r>
          </a:p>
        </p:txBody>
      </p:sp>
      <p:sp>
        <p:nvSpPr>
          <p:cNvPr id="3" name="Content Placeholder 2"/>
          <p:cNvSpPr>
            <a:spLocks noGrp="1"/>
          </p:cNvSpPr>
          <p:nvPr>
            <p:ph idx="1"/>
          </p:nvPr>
        </p:nvSpPr>
        <p:spPr/>
        <p:txBody>
          <a:bodyPr>
            <a:normAutofit fontScale="92500"/>
          </a:bodyPr>
          <a:lstStyle/>
          <a:p>
            <a:r>
              <a:rPr lang="en-US" dirty="0"/>
              <a:t>Before committing AI-generated code, ask yourself:</a:t>
            </a:r>
          </a:p>
          <a:p>
            <a:pPr lvl="1"/>
            <a:r>
              <a:rPr lang="en-US" dirty="0"/>
              <a:t>Can I justify the design decisions in this code to a colleague?</a:t>
            </a:r>
          </a:p>
          <a:p>
            <a:pPr lvl="1"/>
            <a:r>
              <a:rPr lang="en-US" dirty="0"/>
              <a:t>If I look at this in 6 months, will I know WHY I chose this approach?</a:t>
            </a:r>
          </a:p>
          <a:p>
            <a:pPr lvl="1"/>
            <a:r>
              <a:rPr lang="en-US" dirty="0"/>
              <a:t>Am I prepared to take responsibility if this code is wrong?</a:t>
            </a:r>
          </a:p>
          <a:p>
            <a:pPr lvl="1"/>
            <a:r>
              <a:rPr lang="en-US" dirty="0"/>
              <a:t>Would a new team member understand the design decisions?</a:t>
            </a:r>
          </a:p>
          <a:p>
            <a:r>
              <a:rPr lang="en-US" b="1" dirty="0">
                <a:solidFill>
                  <a:srgbClr val="D41B2C"/>
                </a:solidFill>
              </a:rPr>
              <a:t>If the answer to any of these is “no” — you are creating maintenance debt that future-you will pay.</a:t>
            </a:r>
          </a:p>
          <a:p>
            <a:r>
              <a:rPr lang="en-US" i="1" dirty="0"/>
              <a:t>“It worked” is not a reason. “The AI suggested it” is not a reason. Document the actual design rationale.</a:t>
            </a:r>
          </a:p>
        </p:txBody>
      </p:sp>
      <p:sp>
        <p:nvSpPr>
          <p:cNvPr id="4" name="Slide Number Placeholder 3"/>
          <p:cNvSpPr>
            <a:spLocks noGrp="1"/>
          </p:cNvSpPr>
          <p:nvPr>
            <p:ph type="sldNum" sz="quarter" idx="12"/>
          </p:nvPr>
        </p:nvSpPr>
        <p:spPr/>
        <p:txBody>
          <a:bodyPr/>
          <a:lstStyle/>
          <a:p>
            <a:fld id="{20F37917-FD3A-4669-9018-DA04BCDD3D75}"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35</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
        <p:nvSpPr>
          <p:cNvPr id="6" name="TextBox 5">
            <a:extLst>
              <a:ext uri="{FF2B5EF4-FFF2-40B4-BE49-F238E27FC236}">
                <a16:creationId xmlns:a16="http://schemas.microsoft.com/office/drawing/2014/main" id="{87400E05-01E0-0D77-1701-956A4BB74959}"/>
              </a:ext>
            </a:extLst>
          </p:cNvPr>
          <p:cNvSpPr txBox="1"/>
          <p:nvPr/>
        </p:nvSpPr>
        <p:spPr>
          <a:xfrm>
            <a:off x="8725546" y="1006502"/>
            <a:ext cx="3124201" cy="1815882"/>
          </a:xfrm>
          <a:prstGeom prst="rect">
            <a:avLst/>
          </a:prstGeom>
          <a:solidFill>
            <a:schemeClr val="bg1"/>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pPr algn="l"/>
            <a:r>
              <a:rPr lang="en-US" sz="2800" b="0" dirty="0">
                <a:solidFill>
                  <a:srgbClr val="AF00DB"/>
                </a:solidFill>
                <a:effectLst/>
                <a:latin typeface="Consolas" panose="020B0609020204030204" pitchFamily="49" charset="0"/>
              </a:rPr>
              <a:t>Remember this slide from Module 08 Code Level Design?</a:t>
            </a:r>
          </a:p>
        </p:txBody>
      </p:sp>
    </p:spTree>
    <p:extLst>
      <p:ext uri="{BB962C8B-B14F-4D97-AF65-F5344CB8AC3E}">
        <p14:creationId xmlns:p14="http://schemas.microsoft.com/office/powerpoint/2010/main" val="1278534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6CA7E-D9B2-D751-82F6-B4086139423B}"/>
              </a:ext>
            </a:extLst>
          </p:cNvPr>
          <p:cNvSpPr>
            <a:spLocks noGrp="1"/>
          </p:cNvSpPr>
          <p:nvPr>
            <p:ph type="title"/>
          </p:nvPr>
        </p:nvSpPr>
        <p:spPr/>
        <p:txBody>
          <a:bodyPr/>
          <a:lstStyle/>
          <a:p>
            <a:r>
              <a:rPr lang="en-US" dirty="0"/>
              <a:t>What an AI can't do (or do well)</a:t>
            </a:r>
          </a:p>
        </p:txBody>
      </p:sp>
      <p:sp>
        <p:nvSpPr>
          <p:cNvPr id="3" name="Content Placeholder 2">
            <a:extLst>
              <a:ext uri="{FF2B5EF4-FFF2-40B4-BE49-F238E27FC236}">
                <a16:creationId xmlns:a16="http://schemas.microsoft.com/office/drawing/2014/main" id="{66AA4CC9-2A00-F99F-C11A-52C51C8B9498}"/>
              </a:ext>
            </a:extLst>
          </p:cNvPr>
          <p:cNvSpPr>
            <a:spLocks noGrp="1"/>
          </p:cNvSpPr>
          <p:nvPr>
            <p:ph idx="1"/>
          </p:nvPr>
        </p:nvSpPr>
        <p:spPr/>
        <p:txBody>
          <a:bodyPr/>
          <a:lstStyle/>
          <a:p>
            <a:r>
              <a:rPr lang="en-US" dirty="0"/>
              <a:t>Architecture/Design</a:t>
            </a:r>
          </a:p>
          <a:p>
            <a:pPr lvl="1"/>
            <a:r>
              <a:rPr lang="en-US" dirty="0"/>
              <a:t>if you tell it the architecture, the AI can build it</a:t>
            </a:r>
          </a:p>
          <a:p>
            <a:pPr lvl="1"/>
            <a:r>
              <a:rPr lang="en-US" dirty="0"/>
              <a:t>but the AI can't decide on the design</a:t>
            </a:r>
          </a:p>
          <a:p>
            <a:r>
              <a:rPr lang="en-US" dirty="0"/>
              <a:t>Debugging (!!!!)</a:t>
            </a:r>
          </a:p>
          <a:p>
            <a:pPr lvl="1"/>
            <a:r>
              <a:rPr lang="en-US" dirty="0"/>
              <a:t>Ais are trained on working code, so their debugging skills are often not very good (but this may change).</a:t>
            </a:r>
          </a:p>
          <a:p>
            <a:r>
              <a:rPr lang="en-US" dirty="0"/>
              <a:t>Maintenance</a:t>
            </a:r>
          </a:p>
          <a:p>
            <a:pPr lvl="1"/>
            <a:r>
              <a:rPr lang="en-US" dirty="0"/>
              <a:t>I don't think we have much info on this yet</a:t>
            </a:r>
          </a:p>
        </p:txBody>
      </p:sp>
      <p:sp>
        <p:nvSpPr>
          <p:cNvPr id="4" name="Slide Number Placeholder 3">
            <a:extLst>
              <a:ext uri="{FF2B5EF4-FFF2-40B4-BE49-F238E27FC236}">
                <a16:creationId xmlns:a16="http://schemas.microsoft.com/office/drawing/2014/main" id="{5A069508-3EC0-9A8E-09D2-DFA5E8003DAC}"/>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0900249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11F34-408B-DF98-4280-4A5AF041AF42}"/>
              </a:ext>
            </a:extLst>
          </p:cNvPr>
          <p:cNvSpPr>
            <a:spLocks noGrp="1"/>
          </p:cNvSpPr>
          <p:nvPr>
            <p:ph type="title"/>
          </p:nvPr>
        </p:nvSpPr>
        <p:spPr/>
        <p:txBody>
          <a:bodyPr>
            <a:normAutofit/>
          </a:bodyPr>
          <a:lstStyle/>
          <a:p>
            <a:r>
              <a:rPr lang="en-US" dirty="0"/>
              <a:t>When should I use AI? </a:t>
            </a:r>
            <a:br>
              <a:rPr lang="en-US" dirty="0"/>
            </a:br>
            <a:r>
              <a:rPr lang="en-US" dirty="0"/>
              <a:t>Task familiarity determines appropriateness</a:t>
            </a:r>
          </a:p>
        </p:txBody>
      </p:sp>
      <p:sp>
        <p:nvSpPr>
          <p:cNvPr id="3" name="Content Placeholder 2">
            <a:extLst>
              <a:ext uri="{FF2B5EF4-FFF2-40B4-BE49-F238E27FC236}">
                <a16:creationId xmlns:a16="http://schemas.microsoft.com/office/drawing/2014/main" id="{957B6CFF-6C53-B380-D742-EAFF11331AA5}"/>
              </a:ext>
            </a:extLst>
          </p:cNvPr>
          <p:cNvSpPr>
            <a:spLocks noGrp="1"/>
          </p:cNvSpPr>
          <p:nvPr>
            <p:ph idx="1"/>
          </p:nvPr>
        </p:nvSpPr>
        <p:spPr>
          <a:xfrm>
            <a:off x="838200" y="1500160"/>
            <a:ext cx="7295707" cy="4351338"/>
          </a:xfrm>
        </p:spPr>
        <p:txBody>
          <a:bodyPr/>
          <a:lstStyle/>
          <a:p>
            <a:r>
              <a:rPr lang="en-US" b="1" dirty="0"/>
              <a:t>Use AI when</a:t>
            </a:r>
            <a:r>
              <a:rPr lang="en-US" dirty="0"/>
              <a:t>: You have sufficient domain knowledge to evaluate outputs</a:t>
            </a:r>
          </a:p>
          <a:p>
            <a:r>
              <a:rPr lang="en-US" b="1" dirty="0"/>
              <a:t>Avoid AI when</a:t>
            </a:r>
            <a:r>
              <a:rPr lang="en-US" dirty="0"/>
              <a:t>: You lack the expertise to assess correctness and quality</a:t>
            </a:r>
          </a:p>
          <a:p>
            <a:r>
              <a:rPr lang="en-US" b="1" dirty="0"/>
              <a:t>Learning consideration</a:t>
            </a:r>
            <a:r>
              <a:rPr lang="en-US" dirty="0"/>
              <a:t>: Using AI without foundational knowledge can lead to deskilling</a:t>
            </a:r>
          </a:p>
          <a:p>
            <a:pPr marL="0" indent="0">
              <a:buNone/>
            </a:pPr>
            <a:endParaRPr lang="en-US" dirty="0"/>
          </a:p>
        </p:txBody>
      </p:sp>
      <p:sp>
        <p:nvSpPr>
          <p:cNvPr id="4" name="Slide Number Placeholder 3">
            <a:extLst>
              <a:ext uri="{FF2B5EF4-FFF2-40B4-BE49-F238E27FC236}">
                <a16:creationId xmlns:a16="http://schemas.microsoft.com/office/drawing/2014/main" id="{9822230B-A05D-4B68-156B-6C9FCDDDD909}"/>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31134119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“Vibe Coding” Trap</a:t>
            </a:r>
          </a:p>
        </p:txBody>
      </p:sp>
      <p:sp>
        <p:nvSpPr>
          <p:cNvPr id="3" name="Content Placeholder 2"/>
          <p:cNvSpPr>
            <a:spLocks noGrp="1"/>
          </p:cNvSpPr>
          <p:nvPr>
            <p:ph idx="1"/>
          </p:nvPr>
        </p:nvSpPr>
        <p:spPr/>
        <p:txBody>
          <a:bodyPr>
            <a:normAutofit fontScale="92500" lnSpcReduction="20000"/>
          </a:bodyPr>
          <a:lstStyle/>
          <a:p>
            <a:r>
              <a:rPr lang="en-US" dirty="0"/>
              <a:t>What is “vibe coding”?</a:t>
            </a:r>
          </a:p>
          <a:p>
            <a:pPr lvl="1"/>
            <a:r>
              <a:rPr lang="en-US" dirty="0"/>
              <a:t>Evaluating only EXECUTION, not CODE. Ask AI to implement a feature. Run the app, see if it “works.” If error, describe the error to AI and repeat. Never actually read or understand the code.</a:t>
            </a:r>
          </a:p>
          <a:p>
            <a:r>
              <a:rPr lang="en-US" dirty="0"/>
              <a:t>Why it leads to collapse:</a:t>
            </a:r>
          </a:p>
          <a:p>
            <a:pPr lvl="1"/>
            <a:r>
              <a:rPr lang="en-US" dirty="0"/>
              <a:t>No troubleshooting capability — you don’t understand what the code does</a:t>
            </a:r>
          </a:p>
          <a:p>
            <a:pPr lvl="1"/>
            <a:r>
              <a:rPr lang="en-US" dirty="0"/>
              <a:t>Can’t provide effective feedback — you can only describe symptoms, not problems</a:t>
            </a:r>
          </a:p>
          <a:p>
            <a:pPr lvl="1"/>
            <a:r>
              <a:rPr lang="en-US" dirty="0"/>
              <a:t>Brittle development — one change breaks everything and you don’t know why</a:t>
            </a:r>
          </a:p>
          <a:p>
            <a:r>
              <a:rPr lang="en-US" dirty="0"/>
              <a:t>To effectively use AI, you must be able to EVALUATE the code itself — not just “does it run?”</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Creates “Learning Debt” When Used Too Early</a:t>
            </a:r>
          </a:p>
        </p:txBody>
      </p:sp>
      <p:sp>
        <p:nvSpPr>
          <p:cNvPr id="3" name="Content Placeholder 2"/>
          <p:cNvSpPr>
            <a:spLocks noGrp="1"/>
          </p:cNvSpPr>
          <p:nvPr>
            <p:ph idx="1"/>
          </p:nvPr>
        </p:nvSpPr>
        <p:spPr/>
        <p:txBody>
          <a:bodyPr>
            <a:normAutofit fontScale="92500"/>
          </a:bodyPr>
          <a:lstStyle/>
          <a:p>
            <a:r>
              <a:rPr lang="en-US" b="1" dirty="0"/>
              <a:t>Path A — Learning First (recommended):</a:t>
            </a:r>
          </a:p>
          <a:p>
            <a:pPr lvl="1"/>
            <a:r>
              <a:rPr lang="en-US" dirty="0"/>
              <a:t>Manual coding, mistakes, understanding errors, building mental models. Slower at first.</a:t>
            </a:r>
          </a:p>
          <a:p>
            <a:pPr lvl="1"/>
            <a:r>
              <a:rPr lang="en-US" dirty="0"/>
              <a:t>When you eventually use AI, you can evaluate and guide it effectively.</a:t>
            </a:r>
          </a:p>
          <a:p>
            <a:pPr lvl="1"/>
            <a:r>
              <a:rPr lang="en-US" dirty="0"/>
              <a:t>Solid foundation that supports long-term productivity growth.</a:t>
            </a:r>
          </a:p>
          <a:p>
            <a:r>
              <a:rPr lang="en-US" b="1" dirty="0"/>
              <a:t>Path B — AI First:</a:t>
            </a:r>
          </a:p>
          <a:p>
            <a:pPr lvl="1"/>
            <a:r>
              <a:rPr lang="en-US" dirty="0"/>
              <a:t>Fast initial progress. But you never learn WHY the code works.</a:t>
            </a:r>
          </a:p>
          <a:p>
            <a:pPr lvl="1"/>
            <a:r>
              <a:rPr lang="en-US" dirty="0"/>
              <a:t>When complex bugs hit, you’re stuck — you can’t even describe the problem to AI effectively.</a:t>
            </a:r>
          </a:p>
          <a:p>
            <a:pPr lvl="1"/>
            <a:r>
              <a:rPr lang="en-US" dirty="0"/>
              <a:t>Productivity collapses and never recovers to Path A levels.</a:t>
            </a:r>
          </a:p>
        </p:txBody>
      </p:sp>
      <p:sp>
        <p:nvSpPr>
          <p:cNvPr id="4" name="Slide Number Placeholder 3"/>
          <p:cNvSpPr>
            <a:spLocks noGrp="1"/>
          </p:cNvSpPr>
          <p:nvPr>
            <p:ph type="sldNum" sz="quarter" idx="12"/>
          </p:nvPr>
        </p:nvSpPr>
        <p:spPr/>
        <p:txBody>
          <a:bodyPr/>
          <a:lstStyle/>
          <a:p>
            <a:fld id="{20F37917-FD3A-4669-9018-DA04BCDD3D75}" type="slidenum">
              <a:rPr lang="en-US" smtClean="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4D5D3-62C7-FC3A-5BF2-3B8E08DDA091}"/>
              </a:ext>
            </a:extLst>
          </p:cNvPr>
          <p:cNvSpPr>
            <a:spLocks noGrp="1"/>
          </p:cNvSpPr>
          <p:nvPr>
            <p:ph type="title"/>
          </p:nvPr>
        </p:nvSpPr>
        <p:spPr/>
        <p:txBody>
          <a:bodyPr/>
          <a:lstStyle/>
          <a:p>
            <a:r>
              <a:rPr lang="en-US" dirty="0"/>
              <a:t>Beware of De-Skilling</a:t>
            </a:r>
          </a:p>
        </p:txBody>
      </p:sp>
      <p:sp>
        <p:nvSpPr>
          <p:cNvPr id="3" name="Content Placeholder 2">
            <a:extLst>
              <a:ext uri="{FF2B5EF4-FFF2-40B4-BE49-F238E27FC236}">
                <a16:creationId xmlns:a16="http://schemas.microsoft.com/office/drawing/2014/main" id="{391A5C37-C6EC-6BD1-ED22-C0F09F2537F6}"/>
              </a:ext>
            </a:extLst>
          </p:cNvPr>
          <p:cNvSpPr>
            <a:spLocks noGrp="1"/>
          </p:cNvSpPr>
          <p:nvPr>
            <p:ph idx="1"/>
          </p:nvPr>
        </p:nvSpPr>
        <p:spPr/>
        <p:txBody>
          <a:bodyPr/>
          <a:lstStyle/>
          <a:p>
            <a:r>
              <a:rPr lang="en-US" dirty="0"/>
              <a:t>Adopt a “learning tax” strategy: deliberately choose to implement certain components manually, even when AI could generate them instantly.</a:t>
            </a:r>
          </a:p>
          <a:p>
            <a:r>
              <a:rPr lang="en-US" dirty="0"/>
              <a:t>Otherwise you won't recognize when the AI is screwing up!</a:t>
            </a:r>
          </a:p>
          <a:p>
            <a:r>
              <a:rPr lang="en-US" dirty="0"/>
              <a:t>The goal isn’t to code without AI or to use it for everything, but to maintain the expertise that makes you irreplaceable—the judgment, creativity, and deep understanding that transforms good code into great software. (--Jon Bell)</a:t>
            </a:r>
          </a:p>
        </p:txBody>
      </p:sp>
      <p:sp>
        <p:nvSpPr>
          <p:cNvPr id="4" name="Slide Number Placeholder 3">
            <a:extLst>
              <a:ext uri="{FF2B5EF4-FFF2-40B4-BE49-F238E27FC236}">
                <a16:creationId xmlns:a16="http://schemas.microsoft.com/office/drawing/2014/main" id="{B5A705CD-F17C-2935-2551-EF05FC294324}"/>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8022331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2C55-8B9A-4402-EC35-5B2F454B5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CDD3C-88B6-0675-D653-8D50068AF3F8}"/>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89E50DD1-372F-902B-0748-CC824B9F81EF}"/>
              </a:ext>
            </a:extLst>
          </p:cNvPr>
          <p:cNvSpPr>
            <a:spLocks noGrp="1"/>
          </p:cNvSpPr>
          <p:nvPr>
            <p:ph idx="1"/>
          </p:nvPr>
        </p:nvSpPr>
        <p:spPr/>
        <p:txBody>
          <a:bodyPr>
            <a:normAutofit/>
          </a:bodyPr>
          <a:lstStyle/>
          <a:p>
            <a:r>
              <a:rPr lang="en-US" dirty="0"/>
              <a:t>Now, at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5E738B2-5A7C-C278-C294-5451ED30F746}"/>
              </a:ext>
            </a:extLst>
          </p:cNvPr>
          <p:cNvSpPr>
            <a:spLocks noGrp="1"/>
          </p:cNvSpPr>
          <p:nvPr>
            <p:ph type="sldNum" sz="quarter" idx="12"/>
          </p:nvPr>
        </p:nvSpPr>
        <p:spPr/>
        <p:txBody>
          <a:bodyPr/>
          <a:lstStyle/>
          <a:p>
            <a:fld id="{20F37917-FD3A-4669-9018-DA04BCDD3D75}" type="slidenum">
              <a:rPr lang="en-US" smtClean="0"/>
              <a:t>41</a:t>
            </a:fld>
            <a:endParaRPr lang="en-US"/>
          </a:p>
        </p:txBody>
      </p:sp>
    </p:spTree>
    <p:extLst>
      <p:ext uri="{BB962C8B-B14F-4D97-AF65-F5344CB8AC3E}">
        <p14:creationId xmlns:p14="http://schemas.microsoft.com/office/powerpoint/2010/main" val="24110081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ctr">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0112DC-710E-4100-A833-EC0FD2217761}">
  <we:reference id="wa200010001" version="1.0.0.1" store="en-US"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14652</TotalTime>
  <Words>3363</Words>
  <Application>Microsoft Office PowerPoint</Application>
  <PresentationFormat>Widescreen</PresentationFormat>
  <Paragraphs>364</Paragraphs>
  <Slides>41</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Consolas</vt:lpstr>
      <vt:lpstr>Helvetica Neue</vt:lpstr>
      <vt:lpstr>Arial</vt:lpstr>
      <vt:lpstr>Calibri</vt:lpstr>
      <vt:lpstr>sohne</vt:lpstr>
      <vt:lpstr>Verdana</vt:lpstr>
      <vt:lpstr>Office Theme</vt:lpstr>
      <vt:lpstr>CS 4530: Fundamentals of Software Engineering Module 16: Coding With AI Agents</vt:lpstr>
      <vt:lpstr>This Is Just the Beginning of Our Conversation</vt:lpstr>
      <vt:lpstr>Learning Goals for this Lesson</vt:lpstr>
      <vt:lpstr>Our Slogan:</vt:lpstr>
      <vt:lpstr>Disclaimer</vt:lpstr>
      <vt:lpstr>What is a Large Language Model (LLM?)</vt:lpstr>
      <vt:lpstr>Why this matters</vt:lpstr>
      <vt:lpstr>What is an AI Coding Assistant?</vt:lpstr>
      <vt:lpstr>AI Coding Assistants: Strengths</vt:lpstr>
      <vt:lpstr>AI Coding Assistants: Limitations</vt:lpstr>
      <vt:lpstr>Context Is Everything</vt:lpstr>
      <vt:lpstr>The Secret Sauce: Static Analysis Powers Context </vt:lpstr>
      <vt:lpstr>Static Analysis Can't Find Everything</vt:lpstr>
      <vt:lpstr>A 6-Step Human-AI Collaboration Workflow</vt:lpstr>
      <vt:lpstr>Identify: what information does the AI need?</vt:lpstr>
      <vt:lpstr>How much context you need to provide depends on three things:</vt:lpstr>
      <vt:lpstr>Step 2: Engage</vt:lpstr>
      <vt:lpstr>The Plan-First Pattern, Part 1</vt:lpstr>
      <vt:lpstr>The Plan-First Pattern, Part 2:  Verify that the code matches the blueprint</vt:lpstr>
      <vt:lpstr>You also need a plan to evaluate the plan (and the code)</vt:lpstr>
      <vt:lpstr>How Do You Know You’re Done?</vt:lpstr>
      <vt:lpstr>If you can't evaluate the AI output, maybe you shouldn't be using so much AI</vt:lpstr>
      <vt:lpstr>The Contract-Prompt Pattern</vt:lpstr>
      <vt:lpstr>Section 1: Goal</vt:lpstr>
      <vt:lpstr>Section 2: Constraints</vt:lpstr>
      <vt:lpstr>Making sure the AI obeys the constraints</vt:lpstr>
      <vt:lpstr>Section 3: Format</vt:lpstr>
      <vt:lpstr>Another way of communicating the output format</vt:lpstr>
      <vt:lpstr>Section 4: Failure Conditions</vt:lpstr>
      <vt:lpstr>Prompting Myths That Don’t Actually Help</vt:lpstr>
      <vt:lpstr>And now, back to the 6-step workflow…</vt:lpstr>
      <vt:lpstr>The final steps: Calibrate/Tweak/Finalize</vt:lpstr>
      <vt:lpstr>Calibration and Tweaking</vt:lpstr>
      <vt:lpstr>Finalizing</vt:lpstr>
      <vt:lpstr>Use Design As a Way of Communicating Organization</vt:lpstr>
      <vt:lpstr>What an AI can't do (or do well)</vt:lpstr>
      <vt:lpstr>When should I use AI?  Task familiarity determines appropriateness</vt:lpstr>
      <vt:lpstr>The “Vibe Coding” Trap</vt:lpstr>
      <vt:lpstr>AI Creates “Learning Debt” When Used Too Early</vt:lpstr>
      <vt:lpstr>Beware of De-Skilling</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228</cp:revision>
  <dcterms:created xsi:type="dcterms:W3CDTF">2021-01-07T15:19:22Z</dcterms:created>
  <dcterms:modified xsi:type="dcterms:W3CDTF">2026-03-23T16:18:28Z</dcterms:modified>
</cp:coreProperties>
</file>