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2D2_9DD090E3.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5"/>
  </p:notesMasterIdLst>
  <p:sldIdLst>
    <p:sldId id="485" r:id="rId2"/>
    <p:sldId id="601" r:id="rId3"/>
    <p:sldId id="758" r:id="rId4"/>
    <p:sldId id="712" r:id="rId5"/>
    <p:sldId id="715" r:id="rId6"/>
    <p:sldId id="604" r:id="rId7"/>
    <p:sldId id="746" r:id="rId8"/>
    <p:sldId id="609" r:id="rId9"/>
    <p:sldId id="722" r:id="rId10"/>
    <p:sldId id="723" r:id="rId11"/>
    <p:sldId id="764" r:id="rId12"/>
    <p:sldId id="771" r:id="rId13"/>
    <p:sldId id="724" r:id="rId14"/>
    <p:sldId id="765" r:id="rId15"/>
    <p:sldId id="728" r:id="rId16"/>
    <p:sldId id="732" r:id="rId17"/>
    <p:sldId id="754" r:id="rId18"/>
    <p:sldId id="726" r:id="rId19"/>
    <p:sldId id="730" r:id="rId20"/>
    <p:sldId id="731" r:id="rId21"/>
    <p:sldId id="614" r:id="rId22"/>
    <p:sldId id="611" r:id="rId23"/>
    <p:sldId id="766" r:id="rId24"/>
    <p:sldId id="615" r:id="rId25"/>
    <p:sldId id="768" r:id="rId26"/>
    <p:sldId id="616" r:id="rId27"/>
    <p:sldId id="620" r:id="rId28"/>
    <p:sldId id="718" r:id="rId29"/>
    <p:sldId id="767" r:id="rId30"/>
    <p:sldId id="738" r:id="rId31"/>
    <p:sldId id="742" r:id="rId32"/>
    <p:sldId id="770" r:id="rId33"/>
    <p:sldId id="721" r:id="rId34"/>
    <p:sldId id="735" r:id="rId35"/>
    <p:sldId id="769" r:id="rId36"/>
    <p:sldId id="743" r:id="rId37"/>
    <p:sldId id="380" r:id="rId38"/>
    <p:sldId id="761" r:id="rId39"/>
    <p:sldId id="759" r:id="rId40"/>
    <p:sldId id="621" r:id="rId41"/>
    <p:sldId id="622" r:id="rId42"/>
    <p:sldId id="744" r:id="rId43"/>
    <p:sldId id="772" r:id="rId44"/>
  </p:sldIdLst>
  <p:sldSz cx="12192000" cy="6858000"/>
  <p:notesSz cx="6858000" cy="9144000"/>
  <p:embeddedFontLst>
    <p:embeddedFont>
      <p:font typeface="Consolas" panose="020B0609020204030204" pitchFamily="49" charset="0"/>
      <p:regular r:id="rId46"/>
      <p:bold r:id="rId47"/>
      <p:italic r:id="rId48"/>
      <p:boldItalic r:id="rId49"/>
    </p:embeddedFont>
    <p:embeddedFont>
      <p:font typeface="Verdana" panose="020B0604030504040204" pitchFamily="34" charset="0"/>
      <p:regular r:id="rId50"/>
      <p:bold r:id="rId51"/>
      <p:italic r:id="rId52"/>
      <p:boldItalic r:id="rId5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601"/>
            <p14:sldId id="758"/>
            <p14:sldId id="712"/>
            <p14:sldId id="715"/>
            <p14:sldId id="604"/>
            <p14:sldId id="746"/>
            <p14:sldId id="609"/>
            <p14:sldId id="722"/>
            <p14:sldId id="723"/>
            <p14:sldId id="764"/>
            <p14:sldId id="771"/>
            <p14:sldId id="724"/>
            <p14:sldId id="765"/>
            <p14:sldId id="728"/>
            <p14:sldId id="732"/>
            <p14:sldId id="754"/>
            <p14:sldId id="726"/>
            <p14:sldId id="730"/>
            <p14:sldId id="731"/>
            <p14:sldId id="614"/>
            <p14:sldId id="611"/>
            <p14:sldId id="766"/>
            <p14:sldId id="615"/>
            <p14:sldId id="768"/>
            <p14:sldId id="616"/>
            <p14:sldId id="620"/>
            <p14:sldId id="718"/>
            <p14:sldId id="767"/>
            <p14:sldId id="738"/>
            <p14:sldId id="742"/>
            <p14:sldId id="770"/>
            <p14:sldId id="721"/>
            <p14:sldId id="735"/>
            <p14:sldId id="769"/>
            <p14:sldId id="743"/>
            <p14:sldId id="380"/>
            <p14:sldId id="761"/>
            <p14:sldId id="759"/>
            <p14:sldId id="621"/>
            <p14:sldId id="622"/>
            <p14:sldId id="744"/>
            <p14:sldId id="77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C47763D-CBE2-A103-8A00-8685BEC527C1}" name="Mitchell Wand" initials="MW" userId="de9b44c55c049659"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6C0796-9087-4577-8DE3-1F1950A6BD3A}" v="4" dt="2022-09-20T21:02:47.5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983" autoAdjust="0"/>
    <p:restoredTop sz="63951" autoAdjust="0"/>
  </p:normalViewPr>
  <p:slideViewPr>
    <p:cSldViewPr snapToGrid="0">
      <p:cViewPr varScale="1">
        <p:scale>
          <a:sx n="46" d="100"/>
          <a:sy n="46" d="100"/>
        </p:scale>
        <p:origin x="812" y="68"/>
      </p:cViewPr>
      <p:guideLst/>
    </p:cSldViewPr>
  </p:slideViewPr>
  <p:notesTextViewPr>
    <p:cViewPr>
      <p:scale>
        <a:sx n="100" d="100"/>
        <a:sy n="100" d="100"/>
      </p:scale>
      <p:origin x="0" y="0"/>
    </p:cViewPr>
  </p:notesTextViewPr>
  <p:sorterViewPr>
    <p:cViewPr>
      <p:scale>
        <a:sx n="80" d="100"/>
        <a:sy n="80" d="100"/>
      </p:scale>
      <p:origin x="0" y="-764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3" Type="http://schemas.openxmlformats.org/officeDocument/2006/relationships/font" Target="fonts/font8.fntdata"/><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3.fntdata"/><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59" Type="http://schemas.microsoft.com/office/2018/10/relationships/authors" Targe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4.fntdata"/><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7.fntdata"/></Relationships>
</file>

<file path=ppt/comments/modernComment_2D2_9DD090E3.xml><?xml version="1.0" encoding="utf-8"?>
<p188:cmLst xmlns:a="http://schemas.openxmlformats.org/drawingml/2006/main" xmlns:r="http://schemas.openxmlformats.org/officeDocument/2006/relationships" xmlns:p188="http://schemas.microsoft.com/office/powerpoint/2018/8/main">
  <p188:cm id="{08472F9E-AE97-4BA2-BE80-B082B609DDF5}" authorId="{FC47763D-CBE2-A103-8A00-8685BEC527C1}" status="resolved" created="2026-04-04T20:03:00.419" complete="100000">
    <ac:txMkLst xmlns:ac="http://schemas.microsoft.com/office/drawing/2013/main/command">
      <pc:docMk xmlns:pc="http://schemas.microsoft.com/office/powerpoint/2013/main/command"/>
      <pc:sldMk xmlns:pc="http://schemas.microsoft.com/office/powerpoint/2013/main/command" cId="2647691491" sldId="722"/>
      <ac:spMk id="3" creationId="{D1884114-4089-DBDA-3432-AA8803D87824}"/>
      <ac:txMk cp="51" len="16">
        <ac:context len="405" hash="78761703"/>
      </ac:txMk>
    </ac:txMkLst>
    <p188:pos x="7357533" y="1209173"/>
    <p188:txBody>
      <a:bodyPr/>
      <a:lstStyle/>
      <a:p>
        <a:r>
          <a:rPr lang="en-US"/>
          <a:t>Rob says; 1M tokens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4/4/2026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1814455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189186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autocorrect shows its guess about the next word &lt;click&gt; Observe that it has also assigned probabilities to each of the alternatives.</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8250432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4555503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gets us to our second item in our outline: a 4-step workflow that distills a best-practice for using a coding assistant on your project.</a:t>
            </a:r>
          </a:p>
          <a:p>
            <a:r>
              <a:rPr lang="en-US" dirty="0"/>
              <a:t>&lt;Read Slide&gt;</a:t>
            </a:r>
          </a:p>
          <a:p>
            <a:r>
              <a:rPr lang="en-US" dirty="0"/>
              <a:t>We will spend most of the rest of the lecture walking through this workflow.</a:t>
            </a:r>
          </a:p>
          <a:p>
            <a:r>
              <a:rPr lang="en-US" dirty="0"/>
              <a:t>Remember that this is an idealized process-- in practice these steps will likely overlap and blend into each other.</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9532447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Prompt.</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12983301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1397037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this pattern applies to other agents as well.</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529480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from two different projects).   Many of our repos have exhaustive README's.  (Prof. Wand says: some of them are very good, others not so good, I(HIS)HO.) </a:t>
            </a:r>
            <a:r>
              <a:rPr lang="en-US" dirty="0" err="1"/>
              <a:t>I.f</a:t>
            </a:r>
            <a:r>
              <a:rPr lang="en-US" dirty="0"/>
              <a:t> you guess they were generated by AI from the codebase, you are probably right.   But if you use one of them, make sure it reflects what YOU want in YOUR project.</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8899547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0410159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makes "When you're done" readable to your AI. </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21753235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 (Phil Rentier) writes: "[the original prompt] </a:t>
            </a:r>
            <a:r>
              <a:rPr lang="en-US" sz="1200" b="0" i="0" kern="1200" dirty="0">
                <a:solidFill>
                  <a:schemeClr val="tx1"/>
                </a:solidFill>
                <a:effectLst/>
                <a:latin typeface="+mn-lt"/>
                <a:ea typeface="+mn-ea"/>
                <a:cs typeface="+mn-cs"/>
              </a:rPr>
              <a:t>is the prompt equivalent of telling your GPS “take me somewhere nice.” You’ll end up </a:t>
            </a:r>
            <a:r>
              <a:rPr lang="en-US" sz="1200" b="0" i="1" kern="1200" dirty="0">
                <a:solidFill>
                  <a:schemeClr val="tx1"/>
                </a:solidFill>
                <a:effectLst/>
                <a:latin typeface="+mn-lt"/>
                <a:ea typeface="+mn-ea"/>
                <a:cs typeface="+mn-cs"/>
              </a:rPr>
              <a:t>somewhere</a:t>
            </a:r>
            <a:r>
              <a:rPr lang="en-US" sz="1200" b="0" i="0" kern="1200" dirty="0">
                <a:solidFill>
                  <a:schemeClr val="tx1"/>
                </a:solidFill>
                <a:effectLst/>
                <a:latin typeface="+mn-lt"/>
                <a:ea typeface="+mn-ea"/>
                <a:cs typeface="+mn-cs"/>
              </a:rPr>
              <a:t>. It might be a Michelin star restaurant. It might be a gas station in Ohio.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Notice the user-story/COS framework here.</a:t>
            </a:r>
          </a:p>
          <a:p>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3496155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12608024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a few of many myths you might see…</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6606459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all we have to say about prompting.  Let's move on to Step 2: Plan</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41662616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/currently hidden/…</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4540715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point to reconsider whether AI is the right tool for the job.</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37951046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on to Step 3, where will have the AI actually generate some code.</a:t>
            </a:r>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40891305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Let's look  at these in a little more detail.</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38252329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 Wand says: Large portions of this slide deck were generated by Claude from the 3100 slides, which were in a Markdown dialect. Claude produced some slides, but they were in an entirely different design style. I then had to calibrate by giving Claude a sample of the slides we were using for this course, and Claude re-did the slides to match our style.</a:t>
            </a:r>
          </a:p>
          <a:p>
            <a:endParaRPr lang="en-US" dirty="0"/>
          </a:p>
          <a:p>
            <a:r>
              <a:rPr lang="en-US" dirty="0"/>
              <a:t>But the results were still far from perfect, and I spent a lot of time tweaking things-- splitting too-long bulleted lists into multiple slides, etc.</a:t>
            </a:r>
          </a:p>
          <a:p>
            <a:endParaRPr lang="en-US" dirty="0"/>
          </a:p>
          <a:p>
            <a:r>
              <a:rPr lang="en-US" dirty="0"/>
              <a:t>And this deck is the result of merging the Claude results with the similar slides I prepared for Fall 2025.</a:t>
            </a:r>
          </a:p>
          <a:p>
            <a:r>
              <a:rPr lang="en-US" dirty="0"/>
              <a:t>And also it incorporates more thinking about the subject, along with good new material I found on the web.</a:t>
            </a:r>
          </a:p>
          <a:p>
            <a:endParaRPr lang="en-US" dirty="0"/>
          </a:p>
          <a:p>
            <a:r>
              <a:rPr lang="en-US" dirty="0"/>
              <a:t>REMEMBER: THE HUMAN MAKES THE FINAL DECISION</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29344249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sure whether this is the appropriate content or the appropriate placement for this slide]</a:t>
            </a:r>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8292650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talked about "engagement"; now let's move to the "evaluation" part…</a:t>
            </a:r>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20565797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Step 4: Finalize &amp; Document</a:t>
            </a:r>
          </a:p>
        </p:txBody>
      </p:sp>
      <p:sp>
        <p:nvSpPr>
          <p:cNvPr id="4" name="Slide Number Placeholder 3"/>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26765345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37071425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needs revising</a:t>
            </a:r>
          </a:p>
          <a:p>
            <a:endParaRPr lang="en-US" dirty="0"/>
          </a:p>
          <a:p>
            <a:r>
              <a:rPr lang="en-US" dirty="0" err="1"/>
              <a:t>ust</a:t>
            </a:r>
            <a:r>
              <a:rPr lang="en-US" dirty="0"/>
              <a:t> like you have different team members with different skills, recently a lot of attention has been given to making teams of AI agents that are given specific role-playing instructions: “you’re in charge of keeping everyone on task,” “you’re in charge of reviewing PRs for frontend engineering,” “you are here to do one specific task described in this pull request and then go away forever” (Mr. </a:t>
            </a:r>
            <a:r>
              <a:rPr lang="en-US" dirty="0" err="1"/>
              <a:t>Meeseeks</a:t>
            </a:r>
            <a:r>
              <a:rPr lang="en-US" dirty="0"/>
              <a:t> is the appropriate Rick and Morty reference if you’re so inclined)</a:t>
            </a:r>
          </a:p>
          <a:p>
            <a:endParaRPr lang="en-US" dirty="0"/>
          </a:p>
          <a:p>
            <a:r>
              <a:rPr lang="en-US" dirty="0"/>
              <a:t>This is a screenshot that Prof. Simmons saw on Monday. It’s a log of a python script — written primarily with Claude — showing the workflow by which dozens of Claude agents are collaborating by filing GitHub issues and closing them with PRs, which other agents are closing.</a:t>
            </a:r>
          </a:p>
          <a:p>
            <a:endParaRPr lang="en-US" dirty="0"/>
          </a:p>
          <a:p>
            <a:r>
              <a:rPr lang="en-US" dirty="0"/>
              <a:t>Nobody at present thinks this kind of workflow produces good software engineering — software maintainable </a:t>
            </a:r>
            <a:r>
              <a:rPr lang="en-US" i="1" dirty="0"/>
              <a:t>over time</a:t>
            </a:r>
            <a:r>
              <a:rPr lang="en-US" i="0" dirty="0"/>
              <a:t> — but it is demonstrably better at doing certain goal-oriented complex tasks (like searching for bugs in a compiler).</a:t>
            </a:r>
          </a:p>
          <a:p>
            <a:endParaRPr lang="en-US" i="0" dirty="0"/>
          </a:p>
          <a:p>
            <a:r>
              <a:rPr lang="en-US" i="0" dirty="0"/>
              <a:t>(It can be emotionally exhausting to argue with an AI agent, but AI agents don’t experience emotional exhaustion and can yell at each other)</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38</a:t>
            </a:fld>
            <a:endParaRPr lang="en-US"/>
          </a:p>
        </p:txBody>
      </p:sp>
    </p:spTree>
    <p:extLst>
      <p:ext uri="{BB962C8B-B14F-4D97-AF65-F5344CB8AC3E}">
        <p14:creationId xmlns:p14="http://schemas.microsoft.com/office/powerpoint/2010/main" val="34700038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42</a:t>
            </a:fld>
            <a:endParaRPr lang="en-US"/>
          </a:p>
        </p:txBody>
      </p:sp>
    </p:spTree>
    <p:extLst>
      <p:ext uri="{BB962C8B-B14F-4D97-AF65-F5344CB8AC3E}">
        <p14:creationId xmlns:p14="http://schemas.microsoft.com/office/powerpoint/2010/main" val="11126763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5CA0E-33FA-2C44-E60C-227185A4F5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47E4F2-79E9-2398-743C-357DF1A56E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6E050A-434A-D673-0629-3B0B359682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75FC3E-FEC0-DC88-9BDF-72C678F3F88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744251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4/4/2026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4/4/2026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4/4/2026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4/4/2026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4/4/2026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4/4/2026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4/4/2026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4/4/2026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4/4/2026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4/4/2026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4/4/2026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4/4/2026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4/4/2026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microsoft.com/office/2018/10/relationships/comments" Target="../comments/modernComment_2D2_9DD090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16: Coding With AI Agents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This Is Just the Beginning of Our Conversation</a:t>
            </a:r>
          </a:p>
        </p:txBody>
      </p:sp>
      <p:sp>
        <p:nvSpPr>
          <p:cNvPr id="3" name="Content Placeholder 2"/>
          <p:cNvSpPr>
            <a:spLocks noGrp="1"/>
          </p:cNvSpPr>
          <p:nvPr>
            <p:ph idx="1"/>
          </p:nvPr>
        </p:nvSpPr>
        <p:spPr/>
        <p:txBody>
          <a:bodyPr>
            <a:normAutofit/>
          </a:bodyPr>
          <a:lstStyle/>
          <a:p>
            <a:r>
              <a:rPr lang="en-US" dirty="0"/>
              <a:t>This topic is unlike anything covered so far:</a:t>
            </a:r>
          </a:p>
          <a:p>
            <a:pPr lvl="1"/>
            <a:r>
              <a:rPr lang="en-US" dirty="0"/>
              <a:t>The technology is evolving faster than any textbook (or lecture!) can capture</a:t>
            </a:r>
          </a:p>
          <a:p>
            <a:pPr lvl="1"/>
            <a:r>
              <a:rPr lang="en-US" dirty="0"/>
              <a:t>There is genuine disagreement among experts about best practices</a:t>
            </a:r>
          </a:p>
          <a:p>
            <a:pPr lvl="1"/>
            <a:r>
              <a:rPr lang="en-US" dirty="0"/>
              <a:t>Your professors are learning alongside you, modeling the best practices we teach</a:t>
            </a:r>
          </a:p>
        </p:txBody>
      </p:sp>
      <p:sp>
        <p:nvSpPr>
          <p:cNvPr id="4" name="Slide Number Placeholder 3"/>
          <p:cNvSpPr>
            <a:spLocks noGrp="1"/>
          </p:cNvSpPr>
          <p:nvPr>
            <p:ph type="sldNum" sz="quarter" idx="12"/>
          </p:nvPr>
        </p:nvSpPr>
        <p:spPr/>
        <p:txBody>
          <a:bodyPr/>
          <a:lstStyle/>
          <a:p>
            <a:fld id="{20F37917-FD3A-4669-9018-DA04BCDD3D75}"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B04EA-BF92-CDEE-CFD6-6554D769A1F0}"/>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52974C5A-7541-E0B6-7D0C-E65A91871431}"/>
              </a:ext>
            </a:extLst>
          </p:cNvPr>
          <p:cNvSpPr>
            <a:spLocks noGrp="1"/>
          </p:cNvSpPr>
          <p:nvPr>
            <p:ph idx="1"/>
          </p:nvPr>
        </p:nvSpPr>
        <p:spPr/>
        <p:txBody>
          <a:bodyPr>
            <a:normAutofit/>
          </a:bodyPr>
          <a:lstStyle/>
          <a:p>
            <a:pPr marL="514350" indent="-514350">
              <a:buFont typeface="+mj-lt"/>
              <a:buAutoNum type="arabicPeriod"/>
            </a:pPr>
            <a:r>
              <a:rPr lang="en-US" dirty="0"/>
              <a:t>What is an LLM? What is an AI Coding Assistant? Why is context so important?</a:t>
            </a:r>
          </a:p>
          <a:p>
            <a:pPr marL="514350" indent="-514350">
              <a:buFont typeface="+mj-lt"/>
              <a:buAutoNum type="arabicPeriod"/>
            </a:pPr>
            <a:r>
              <a:rPr lang="en-US" dirty="0"/>
              <a:t>A 4-Step Pattern for Human-AI Workflow</a:t>
            </a:r>
          </a:p>
          <a:p>
            <a:pPr marL="971550" lvl="1" indent="-514350">
              <a:buFont typeface="+mj-lt"/>
              <a:buAutoNum type="arabicPeriod"/>
            </a:pPr>
            <a:r>
              <a:rPr lang="en-US" dirty="0"/>
              <a:t>Prompt</a:t>
            </a:r>
          </a:p>
          <a:p>
            <a:pPr marL="971550" lvl="1" indent="-514350">
              <a:buFont typeface="+mj-lt"/>
              <a:buAutoNum type="arabicPeriod"/>
            </a:pPr>
            <a:r>
              <a:rPr lang="en-US" dirty="0"/>
              <a:t>Plan</a:t>
            </a:r>
          </a:p>
          <a:p>
            <a:pPr marL="971550" lvl="1" indent="-514350">
              <a:buFont typeface="+mj-lt"/>
              <a:buAutoNum type="arabicPeriod"/>
            </a:pPr>
            <a:r>
              <a:rPr lang="en-US" dirty="0"/>
              <a:t>Engage &amp; Evaluate</a:t>
            </a:r>
          </a:p>
          <a:p>
            <a:pPr marL="971550" lvl="1" indent="-514350">
              <a:buFont typeface="+mj-lt"/>
              <a:buAutoNum type="arabicPeriod"/>
            </a:pPr>
            <a:r>
              <a:rPr lang="en-US" dirty="0"/>
              <a:t>Finalize &amp; Document</a:t>
            </a:r>
          </a:p>
          <a:p>
            <a:pPr marL="514350" indent="-514350">
              <a:buFont typeface="+mj-lt"/>
              <a:buAutoNum type="arabicPeriod"/>
            </a:pPr>
            <a:r>
              <a:rPr lang="en-US" dirty="0"/>
              <a:t>A Few Words about AI traps</a:t>
            </a:r>
          </a:p>
          <a:p>
            <a:pPr marL="971550" lvl="1" indent="-514350">
              <a:buFont typeface="+mj-lt"/>
              <a:buAutoNum type="arabicPeriod"/>
            </a:pPr>
            <a:endParaRPr lang="en-US" dirty="0"/>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4016675F-B8D3-A469-CD7C-165780DA2F28}"/>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704142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4527B-80FC-87BE-E860-C89AA0CF49AF}"/>
              </a:ext>
            </a:extLst>
          </p:cNvPr>
          <p:cNvSpPr>
            <a:spLocks noGrp="1"/>
          </p:cNvSpPr>
          <p:nvPr>
            <p:ph type="title"/>
          </p:nvPr>
        </p:nvSpPr>
        <p:spPr>
          <a:xfrm>
            <a:off x="838200" y="365125"/>
            <a:ext cx="10515600" cy="1325563"/>
          </a:xfrm>
        </p:spPr>
        <p:txBody>
          <a:bodyPr anchor="b">
            <a:normAutofit/>
          </a:bodyPr>
          <a:lstStyle/>
          <a:p>
            <a:r>
              <a:rPr lang="en-US" dirty="0"/>
              <a:t>Our Slogan:</a:t>
            </a:r>
          </a:p>
        </p:txBody>
      </p:sp>
      <p:sp>
        <p:nvSpPr>
          <p:cNvPr id="13" name="Content Placeholder 2">
            <a:extLst>
              <a:ext uri="{FF2B5EF4-FFF2-40B4-BE49-F238E27FC236}">
                <a16:creationId xmlns:a16="http://schemas.microsoft.com/office/drawing/2014/main" id="{EB151071-294A-F995-93FE-3F67E262B62E}"/>
              </a:ext>
            </a:extLst>
          </p:cNvPr>
          <p:cNvSpPr>
            <a:spLocks noGrp="1"/>
          </p:cNvSpPr>
          <p:nvPr>
            <p:ph sz="half" idx="1"/>
          </p:nvPr>
        </p:nvSpPr>
        <p:spPr>
          <a:xfrm>
            <a:off x="838200" y="1825625"/>
            <a:ext cx="5181600" cy="4351338"/>
          </a:xfrm>
        </p:spPr>
        <p:txBody>
          <a:bodyPr anchor="ctr">
            <a:normAutofit/>
          </a:bodyPr>
          <a:lstStyle/>
          <a:p>
            <a:pPr marL="0" indent="0" algn="ctr">
              <a:buNone/>
            </a:pPr>
            <a:r>
              <a:rPr lang="en-US" sz="6000" dirty="0"/>
              <a:t>AI amplifies human capabilities; it doesn't replace them</a:t>
            </a:r>
          </a:p>
        </p:txBody>
      </p:sp>
      <p:pic>
        <p:nvPicPr>
          <p:cNvPr id="8" name="Content Placeholder 7" descr="A black background with a black square&#10;&#10;AI-generated content may be incorrect.">
            <a:extLst>
              <a:ext uri="{FF2B5EF4-FFF2-40B4-BE49-F238E27FC236}">
                <a16:creationId xmlns:a16="http://schemas.microsoft.com/office/drawing/2014/main" id="{EC2A5C55-3C4B-1D63-D920-5B2BEC612EE1}"/>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738947" y="1825625"/>
            <a:ext cx="2564781" cy="2564781"/>
          </a:xfrm>
          <a:noFill/>
        </p:spPr>
      </p:pic>
      <p:sp>
        <p:nvSpPr>
          <p:cNvPr id="4" name="Slide Number Placeholder 3">
            <a:extLst>
              <a:ext uri="{FF2B5EF4-FFF2-40B4-BE49-F238E27FC236}">
                <a16:creationId xmlns:a16="http://schemas.microsoft.com/office/drawing/2014/main" id="{AC0D5BD4-5AB7-0476-E1AC-987EB8602F6B}"/>
              </a:ext>
            </a:extLst>
          </p:cNvPr>
          <p:cNvSpPr>
            <a:spLocks noGrp="1"/>
          </p:cNvSpPr>
          <p:nvPr>
            <p:ph type="sldNum" sz="quarter" idx="12"/>
          </p:nvPr>
        </p:nvSpPr>
        <p:spPr>
          <a:xfrm>
            <a:off x="8610600" y="6356350"/>
            <a:ext cx="2743200" cy="365125"/>
          </a:xfrm>
        </p:spPr>
        <p:txBody>
          <a:bodyPr anchor="ctr">
            <a:normAutofit/>
          </a:bodyPr>
          <a:lstStyle/>
          <a:p>
            <a:pPr>
              <a:spcAft>
                <a:spcPts val="600"/>
              </a:spcAft>
            </a:pPr>
            <a:fld id="{20F37917-FD3A-4669-9018-DA04BCDD3D75}" type="slidenum">
              <a:rPr lang="en-US" smtClean="0"/>
              <a:pPr>
                <a:spcAft>
                  <a:spcPts val="600"/>
                </a:spcAft>
              </a:pPr>
              <a:t>4</a:t>
            </a:fld>
            <a:endParaRPr lang="en-US"/>
          </a:p>
        </p:txBody>
      </p:sp>
      <p:sp>
        <p:nvSpPr>
          <p:cNvPr id="9" name="TextBox 8">
            <a:extLst>
              <a:ext uri="{FF2B5EF4-FFF2-40B4-BE49-F238E27FC236}">
                <a16:creationId xmlns:a16="http://schemas.microsoft.com/office/drawing/2014/main" id="{24317F81-4DAC-18B3-E8AC-DACB99F40BCF}"/>
              </a:ext>
            </a:extLst>
          </p:cNvPr>
          <p:cNvSpPr txBox="1"/>
          <p:nvPr/>
        </p:nvSpPr>
        <p:spPr>
          <a:xfrm>
            <a:off x="2416036" y="6308209"/>
            <a:ext cx="94291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en-US" dirty="0">
                <a:solidFill>
                  <a:srgbClr val="AF00DB"/>
                </a:solidFill>
                <a:latin typeface="Consolas" panose="020B0609020204030204" pitchFamily="49" charset="0"/>
              </a:rPr>
              <a:t>https://thenounproject.com/browse/icons/term/ai-collaboration (CC BY 3.0)</a:t>
            </a:r>
            <a:endParaRPr lang="en-US" b="0" dirty="0">
              <a:solidFill>
                <a:srgbClr val="AF00DB"/>
              </a:solidFill>
              <a:effectLst/>
              <a:latin typeface="Consolas" panose="020B0609020204030204" pitchFamily="49" charset="0"/>
            </a:endParaRPr>
          </a:p>
        </p:txBody>
      </p:sp>
    </p:spTree>
    <p:extLst>
      <p:ext uri="{BB962C8B-B14F-4D97-AF65-F5344CB8AC3E}">
        <p14:creationId xmlns:p14="http://schemas.microsoft.com/office/powerpoint/2010/main" val="41603107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9B9F-9288-3181-47B5-402B46743ED0}"/>
              </a:ext>
            </a:extLst>
          </p:cNvPr>
          <p:cNvSpPr>
            <a:spLocks noGrp="1"/>
          </p:cNvSpPr>
          <p:nvPr>
            <p:ph type="title"/>
          </p:nvPr>
        </p:nvSpPr>
        <p:spPr/>
        <p:txBody>
          <a:bodyPr/>
          <a:lstStyle/>
          <a:p>
            <a:r>
              <a:rPr lang="en-US" dirty="0"/>
              <a:t>What is a Large Language Model (LLM?)</a:t>
            </a:r>
          </a:p>
        </p:txBody>
      </p:sp>
      <p:sp>
        <p:nvSpPr>
          <p:cNvPr id="3" name="Content Placeholder 2">
            <a:extLst>
              <a:ext uri="{FF2B5EF4-FFF2-40B4-BE49-F238E27FC236}">
                <a16:creationId xmlns:a16="http://schemas.microsoft.com/office/drawing/2014/main" id="{03A25CCF-4240-13AF-C6B6-0BD30B7C2170}"/>
              </a:ext>
            </a:extLst>
          </p:cNvPr>
          <p:cNvSpPr>
            <a:spLocks noGrp="1"/>
          </p:cNvSpPr>
          <p:nvPr>
            <p:ph idx="1"/>
          </p:nvPr>
        </p:nvSpPr>
        <p:spPr>
          <a:xfrm>
            <a:off x="838200" y="1467110"/>
            <a:ext cx="5829300" cy="4351338"/>
          </a:xfrm>
        </p:spPr>
        <p:txBody>
          <a:bodyPr>
            <a:normAutofit fontScale="92500" lnSpcReduction="10000"/>
          </a:bodyPr>
          <a:lstStyle/>
          <a:p>
            <a:r>
              <a:rPr lang="en-US" dirty="0"/>
              <a:t>Basically, it is an overgrown autocomplete.</a:t>
            </a:r>
          </a:p>
          <a:p>
            <a:r>
              <a:rPr lang="en-US" dirty="0"/>
              <a:t>Given a large database of texts and an initial segment of your input, it answers the question:</a:t>
            </a:r>
          </a:p>
          <a:p>
            <a:r>
              <a:rPr lang="en-US" dirty="0"/>
              <a:t>What is the most likely way in which this input would continue?</a:t>
            </a:r>
          </a:p>
          <a:p>
            <a:r>
              <a:rPr lang="en-US" dirty="0"/>
              <a:t>More accurately: it produces a probability distribution of likely continuations, and draws from that distribution (hence non-deterministic)</a:t>
            </a:r>
          </a:p>
        </p:txBody>
      </p:sp>
      <p:sp>
        <p:nvSpPr>
          <p:cNvPr id="4" name="Slide Number Placeholder 3">
            <a:extLst>
              <a:ext uri="{FF2B5EF4-FFF2-40B4-BE49-F238E27FC236}">
                <a16:creationId xmlns:a16="http://schemas.microsoft.com/office/drawing/2014/main" id="{4EBEDAF6-1B3E-FE98-06E4-9DB5D3A4FF2B}"/>
              </a:ext>
            </a:extLst>
          </p:cNvPr>
          <p:cNvSpPr>
            <a:spLocks noGrp="1"/>
          </p:cNvSpPr>
          <p:nvPr>
            <p:ph type="sldNum" sz="quarter" idx="12"/>
          </p:nvPr>
        </p:nvSpPr>
        <p:spPr/>
        <p:txBody>
          <a:bodyPr/>
          <a:lstStyle/>
          <a:p>
            <a:fld id="{20F37917-FD3A-4669-9018-DA04BCDD3D75}" type="slidenum">
              <a:rPr lang="en-US" smtClean="0"/>
              <a:t>5</a:t>
            </a:fld>
            <a:endParaRPr lang="en-US"/>
          </a:p>
        </p:txBody>
      </p:sp>
      <p:pic>
        <p:nvPicPr>
          <p:cNvPr id="9" name="Picture 8">
            <a:extLst>
              <a:ext uri="{FF2B5EF4-FFF2-40B4-BE49-F238E27FC236}">
                <a16:creationId xmlns:a16="http://schemas.microsoft.com/office/drawing/2014/main" id="{B10960CE-ED6A-3DEF-B6B9-DD273B05C2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03897" y="1343818"/>
            <a:ext cx="3949903" cy="5988358"/>
          </a:xfrm>
          <a:prstGeom prst="rect">
            <a:avLst/>
          </a:prstGeom>
        </p:spPr>
      </p:pic>
      <p:sp>
        <p:nvSpPr>
          <p:cNvPr id="5" name="Rectangle: Rounded Corners 4">
            <a:extLst>
              <a:ext uri="{FF2B5EF4-FFF2-40B4-BE49-F238E27FC236}">
                <a16:creationId xmlns:a16="http://schemas.microsoft.com/office/drawing/2014/main" id="{72384EFF-5AC9-A0B6-CF89-0AA12571735E}"/>
              </a:ext>
            </a:extLst>
          </p:cNvPr>
          <p:cNvSpPr/>
          <p:nvPr/>
        </p:nvSpPr>
        <p:spPr>
          <a:xfrm>
            <a:off x="8097253" y="3850105"/>
            <a:ext cx="2959768" cy="709863"/>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extLst>
      <p:ext uri="{BB962C8B-B14F-4D97-AF65-F5344CB8AC3E}">
        <p14:creationId xmlns:p14="http://schemas.microsoft.com/office/powerpoint/2010/main" val="3872239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Why this matters</a:t>
            </a:r>
          </a:p>
        </p:txBody>
      </p:sp>
      <p:sp>
        <p:nvSpPr>
          <p:cNvPr id="5" name="Content Placeholder 4">
            <a:extLst>
              <a:ext uri="{FF2B5EF4-FFF2-40B4-BE49-F238E27FC236}">
                <a16:creationId xmlns:a16="http://schemas.microsoft.com/office/drawing/2014/main" id="{4384F351-8300-3415-9A42-5CD912600246}"/>
              </a:ext>
            </a:extLst>
          </p:cNvPr>
          <p:cNvSpPr>
            <a:spLocks noGrp="1"/>
          </p:cNvSpPr>
          <p:nvPr>
            <p:ph idx="1"/>
          </p:nvPr>
        </p:nvSpPr>
        <p:spPr/>
        <p:txBody>
          <a:bodyPr/>
          <a:lstStyle/>
          <a:p>
            <a:r>
              <a:rPr lang="en-US" dirty="0"/>
              <a:t>Explains hallucination: model predicts plausible-looking text, not necessarily true text</a:t>
            </a:r>
          </a:p>
          <a:p>
            <a:r>
              <a:rPr lang="en-US" dirty="0"/>
              <a:t>Explains why context matters: predictions depend on what came before</a:t>
            </a:r>
          </a:p>
          <a:p>
            <a:r>
              <a:rPr lang="en-US" dirty="0"/>
              <a:t>Explains strengths: patterns in code are highly predictable!</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E2C47-25F9-371D-0289-EBBC428D72CA}"/>
              </a:ext>
            </a:extLst>
          </p:cNvPr>
          <p:cNvSpPr>
            <a:spLocks noGrp="1"/>
          </p:cNvSpPr>
          <p:nvPr>
            <p:ph type="title"/>
          </p:nvPr>
        </p:nvSpPr>
        <p:spPr/>
        <p:txBody>
          <a:bodyPr/>
          <a:lstStyle/>
          <a:p>
            <a:r>
              <a:rPr lang="en-US" dirty="0"/>
              <a:t>What is an AI Coding Assistant?</a:t>
            </a:r>
          </a:p>
        </p:txBody>
      </p:sp>
      <p:sp>
        <p:nvSpPr>
          <p:cNvPr id="3" name="Content Placeholder 2">
            <a:extLst>
              <a:ext uri="{FF2B5EF4-FFF2-40B4-BE49-F238E27FC236}">
                <a16:creationId xmlns:a16="http://schemas.microsoft.com/office/drawing/2014/main" id="{8763C0F6-26DB-669B-0472-0425C2587BA5}"/>
              </a:ext>
            </a:extLst>
          </p:cNvPr>
          <p:cNvSpPr>
            <a:spLocks noGrp="1"/>
          </p:cNvSpPr>
          <p:nvPr>
            <p:ph idx="1"/>
          </p:nvPr>
        </p:nvSpPr>
        <p:spPr/>
        <p:txBody>
          <a:bodyPr/>
          <a:lstStyle/>
          <a:p>
            <a:r>
              <a:rPr lang="en-US" dirty="0"/>
              <a:t>An AI coding assistant typically consists of an LLM</a:t>
            </a:r>
          </a:p>
          <a:p>
            <a:pPr lvl="1"/>
            <a:r>
              <a:rPr lang="en-US" dirty="0"/>
              <a:t>trained on a large base of running code</a:t>
            </a:r>
          </a:p>
          <a:p>
            <a:pPr lvl="1"/>
            <a:r>
              <a:rPr lang="en-US" dirty="0"/>
              <a:t>operating in a loop with an IDE</a:t>
            </a:r>
          </a:p>
          <a:p>
            <a:pPr lvl="2"/>
            <a:r>
              <a:rPr lang="en-US" dirty="0"/>
              <a:t>it can add artifacts inside the IDE to its context</a:t>
            </a:r>
          </a:p>
          <a:p>
            <a:pPr lvl="2"/>
            <a:r>
              <a:rPr lang="en-US" dirty="0"/>
              <a:t>it can operate on your code (with your permission)</a:t>
            </a:r>
          </a:p>
        </p:txBody>
      </p:sp>
      <p:sp>
        <p:nvSpPr>
          <p:cNvPr id="4" name="Slide Number Placeholder 3">
            <a:extLst>
              <a:ext uri="{FF2B5EF4-FFF2-40B4-BE49-F238E27FC236}">
                <a16:creationId xmlns:a16="http://schemas.microsoft.com/office/drawing/2014/main" id="{FED3D2FF-2F59-07FB-15A4-3D7F192D81A5}"/>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21756243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AI Coding Assistants: Strengths</a:t>
            </a:r>
          </a:p>
        </p:txBody>
      </p:sp>
      <p:sp>
        <p:nvSpPr>
          <p:cNvPr id="3" name="Content Placeholder 2"/>
          <p:cNvSpPr>
            <a:spLocks noGrp="1"/>
          </p:cNvSpPr>
          <p:nvPr>
            <p:ph idx="1"/>
          </p:nvPr>
        </p:nvSpPr>
        <p:spPr/>
        <p:txBody>
          <a:bodyPr>
            <a:normAutofit lnSpcReduction="10000"/>
          </a:bodyPr>
          <a:lstStyle/>
          <a:p>
            <a:r>
              <a:rPr lang="en-US" b="1" dirty="0"/>
              <a:t>Strengths:</a:t>
            </a:r>
          </a:p>
          <a:p>
            <a:pPr lvl="1"/>
            <a:r>
              <a:rPr lang="en-US" dirty="0"/>
              <a:t>Pattern recognition: recognizes and reproduces common coding patterns across millions of codebases</a:t>
            </a:r>
          </a:p>
          <a:p>
            <a:pPr lvl="1"/>
            <a:r>
              <a:rPr lang="en-US" dirty="0"/>
              <a:t>Syntax knowledge: extensive knowledge of languages, libraries, and frameworks</a:t>
            </a:r>
          </a:p>
          <a:p>
            <a:pPr lvl="1"/>
            <a:r>
              <a:rPr lang="en-US" dirty="0"/>
              <a:t>Integration with IDE can guide search</a:t>
            </a:r>
          </a:p>
          <a:p>
            <a:pPr lvl="1"/>
            <a:r>
              <a:rPr lang="en-US" dirty="0"/>
              <a:t>Cross-domain transfer: can apply patterns from one language to another</a:t>
            </a:r>
          </a:p>
          <a:p>
            <a:pPr lvl="1"/>
            <a:r>
              <a:rPr lang="en-US" dirty="0"/>
              <a:t>Rapid prototyping: generates boilerplate, tests, and common implementations quickly</a:t>
            </a:r>
          </a:p>
          <a:p>
            <a:pPr lvl="1"/>
            <a:r>
              <a:rPr lang="en-US" dirty="0"/>
              <a:t>AI in-the-loop: can run tests and evaluate the results</a:t>
            </a:r>
          </a:p>
          <a:p>
            <a:pPr lvl="2"/>
            <a:r>
              <a:rPr lang="en-US" dirty="0"/>
              <a:t>did it work? if not it can try something else</a:t>
            </a:r>
          </a:p>
        </p:txBody>
      </p:sp>
      <p:sp>
        <p:nvSpPr>
          <p:cNvPr id="4" name="Slide Number Placeholder 3"/>
          <p:cNvSpPr>
            <a:spLocks noGrp="1"/>
          </p:cNvSpPr>
          <p:nvPr>
            <p:ph type="sldNum" sz="quarter" idx="12"/>
          </p:nvPr>
        </p:nvSpPr>
        <p:spPr/>
        <p:txBody>
          <a:bodyPr/>
          <a:lstStyle/>
          <a:p>
            <a:fld id="{20F37917-FD3A-4669-9018-DA04BCDD3D75}"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9AB84-3277-7661-7E5C-C9534265FB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2CA1-3030-A88C-FBD7-DB04BD0510EB}"/>
              </a:ext>
            </a:extLst>
          </p:cNvPr>
          <p:cNvSpPr>
            <a:spLocks noGrp="1"/>
          </p:cNvSpPr>
          <p:nvPr>
            <p:ph type="title"/>
          </p:nvPr>
        </p:nvSpPr>
        <p:spPr/>
        <p:txBody>
          <a:bodyPr>
            <a:normAutofit/>
          </a:bodyPr>
          <a:lstStyle/>
          <a:p>
            <a:r>
              <a:rPr lang="en-US" sz="3200" dirty="0"/>
              <a:t>AI Coding Assistants: Limitations</a:t>
            </a:r>
          </a:p>
        </p:txBody>
      </p:sp>
      <p:sp>
        <p:nvSpPr>
          <p:cNvPr id="3" name="Content Placeholder 2">
            <a:extLst>
              <a:ext uri="{FF2B5EF4-FFF2-40B4-BE49-F238E27FC236}">
                <a16:creationId xmlns:a16="http://schemas.microsoft.com/office/drawing/2014/main" id="{D1884114-4089-DBDA-3432-AA8803D87824}"/>
              </a:ext>
            </a:extLst>
          </p:cNvPr>
          <p:cNvSpPr>
            <a:spLocks noGrp="1"/>
          </p:cNvSpPr>
          <p:nvPr>
            <p:ph idx="1"/>
          </p:nvPr>
        </p:nvSpPr>
        <p:spPr/>
        <p:txBody>
          <a:bodyPr>
            <a:normAutofit/>
          </a:bodyPr>
          <a:lstStyle/>
          <a:p>
            <a:r>
              <a:rPr lang="en-US" b="1" dirty="0"/>
              <a:t>Limitations:</a:t>
            </a:r>
          </a:p>
          <a:p>
            <a:pPr lvl="1"/>
            <a:r>
              <a:rPr lang="en-US" dirty="0"/>
              <a:t>Limited Context: can only see 100K-1M  tokens at once — may miss parts of large codebases</a:t>
            </a:r>
          </a:p>
          <a:p>
            <a:pPr lvl="1"/>
            <a:r>
              <a:rPr lang="en-US" dirty="0"/>
              <a:t>Generates code based on patterns, not execution results</a:t>
            </a:r>
          </a:p>
          <a:p>
            <a:pPr lvl="1"/>
            <a:r>
              <a:rPr lang="en-US" dirty="0"/>
              <a:t>Hallucination: may generate plausible-looking code that doesn’t actually work, or doesn't satisfy your project constraints.</a:t>
            </a:r>
          </a:p>
          <a:p>
            <a:pPr lvl="1"/>
            <a:r>
              <a:rPr lang="en-US" dirty="0"/>
              <a:t>Think of it as a well-read junior developer who has seen millions of codebases — but has never run your specific project.</a:t>
            </a:r>
          </a:p>
        </p:txBody>
      </p:sp>
      <p:sp>
        <p:nvSpPr>
          <p:cNvPr id="4" name="Slide Number Placeholder 3">
            <a:extLst>
              <a:ext uri="{FF2B5EF4-FFF2-40B4-BE49-F238E27FC236}">
                <a16:creationId xmlns:a16="http://schemas.microsoft.com/office/drawing/2014/main" id="{7D717E54-6CD7-9C07-43DB-3E964719F423}"/>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2647691491"/>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EE8C-FB2B-C601-A2D3-6E6167E96B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CA242D-47E3-B9BD-91A6-DD9C94D5DD5E}"/>
              </a:ext>
            </a:extLst>
          </p:cNvPr>
          <p:cNvSpPr>
            <a:spLocks noGrp="1"/>
          </p:cNvSpPr>
          <p:nvPr>
            <p:ph type="title"/>
          </p:nvPr>
        </p:nvSpPr>
        <p:spPr/>
        <p:txBody>
          <a:bodyPr>
            <a:normAutofit/>
          </a:bodyPr>
          <a:lstStyle/>
          <a:p>
            <a:r>
              <a:rPr lang="en-US" sz="3200" dirty="0"/>
              <a:t>But An LLM Can't Find Everything</a:t>
            </a:r>
          </a:p>
        </p:txBody>
      </p:sp>
      <p:sp>
        <p:nvSpPr>
          <p:cNvPr id="3" name="Content Placeholder 2">
            <a:extLst>
              <a:ext uri="{FF2B5EF4-FFF2-40B4-BE49-F238E27FC236}">
                <a16:creationId xmlns:a16="http://schemas.microsoft.com/office/drawing/2014/main" id="{6DE734B9-969F-93A5-9ABE-FB3705432F33}"/>
              </a:ext>
            </a:extLst>
          </p:cNvPr>
          <p:cNvSpPr>
            <a:spLocks noGrp="1"/>
          </p:cNvSpPr>
          <p:nvPr>
            <p:ph idx="1"/>
          </p:nvPr>
        </p:nvSpPr>
        <p:spPr/>
        <p:txBody>
          <a:bodyPr>
            <a:normAutofit/>
          </a:bodyPr>
          <a:lstStyle/>
          <a:p>
            <a:r>
              <a:rPr lang="en-US" dirty="0"/>
              <a:t>What tools can auto-find: related files, type definitions, call graphs, similar patterns, test files</a:t>
            </a:r>
          </a:p>
          <a:p>
            <a:r>
              <a:rPr lang="en-US" dirty="0"/>
              <a:t>What tools cannot auto-find: why a design was chosen, undocumented requirements, knowledge in your head</a:t>
            </a:r>
          </a:p>
          <a:p>
            <a:r>
              <a:rPr lang="en-US" dirty="0"/>
              <a:t>And of course, the LLM can't figure out your intent.</a:t>
            </a:r>
          </a:p>
        </p:txBody>
      </p:sp>
      <p:sp>
        <p:nvSpPr>
          <p:cNvPr id="4" name="Slide Number Placeholder 3">
            <a:extLst>
              <a:ext uri="{FF2B5EF4-FFF2-40B4-BE49-F238E27FC236}">
                <a16:creationId xmlns:a16="http://schemas.microsoft.com/office/drawing/2014/main" id="{F9EACA1C-E946-B78E-FEC2-A2242D29D247}"/>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2700227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7C2D7-C2A7-2313-77EE-C4C4479E63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817F8F-5C7F-9886-C722-CF3C21E71BE3}"/>
              </a:ext>
            </a:extLst>
          </p:cNvPr>
          <p:cNvSpPr>
            <a:spLocks noGrp="1"/>
          </p:cNvSpPr>
          <p:nvPr>
            <p:ph type="title"/>
          </p:nvPr>
        </p:nvSpPr>
        <p:spPr/>
        <p:txBody>
          <a:bodyPr/>
          <a:lstStyle/>
          <a:p>
            <a:r>
              <a:rPr lang="en-US" dirty="0"/>
              <a:t>A 4-Step Workflow for Human-AI Interaction</a:t>
            </a:r>
          </a:p>
        </p:txBody>
      </p:sp>
      <p:sp>
        <p:nvSpPr>
          <p:cNvPr id="3" name="Content Placeholder 2">
            <a:extLst>
              <a:ext uri="{FF2B5EF4-FFF2-40B4-BE49-F238E27FC236}">
                <a16:creationId xmlns:a16="http://schemas.microsoft.com/office/drawing/2014/main" id="{47E11D69-162F-4AAC-C197-1AE0A1ABFA7F}"/>
              </a:ext>
            </a:extLst>
          </p:cNvPr>
          <p:cNvSpPr>
            <a:spLocks noGrp="1"/>
          </p:cNvSpPr>
          <p:nvPr>
            <p:ph idx="1"/>
          </p:nvPr>
        </p:nvSpPr>
        <p:spPr/>
        <p:txBody>
          <a:bodyPr>
            <a:normAutofit fontScale="92500" lnSpcReduction="10000"/>
          </a:bodyPr>
          <a:lstStyle/>
          <a:p>
            <a:pPr marL="514350" indent="-514350">
              <a:buFont typeface="+mj-lt"/>
              <a:buAutoNum type="arabicPeriod"/>
            </a:pPr>
            <a:r>
              <a:rPr lang="en-US" dirty="0"/>
              <a:t>Prompt</a:t>
            </a:r>
          </a:p>
          <a:p>
            <a:pPr lvl="1"/>
            <a:r>
              <a:rPr lang="en-US" dirty="0"/>
              <a:t>Give the AI the context it needs to do its job</a:t>
            </a:r>
          </a:p>
          <a:p>
            <a:pPr marL="514350" indent="-514350">
              <a:buFont typeface="+mj-lt"/>
              <a:buAutoNum type="arabicPeriod"/>
            </a:pPr>
            <a:r>
              <a:rPr lang="en-US" dirty="0"/>
              <a:t>Plan</a:t>
            </a:r>
          </a:p>
          <a:p>
            <a:pPr lvl="1"/>
            <a:r>
              <a:rPr lang="en-US" dirty="0"/>
              <a:t>Have the AI create a plan for what you want it to do</a:t>
            </a:r>
          </a:p>
          <a:p>
            <a:pPr lvl="1"/>
            <a:r>
              <a:rPr lang="en-US" dirty="0"/>
              <a:t>Review the plan</a:t>
            </a:r>
          </a:p>
          <a:p>
            <a:pPr lvl="1"/>
            <a:r>
              <a:rPr lang="en-US" dirty="0"/>
              <a:t>Review the review</a:t>
            </a:r>
          </a:p>
          <a:p>
            <a:pPr marL="514350" indent="-514350">
              <a:buFont typeface="+mj-lt"/>
              <a:buAutoNum type="arabicPeriod"/>
            </a:pPr>
            <a:r>
              <a:rPr lang="en-US" dirty="0"/>
              <a:t>Engage &amp; Evaluate</a:t>
            </a:r>
          </a:p>
          <a:p>
            <a:pPr lvl="1"/>
            <a:r>
              <a:rPr lang="en-US" dirty="0"/>
              <a:t>Engage with AI to guide to the desired result</a:t>
            </a:r>
          </a:p>
          <a:p>
            <a:pPr lvl="1"/>
            <a:r>
              <a:rPr lang="en-US" dirty="0"/>
              <a:t>Evaluate the results</a:t>
            </a:r>
          </a:p>
          <a:p>
            <a:pPr marL="514350" indent="-514350">
              <a:buFont typeface="+mj-lt"/>
              <a:buAutoNum type="arabicPeriod"/>
            </a:pPr>
            <a:r>
              <a:rPr lang="en-US" dirty="0"/>
              <a:t>Finalize &amp; Document</a:t>
            </a:r>
          </a:p>
          <a:p>
            <a:pPr lvl="1"/>
            <a:r>
              <a:rPr lang="en-US" dirty="0"/>
              <a:t>Make a record of design decisions to benefit future teams.</a:t>
            </a:r>
          </a:p>
        </p:txBody>
      </p:sp>
      <p:sp>
        <p:nvSpPr>
          <p:cNvPr id="4" name="Slide Number Placeholder 3">
            <a:extLst>
              <a:ext uri="{FF2B5EF4-FFF2-40B4-BE49-F238E27FC236}">
                <a16:creationId xmlns:a16="http://schemas.microsoft.com/office/drawing/2014/main" id="{D62CE08E-F5DB-DE9E-4235-B43847D2D79F}"/>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2539185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2D554-FC84-4A20-8C23-C2237C63E1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111DB-4179-DEA0-B336-CABEFCDE0AEF}"/>
              </a:ext>
            </a:extLst>
          </p:cNvPr>
          <p:cNvSpPr>
            <a:spLocks noGrp="1"/>
          </p:cNvSpPr>
          <p:nvPr>
            <p:ph type="title"/>
          </p:nvPr>
        </p:nvSpPr>
        <p:spPr/>
        <p:txBody>
          <a:bodyPr/>
          <a:lstStyle/>
          <a:p>
            <a:r>
              <a:rPr lang="en-US" dirty="0"/>
              <a:t>A 4-Step Workflow for Human-AI Interaction</a:t>
            </a:r>
          </a:p>
        </p:txBody>
      </p:sp>
      <p:sp>
        <p:nvSpPr>
          <p:cNvPr id="3" name="Content Placeholder 2">
            <a:extLst>
              <a:ext uri="{FF2B5EF4-FFF2-40B4-BE49-F238E27FC236}">
                <a16:creationId xmlns:a16="http://schemas.microsoft.com/office/drawing/2014/main" id="{4C00F6B3-2370-8365-3701-C80483F094A6}"/>
              </a:ext>
            </a:extLst>
          </p:cNvPr>
          <p:cNvSpPr>
            <a:spLocks noGrp="1"/>
          </p:cNvSpPr>
          <p:nvPr>
            <p:ph idx="1"/>
          </p:nvPr>
        </p:nvSpPr>
        <p:spPr/>
        <p:txBody>
          <a:bodyPr>
            <a:normAutofit fontScale="92500" lnSpcReduction="10000"/>
          </a:bodyPr>
          <a:lstStyle/>
          <a:p>
            <a:pPr marL="514350" indent="-514350">
              <a:buFont typeface="+mj-lt"/>
              <a:buAutoNum type="arabicPeriod"/>
            </a:pPr>
            <a:r>
              <a:rPr lang="en-US" dirty="0">
                <a:solidFill>
                  <a:srgbClr val="FF0000"/>
                </a:solidFill>
              </a:rPr>
              <a:t>Prompt</a:t>
            </a:r>
          </a:p>
          <a:p>
            <a:pPr lvl="1"/>
            <a:r>
              <a:rPr lang="en-US" dirty="0">
                <a:solidFill>
                  <a:srgbClr val="FF0000"/>
                </a:solidFill>
              </a:rPr>
              <a:t>Give the AI the context it needs to do its job</a:t>
            </a:r>
          </a:p>
          <a:p>
            <a:pPr marL="514350" indent="-514350">
              <a:buFont typeface="+mj-lt"/>
              <a:buAutoNum type="arabicPeriod"/>
            </a:pPr>
            <a:r>
              <a:rPr lang="en-US" dirty="0"/>
              <a:t>Plan</a:t>
            </a:r>
          </a:p>
          <a:p>
            <a:pPr lvl="1"/>
            <a:r>
              <a:rPr lang="en-US" dirty="0"/>
              <a:t>Have the AI create a plan for what you want it to do</a:t>
            </a:r>
          </a:p>
          <a:p>
            <a:pPr lvl="1"/>
            <a:r>
              <a:rPr lang="en-US" dirty="0"/>
              <a:t>Review the plan</a:t>
            </a:r>
          </a:p>
          <a:p>
            <a:pPr lvl="1"/>
            <a:r>
              <a:rPr lang="en-US" dirty="0"/>
              <a:t>Review the review</a:t>
            </a:r>
          </a:p>
          <a:p>
            <a:pPr marL="514350" indent="-514350">
              <a:buFont typeface="+mj-lt"/>
              <a:buAutoNum type="arabicPeriod"/>
            </a:pPr>
            <a:r>
              <a:rPr lang="en-US" dirty="0"/>
              <a:t>Engage &amp; Evaluate</a:t>
            </a:r>
          </a:p>
          <a:p>
            <a:pPr lvl="1"/>
            <a:r>
              <a:rPr lang="en-US" dirty="0"/>
              <a:t>Engage with AI to guide to the desired result</a:t>
            </a:r>
          </a:p>
          <a:p>
            <a:pPr lvl="1"/>
            <a:r>
              <a:rPr lang="en-US" dirty="0"/>
              <a:t>Evaluate the results</a:t>
            </a:r>
          </a:p>
          <a:p>
            <a:pPr marL="514350" indent="-514350">
              <a:buFont typeface="+mj-lt"/>
              <a:buAutoNum type="arabicPeriod"/>
            </a:pPr>
            <a:r>
              <a:rPr lang="en-US" dirty="0"/>
              <a:t>Finalize &amp; Document</a:t>
            </a:r>
          </a:p>
          <a:p>
            <a:pPr lvl="1"/>
            <a:r>
              <a:rPr lang="en-US" dirty="0"/>
              <a:t>Make a record of design decisions to benefit future teams.</a:t>
            </a:r>
          </a:p>
        </p:txBody>
      </p:sp>
      <p:sp>
        <p:nvSpPr>
          <p:cNvPr id="4" name="Slide Number Placeholder 3">
            <a:extLst>
              <a:ext uri="{FF2B5EF4-FFF2-40B4-BE49-F238E27FC236}">
                <a16:creationId xmlns:a16="http://schemas.microsoft.com/office/drawing/2014/main" id="{4A85ECF7-40E6-A22D-18AB-1173195F4562}"/>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1350007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D51AF-6752-FE35-2263-484D0226FE2D}"/>
              </a:ext>
            </a:extLst>
          </p:cNvPr>
          <p:cNvSpPr>
            <a:spLocks noGrp="1"/>
          </p:cNvSpPr>
          <p:nvPr>
            <p:ph type="title"/>
          </p:nvPr>
        </p:nvSpPr>
        <p:spPr/>
        <p:txBody>
          <a:bodyPr>
            <a:noAutofit/>
          </a:bodyPr>
          <a:lstStyle/>
          <a:p>
            <a:r>
              <a:rPr lang="en-US" dirty="0"/>
              <a:t>Prompt: Give the AI the context it needs  to do its job</a:t>
            </a:r>
          </a:p>
        </p:txBody>
      </p:sp>
      <p:sp>
        <p:nvSpPr>
          <p:cNvPr id="3" name="Content Placeholder 2">
            <a:extLst>
              <a:ext uri="{FF2B5EF4-FFF2-40B4-BE49-F238E27FC236}">
                <a16:creationId xmlns:a16="http://schemas.microsoft.com/office/drawing/2014/main" id="{4635FB2B-F42A-88A9-6945-BA0EB7792ABC}"/>
              </a:ext>
            </a:extLst>
          </p:cNvPr>
          <p:cNvSpPr>
            <a:spLocks noGrp="1"/>
          </p:cNvSpPr>
          <p:nvPr>
            <p:ph idx="1"/>
          </p:nvPr>
        </p:nvSpPr>
        <p:spPr/>
        <p:txBody>
          <a:bodyPr>
            <a:normAutofit/>
          </a:bodyPr>
          <a:lstStyle/>
          <a:p>
            <a:r>
              <a:rPr lang="en-US" dirty="0"/>
              <a:t>What are the domain concepts?</a:t>
            </a:r>
          </a:p>
          <a:p>
            <a:r>
              <a:rPr lang="en-US" dirty="0"/>
              <a:t>What is the goal?</a:t>
            </a:r>
          </a:p>
          <a:p>
            <a:r>
              <a:rPr lang="en-US" dirty="0"/>
              <a:t>What kind of output do we want?</a:t>
            </a:r>
          </a:p>
          <a:p>
            <a:r>
              <a:rPr lang="en-US" dirty="0"/>
              <a:t>What restrictions to we need to place on the AI?</a:t>
            </a:r>
          </a:p>
          <a:p>
            <a:endParaRPr lang="en-US" dirty="0"/>
          </a:p>
        </p:txBody>
      </p:sp>
      <p:sp>
        <p:nvSpPr>
          <p:cNvPr id="4" name="Slide Number Placeholder 3">
            <a:extLst>
              <a:ext uri="{FF2B5EF4-FFF2-40B4-BE49-F238E27FC236}">
                <a16:creationId xmlns:a16="http://schemas.microsoft.com/office/drawing/2014/main" id="{0941EC46-8BF1-31F4-B020-C3D4B2915442}"/>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1592248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6834E-AF17-1AAD-6904-5AC19EB560F1}"/>
              </a:ext>
            </a:extLst>
          </p:cNvPr>
          <p:cNvSpPr>
            <a:spLocks noGrp="1"/>
          </p:cNvSpPr>
          <p:nvPr>
            <p:ph type="title"/>
          </p:nvPr>
        </p:nvSpPr>
        <p:spPr/>
        <p:txBody>
          <a:bodyPr/>
          <a:lstStyle/>
          <a:p>
            <a:r>
              <a:rPr lang="en-US" dirty="0"/>
              <a:t>Prompts can have different scopes</a:t>
            </a:r>
          </a:p>
        </p:txBody>
      </p:sp>
      <p:sp>
        <p:nvSpPr>
          <p:cNvPr id="3" name="Content Placeholder 2">
            <a:extLst>
              <a:ext uri="{FF2B5EF4-FFF2-40B4-BE49-F238E27FC236}">
                <a16:creationId xmlns:a16="http://schemas.microsoft.com/office/drawing/2014/main" id="{8491FC8E-DD76-7A74-6645-80B8A6801AAD}"/>
              </a:ext>
            </a:extLst>
          </p:cNvPr>
          <p:cNvSpPr>
            <a:spLocks noGrp="1"/>
          </p:cNvSpPr>
          <p:nvPr>
            <p:ph idx="1"/>
          </p:nvPr>
        </p:nvSpPr>
        <p:spPr/>
        <p:txBody>
          <a:bodyPr/>
          <a:lstStyle/>
          <a:p>
            <a:r>
              <a:rPr lang="en-US" dirty="0"/>
              <a:t>Project-level prompts</a:t>
            </a:r>
          </a:p>
          <a:p>
            <a:pPr lvl="1"/>
            <a:r>
              <a:rPr lang="en-US" dirty="0"/>
              <a:t>for use throughout the project</a:t>
            </a:r>
          </a:p>
          <a:p>
            <a:pPr lvl="1"/>
            <a:r>
              <a:rPr lang="en-US" dirty="0"/>
              <a:t>project constraints (guardrails)</a:t>
            </a:r>
          </a:p>
          <a:p>
            <a:pPr lvl="1"/>
            <a:r>
              <a:rPr lang="en-US" dirty="0"/>
              <a:t>project architecture</a:t>
            </a:r>
          </a:p>
          <a:p>
            <a:r>
              <a:rPr lang="en-US" dirty="0"/>
              <a:t>Task-level prompts</a:t>
            </a:r>
          </a:p>
          <a:p>
            <a:pPr lvl="1"/>
            <a:r>
              <a:rPr lang="en-US" dirty="0"/>
              <a:t>describe specific pieces of the project</a:t>
            </a:r>
          </a:p>
          <a:p>
            <a:pPr lvl="1"/>
            <a:r>
              <a:rPr lang="en-US" dirty="0"/>
              <a:t>describe constraints &amp; architecture specific to this task</a:t>
            </a:r>
          </a:p>
          <a:p>
            <a:pPr lvl="1"/>
            <a:endParaRPr lang="en-US" dirty="0"/>
          </a:p>
        </p:txBody>
      </p:sp>
      <p:sp>
        <p:nvSpPr>
          <p:cNvPr id="4" name="Slide Number Placeholder 3">
            <a:extLst>
              <a:ext uri="{FF2B5EF4-FFF2-40B4-BE49-F238E27FC236}">
                <a16:creationId xmlns:a16="http://schemas.microsoft.com/office/drawing/2014/main" id="{56029B7D-5B63-12F7-3BDF-B91E37F6501A}"/>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5072501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9C60B-3BAC-FB73-0630-763A01518658}"/>
              </a:ext>
            </a:extLst>
          </p:cNvPr>
          <p:cNvSpPr>
            <a:spLocks noGrp="1"/>
          </p:cNvSpPr>
          <p:nvPr>
            <p:ph type="title"/>
          </p:nvPr>
        </p:nvSpPr>
        <p:spPr/>
        <p:txBody>
          <a:bodyPr/>
          <a:lstStyle/>
          <a:p>
            <a:r>
              <a:rPr lang="en-US" dirty="0"/>
              <a:t>Project Constraint Prompts</a:t>
            </a:r>
          </a:p>
        </p:txBody>
      </p:sp>
      <p:sp>
        <p:nvSpPr>
          <p:cNvPr id="4" name="Slide Number Placeholder 3">
            <a:extLst>
              <a:ext uri="{FF2B5EF4-FFF2-40B4-BE49-F238E27FC236}">
                <a16:creationId xmlns:a16="http://schemas.microsoft.com/office/drawing/2014/main" id="{0923D8B2-FEEF-AC2C-8A06-EE65B119762C}"/>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6" name="TextBox 5">
            <a:extLst>
              <a:ext uri="{FF2B5EF4-FFF2-40B4-BE49-F238E27FC236}">
                <a16:creationId xmlns:a16="http://schemas.microsoft.com/office/drawing/2014/main" id="{0EB86BFA-54B5-B634-A48B-9F81B5DACDA6}"/>
              </a:ext>
            </a:extLst>
          </p:cNvPr>
          <p:cNvSpPr txBox="1"/>
          <p:nvPr/>
        </p:nvSpPr>
        <p:spPr>
          <a:xfrm>
            <a:off x="838200" y="1517328"/>
            <a:ext cx="987171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Software Stack </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Frontend: Next.js 14+ App Router, TypeScript strict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Backend: Convex for real-time data, </a:t>
            </a:r>
            <a:r>
              <a:rPr lang="en-US" b="0" dirty="0" err="1">
                <a:solidFill>
                  <a:srgbClr val="3B3B3B"/>
                </a:solidFill>
                <a:effectLst/>
                <a:latin typeface="Consolas" panose="020B0609020204030204" pitchFamily="49" charset="0"/>
              </a:rPr>
              <a:t>Supabase</a:t>
            </a:r>
            <a:r>
              <a:rPr lang="en-US" b="0" dirty="0">
                <a:solidFill>
                  <a:srgbClr val="3B3B3B"/>
                </a:solidFill>
                <a:effectLst/>
                <a:latin typeface="Consolas" panose="020B0609020204030204" pitchFamily="49" charset="0"/>
              </a:rPr>
              <a:t> for auth + storage</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Auth: Clerk (never roll custom auth, we are not animals)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Styling: Tailwind only — no CSS modules, no styled-components</a:t>
            </a:r>
          </a:p>
          <a:p>
            <a:pPr>
              <a:buNone/>
            </a:pPr>
            <a:r>
              <a:rPr lang="en-US" b="1" dirty="0">
                <a:solidFill>
                  <a:srgbClr val="800000"/>
                </a:solidFill>
                <a:effectLst/>
                <a:latin typeface="Consolas" panose="020B0609020204030204" pitchFamily="49" charset="0"/>
              </a:rPr>
              <a:t>## Hard Rules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Never install a new dependency without asking first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Never modify the database schema without showing the migration plan</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All API calls go through Convex functions, never direct </a:t>
            </a:r>
            <a:r>
              <a:rPr lang="en-US" b="0" dirty="0" err="1">
                <a:solidFill>
                  <a:srgbClr val="3B3B3B"/>
                </a:solidFill>
                <a:effectLst/>
                <a:latin typeface="Consolas" panose="020B0609020204030204" pitchFamily="49" charset="0"/>
              </a:rPr>
              <a:t>Supabase</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client calls from components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Environment variables go in .</a:t>
            </a:r>
            <a:r>
              <a:rPr lang="en-US" b="0" dirty="0" err="1">
                <a:solidFill>
                  <a:srgbClr val="3B3B3B"/>
                </a:solidFill>
                <a:effectLst/>
                <a:latin typeface="Consolas" panose="020B0609020204030204" pitchFamily="49" charset="0"/>
              </a:rPr>
              <a:t>env.local</a:t>
            </a:r>
            <a:r>
              <a:rPr lang="en-US" b="0" dirty="0">
                <a:solidFill>
                  <a:srgbClr val="3B3B3B"/>
                </a:solidFill>
                <a:effectLst/>
                <a:latin typeface="Consolas" panose="020B0609020204030204" pitchFamily="49" charset="0"/>
              </a:rPr>
              <a:t>, never hardcoded</a:t>
            </a:r>
          </a:p>
          <a:p>
            <a:pPr>
              <a:buNone/>
            </a:pPr>
            <a:r>
              <a:rPr lang="en-US" b="0" dirty="0">
                <a:solidFill>
                  <a:srgbClr val="3B3B3B"/>
                </a:solidFill>
                <a:effectLst/>
                <a:latin typeface="Consolas" panose="020B0609020204030204" pitchFamily="49" charset="0"/>
              </a:rPr>
              <a:t>  (I will find you and I will revert you)</a:t>
            </a:r>
          </a:p>
          <a:p>
            <a:pPr>
              <a:buNone/>
            </a:pPr>
            <a:r>
              <a:rPr lang="en-US" b="1" dirty="0">
                <a:solidFill>
                  <a:srgbClr val="800000"/>
                </a:solidFill>
                <a:latin typeface="Consolas" panose="020B0609020204030204" pitchFamily="49" charset="0"/>
              </a:rPr>
              <a:t># FAILURE CONDITIONS:</a:t>
            </a:r>
            <a:endParaRPr lang="en-US" dirty="0">
              <a:solidFill>
                <a:srgbClr val="3B3B3B"/>
              </a:solidFill>
              <a:latin typeface="Consolas" panose="020B0609020204030204" pitchFamily="49" charset="0"/>
            </a:endParaRP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Any component exceeds 150 lines</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Fetches data client-side when it could be server-side</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Uses any UI library besides Tailwind utility classes</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Missing loading and error states</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Missing TypeScript types on any function parameter</a:t>
            </a:r>
          </a:p>
          <a:p>
            <a:pPr>
              <a:buNone/>
            </a:pPr>
            <a:endParaRPr lang="en-US" b="0" dirty="0">
              <a:solidFill>
                <a:srgbClr val="3B3B3B"/>
              </a:solidFill>
              <a:effectLst/>
              <a:latin typeface="Consolas" panose="020B0609020204030204" pitchFamily="49" charset="0"/>
            </a:endParaRPr>
          </a:p>
          <a:p>
            <a:pPr>
              <a:buNone/>
            </a:pPr>
            <a:endParaRPr lang="en-US" b="0" dirty="0">
              <a:solidFill>
                <a:srgbClr val="3B3B3B"/>
              </a:solidFill>
              <a:effectLst/>
              <a:latin typeface="Consolas" panose="020B0609020204030204" pitchFamily="49" charset="0"/>
            </a:endParaRPr>
          </a:p>
        </p:txBody>
      </p:sp>
      <p:sp>
        <p:nvSpPr>
          <p:cNvPr id="7" name="TextBox 6">
            <a:extLst>
              <a:ext uri="{FF2B5EF4-FFF2-40B4-BE49-F238E27FC236}">
                <a16:creationId xmlns:a16="http://schemas.microsoft.com/office/drawing/2014/main" id="{A981F2BF-3493-6B16-EF70-3A95B3F47941}"/>
              </a:ext>
            </a:extLst>
          </p:cNvPr>
          <p:cNvSpPr txBox="1"/>
          <p:nvPr/>
        </p:nvSpPr>
        <p:spPr>
          <a:xfrm>
            <a:off x="9338310" y="1343818"/>
            <a:ext cx="2743200"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These are your guardrails</a:t>
            </a:r>
          </a:p>
        </p:txBody>
      </p:sp>
    </p:spTree>
    <p:extLst>
      <p:ext uri="{BB962C8B-B14F-4D97-AF65-F5344CB8AC3E}">
        <p14:creationId xmlns:p14="http://schemas.microsoft.com/office/powerpoint/2010/main" val="1387300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1FCFA-3856-9015-5839-2DBC897B1340}"/>
              </a:ext>
            </a:extLst>
          </p:cNvPr>
          <p:cNvSpPr>
            <a:spLocks noGrp="1"/>
          </p:cNvSpPr>
          <p:nvPr>
            <p:ph type="title"/>
          </p:nvPr>
        </p:nvSpPr>
        <p:spPr/>
        <p:txBody>
          <a:bodyPr/>
          <a:lstStyle/>
          <a:p>
            <a:r>
              <a:rPr lang="en-US" dirty="0"/>
              <a:t>Architecture Constraint Prompts</a:t>
            </a:r>
          </a:p>
        </p:txBody>
      </p:sp>
      <p:sp>
        <p:nvSpPr>
          <p:cNvPr id="7" name="Content Placeholder 6">
            <a:extLst>
              <a:ext uri="{FF2B5EF4-FFF2-40B4-BE49-F238E27FC236}">
                <a16:creationId xmlns:a16="http://schemas.microsoft.com/office/drawing/2014/main" id="{EE0E8BDC-C27C-C073-F230-43831DFE3402}"/>
              </a:ext>
            </a:extLst>
          </p:cNvPr>
          <p:cNvSpPr>
            <a:spLocks noGrp="1"/>
          </p:cNvSpPr>
          <p:nvPr>
            <p:ph idx="1"/>
          </p:nvPr>
        </p:nvSpPr>
        <p:spPr>
          <a:xfrm>
            <a:off x="8714730" y="2168484"/>
            <a:ext cx="2824807" cy="1681600"/>
          </a:xfrm>
        </p:spPr>
        <p:txBody>
          <a:bodyPr>
            <a:normAutofit fontScale="85000" lnSpcReduction="10000"/>
          </a:bodyPr>
          <a:lstStyle/>
          <a:p>
            <a:r>
              <a:rPr lang="en-US" dirty="0"/>
              <a:t>Autogenerated README.md files can be a good basis for this portion of the prompt</a:t>
            </a:r>
          </a:p>
        </p:txBody>
      </p:sp>
      <p:sp>
        <p:nvSpPr>
          <p:cNvPr id="4" name="Slide Number Placeholder 3">
            <a:extLst>
              <a:ext uri="{FF2B5EF4-FFF2-40B4-BE49-F238E27FC236}">
                <a16:creationId xmlns:a16="http://schemas.microsoft.com/office/drawing/2014/main" id="{B8D7DC41-22E8-8FF6-E44E-966A518F673C}"/>
              </a:ext>
            </a:extLst>
          </p:cNvPr>
          <p:cNvSpPr>
            <a:spLocks noGrp="1"/>
          </p:cNvSpPr>
          <p:nvPr>
            <p:ph type="sldNum" sz="quarter" idx="12"/>
          </p:nvPr>
        </p:nvSpPr>
        <p:spPr/>
        <p:txBody>
          <a:bodyPr/>
          <a:lstStyle/>
          <a:p>
            <a:fld id="{20F37917-FD3A-4669-9018-DA04BCDD3D75}" type="slidenum">
              <a:rPr lang="en-US" smtClean="0"/>
              <a:t>16</a:t>
            </a:fld>
            <a:endParaRPr lang="en-US"/>
          </a:p>
        </p:txBody>
      </p:sp>
      <p:sp>
        <p:nvSpPr>
          <p:cNvPr id="6" name="TextBox 5">
            <a:extLst>
              <a:ext uri="{FF2B5EF4-FFF2-40B4-BE49-F238E27FC236}">
                <a16:creationId xmlns:a16="http://schemas.microsoft.com/office/drawing/2014/main" id="{499D5DEE-D91C-5194-427D-389129054B52}"/>
              </a:ext>
            </a:extLst>
          </p:cNvPr>
          <p:cNvSpPr txBox="1"/>
          <p:nvPr/>
        </p:nvSpPr>
        <p:spPr>
          <a:xfrm>
            <a:off x="838200" y="1637586"/>
            <a:ext cx="8162603" cy="452431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 Repository Structure</a:t>
            </a:r>
            <a:endPar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src</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source 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additionService.ts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business logic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additionController.ts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handling requests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test.ts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tests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scratchpad.ts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experimental 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express.ts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express app setup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src</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server.ts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to start the application</a:t>
            </a:r>
          </a:p>
          <a:p>
            <a:pPr>
              <a:buNone/>
            </a:pP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package.json</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dependencies and scripts</a:t>
            </a:r>
            <a:r>
              <a:rPr lang="en-US" b="1" dirty="0">
                <a:solidFill>
                  <a:srgbClr val="800000"/>
                </a:solidFill>
                <a:latin typeface="Consolas" panose="020B0609020204030204" pitchFamily="49" charset="0"/>
              </a:rPr>
              <a:t> </a:t>
            </a:r>
          </a:p>
          <a:p>
            <a:pPr>
              <a:buNone/>
            </a:pPr>
            <a:endParaRPr lang="en-US" b="1" dirty="0">
              <a:solidFill>
                <a:srgbClr val="800000"/>
              </a:solidFill>
              <a:latin typeface="Consolas" panose="020B0609020204030204" pitchFamily="49" charset="0"/>
            </a:endParaRPr>
          </a:p>
          <a:p>
            <a:pPr>
              <a:buNone/>
            </a:pPr>
            <a:r>
              <a:rPr lang="en-US" b="1" dirty="0">
                <a:solidFill>
                  <a:srgbClr val="800000"/>
                </a:solidFill>
                <a:latin typeface="Consolas" panose="020B0609020204030204" pitchFamily="49" charset="0"/>
              </a:rPr>
              <a:t>## Patterns</a:t>
            </a:r>
            <a:endParaRPr lang="en-US" dirty="0">
              <a:solidFill>
                <a:srgbClr val="3B3B3B"/>
              </a:solidFill>
              <a:latin typeface="Consolas" panose="020B0609020204030204" pitchFamily="49" charset="0"/>
            </a:endParaRP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Use server components by default, client components only when </a:t>
            </a:r>
          </a:p>
          <a:p>
            <a:pPr>
              <a:buNone/>
            </a:pPr>
            <a:r>
              <a:rPr lang="en-US" dirty="0">
                <a:solidFill>
                  <a:srgbClr val="3B3B3B"/>
                </a:solidFill>
                <a:latin typeface="Consolas" panose="020B0609020204030204" pitchFamily="49" charset="0"/>
              </a:rPr>
              <a:t>  interactivity is required</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Error boundaries on every route segment</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Zod validation on every user input</a:t>
            </a:r>
            <a:endPar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Tx/>
              <a:buChar char="-"/>
              <a:tabLst/>
              <a:defRPr/>
            </a:pPr>
            <a:endParaRPr lang="en-US" dirty="0"/>
          </a:p>
        </p:txBody>
      </p:sp>
    </p:spTree>
    <p:extLst>
      <p:ext uri="{BB962C8B-B14F-4D97-AF65-F5344CB8AC3E}">
        <p14:creationId xmlns:p14="http://schemas.microsoft.com/office/powerpoint/2010/main" val="20376118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3104E-0B68-6ED6-94E7-6FA346D3F069}"/>
              </a:ext>
            </a:extLst>
          </p:cNvPr>
          <p:cNvSpPr>
            <a:spLocks noGrp="1"/>
          </p:cNvSpPr>
          <p:nvPr>
            <p:ph type="title"/>
          </p:nvPr>
        </p:nvSpPr>
        <p:spPr/>
        <p:txBody>
          <a:bodyPr/>
          <a:lstStyle/>
          <a:p>
            <a:r>
              <a:rPr lang="en-US" dirty="0"/>
              <a:t>Task Prompts</a:t>
            </a:r>
          </a:p>
        </p:txBody>
      </p:sp>
      <p:sp>
        <p:nvSpPr>
          <p:cNvPr id="3" name="Content Placeholder 2">
            <a:extLst>
              <a:ext uri="{FF2B5EF4-FFF2-40B4-BE49-F238E27FC236}">
                <a16:creationId xmlns:a16="http://schemas.microsoft.com/office/drawing/2014/main" id="{4B8735E2-6E0F-6F18-C4A8-5E7298BEAB23}"/>
              </a:ext>
            </a:extLst>
          </p:cNvPr>
          <p:cNvSpPr>
            <a:spLocks noGrp="1"/>
          </p:cNvSpPr>
          <p:nvPr>
            <p:ph idx="1"/>
          </p:nvPr>
        </p:nvSpPr>
        <p:spPr>
          <a:xfrm>
            <a:off x="838199" y="1500160"/>
            <a:ext cx="9464749" cy="4351338"/>
          </a:xfrm>
        </p:spPr>
        <p:txBody>
          <a:bodyPr/>
          <a:lstStyle/>
          <a:p>
            <a:r>
              <a:rPr lang="en-US" dirty="0"/>
              <a:t>These are the cues for specific tasks within your project</a:t>
            </a:r>
          </a:p>
          <a:p>
            <a:r>
              <a:rPr lang="en-US" dirty="0"/>
              <a:t>Carefully craft these in advance</a:t>
            </a:r>
          </a:p>
          <a:p>
            <a:r>
              <a:rPr lang="en-US" dirty="0"/>
              <a:t>Most AIs will let you save these for reuse</a:t>
            </a:r>
          </a:p>
          <a:p>
            <a:r>
              <a:rPr lang="en-US" dirty="0"/>
              <a:t>You can invoke them in chat or in scripts</a:t>
            </a:r>
          </a:p>
          <a:p>
            <a:pPr marL="0" indent="0">
              <a:buNone/>
            </a:pPr>
            <a:endParaRPr lang="en-US" dirty="0">
              <a:latin typeface="Courier New" panose="02070309020205020404" pitchFamily="49" charset="0"/>
            </a:endParaRPr>
          </a:p>
          <a:p>
            <a:pPr marL="0" indent="0">
              <a:buNone/>
            </a:pPr>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F82CE887-728D-EF09-C772-4A58E528AE9C}"/>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14831580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94322-1B41-ACC9-73CC-381A4724CF28}"/>
              </a:ext>
            </a:extLst>
          </p:cNvPr>
          <p:cNvSpPr>
            <a:spLocks noGrp="1"/>
          </p:cNvSpPr>
          <p:nvPr>
            <p:ph type="title"/>
          </p:nvPr>
        </p:nvSpPr>
        <p:spPr/>
        <p:txBody>
          <a:bodyPr>
            <a:normAutofit fontScale="90000"/>
          </a:bodyPr>
          <a:lstStyle/>
          <a:p>
            <a:br>
              <a:rPr lang="en-US" dirty="0"/>
            </a:br>
            <a:br>
              <a:rPr lang="en-US" dirty="0"/>
            </a:br>
            <a:br>
              <a:rPr lang="en-US" dirty="0"/>
            </a:br>
            <a:br>
              <a:rPr lang="en-US" dirty="0"/>
            </a:br>
            <a:br>
              <a:rPr lang="en-US" dirty="0"/>
            </a:br>
            <a:br>
              <a:rPr lang="en-US" dirty="0"/>
            </a:br>
            <a:r>
              <a:rPr lang="en-US" sz="4000" dirty="0"/>
              <a:t>Task Prompts should have testable Success and Failure Criteria</a:t>
            </a:r>
          </a:p>
        </p:txBody>
      </p:sp>
      <p:sp>
        <p:nvSpPr>
          <p:cNvPr id="3" name="Content Placeholder 2">
            <a:extLst>
              <a:ext uri="{FF2B5EF4-FFF2-40B4-BE49-F238E27FC236}">
                <a16:creationId xmlns:a16="http://schemas.microsoft.com/office/drawing/2014/main" id="{F49652A4-606E-564C-241B-92DBF14C0021}"/>
              </a:ext>
            </a:extLst>
          </p:cNvPr>
          <p:cNvSpPr>
            <a:spLocks noGrp="1"/>
          </p:cNvSpPr>
          <p:nvPr>
            <p:ph idx="1"/>
          </p:nvPr>
        </p:nvSpPr>
        <p:spPr/>
        <p:txBody>
          <a:bodyPr>
            <a:normAutofit/>
          </a:bodyPr>
          <a:lstStyle/>
          <a:p>
            <a:r>
              <a:rPr lang="en-US" dirty="0"/>
              <a:t>Write prompts like like legal contracts, with four enforceable sections:</a:t>
            </a:r>
          </a:p>
          <a:p>
            <a:r>
              <a:rPr lang="en-US" b="1" dirty="0"/>
              <a:t>Goal</a:t>
            </a:r>
            <a:r>
              <a:rPr lang="en-US" dirty="0"/>
              <a:t> — a list of testable criteria (COS?!)</a:t>
            </a:r>
          </a:p>
          <a:p>
            <a:r>
              <a:rPr lang="en-US" b="1" dirty="0"/>
              <a:t>Output Format</a:t>
            </a:r>
            <a:r>
              <a:rPr lang="en-US" dirty="0"/>
              <a:t> — the specific structure you expect. </a:t>
            </a:r>
          </a:p>
          <a:p>
            <a:r>
              <a:rPr lang="en-US" b="1" dirty="0"/>
              <a:t>Constraints</a:t>
            </a:r>
            <a:r>
              <a:rPr lang="en-US" dirty="0"/>
              <a:t> — hard boundaries that can’t be crossed.  </a:t>
            </a:r>
          </a:p>
          <a:p>
            <a:r>
              <a:rPr lang="en-US" b="1" dirty="0"/>
              <a:t>Failure Conditions</a:t>
            </a:r>
            <a:r>
              <a:rPr lang="en-US" dirty="0"/>
              <a:t> — what makes the output unacceptable.</a:t>
            </a:r>
          </a:p>
          <a:p>
            <a:endParaRPr lang="en-US" dirty="0"/>
          </a:p>
        </p:txBody>
      </p:sp>
      <p:sp>
        <p:nvSpPr>
          <p:cNvPr id="4" name="Slide Number Placeholder 3">
            <a:extLst>
              <a:ext uri="{FF2B5EF4-FFF2-40B4-BE49-F238E27FC236}">
                <a16:creationId xmlns:a16="http://schemas.microsoft.com/office/drawing/2014/main" id="{C44E6C21-BCAF-87D7-E607-64A5A92BF90A}"/>
              </a:ext>
            </a:extLst>
          </p:cNvPr>
          <p:cNvSpPr>
            <a:spLocks noGrp="1"/>
          </p:cNvSpPr>
          <p:nvPr>
            <p:ph type="sldNum" sz="quarter" idx="12"/>
          </p:nvPr>
        </p:nvSpPr>
        <p:spPr/>
        <p:txBody>
          <a:bodyPr/>
          <a:lstStyle/>
          <a:p>
            <a:fld id="{20F37917-FD3A-4669-9018-DA04BCDD3D75}" type="slidenum">
              <a:rPr lang="en-US" smtClean="0"/>
              <a:t>18</a:t>
            </a:fld>
            <a:endParaRPr lang="en-US"/>
          </a:p>
        </p:txBody>
      </p:sp>
      <p:sp>
        <p:nvSpPr>
          <p:cNvPr id="6" name="TextBox 5">
            <a:extLst>
              <a:ext uri="{FF2B5EF4-FFF2-40B4-BE49-F238E27FC236}">
                <a16:creationId xmlns:a16="http://schemas.microsoft.com/office/drawing/2014/main" id="{6D45766F-E9BC-22CB-F36F-ADE39D673BAE}"/>
              </a:ext>
            </a:extLst>
          </p:cNvPr>
          <p:cNvSpPr txBox="1"/>
          <p:nvPr/>
        </p:nvSpPr>
        <p:spPr>
          <a:xfrm>
            <a:off x="8808889" y="3737098"/>
            <a:ext cx="2576513" cy="1515160"/>
          </a:xfrm>
          <a:prstGeom prst="rect">
            <a:avLst/>
          </a:prstGeom>
          <a:noFill/>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include these if they are different from project-wide criteria</a:t>
            </a:r>
          </a:p>
        </p:txBody>
      </p:sp>
      <p:cxnSp>
        <p:nvCxnSpPr>
          <p:cNvPr id="9" name="Straight Arrow Connector 8">
            <a:extLst>
              <a:ext uri="{FF2B5EF4-FFF2-40B4-BE49-F238E27FC236}">
                <a16:creationId xmlns:a16="http://schemas.microsoft.com/office/drawing/2014/main" id="{2A849630-DF8C-7D0E-19A1-F8FA9A457CE8}"/>
              </a:ext>
            </a:extLst>
          </p:cNvPr>
          <p:cNvCxnSpPr>
            <a:stCxn id="6" idx="1"/>
          </p:cNvCxnSpPr>
          <p:nvPr/>
        </p:nvCxnSpPr>
        <p:spPr>
          <a:xfrm flipH="1" flipV="1">
            <a:off x="7843838" y="4157663"/>
            <a:ext cx="965051" cy="337015"/>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2C2220C2-AA7F-ABEF-5E21-F6C0FF45E9A5}"/>
              </a:ext>
            </a:extLst>
          </p:cNvPr>
          <p:cNvCxnSpPr>
            <a:cxnSpLocks/>
            <a:stCxn id="6" idx="1"/>
          </p:cNvCxnSpPr>
          <p:nvPr/>
        </p:nvCxnSpPr>
        <p:spPr>
          <a:xfrm flipH="1">
            <a:off x="7843838" y="4494678"/>
            <a:ext cx="965051" cy="336831"/>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7874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3163010-8BFA-A77B-B128-8279C666DA9C}"/>
              </a:ext>
            </a:extLst>
          </p:cNvPr>
          <p:cNvSpPr>
            <a:spLocks noGrp="1"/>
          </p:cNvSpPr>
          <p:nvPr>
            <p:ph type="title"/>
          </p:nvPr>
        </p:nvSpPr>
        <p:spPr/>
        <p:txBody>
          <a:bodyPr>
            <a:normAutofit/>
          </a:bodyPr>
          <a:lstStyle/>
          <a:p>
            <a:r>
              <a:rPr lang="en-US" sz="3600" dirty="0"/>
              <a:t>Task Prompt: Goal</a:t>
            </a:r>
          </a:p>
        </p:txBody>
      </p:sp>
      <p:sp>
        <p:nvSpPr>
          <p:cNvPr id="4" name="Slide Number Placeholder 3">
            <a:extLst>
              <a:ext uri="{FF2B5EF4-FFF2-40B4-BE49-F238E27FC236}">
                <a16:creationId xmlns:a16="http://schemas.microsoft.com/office/drawing/2014/main" id="{436B2A81-7BBE-A17E-BB33-7B9B402B0FCD}"/>
              </a:ext>
            </a:extLst>
          </p:cNvPr>
          <p:cNvSpPr>
            <a:spLocks noGrp="1"/>
          </p:cNvSpPr>
          <p:nvPr>
            <p:ph type="sldNum" sz="quarter" idx="12"/>
          </p:nvPr>
        </p:nvSpPr>
        <p:spPr/>
        <p:txBody>
          <a:bodyPr/>
          <a:lstStyle/>
          <a:p>
            <a:fld id="{20F37917-FD3A-4669-9018-DA04BCDD3D75}" type="slidenum">
              <a:rPr lang="en-US" smtClean="0"/>
              <a:t>19</a:t>
            </a:fld>
            <a:endParaRPr lang="en-US"/>
          </a:p>
        </p:txBody>
      </p:sp>
      <p:sp>
        <p:nvSpPr>
          <p:cNvPr id="7" name="TextBox 6">
            <a:extLst>
              <a:ext uri="{FF2B5EF4-FFF2-40B4-BE49-F238E27FC236}">
                <a16:creationId xmlns:a16="http://schemas.microsoft.com/office/drawing/2014/main" id="{B864B5A0-0F4F-920B-DCBE-9A669C8C92C9}"/>
              </a:ext>
            </a:extLst>
          </p:cNvPr>
          <p:cNvSpPr txBox="1"/>
          <p:nvPr/>
        </p:nvSpPr>
        <p:spPr>
          <a:xfrm>
            <a:off x="1018223" y="1664978"/>
            <a:ext cx="9131617"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000" b="1" dirty="0">
                <a:solidFill>
                  <a:srgbClr val="800000"/>
                </a:solidFill>
                <a:effectLst/>
                <a:latin typeface="Consolas" panose="020B0609020204030204" pitchFamily="49" charset="0"/>
              </a:rPr>
              <a:t># Goal (Bad) Add a subscription system to the app</a:t>
            </a:r>
            <a:endParaRPr lang="en-US" sz="2000" b="0" dirty="0">
              <a:solidFill>
                <a:srgbClr val="3B3B3B"/>
              </a:solidFill>
              <a:effectLst/>
              <a:latin typeface="Consolas" panose="020B0609020204030204" pitchFamily="49" charset="0"/>
            </a:endParaRPr>
          </a:p>
          <a:p>
            <a:pPr>
              <a:buNone/>
            </a:pPr>
            <a:r>
              <a:rPr lang="en-US" sz="2000" dirty="0">
                <a:solidFill>
                  <a:srgbClr val="3B3B3B"/>
                </a:solidFill>
                <a:latin typeface="Consolas" panose="020B0609020204030204" pitchFamily="49" charset="0"/>
              </a:rPr>
              <a:t>- Add a subscription system to the app</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1" dirty="0">
                <a:solidFill>
                  <a:srgbClr val="800000"/>
                </a:solidFill>
                <a:effectLst/>
                <a:latin typeface="Consolas" panose="020B0609020204030204" pitchFamily="49" charset="0"/>
              </a:rPr>
              <a:t># Goal (Better) Implement Stripe subscription management </a:t>
            </a:r>
            <a:endParaRPr lang="en-US" sz="2000" b="0" dirty="0">
              <a:solidFill>
                <a:srgbClr val="3B3B3B"/>
              </a:solidFill>
              <a:effectLst/>
              <a:latin typeface="Consolas" panose="020B0609020204030204" pitchFamily="49" charset="0"/>
            </a:endParaRPr>
          </a:p>
          <a:p>
            <a:pPr>
              <a:buNone/>
            </a:pPr>
            <a:r>
              <a:rPr lang="en-US" sz="2000" b="1" dirty="0">
                <a:solidFill>
                  <a:srgbClr val="800000"/>
                </a:solidFill>
                <a:effectLst/>
                <a:latin typeface="Consolas" panose="020B0609020204030204" pitchFamily="49" charset="0"/>
              </a:rPr>
              <a:t>## Success</a:t>
            </a:r>
            <a:endParaRPr lang="en-US" sz="2000" b="0" dirty="0">
              <a:solidFill>
                <a:srgbClr val="3B3B3B"/>
              </a:solidFill>
              <a:effectLst/>
              <a:latin typeface="Consolas" panose="020B0609020204030204" pitchFamily="49" charset="0"/>
            </a:endParaRP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subscribe to one of 3 tiers (free/pro/team)</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upgrade/downgrade instantly</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see billing status on /settings/billings </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free user can subscribe to Pro, </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see the charge on Stripe dashboard</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access gated features within 5 seconds.</a:t>
            </a:r>
            <a:endParaRPr lang="en-US" sz="2000" b="0" dirty="0">
              <a:solidFill>
                <a:srgbClr val="3B3B3B"/>
              </a:solidFill>
              <a:effectLst/>
              <a:latin typeface="Consolas" panose="020B0609020204030204" pitchFamily="49" charset="0"/>
            </a:endParaRPr>
          </a:p>
        </p:txBody>
      </p:sp>
      <p:sp>
        <p:nvSpPr>
          <p:cNvPr id="8" name="TextBox 7">
            <a:extLst>
              <a:ext uri="{FF2B5EF4-FFF2-40B4-BE49-F238E27FC236}">
                <a16:creationId xmlns:a16="http://schemas.microsoft.com/office/drawing/2014/main" id="{B8441EE6-316B-516E-5951-F935E6AEA7BA}"/>
              </a:ext>
            </a:extLst>
          </p:cNvPr>
          <p:cNvSpPr txBox="1"/>
          <p:nvPr/>
        </p:nvSpPr>
        <p:spPr>
          <a:xfrm>
            <a:off x="9383077" y="2311057"/>
            <a:ext cx="2743200" cy="296769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The difference is testability -- each of these can be independently tested.</a:t>
            </a:r>
          </a:p>
        </p:txBody>
      </p:sp>
    </p:spTree>
    <p:extLst>
      <p:ext uri="{BB962C8B-B14F-4D97-AF65-F5344CB8AC3E}">
        <p14:creationId xmlns:p14="http://schemas.microsoft.com/office/powerpoint/2010/main" val="1429071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D4F7C-D35F-D719-70B9-9CE379686CA6}"/>
              </a:ext>
            </a:extLst>
          </p:cNvPr>
          <p:cNvSpPr>
            <a:spLocks noGrp="1"/>
          </p:cNvSpPr>
          <p:nvPr>
            <p:ph type="title"/>
          </p:nvPr>
        </p:nvSpPr>
        <p:spPr/>
        <p:txBody>
          <a:bodyPr/>
          <a:lstStyle/>
          <a:p>
            <a:r>
              <a:rPr lang="en-US" dirty="0"/>
              <a:t>Task Prompt: Format</a:t>
            </a:r>
          </a:p>
        </p:txBody>
      </p:sp>
      <p:sp>
        <p:nvSpPr>
          <p:cNvPr id="3" name="Content Placeholder 2">
            <a:extLst>
              <a:ext uri="{FF2B5EF4-FFF2-40B4-BE49-F238E27FC236}">
                <a16:creationId xmlns:a16="http://schemas.microsoft.com/office/drawing/2014/main" id="{D93E6876-B5C9-0639-5865-380FAA0BF51C}"/>
              </a:ext>
            </a:extLst>
          </p:cNvPr>
          <p:cNvSpPr>
            <a:spLocks noGrp="1"/>
          </p:cNvSpPr>
          <p:nvPr>
            <p:ph idx="1"/>
          </p:nvPr>
        </p:nvSpPr>
        <p:spPr/>
        <p:txBody>
          <a:bodyPr/>
          <a:lstStyle/>
          <a:p>
            <a:r>
              <a:rPr lang="en-US" dirty="0"/>
              <a:t>Tell it what to hand you</a:t>
            </a:r>
          </a:p>
          <a:p>
            <a:r>
              <a:rPr lang="en-US" dirty="0"/>
              <a:t>Bad:</a:t>
            </a:r>
          </a:p>
          <a:p>
            <a:r>
              <a:rPr lang="en-US" dirty="0"/>
              <a:t>Better:</a:t>
            </a:r>
          </a:p>
        </p:txBody>
      </p:sp>
      <p:sp>
        <p:nvSpPr>
          <p:cNvPr id="4" name="Slide Number Placeholder 3">
            <a:extLst>
              <a:ext uri="{FF2B5EF4-FFF2-40B4-BE49-F238E27FC236}">
                <a16:creationId xmlns:a16="http://schemas.microsoft.com/office/drawing/2014/main" id="{983F4F07-1344-43F1-B71F-669C8CF02D2E}"/>
              </a:ext>
            </a:extLst>
          </p:cNvPr>
          <p:cNvSpPr>
            <a:spLocks noGrp="1"/>
          </p:cNvSpPr>
          <p:nvPr>
            <p:ph type="sldNum" sz="quarter" idx="12"/>
          </p:nvPr>
        </p:nvSpPr>
        <p:spPr/>
        <p:txBody>
          <a:bodyPr/>
          <a:lstStyle/>
          <a:p>
            <a:fld id="{20F37917-FD3A-4669-9018-DA04BCDD3D75}" type="slidenum">
              <a:rPr lang="en-US" smtClean="0"/>
              <a:t>20</a:t>
            </a:fld>
            <a:endParaRPr lang="en-US"/>
          </a:p>
        </p:txBody>
      </p:sp>
      <p:sp>
        <p:nvSpPr>
          <p:cNvPr id="6" name="TextBox 5">
            <a:extLst>
              <a:ext uri="{FF2B5EF4-FFF2-40B4-BE49-F238E27FC236}">
                <a16:creationId xmlns:a16="http://schemas.microsoft.com/office/drawing/2014/main" id="{75FA9A8B-5F7D-EEF8-4E0E-48055C1E1147}"/>
              </a:ext>
            </a:extLst>
          </p:cNvPr>
          <p:cNvSpPr txBox="1"/>
          <p:nvPr/>
        </p:nvSpPr>
        <p:spPr>
          <a:xfrm>
            <a:off x="1926952" y="2152450"/>
            <a:ext cx="6097904" cy="2863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r>
              <a:rPr lang="en-US" b="0" dirty="0">
                <a:solidFill>
                  <a:srgbClr val="3B3B3B"/>
                </a:solidFill>
                <a:effectLst/>
                <a:latin typeface="Consolas" panose="020B0609020204030204" pitchFamily="49" charset="0"/>
              </a:rPr>
              <a:t>Create an API endpoint for user onboarding</a:t>
            </a:r>
          </a:p>
        </p:txBody>
      </p:sp>
      <p:sp>
        <p:nvSpPr>
          <p:cNvPr id="8" name="TextBox 7">
            <a:extLst>
              <a:ext uri="{FF2B5EF4-FFF2-40B4-BE49-F238E27FC236}">
                <a16:creationId xmlns:a16="http://schemas.microsoft.com/office/drawing/2014/main" id="{D09235B8-F083-A3C3-672E-36FDB5AF0B05}"/>
              </a:ext>
            </a:extLst>
          </p:cNvPr>
          <p:cNvSpPr txBox="1"/>
          <p:nvPr/>
        </p:nvSpPr>
        <p:spPr>
          <a:xfrm>
            <a:off x="1574652" y="3091100"/>
            <a:ext cx="8972846" cy="175432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FORMAT: </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Convex function in convex/</a:t>
            </a:r>
            <a:r>
              <a:rPr lang="en-US" b="0" dirty="0" err="1">
                <a:solidFill>
                  <a:srgbClr val="3B3B3B"/>
                </a:solidFill>
                <a:effectLst/>
                <a:latin typeface="Consolas" panose="020B0609020204030204" pitchFamily="49" charset="0"/>
              </a:rPr>
              <a:t>users.ts</a:t>
            </a:r>
            <a:r>
              <a:rPr lang="en-US" b="0" dirty="0">
                <a:solidFill>
                  <a:srgbClr val="3B3B3B"/>
                </a:solidFill>
                <a:effectLst/>
                <a:latin typeface="Consolas" panose="020B0609020204030204" pitchFamily="49" charset="0"/>
              </a:rPr>
              <a:t> (mutation, not action)</a:t>
            </a:r>
          </a:p>
          <a:p>
            <a:pPr>
              <a:buNone/>
            </a:pPr>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Zod schema for input validation in convex/schemas/</a:t>
            </a:r>
            <a:r>
              <a:rPr lang="en-US" b="0" dirty="0" err="1">
                <a:solidFill>
                  <a:srgbClr val="3B3B3B"/>
                </a:solidFill>
                <a:effectLst/>
                <a:latin typeface="Consolas" panose="020B0609020204030204" pitchFamily="49" charset="0"/>
              </a:rPr>
              <a:t>onboarding.ts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3.</a:t>
            </a:r>
            <a:r>
              <a:rPr lang="en-US" b="0" dirty="0">
                <a:solidFill>
                  <a:srgbClr val="3B3B3B"/>
                </a:solidFill>
                <a:effectLst/>
                <a:latin typeface="Consolas" panose="020B0609020204030204" pitchFamily="49" charset="0"/>
              </a:rPr>
              <a:t> TypeScript types exported from convex/types/</a:t>
            </a:r>
            <a:r>
              <a:rPr lang="en-US" b="0" dirty="0" err="1">
                <a:solidFill>
                  <a:srgbClr val="3B3B3B"/>
                </a:solidFill>
                <a:effectLst/>
                <a:latin typeface="Consolas" panose="020B0609020204030204" pitchFamily="49" charset="0"/>
              </a:rPr>
              <a:t>user.ts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4.</a:t>
            </a:r>
            <a:r>
              <a:rPr lang="en-US" b="0" dirty="0">
                <a:solidFill>
                  <a:srgbClr val="3B3B3B"/>
                </a:solidFill>
                <a:effectLst/>
                <a:latin typeface="Consolas" panose="020B0609020204030204" pitchFamily="49" charset="0"/>
              </a:rPr>
              <a:t> Include </a:t>
            </a:r>
            <a:r>
              <a:rPr lang="en-US" b="0" dirty="0" err="1">
                <a:solidFill>
                  <a:srgbClr val="3B3B3B"/>
                </a:solidFill>
                <a:effectLst/>
                <a:latin typeface="Consolas" panose="020B0609020204030204" pitchFamily="49" charset="0"/>
              </a:rPr>
              <a:t>JSDoc</a:t>
            </a:r>
            <a:r>
              <a:rPr lang="en-US" b="0" dirty="0">
                <a:solidFill>
                  <a:srgbClr val="3B3B3B"/>
                </a:solidFill>
                <a:effectLst/>
                <a:latin typeface="Consolas" panose="020B0609020204030204" pitchFamily="49" charset="0"/>
              </a:rPr>
              <a:t> on the public function</a:t>
            </a:r>
          </a:p>
          <a:p>
            <a:pPr>
              <a:buNone/>
            </a:pPr>
            <a:r>
              <a:rPr lang="en-US" b="0" dirty="0">
                <a:solidFill>
                  <a:srgbClr val="0451A5"/>
                </a:solidFill>
                <a:effectLst/>
                <a:latin typeface="Consolas" panose="020B0609020204030204" pitchFamily="49" charset="0"/>
              </a:rPr>
              <a:t>5.</a:t>
            </a:r>
            <a:r>
              <a:rPr lang="en-US" b="0" dirty="0">
                <a:solidFill>
                  <a:srgbClr val="3B3B3B"/>
                </a:solidFill>
                <a:effectLst/>
                <a:latin typeface="Consolas" panose="020B0609020204030204" pitchFamily="49" charset="0"/>
              </a:rPr>
              <a:t> Return { success: </a:t>
            </a:r>
            <a:r>
              <a:rPr lang="en-US" b="0" dirty="0" err="1">
                <a:solidFill>
                  <a:srgbClr val="3B3B3B"/>
                </a:solidFill>
                <a:effectLst/>
                <a:latin typeface="Consolas" panose="020B0609020204030204" pitchFamily="49" charset="0"/>
              </a:rPr>
              <a:t>boolean</a:t>
            </a:r>
            <a:r>
              <a:rPr lang="en-US" b="0" dirty="0">
                <a:solidFill>
                  <a:srgbClr val="3B3B3B"/>
                </a:solidFill>
                <a:effectLst/>
                <a:latin typeface="Consolas" panose="020B0609020204030204" pitchFamily="49" charset="0"/>
              </a:rPr>
              <a:t>, </a:t>
            </a:r>
            <a:r>
              <a:rPr lang="en-US" b="0" dirty="0" err="1">
                <a:solidFill>
                  <a:srgbClr val="3B3B3B"/>
                </a:solidFill>
                <a:effectLst/>
                <a:latin typeface="Consolas" panose="020B0609020204030204" pitchFamily="49" charset="0"/>
              </a:rPr>
              <a:t>userId</a:t>
            </a:r>
            <a:r>
              <a:rPr lang="en-US" b="0" dirty="0">
                <a:solidFill>
                  <a:srgbClr val="3B3B3B"/>
                </a:solidFill>
                <a:effectLst/>
                <a:latin typeface="Consolas" panose="020B0609020204030204" pitchFamily="49" charset="0"/>
              </a:rPr>
              <a:t>: string, error?: string }</a:t>
            </a:r>
          </a:p>
        </p:txBody>
      </p:sp>
      <p:sp>
        <p:nvSpPr>
          <p:cNvPr id="9" name="TextBox 8">
            <a:extLst>
              <a:ext uri="{FF2B5EF4-FFF2-40B4-BE49-F238E27FC236}">
                <a16:creationId xmlns:a16="http://schemas.microsoft.com/office/drawing/2014/main" id="{7253A3F6-A646-4CA8-0FAA-9DA36F10F4CD}"/>
              </a:ext>
            </a:extLst>
          </p:cNvPr>
          <p:cNvSpPr txBox="1"/>
          <p:nvPr/>
        </p:nvSpPr>
        <p:spPr>
          <a:xfrm>
            <a:off x="8218967" y="431124"/>
            <a:ext cx="3640344" cy="2423618"/>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What you want delivered, and how you want it delivered</a:t>
            </a:r>
          </a:p>
        </p:txBody>
      </p:sp>
    </p:spTree>
    <p:extLst>
      <p:ext uri="{BB962C8B-B14F-4D97-AF65-F5344CB8AC3E}">
        <p14:creationId xmlns:p14="http://schemas.microsoft.com/office/powerpoint/2010/main" val="3392350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How much prompting you need to provide depends on three things:</a:t>
            </a:r>
          </a:p>
        </p:txBody>
      </p:sp>
      <p:sp>
        <p:nvSpPr>
          <p:cNvPr id="7" name="Content Placeholder 6">
            <a:extLst>
              <a:ext uri="{FF2B5EF4-FFF2-40B4-BE49-F238E27FC236}">
                <a16:creationId xmlns:a16="http://schemas.microsoft.com/office/drawing/2014/main" id="{A0D390A0-5D64-D4F8-572E-02B63436AD0A}"/>
              </a:ext>
            </a:extLst>
          </p:cNvPr>
          <p:cNvSpPr>
            <a:spLocks noGrp="1"/>
          </p:cNvSpPr>
          <p:nvPr>
            <p:ph idx="1"/>
          </p:nvPr>
        </p:nvSpPr>
        <p:spPr/>
        <p:txBody>
          <a:bodyPr>
            <a:normAutofit fontScale="92500" lnSpcReduction="20000"/>
          </a:bodyPr>
          <a:lstStyle/>
          <a:p>
            <a:pPr marL="514350" indent="-514350">
              <a:buFont typeface="+mj-lt"/>
              <a:buAutoNum type="arabicPeriod"/>
            </a:pPr>
            <a:r>
              <a:rPr lang="en-US" b="1" dirty="0"/>
              <a:t>Your understanding: </a:t>
            </a:r>
            <a:r>
              <a:rPr lang="en-US" dirty="0"/>
              <a:t>Experts know exactly what context matters; novices may not know what to include. You can only identify relevant context for things you understand.</a:t>
            </a:r>
          </a:p>
          <a:p>
            <a:pPr marL="514350" indent="-514350">
              <a:buFont typeface="+mj-lt"/>
              <a:buAutoNum type="arabicPeriod"/>
            </a:pPr>
            <a:r>
              <a:rPr lang="en-US" b="1" dirty="0"/>
              <a:t>Model capabilities: </a:t>
            </a:r>
            <a:r>
              <a:rPr lang="en-US" dirty="0"/>
              <a:t>Frontier models infer much more from less. GPT-3.5 needed explicit instructions; Claude Opus can often infer intent.</a:t>
            </a:r>
          </a:p>
          <a:p>
            <a:pPr marL="514350" indent="-514350">
              <a:buFont typeface="+mj-lt"/>
              <a:buAutoNum type="arabicPeriod"/>
            </a:pPr>
            <a:r>
              <a:rPr lang="en-US" b="1" dirty="0"/>
              <a:t>Tool capabilities: </a:t>
            </a:r>
            <a:r>
              <a:rPr lang="en-US" dirty="0"/>
              <a:t>Basic Copilot sees only your open files. Cursor and Claude Code index your entire codebase and find files automatically.</a:t>
            </a:r>
          </a:p>
          <a:p>
            <a:r>
              <a:rPr lang="en-US" dirty="0"/>
              <a:t>When all three are HIGH: just describe intent — the system figures out context. When any is LOW: you must compensate manually</a:t>
            </a:r>
          </a:p>
        </p:txBody>
      </p:sp>
      <p:sp>
        <p:nvSpPr>
          <p:cNvPr id="4" name="Slide Number Placeholder 3"/>
          <p:cNvSpPr>
            <a:spLocks noGrp="1"/>
          </p:cNvSpPr>
          <p:nvPr>
            <p:ph type="sldNum" sz="quarter" idx="12"/>
          </p:nvPr>
        </p:nvSpPr>
        <p:spPr/>
        <p:txBody>
          <a:bodyPr/>
          <a:lstStyle/>
          <a:p>
            <a:fld id="{20F37917-FD3A-4669-9018-DA04BCDD3D75}"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Prompting Myths That Don’t Actually Help</a:t>
            </a:r>
          </a:p>
        </p:txBody>
      </p:sp>
      <p:sp>
        <p:nvSpPr>
          <p:cNvPr id="4" name="Slide Number Placeholder 3"/>
          <p:cNvSpPr>
            <a:spLocks noGrp="1"/>
          </p:cNvSpPr>
          <p:nvPr>
            <p:ph type="sldNum" sz="quarter" idx="12"/>
          </p:nvPr>
        </p:nvSpPr>
        <p:spPr/>
        <p:txBody>
          <a:bodyPr/>
          <a:lstStyle/>
          <a:p>
            <a:fld id="{20F37917-FD3A-4669-9018-DA04BCDD3D75}" type="slidenum">
              <a:rPr lang="en-US" smtClean="0"/>
              <a:t>22</a:t>
            </a:fld>
            <a:endParaRPr lang="en-US"/>
          </a:p>
        </p:txBody>
      </p:sp>
      <p:sp>
        <p:nvSpPr>
          <p:cNvPr id="6" name="Content Placeholder 5">
            <a:extLst>
              <a:ext uri="{FF2B5EF4-FFF2-40B4-BE49-F238E27FC236}">
                <a16:creationId xmlns:a16="http://schemas.microsoft.com/office/drawing/2014/main" id="{DE86B2DA-F39D-507C-4311-4159B64F3E7B}"/>
              </a:ext>
            </a:extLst>
          </p:cNvPr>
          <p:cNvSpPr>
            <a:spLocks noGrp="1"/>
          </p:cNvSpPr>
          <p:nvPr>
            <p:ph idx="1"/>
          </p:nvPr>
        </p:nvSpPr>
        <p:spPr/>
        <p:txBody>
          <a:bodyPr>
            <a:normAutofit fontScale="92500"/>
          </a:bodyPr>
          <a:lstStyle/>
          <a:p>
            <a:r>
              <a:rPr lang="en-US" dirty="0"/>
              <a:t>Myth: Persona prompts improve output</a:t>
            </a:r>
          </a:p>
          <a:p>
            <a:pPr lvl="1"/>
            <a:r>
              <a:rPr lang="en-US" dirty="0"/>
              <a:t>“You are a brilliant 10x engineer...” — Models don’t roleplay </a:t>
            </a:r>
          </a:p>
          <a:p>
            <a:r>
              <a:rPr lang="en-US" dirty="0"/>
              <a:t>Myth: Politeness affects performance</a:t>
            </a:r>
          </a:p>
          <a:p>
            <a:pPr lvl="1"/>
            <a:r>
              <a:rPr lang="en-US" dirty="0"/>
              <a:t>“Please” and “Thank you” — Won’t affect the model, but polite communication is a good habit for talking to humans!</a:t>
            </a:r>
          </a:p>
          <a:p>
            <a:pPr lvl="1"/>
            <a:r>
              <a:rPr lang="en-US" dirty="0"/>
              <a:t>better code. Context and specificity matter, not flattery.</a:t>
            </a:r>
          </a:p>
          <a:p>
            <a:r>
              <a:rPr lang="en-US" dirty="0"/>
              <a:t>What actually helps:</a:t>
            </a:r>
          </a:p>
          <a:p>
            <a:pPr lvl="1"/>
            <a:r>
              <a:rPr lang="en-US" dirty="0"/>
              <a:t>Relevant Context</a:t>
            </a:r>
          </a:p>
          <a:p>
            <a:pPr lvl="1"/>
            <a:r>
              <a:rPr lang="en-US" dirty="0"/>
              <a:t>Specific Requirements</a:t>
            </a:r>
          </a:p>
          <a:p>
            <a:pPr lvl="1"/>
            <a:r>
              <a:rPr lang="en-US" dirty="0"/>
              <a:t>Concrete examples</a:t>
            </a:r>
          </a:p>
          <a:p>
            <a:pPr lvl="1"/>
            <a:r>
              <a:rPr lang="en-US" dirty="0"/>
              <a:t>Clear success criteria</a:t>
            </a:r>
          </a:p>
          <a:p>
            <a:endParaRPr lang="en-US" dirty="0"/>
          </a:p>
          <a:p>
            <a:pPr lvl="1"/>
            <a:endParaRPr lang="en-US" dirty="0"/>
          </a:p>
          <a:p>
            <a:endParaRPr lang="en-US" dirty="0"/>
          </a:p>
          <a:p>
            <a:endParaRPr lang="en-US" dirty="0"/>
          </a:p>
        </p:txBody>
      </p:sp>
    </p:spTree>
    <p:extLst>
      <p:ext uri="{BB962C8B-B14F-4D97-AF65-F5344CB8AC3E}">
        <p14:creationId xmlns:p14="http://schemas.microsoft.com/office/powerpoint/2010/main" val="214372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657D9-61E9-44D3-BD77-40DF3128FC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213E2E-69F9-8DF3-2C2C-90C0A9F96802}"/>
              </a:ext>
            </a:extLst>
          </p:cNvPr>
          <p:cNvSpPr>
            <a:spLocks noGrp="1"/>
          </p:cNvSpPr>
          <p:nvPr>
            <p:ph type="title"/>
          </p:nvPr>
        </p:nvSpPr>
        <p:spPr/>
        <p:txBody>
          <a:bodyPr/>
          <a:lstStyle/>
          <a:p>
            <a:r>
              <a:rPr lang="en-US" dirty="0"/>
              <a:t>A 4-Step Workflow for Human-AI Interaction</a:t>
            </a:r>
          </a:p>
        </p:txBody>
      </p:sp>
      <p:sp>
        <p:nvSpPr>
          <p:cNvPr id="3" name="Content Placeholder 2">
            <a:extLst>
              <a:ext uri="{FF2B5EF4-FFF2-40B4-BE49-F238E27FC236}">
                <a16:creationId xmlns:a16="http://schemas.microsoft.com/office/drawing/2014/main" id="{23DFE1EF-E39C-0222-0345-28B8F1B64DCF}"/>
              </a:ext>
            </a:extLst>
          </p:cNvPr>
          <p:cNvSpPr>
            <a:spLocks noGrp="1"/>
          </p:cNvSpPr>
          <p:nvPr>
            <p:ph idx="1"/>
          </p:nvPr>
        </p:nvSpPr>
        <p:spPr/>
        <p:txBody>
          <a:bodyPr>
            <a:normAutofit fontScale="92500" lnSpcReduction="10000"/>
          </a:bodyPr>
          <a:lstStyle/>
          <a:p>
            <a:pPr marL="514350" indent="-514350">
              <a:buFont typeface="+mj-lt"/>
              <a:buAutoNum type="arabicPeriod"/>
            </a:pPr>
            <a:r>
              <a:rPr lang="en-US" dirty="0"/>
              <a:t>Prompt</a:t>
            </a:r>
          </a:p>
          <a:p>
            <a:pPr lvl="1"/>
            <a:r>
              <a:rPr lang="en-US" dirty="0"/>
              <a:t>Give the AI the context it needs to do its job</a:t>
            </a:r>
          </a:p>
          <a:p>
            <a:pPr marL="514350" indent="-514350">
              <a:buFont typeface="+mj-lt"/>
              <a:buAutoNum type="arabicPeriod"/>
            </a:pPr>
            <a:r>
              <a:rPr lang="en-US" dirty="0">
                <a:solidFill>
                  <a:srgbClr val="FF0000"/>
                </a:solidFill>
              </a:rPr>
              <a:t>Plan</a:t>
            </a:r>
          </a:p>
          <a:p>
            <a:pPr lvl="1"/>
            <a:r>
              <a:rPr lang="en-US" dirty="0">
                <a:solidFill>
                  <a:srgbClr val="FF0000"/>
                </a:solidFill>
              </a:rPr>
              <a:t>Have the AI create a plan for what you want it to do</a:t>
            </a:r>
          </a:p>
          <a:p>
            <a:pPr lvl="1"/>
            <a:r>
              <a:rPr lang="en-US" dirty="0">
                <a:solidFill>
                  <a:srgbClr val="FF0000"/>
                </a:solidFill>
              </a:rPr>
              <a:t>Review the plan</a:t>
            </a:r>
          </a:p>
          <a:p>
            <a:pPr lvl="1"/>
            <a:r>
              <a:rPr lang="en-US" dirty="0">
                <a:solidFill>
                  <a:srgbClr val="FF0000"/>
                </a:solidFill>
              </a:rPr>
              <a:t>Review the review</a:t>
            </a:r>
          </a:p>
          <a:p>
            <a:pPr marL="514350" indent="-514350">
              <a:buFont typeface="+mj-lt"/>
              <a:buAutoNum type="arabicPeriod"/>
            </a:pPr>
            <a:r>
              <a:rPr lang="en-US" dirty="0"/>
              <a:t>Engage &amp; Evaluate</a:t>
            </a:r>
          </a:p>
          <a:p>
            <a:pPr lvl="1"/>
            <a:r>
              <a:rPr lang="en-US" dirty="0"/>
              <a:t>Engage with AI to guide it to the desired result</a:t>
            </a:r>
          </a:p>
          <a:p>
            <a:pPr lvl="1"/>
            <a:r>
              <a:rPr lang="en-US" dirty="0"/>
              <a:t>Evaluate the results</a:t>
            </a:r>
          </a:p>
          <a:p>
            <a:pPr marL="514350" indent="-514350">
              <a:buFont typeface="+mj-lt"/>
              <a:buAutoNum type="arabicPeriod"/>
            </a:pPr>
            <a:r>
              <a:rPr lang="en-US" dirty="0"/>
              <a:t>Finalize &amp; Document</a:t>
            </a:r>
          </a:p>
          <a:p>
            <a:pPr lvl="1"/>
            <a:r>
              <a:rPr lang="en-US" dirty="0"/>
              <a:t>Make a record of design decisions to benefit future teams.</a:t>
            </a:r>
          </a:p>
        </p:txBody>
      </p:sp>
      <p:sp>
        <p:nvSpPr>
          <p:cNvPr id="4" name="Slide Number Placeholder 3">
            <a:extLst>
              <a:ext uri="{FF2B5EF4-FFF2-40B4-BE49-F238E27FC236}">
                <a16:creationId xmlns:a16="http://schemas.microsoft.com/office/drawing/2014/main" id="{BEFF9D9B-15DC-6A4D-6769-A1A2A7A1E9A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53920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Step 2: Generate a plan first.</a:t>
            </a:r>
          </a:p>
        </p:txBody>
      </p:sp>
      <p:sp>
        <p:nvSpPr>
          <p:cNvPr id="5" name="Content Placeholder 4">
            <a:extLst>
              <a:ext uri="{FF2B5EF4-FFF2-40B4-BE49-F238E27FC236}">
                <a16:creationId xmlns:a16="http://schemas.microsoft.com/office/drawing/2014/main" id="{DCB7043B-19FA-052C-AD68-FB77DF1F966E}"/>
              </a:ext>
            </a:extLst>
          </p:cNvPr>
          <p:cNvSpPr>
            <a:spLocks noGrp="1"/>
          </p:cNvSpPr>
          <p:nvPr>
            <p:ph idx="1"/>
          </p:nvPr>
        </p:nvSpPr>
        <p:spPr/>
        <p:txBody>
          <a:bodyPr>
            <a:normAutofit fontScale="85000" lnSpcReduction="20000"/>
          </a:bodyPr>
          <a:lstStyle/>
          <a:p>
            <a:r>
              <a:rPr lang="en-US" dirty="0"/>
              <a:t>Have the AI generate a plan first; generate code only after plan passes review.</a:t>
            </a:r>
          </a:p>
          <a:p>
            <a:r>
              <a:rPr lang="en-US" dirty="0"/>
              <a:t>A plan has a small evaluation surface (easier to review)</a:t>
            </a:r>
          </a:p>
          <a:p>
            <a:r>
              <a:rPr lang="en-US" dirty="0"/>
              <a:t>Expert says: “Wait, we should use sessions not JWT for this use case”</a:t>
            </a:r>
          </a:p>
          <a:p>
            <a:pPr lvl="1"/>
            <a:r>
              <a:rPr lang="en-US" dirty="0"/>
              <a:t>a plan exposes architectural issues early.</a:t>
            </a:r>
          </a:p>
          <a:p>
            <a:r>
              <a:rPr lang="en-US" dirty="0"/>
              <a:t>Learner says: “I don’t know what JWT is — I should learn that before approving!”</a:t>
            </a:r>
          </a:p>
          <a:p>
            <a:pPr lvl="1"/>
            <a:r>
              <a:rPr lang="en-US" dirty="0"/>
              <a:t>a plan reveals knowledge gaps.</a:t>
            </a:r>
          </a:p>
          <a:p>
            <a:r>
              <a:rPr lang="en-US" dirty="0"/>
              <a:t>Cost to fix at this stage: LOW</a:t>
            </a:r>
          </a:p>
          <a:p>
            <a:r>
              <a:rPr lang="en-US" dirty="0"/>
              <a:t>If you can’t evaluate the plan, you can’t evaluate the code. Plans reveal knowledge gaps early.</a:t>
            </a:r>
          </a:p>
          <a:p>
            <a:r>
              <a:rPr lang="en-US" dirty="0"/>
              <a:t>Most AIs have a "plan mode" to facilitate this</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FF21A-F638-4A05-E082-A8785A6E048C}"/>
              </a:ext>
            </a:extLst>
          </p:cNvPr>
          <p:cNvSpPr>
            <a:spLocks noGrp="1"/>
          </p:cNvSpPr>
          <p:nvPr>
            <p:ph type="title"/>
          </p:nvPr>
        </p:nvSpPr>
        <p:spPr/>
        <p:txBody>
          <a:bodyPr/>
          <a:lstStyle/>
          <a:p>
            <a:r>
              <a:rPr lang="en-US" dirty="0"/>
              <a:t>The plan is your blueprint</a:t>
            </a:r>
          </a:p>
        </p:txBody>
      </p:sp>
      <p:sp>
        <p:nvSpPr>
          <p:cNvPr id="3" name="Content Placeholder 2">
            <a:extLst>
              <a:ext uri="{FF2B5EF4-FFF2-40B4-BE49-F238E27FC236}">
                <a16:creationId xmlns:a16="http://schemas.microsoft.com/office/drawing/2014/main" id="{641947B0-223E-3CCB-EED2-F762DEB185B2}"/>
              </a:ext>
            </a:extLst>
          </p:cNvPr>
          <p:cNvSpPr>
            <a:spLocks noGrp="1"/>
          </p:cNvSpPr>
          <p:nvPr>
            <p:ph idx="1"/>
          </p:nvPr>
        </p:nvSpPr>
        <p:spPr/>
        <p:txBody>
          <a:bodyPr/>
          <a:lstStyle/>
          <a:p>
            <a:r>
              <a:rPr lang="en-US" dirty="0"/>
              <a:t>Eventually, you will want to check that the generated code matches the blueprint</a:t>
            </a:r>
          </a:p>
          <a:p>
            <a:r>
              <a:rPr lang="en-US" dirty="0"/>
              <a:t>So you will need to know how to evaluate the blueprint!</a:t>
            </a:r>
          </a:p>
        </p:txBody>
      </p:sp>
      <p:sp>
        <p:nvSpPr>
          <p:cNvPr id="4" name="Slide Number Placeholder 3">
            <a:extLst>
              <a:ext uri="{FF2B5EF4-FFF2-40B4-BE49-F238E27FC236}">
                <a16:creationId xmlns:a16="http://schemas.microsoft.com/office/drawing/2014/main" id="{A19816CC-5F2C-AADF-BD4C-116C3EE3BE86}"/>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40282674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Remember that you need a definition of done.</a:t>
            </a:r>
          </a:p>
        </p:txBody>
      </p:sp>
      <p:sp>
        <p:nvSpPr>
          <p:cNvPr id="5" name="Content Placeholder 4">
            <a:extLst>
              <a:ext uri="{FF2B5EF4-FFF2-40B4-BE49-F238E27FC236}">
                <a16:creationId xmlns:a16="http://schemas.microsoft.com/office/drawing/2014/main" id="{3F46EACA-F5AA-4460-6349-07C7D3411E77}"/>
              </a:ext>
            </a:extLst>
          </p:cNvPr>
          <p:cNvSpPr>
            <a:spLocks noGrp="1"/>
          </p:cNvSpPr>
          <p:nvPr>
            <p:ph idx="1"/>
          </p:nvPr>
        </p:nvSpPr>
        <p:spPr/>
        <p:txBody>
          <a:bodyPr>
            <a:normAutofit fontScale="92500" lnSpcReduction="10000"/>
          </a:bodyPr>
          <a:lstStyle/>
          <a:p>
            <a:r>
              <a:rPr lang="en-US" dirty="0"/>
              <a:t>Whether waterfall or agile, you need to know what “done” means BEFORE you start each piece of work.</a:t>
            </a:r>
          </a:p>
          <a:p>
            <a:r>
              <a:rPr lang="en-US" dirty="0"/>
              <a:t>Without a definition of done:</a:t>
            </a:r>
          </a:p>
          <a:p>
            <a:pPr lvl="1"/>
            <a:r>
              <a:rPr lang="en-US" dirty="0"/>
              <a:t>“Make it better” — but better how? Better for whom?</a:t>
            </a:r>
          </a:p>
          <a:p>
            <a:pPr lvl="1"/>
            <a:r>
              <a:rPr lang="en-US" dirty="0"/>
              <a:t>Endless tweaking with no exit condition</a:t>
            </a:r>
          </a:p>
          <a:p>
            <a:pPr lvl="1"/>
            <a:r>
              <a:rPr lang="en-US" dirty="0"/>
              <a:t>“I’ll know it when I see it” rarely works in practice</a:t>
            </a:r>
          </a:p>
          <a:p>
            <a:r>
              <a:rPr lang="en-US" dirty="0"/>
              <a:t>With a definition of done:</a:t>
            </a:r>
          </a:p>
          <a:p>
            <a:pPr lvl="1"/>
            <a:r>
              <a:rPr lang="en-US" dirty="0"/>
              <a:t>Clear success criteria BEFORE you start prompting (or coding)</a:t>
            </a:r>
          </a:p>
          <a:p>
            <a:pPr lvl="1"/>
            <a:r>
              <a:rPr lang="en-US" dirty="0"/>
              <a:t>Each output can be checked against the criteria</a:t>
            </a:r>
          </a:p>
          <a:p>
            <a:pPr lvl="1"/>
            <a:r>
              <a:rPr lang="en-US" dirty="0"/>
              <a:t>The plan you approved in Plan Mode IS your definition of done</a:t>
            </a:r>
          </a:p>
          <a:p>
            <a:r>
              <a:rPr lang="en-US" dirty="0"/>
              <a:t>Remember: user stories, conditions of satisfaction, etc.</a:t>
            </a:r>
          </a:p>
          <a:p>
            <a:pPr marL="0" indent="0">
              <a:buNone/>
            </a:pPr>
            <a:endParaRPr lang="en-US" i="1" dirty="0">
              <a:solidFill>
                <a:srgbClr val="4472C4"/>
              </a:solidFill>
            </a:endParaRP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If you can't evaluate the AI output, maybe you shouldn't be using so much AI (Just </a:t>
            </a:r>
            <a:r>
              <a:rPr lang="en-US" sz="3200" dirty="0" err="1"/>
              <a:t>sayin</a:t>
            </a:r>
            <a:r>
              <a:rPr lang="en-US" sz="3200" dirty="0"/>
              <a:t>')</a:t>
            </a:r>
          </a:p>
        </p:txBody>
      </p:sp>
      <p:sp>
        <p:nvSpPr>
          <p:cNvPr id="3" name="Content Placeholder 2"/>
          <p:cNvSpPr>
            <a:spLocks noGrp="1"/>
          </p:cNvSpPr>
          <p:nvPr>
            <p:ph idx="1"/>
          </p:nvPr>
        </p:nvSpPr>
        <p:spPr/>
        <p:txBody>
          <a:bodyPr>
            <a:normAutofit fontScale="92500" lnSpcReduction="10000"/>
          </a:bodyPr>
          <a:lstStyle/>
          <a:p>
            <a:r>
              <a:rPr lang="en-US" b="1" dirty="0"/>
              <a:t>Easy to evaluate — use AI freely:</a:t>
            </a:r>
          </a:p>
          <a:p>
            <a:pPr lvl="1"/>
            <a:r>
              <a:rPr lang="en-US" dirty="0"/>
              <a:t>Does the script run? Does it compile? Does the test pass? (binary yes/no — verify immediately)</a:t>
            </a:r>
          </a:p>
          <a:p>
            <a:r>
              <a:rPr lang="en-US" b="1" dirty="0"/>
              <a:t>Hard to evaluate — use AI carefully:</a:t>
            </a:r>
          </a:p>
          <a:p>
            <a:pPr lvl="1"/>
            <a:r>
              <a:rPr lang="en-US" dirty="0"/>
              <a:t>Does the quiz have confusing questions? → Give it to 100 students and find out</a:t>
            </a:r>
          </a:p>
          <a:p>
            <a:pPr lvl="1"/>
            <a:r>
              <a:rPr lang="en-US" dirty="0"/>
              <a:t>Is this architecture scalable? → Wait 6 months in production</a:t>
            </a:r>
          </a:p>
          <a:p>
            <a:pPr lvl="1"/>
            <a:r>
              <a:rPr lang="en-US" dirty="0"/>
              <a:t>Will users find this intuitive? → Ship and measure</a:t>
            </a:r>
          </a:p>
          <a:p>
            <a:r>
              <a:rPr lang="en-US" dirty="0"/>
              <a:t>AI can help you GENERATE for any task. But for hard-to-evaluate outcomes, don’t rely on AI to EVALUATE — you need external validation: user testing, expert review, time in production.</a:t>
            </a:r>
          </a:p>
        </p:txBody>
      </p:sp>
      <p:sp>
        <p:nvSpPr>
          <p:cNvPr id="4" name="Slide Number Placeholder 3"/>
          <p:cNvSpPr>
            <a:spLocks noGrp="1"/>
          </p:cNvSpPr>
          <p:nvPr>
            <p:ph type="sldNum" sz="quarter" idx="12"/>
          </p:nvPr>
        </p:nvSpPr>
        <p:spPr/>
        <p:txBody>
          <a:bodyPr/>
          <a:lstStyle/>
          <a:p>
            <a:fld id="{20F37917-FD3A-4669-9018-DA04BCDD3D75}"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11F34-408B-DF98-4280-4A5AF041AF42}"/>
              </a:ext>
            </a:extLst>
          </p:cNvPr>
          <p:cNvSpPr>
            <a:spLocks noGrp="1"/>
          </p:cNvSpPr>
          <p:nvPr>
            <p:ph type="title"/>
          </p:nvPr>
        </p:nvSpPr>
        <p:spPr/>
        <p:txBody>
          <a:bodyPr>
            <a:normAutofit/>
          </a:bodyPr>
          <a:lstStyle/>
          <a:p>
            <a:r>
              <a:rPr lang="en-US" dirty="0"/>
              <a:t>When should I use AI? </a:t>
            </a:r>
            <a:br>
              <a:rPr lang="en-US" dirty="0"/>
            </a:br>
            <a:r>
              <a:rPr lang="en-US" dirty="0"/>
              <a:t>Task familiarity determines appropriateness</a:t>
            </a:r>
          </a:p>
        </p:txBody>
      </p:sp>
      <p:sp>
        <p:nvSpPr>
          <p:cNvPr id="3" name="Content Placeholder 2">
            <a:extLst>
              <a:ext uri="{FF2B5EF4-FFF2-40B4-BE49-F238E27FC236}">
                <a16:creationId xmlns:a16="http://schemas.microsoft.com/office/drawing/2014/main" id="{957B6CFF-6C53-B380-D742-EAFF11331AA5}"/>
              </a:ext>
            </a:extLst>
          </p:cNvPr>
          <p:cNvSpPr>
            <a:spLocks noGrp="1"/>
          </p:cNvSpPr>
          <p:nvPr>
            <p:ph idx="1"/>
          </p:nvPr>
        </p:nvSpPr>
        <p:spPr>
          <a:xfrm>
            <a:off x="838200" y="1500160"/>
            <a:ext cx="7295707" cy="4351338"/>
          </a:xfrm>
        </p:spPr>
        <p:txBody>
          <a:bodyPr/>
          <a:lstStyle/>
          <a:p>
            <a:r>
              <a:rPr lang="en-US" b="1" dirty="0"/>
              <a:t>Use AI when</a:t>
            </a:r>
            <a:r>
              <a:rPr lang="en-US" dirty="0"/>
              <a:t>: You have sufficient domain knowledge to evaluate outputs</a:t>
            </a:r>
          </a:p>
          <a:p>
            <a:r>
              <a:rPr lang="en-US" b="1" dirty="0"/>
              <a:t>Avoid AI when</a:t>
            </a:r>
            <a:r>
              <a:rPr lang="en-US" dirty="0"/>
              <a:t>: You lack the expertise to assess correctness and quality</a:t>
            </a:r>
          </a:p>
          <a:p>
            <a:r>
              <a:rPr lang="en-US" b="1" dirty="0"/>
              <a:t>Learning consideration</a:t>
            </a:r>
            <a:r>
              <a:rPr lang="en-US" dirty="0"/>
              <a:t>: Using AI without foundational knowledge can lead to deskilling</a:t>
            </a:r>
          </a:p>
          <a:p>
            <a:pPr marL="0" indent="0">
              <a:buNone/>
            </a:pPr>
            <a:endParaRPr lang="en-US" dirty="0"/>
          </a:p>
        </p:txBody>
      </p:sp>
      <p:sp>
        <p:nvSpPr>
          <p:cNvPr id="4" name="Slide Number Placeholder 3">
            <a:extLst>
              <a:ext uri="{FF2B5EF4-FFF2-40B4-BE49-F238E27FC236}">
                <a16:creationId xmlns:a16="http://schemas.microsoft.com/office/drawing/2014/main" id="{9822230B-A05D-4B68-156B-6C9FCDDDD909}"/>
              </a:ext>
            </a:extLst>
          </p:cNvPr>
          <p:cNvSpPr>
            <a:spLocks noGrp="1"/>
          </p:cNvSpPr>
          <p:nvPr>
            <p:ph type="sldNum" sz="quarter" idx="12"/>
          </p:nvPr>
        </p:nvSpPr>
        <p:spPr/>
        <p:txBody>
          <a:bodyPr/>
          <a:lstStyle/>
          <a:p>
            <a:fld id="{20F37917-FD3A-4669-9018-DA04BCDD3D75}" type="slidenum">
              <a:rPr lang="en-US" smtClean="0"/>
              <a:t>28</a:t>
            </a:fld>
            <a:endParaRPr lang="en-US"/>
          </a:p>
        </p:txBody>
      </p:sp>
    </p:spTree>
    <p:extLst>
      <p:ext uri="{BB962C8B-B14F-4D97-AF65-F5344CB8AC3E}">
        <p14:creationId xmlns:p14="http://schemas.microsoft.com/office/powerpoint/2010/main" val="29654963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4A84E-1C48-8199-C3A6-5551C5EF89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1105A0-C73A-5A6B-0F1D-D8550ABBD9F7}"/>
              </a:ext>
            </a:extLst>
          </p:cNvPr>
          <p:cNvSpPr>
            <a:spLocks noGrp="1"/>
          </p:cNvSpPr>
          <p:nvPr>
            <p:ph type="title"/>
          </p:nvPr>
        </p:nvSpPr>
        <p:spPr/>
        <p:txBody>
          <a:bodyPr/>
          <a:lstStyle/>
          <a:p>
            <a:r>
              <a:rPr lang="en-US" dirty="0"/>
              <a:t>A 4-Step Workflow for Human-AI Interaction</a:t>
            </a:r>
          </a:p>
        </p:txBody>
      </p:sp>
      <p:sp>
        <p:nvSpPr>
          <p:cNvPr id="3" name="Content Placeholder 2">
            <a:extLst>
              <a:ext uri="{FF2B5EF4-FFF2-40B4-BE49-F238E27FC236}">
                <a16:creationId xmlns:a16="http://schemas.microsoft.com/office/drawing/2014/main" id="{D731301E-1D9D-63AB-C567-5FE15B466118}"/>
              </a:ext>
            </a:extLst>
          </p:cNvPr>
          <p:cNvSpPr>
            <a:spLocks noGrp="1"/>
          </p:cNvSpPr>
          <p:nvPr>
            <p:ph idx="1"/>
          </p:nvPr>
        </p:nvSpPr>
        <p:spPr/>
        <p:txBody>
          <a:bodyPr>
            <a:normAutofit fontScale="92500" lnSpcReduction="10000"/>
          </a:bodyPr>
          <a:lstStyle/>
          <a:p>
            <a:pPr marL="514350" indent="-514350">
              <a:buFont typeface="+mj-lt"/>
              <a:buAutoNum type="arabicPeriod"/>
            </a:pPr>
            <a:r>
              <a:rPr lang="en-US" dirty="0"/>
              <a:t>Prompt</a:t>
            </a:r>
          </a:p>
          <a:p>
            <a:pPr lvl="1"/>
            <a:r>
              <a:rPr lang="en-US" dirty="0"/>
              <a:t>Give the AI the context it needs to do its job</a:t>
            </a:r>
          </a:p>
          <a:p>
            <a:pPr marL="514350" indent="-514350">
              <a:buFont typeface="+mj-lt"/>
              <a:buAutoNum type="arabicPeriod"/>
            </a:pPr>
            <a:r>
              <a:rPr lang="en-US" dirty="0"/>
              <a:t>Plan</a:t>
            </a:r>
          </a:p>
          <a:p>
            <a:pPr lvl="1"/>
            <a:r>
              <a:rPr lang="en-US" dirty="0"/>
              <a:t>Have the AI create a plan for what you want it to do</a:t>
            </a:r>
          </a:p>
          <a:p>
            <a:pPr lvl="1"/>
            <a:r>
              <a:rPr lang="en-US" dirty="0"/>
              <a:t>Review the plan</a:t>
            </a:r>
          </a:p>
          <a:p>
            <a:pPr lvl="1"/>
            <a:r>
              <a:rPr lang="en-US" dirty="0"/>
              <a:t>Review the review</a:t>
            </a:r>
          </a:p>
          <a:p>
            <a:pPr marL="514350" indent="-514350">
              <a:buFont typeface="+mj-lt"/>
              <a:buAutoNum type="arabicPeriod"/>
            </a:pPr>
            <a:r>
              <a:rPr lang="en-US" dirty="0">
                <a:solidFill>
                  <a:srgbClr val="FF0000"/>
                </a:solidFill>
              </a:rPr>
              <a:t>Engage &amp; Evaluate</a:t>
            </a:r>
          </a:p>
          <a:p>
            <a:pPr lvl="1"/>
            <a:r>
              <a:rPr lang="en-US" dirty="0">
                <a:solidFill>
                  <a:srgbClr val="FF0000"/>
                </a:solidFill>
              </a:rPr>
              <a:t>Engage with AI to guide it to the desired result</a:t>
            </a:r>
          </a:p>
          <a:p>
            <a:pPr lvl="1"/>
            <a:r>
              <a:rPr lang="en-US" dirty="0">
                <a:solidFill>
                  <a:srgbClr val="FF0000"/>
                </a:solidFill>
              </a:rPr>
              <a:t>Evaluate the results</a:t>
            </a:r>
          </a:p>
          <a:p>
            <a:pPr marL="514350" indent="-514350">
              <a:buFont typeface="+mj-lt"/>
              <a:buAutoNum type="arabicPeriod"/>
            </a:pPr>
            <a:r>
              <a:rPr lang="en-US" dirty="0"/>
              <a:t>Finalize &amp; Document</a:t>
            </a:r>
          </a:p>
          <a:p>
            <a:pPr lvl="1"/>
            <a:r>
              <a:rPr lang="en-US" dirty="0"/>
              <a:t>Make a record of design decisions to benefit future teams.</a:t>
            </a:r>
          </a:p>
        </p:txBody>
      </p:sp>
      <p:sp>
        <p:nvSpPr>
          <p:cNvPr id="4" name="Slide Number Placeholder 3">
            <a:extLst>
              <a:ext uri="{FF2B5EF4-FFF2-40B4-BE49-F238E27FC236}">
                <a16:creationId xmlns:a16="http://schemas.microsoft.com/office/drawing/2014/main" id="{A4FE4791-85A5-800B-1D7C-B0690FA3D5F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123082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A285D00-3901-4FF5-AFF0-9CF5FFB76B6B}"/>
              </a:ext>
            </a:extLst>
          </p:cNvPr>
          <p:cNvSpPr>
            <a:spLocks noGrp="1"/>
          </p:cNvSpPr>
          <p:nvPr>
            <p:ph type="title"/>
          </p:nvPr>
        </p:nvSpPr>
        <p:spPr/>
        <p:txBody>
          <a:bodyPr/>
          <a:lstStyle/>
          <a:p>
            <a:r>
              <a:rPr lang="en-US" dirty="0"/>
              <a:t>Step 3: Engage &amp; Evaluate</a:t>
            </a:r>
          </a:p>
        </p:txBody>
      </p:sp>
      <p:sp>
        <p:nvSpPr>
          <p:cNvPr id="5" name="Content Placeholder 4">
            <a:extLst>
              <a:ext uri="{FF2B5EF4-FFF2-40B4-BE49-F238E27FC236}">
                <a16:creationId xmlns:a16="http://schemas.microsoft.com/office/drawing/2014/main" id="{B7BAC39C-2B9D-8EF7-31AA-49D2AF586286}"/>
              </a:ext>
            </a:extLst>
          </p:cNvPr>
          <p:cNvSpPr>
            <a:spLocks noGrp="1"/>
          </p:cNvSpPr>
          <p:nvPr>
            <p:ph idx="1"/>
          </p:nvPr>
        </p:nvSpPr>
        <p:spPr/>
        <p:txBody>
          <a:bodyPr>
            <a:normAutofit/>
          </a:bodyPr>
          <a:lstStyle/>
          <a:p>
            <a:r>
              <a:rPr lang="en-US" b="1" dirty="0"/>
              <a:t>Calibrate</a:t>
            </a:r>
            <a:r>
              <a:rPr lang="en-US" dirty="0"/>
              <a:t>: Steer AI toward desired outcomes through feedback</a:t>
            </a:r>
          </a:p>
          <a:p>
            <a:pPr lvl="1"/>
            <a:r>
              <a:rPr lang="en-US" dirty="0"/>
              <a:t>Example: “That’s close, but use interfaces instead of abstract classes”</a:t>
            </a:r>
          </a:p>
          <a:p>
            <a:pPr lvl="1"/>
            <a:r>
              <a:rPr lang="en-US" dirty="0"/>
              <a:t>This is a conversation — you may calibrate 3–4 times per task. This is normal.</a:t>
            </a:r>
          </a:p>
          <a:p>
            <a:r>
              <a:rPr lang="en-US" b="1" dirty="0"/>
              <a:t>Tweak</a:t>
            </a:r>
            <a:r>
              <a:rPr lang="en-US" dirty="0"/>
              <a:t>: Manually refine AI-generated artifacts</a:t>
            </a:r>
          </a:p>
          <a:p>
            <a:pPr lvl="1"/>
            <a:r>
              <a:rPr lang="en-US" dirty="0"/>
              <a:t>Naming, edge cases, comments, style adjustments. AI output is rarely perfect — this is expected.</a:t>
            </a:r>
          </a:p>
          <a:p>
            <a:endParaRPr lang="en-US" dirty="0"/>
          </a:p>
        </p:txBody>
      </p:sp>
      <p:sp>
        <p:nvSpPr>
          <p:cNvPr id="3" name="Slide Number Placeholder 2">
            <a:extLst>
              <a:ext uri="{FF2B5EF4-FFF2-40B4-BE49-F238E27FC236}">
                <a16:creationId xmlns:a16="http://schemas.microsoft.com/office/drawing/2014/main" id="{B3F4056A-1EB1-A3F3-0AD2-DF2E4D45229C}"/>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34315100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DEE51-8F0E-3D4A-3FD1-67C8CC3F186A}"/>
              </a:ext>
            </a:extLst>
          </p:cNvPr>
          <p:cNvSpPr>
            <a:spLocks noGrp="1"/>
          </p:cNvSpPr>
          <p:nvPr>
            <p:ph type="title"/>
          </p:nvPr>
        </p:nvSpPr>
        <p:spPr/>
        <p:txBody>
          <a:bodyPr/>
          <a:lstStyle/>
          <a:p>
            <a:r>
              <a:rPr lang="en-US" dirty="0"/>
              <a:t>Calibration and Tweaking</a:t>
            </a:r>
          </a:p>
        </p:txBody>
      </p:sp>
      <p:sp>
        <p:nvSpPr>
          <p:cNvPr id="3" name="Content Placeholder 2">
            <a:extLst>
              <a:ext uri="{FF2B5EF4-FFF2-40B4-BE49-F238E27FC236}">
                <a16:creationId xmlns:a16="http://schemas.microsoft.com/office/drawing/2014/main" id="{B0BC6DE9-CC52-E7BA-8FBD-B34CC5879882}"/>
              </a:ext>
            </a:extLst>
          </p:cNvPr>
          <p:cNvSpPr>
            <a:spLocks noGrp="1"/>
          </p:cNvSpPr>
          <p:nvPr>
            <p:ph idx="1"/>
          </p:nvPr>
        </p:nvSpPr>
        <p:spPr/>
        <p:txBody>
          <a:bodyPr/>
          <a:lstStyle/>
          <a:p>
            <a:r>
              <a:rPr lang="en-US" dirty="0"/>
              <a:t>Especially applicable for non-code AI-generated artifacts</a:t>
            </a:r>
          </a:p>
          <a:p>
            <a:pPr lvl="1"/>
            <a:r>
              <a:rPr lang="en-US" dirty="0"/>
              <a:t>text</a:t>
            </a:r>
          </a:p>
          <a:p>
            <a:pPr lvl="1"/>
            <a:r>
              <a:rPr lang="en-US" dirty="0"/>
              <a:t>diagrams</a:t>
            </a:r>
          </a:p>
          <a:p>
            <a:pPr lvl="1"/>
            <a:r>
              <a:rPr lang="en-US" dirty="0"/>
              <a:t>slides</a:t>
            </a:r>
          </a:p>
          <a:p>
            <a:pPr lvl="1"/>
            <a:r>
              <a:rPr lang="en-US" dirty="0" err="1"/>
              <a:t>etc</a:t>
            </a:r>
            <a:r>
              <a:rPr lang="en-US" dirty="0"/>
              <a:t>…</a:t>
            </a:r>
          </a:p>
        </p:txBody>
      </p:sp>
      <p:sp>
        <p:nvSpPr>
          <p:cNvPr id="4" name="Slide Number Placeholder 3">
            <a:extLst>
              <a:ext uri="{FF2B5EF4-FFF2-40B4-BE49-F238E27FC236}">
                <a16:creationId xmlns:a16="http://schemas.microsoft.com/office/drawing/2014/main" id="{14FA704E-9A0C-8AEC-88AA-C7E6B25FEC77}"/>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31425946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2FD76-CE10-D3B0-9125-80BB39A4E112}"/>
              </a:ext>
            </a:extLst>
          </p:cNvPr>
          <p:cNvSpPr>
            <a:spLocks noGrp="1"/>
          </p:cNvSpPr>
          <p:nvPr>
            <p:ph type="title"/>
          </p:nvPr>
        </p:nvSpPr>
        <p:spPr/>
        <p:txBody>
          <a:bodyPr/>
          <a:lstStyle/>
          <a:p>
            <a:r>
              <a:rPr lang="en-US" dirty="0"/>
              <a:t>Another kind of engagement: Making sure the AI obeys the constraints</a:t>
            </a:r>
          </a:p>
        </p:txBody>
      </p:sp>
      <p:sp>
        <p:nvSpPr>
          <p:cNvPr id="3" name="Content Placeholder 2">
            <a:extLst>
              <a:ext uri="{FF2B5EF4-FFF2-40B4-BE49-F238E27FC236}">
                <a16:creationId xmlns:a16="http://schemas.microsoft.com/office/drawing/2014/main" id="{E349D3E3-04DA-EEE5-79E9-A3BAE378E128}"/>
              </a:ext>
            </a:extLst>
          </p:cNvPr>
          <p:cNvSpPr>
            <a:spLocks noGrp="1"/>
          </p:cNvSpPr>
          <p:nvPr>
            <p:ph idx="1"/>
          </p:nvPr>
        </p:nvSpPr>
        <p:spPr/>
        <p:txBody>
          <a:bodyPr/>
          <a:lstStyle/>
          <a:p>
            <a:r>
              <a:rPr lang="en-US" dirty="0"/>
              <a:t>Run the AI in a sandbox, if you can</a:t>
            </a:r>
          </a:p>
          <a:p>
            <a:pPr lvl="1"/>
            <a:r>
              <a:rPr lang="en-US" dirty="0"/>
              <a:t>to prevent it from deleting your emails, etc.</a:t>
            </a:r>
          </a:p>
          <a:p>
            <a:r>
              <a:rPr lang="en-US" dirty="0"/>
              <a:t>Remind it often about the constraints, so the constraints are always in context</a:t>
            </a:r>
          </a:p>
          <a:p>
            <a:r>
              <a:rPr lang="en-US" dirty="0"/>
              <a:t>Manual checking (at each step!)</a:t>
            </a:r>
          </a:p>
          <a:p>
            <a:r>
              <a:rPr lang="en-US" dirty="0"/>
              <a:t>Automated review by a separate AI</a:t>
            </a:r>
          </a:p>
          <a:p>
            <a:r>
              <a:rPr lang="en-US" dirty="0"/>
              <a:t>Refer to the onboarding guide of your AI for more specific advice.</a:t>
            </a:r>
          </a:p>
        </p:txBody>
      </p:sp>
      <p:sp>
        <p:nvSpPr>
          <p:cNvPr id="4" name="Slide Number Placeholder 3">
            <a:extLst>
              <a:ext uri="{FF2B5EF4-FFF2-40B4-BE49-F238E27FC236}">
                <a16:creationId xmlns:a16="http://schemas.microsoft.com/office/drawing/2014/main" id="{4082C35C-FDA0-DD6B-DE07-FF741D160809}"/>
              </a:ext>
            </a:extLst>
          </p:cNvPr>
          <p:cNvSpPr>
            <a:spLocks noGrp="1"/>
          </p:cNvSpPr>
          <p:nvPr>
            <p:ph type="sldNum" sz="quarter" idx="12"/>
          </p:nvPr>
        </p:nvSpPr>
        <p:spPr/>
        <p:txBody>
          <a:bodyPr/>
          <a:lstStyle/>
          <a:p>
            <a:fld id="{20F37917-FD3A-4669-9018-DA04BCDD3D75}" type="slidenum">
              <a:rPr lang="en-US" smtClean="0"/>
              <a:t>32</a:t>
            </a:fld>
            <a:endParaRPr lang="en-US"/>
          </a:p>
        </p:txBody>
      </p:sp>
    </p:spTree>
    <p:extLst>
      <p:ext uri="{BB962C8B-B14F-4D97-AF65-F5344CB8AC3E}">
        <p14:creationId xmlns:p14="http://schemas.microsoft.com/office/powerpoint/2010/main" val="23985222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663DA-DB94-FF7D-535E-5372E797B4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CC5CD4-483E-2B9A-5B04-6C139303AA55}"/>
              </a:ext>
            </a:extLst>
          </p:cNvPr>
          <p:cNvSpPr>
            <a:spLocks noGrp="1"/>
          </p:cNvSpPr>
          <p:nvPr>
            <p:ph type="title"/>
          </p:nvPr>
        </p:nvSpPr>
        <p:spPr/>
        <p:txBody>
          <a:bodyPr>
            <a:normAutofit/>
          </a:bodyPr>
          <a:lstStyle/>
          <a:p>
            <a:r>
              <a:rPr lang="en-US" dirty="0"/>
              <a:t>Step 3, cont'd: Evaluate</a:t>
            </a:r>
          </a:p>
        </p:txBody>
      </p:sp>
      <p:sp>
        <p:nvSpPr>
          <p:cNvPr id="5" name="Content Placeholder 4">
            <a:extLst>
              <a:ext uri="{FF2B5EF4-FFF2-40B4-BE49-F238E27FC236}">
                <a16:creationId xmlns:a16="http://schemas.microsoft.com/office/drawing/2014/main" id="{996CBDD9-A8E6-BD26-675F-982B71CE60ED}"/>
              </a:ext>
            </a:extLst>
          </p:cNvPr>
          <p:cNvSpPr>
            <a:spLocks noGrp="1"/>
          </p:cNvSpPr>
          <p:nvPr>
            <p:ph idx="1"/>
          </p:nvPr>
        </p:nvSpPr>
        <p:spPr/>
        <p:txBody>
          <a:bodyPr>
            <a:normAutofit/>
          </a:bodyPr>
          <a:lstStyle/>
          <a:p>
            <a:r>
              <a:rPr lang="en-US" dirty="0"/>
              <a:t>Review code with the plan as a checklist.</a:t>
            </a:r>
          </a:p>
          <a:p>
            <a:r>
              <a:rPr lang="en-US" dirty="0"/>
              <a:t>“I know what to look for because I already approved the approach.”</a:t>
            </a:r>
          </a:p>
          <a:p>
            <a:r>
              <a:rPr lang="en-US" dirty="0"/>
              <a:t>Remember: If you didn't evaluate the plan, you can’t evaluate the code. </a:t>
            </a:r>
          </a:p>
          <a:p>
            <a:r>
              <a:rPr lang="en-US" dirty="0"/>
              <a:t>Advanced usage: some of this review can be automated (with a separate, isolated AI)</a:t>
            </a:r>
          </a:p>
          <a:p>
            <a:r>
              <a:rPr lang="en-US" dirty="0"/>
              <a:t>But then you still have to review the review!</a:t>
            </a:r>
          </a:p>
          <a:p>
            <a:endParaRPr lang="en-US" dirty="0"/>
          </a:p>
        </p:txBody>
      </p:sp>
      <p:sp>
        <p:nvSpPr>
          <p:cNvPr id="4" name="Slide Number Placeholder 3">
            <a:extLst>
              <a:ext uri="{FF2B5EF4-FFF2-40B4-BE49-F238E27FC236}">
                <a16:creationId xmlns:a16="http://schemas.microsoft.com/office/drawing/2014/main" id="{C3325441-4731-9FEF-45FC-960907647DE9}"/>
              </a:ext>
            </a:extLst>
          </p:cNvPr>
          <p:cNvSpPr>
            <a:spLocks noGrp="1"/>
          </p:cNvSpPr>
          <p:nvPr>
            <p:ph type="sldNum" sz="quarter" idx="12"/>
          </p:nvPr>
        </p:nvSpPr>
        <p:spPr/>
        <p:txBody>
          <a:bodyPr/>
          <a:lstStyle/>
          <a:p>
            <a:fld id="{20F37917-FD3A-4669-9018-DA04BCDD3D75}" type="slidenum">
              <a:rPr lang="en-US" smtClean="0"/>
              <a:t>33</a:t>
            </a:fld>
            <a:endParaRPr lang="en-US"/>
          </a:p>
        </p:txBody>
      </p:sp>
    </p:spTree>
    <p:extLst>
      <p:ext uri="{BB962C8B-B14F-4D97-AF65-F5344CB8AC3E}">
        <p14:creationId xmlns:p14="http://schemas.microsoft.com/office/powerpoint/2010/main" val="30466098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BD5A28-AD8F-D9A9-AEE8-01682F93F928}"/>
              </a:ext>
            </a:extLst>
          </p:cNvPr>
          <p:cNvSpPr>
            <a:spLocks noGrp="1"/>
          </p:cNvSpPr>
          <p:nvPr>
            <p:ph type="title"/>
          </p:nvPr>
        </p:nvSpPr>
        <p:spPr/>
        <p:txBody>
          <a:bodyPr/>
          <a:lstStyle/>
          <a:p>
            <a:r>
              <a:rPr lang="en-US" dirty="0"/>
              <a:t>You probably need a plan to do the evaluation</a:t>
            </a:r>
          </a:p>
        </p:txBody>
      </p:sp>
      <p:sp>
        <p:nvSpPr>
          <p:cNvPr id="3" name="Content Placeholder 2">
            <a:extLst>
              <a:ext uri="{FF2B5EF4-FFF2-40B4-BE49-F238E27FC236}">
                <a16:creationId xmlns:a16="http://schemas.microsoft.com/office/drawing/2014/main" id="{290ED7E8-3C18-599D-F26A-1605F1D824E5}"/>
              </a:ext>
            </a:extLst>
          </p:cNvPr>
          <p:cNvSpPr>
            <a:spLocks noGrp="1"/>
          </p:cNvSpPr>
          <p:nvPr>
            <p:ph idx="1"/>
          </p:nvPr>
        </p:nvSpPr>
        <p:spPr/>
        <p:txBody>
          <a:bodyPr/>
          <a:lstStyle/>
          <a:p>
            <a:r>
              <a:rPr lang="en-US" dirty="0"/>
              <a:t>Assess AI outputs against expected results utilizing domain knowledge. </a:t>
            </a:r>
          </a:p>
          <a:p>
            <a:r>
              <a:rPr lang="en-US" dirty="0"/>
              <a:t>Compare output against expected end results and other success criteria.</a:t>
            </a:r>
          </a:p>
        </p:txBody>
      </p:sp>
      <p:sp>
        <p:nvSpPr>
          <p:cNvPr id="4" name="Slide Number Placeholder 3">
            <a:extLst>
              <a:ext uri="{FF2B5EF4-FFF2-40B4-BE49-F238E27FC236}">
                <a16:creationId xmlns:a16="http://schemas.microsoft.com/office/drawing/2014/main" id="{B402D061-2A18-B7F7-2B73-11D3EB76D128}"/>
              </a:ext>
            </a:extLst>
          </p:cNvPr>
          <p:cNvSpPr>
            <a:spLocks noGrp="1"/>
          </p:cNvSpPr>
          <p:nvPr>
            <p:ph type="sldNum" sz="quarter" idx="12"/>
          </p:nvPr>
        </p:nvSpPr>
        <p:spPr/>
        <p:txBody>
          <a:bodyPr/>
          <a:lstStyle/>
          <a:p>
            <a:fld id="{20F37917-FD3A-4669-9018-DA04BCDD3D75}" type="slidenum">
              <a:rPr lang="en-US" smtClean="0"/>
              <a:t>34</a:t>
            </a:fld>
            <a:endParaRPr lang="en-US"/>
          </a:p>
        </p:txBody>
      </p:sp>
    </p:spTree>
    <p:extLst>
      <p:ext uri="{BB962C8B-B14F-4D97-AF65-F5344CB8AC3E}">
        <p14:creationId xmlns:p14="http://schemas.microsoft.com/office/powerpoint/2010/main" val="20362978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B7A29-8510-EF76-FA6B-0110C7A22A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B7018-2BA1-F2FC-119E-897E701C396A}"/>
              </a:ext>
            </a:extLst>
          </p:cNvPr>
          <p:cNvSpPr>
            <a:spLocks noGrp="1"/>
          </p:cNvSpPr>
          <p:nvPr>
            <p:ph type="title"/>
          </p:nvPr>
        </p:nvSpPr>
        <p:spPr/>
        <p:txBody>
          <a:bodyPr/>
          <a:lstStyle/>
          <a:p>
            <a:r>
              <a:rPr lang="en-US" dirty="0"/>
              <a:t>A 4-Step Workflow for Human-AI Interaction</a:t>
            </a:r>
          </a:p>
        </p:txBody>
      </p:sp>
      <p:sp>
        <p:nvSpPr>
          <p:cNvPr id="3" name="Content Placeholder 2">
            <a:extLst>
              <a:ext uri="{FF2B5EF4-FFF2-40B4-BE49-F238E27FC236}">
                <a16:creationId xmlns:a16="http://schemas.microsoft.com/office/drawing/2014/main" id="{245BC7CC-DE80-3095-490D-C2209F2DEB7C}"/>
              </a:ext>
            </a:extLst>
          </p:cNvPr>
          <p:cNvSpPr>
            <a:spLocks noGrp="1"/>
          </p:cNvSpPr>
          <p:nvPr>
            <p:ph idx="1"/>
          </p:nvPr>
        </p:nvSpPr>
        <p:spPr/>
        <p:txBody>
          <a:bodyPr>
            <a:normAutofit fontScale="92500" lnSpcReduction="10000"/>
          </a:bodyPr>
          <a:lstStyle/>
          <a:p>
            <a:pPr marL="514350" indent="-514350">
              <a:buFont typeface="+mj-lt"/>
              <a:buAutoNum type="arabicPeriod"/>
            </a:pPr>
            <a:r>
              <a:rPr lang="en-US" dirty="0"/>
              <a:t>Prompt</a:t>
            </a:r>
          </a:p>
          <a:p>
            <a:pPr lvl="1"/>
            <a:r>
              <a:rPr lang="en-US" dirty="0"/>
              <a:t>Give the AI the context it needs to do its job</a:t>
            </a:r>
          </a:p>
          <a:p>
            <a:pPr marL="514350" indent="-514350">
              <a:buFont typeface="+mj-lt"/>
              <a:buAutoNum type="arabicPeriod"/>
            </a:pPr>
            <a:r>
              <a:rPr lang="en-US" dirty="0"/>
              <a:t>Plan</a:t>
            </a:r>
          </a:p>
          <a:p>
            <a:pPr lvl="1"/>
            <a:r>
              <a:rPr lang="en-US" dirty="0"/>
              <a:t>Have the AI create a plan for what you want it to do</a:t>
            </a:r>
          </a:p>
          <a:p>
            <a:pPr lvl="1"/>
            <a:r>
              <a:rPr lang="en-US" dirty="0"/>
              <a:t>Review the plan</a:t>
            </a:r>
          </a:p>
          <a:p>
            <a:pPr lvl="1"/>
            <a:r>
              <a:rPr lang="en-US" dirty="0"/>
              <a:t>Review the review</a:t>
            </a:r>
          </a:p>
          <a:p>
            <a:pPr marL="514350" indent="-514350">
              <a:buFont typeface="+mj-lt"/>
              <a:buAutoNum type="arabicPeriod"/>
            </a:pPr>
            <a:r>
              <a:rPr lang="en-US" dirty="0"/>
              <a:t>Engage &amp; Evaluate</a:t>
            </a:r>
          </a:p>
          <a:p>
            <a:pPr lvl="1"/>
            <a:r>
              <a:rPr lang="en-US" dirty="0"/>
              <a:t>Engage with AI to guide it to the desired result</a:t>
            </a:r>
          </a:p>
          <a:p>
            <a:pPr lvl="1"/>
            <a:r>
              <a:rPr lang="en-US" dirty="0"/>
              <a:t>Evaluate the results</a:t>
            </a:r>
          </a:p>
          <a:p>
            <a:pPr marL="514350" indent="-514350">
              <a:buFont typeface="+mj-lt"/>
              <a:buAutoNum type="arabicPeriod"/>
            </a:pPr>
            <a:r>
              <a:rPr lang="en-US" dirty="0">
                <a:solidFill>
                  <a:srgbClr val="FF0000"/>
                </a:solidFill>
              </a:rPr>
              <a:t>Finalize &amp; Document</a:t>
            </a:r>
          </a:p>
          <a:p>
            <a:pPr lvl="1"/>
            <a:r>
              <a:rPr lang="en-US" dirty="0">
                <a:solidFill>
                  <a:srgbClr val="FF0000"/>
                </a:solidFill>
              </a:rPr>
              <a:t>Make a record of design decisions to benefit future teams</a:t>
            </a:r>
            <a:r>
              <a:rPr lang="en-US" dirty="0"/>
              <a:t>.</a:t>
            </a:r>
          </a:p>
        </p:txBody>
      </p:sp>
      <p:sp>
        <p:nvSpPr>
          <p:cNvPr id="4" name="Slide Number Placeholder 3">
            <a:extLst>
              <a:ext uri="{FF2B5EF4-FFF2-40B4-BE49-F238E27FC236}">
                <a16:creationId xmlns:a16="http://schemas.microsoft.com/office/drawing/2014/main" id="{7F34C68A-7F39-005C-5CA2-C5E361C693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267640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Finalizing</a:t>
            </a:r>
          </a:p>
        </p:txBody>
      </p:sp>
      <p:sp>
        <p:nvSpPr>
          <p:cNvPr id="3" name="Content Placeholder 2"/>
          <p:cNvSpPr>
            <a:spLocks noGrp="1"/>
          </p:cNvSpPr>
          <p:nvPr>
            <p:ph idx="1"/>
          </p:nvPr>
        </p:nvSpPr>
        <p:spPr/>
        <p:txBody>
          <a:bodyPr>
            <a:normAutofit fontScale="92500"/>
          </a:bodyPr>
          <a:lstStyle/>
          <a:p>
            <a:r>
              <a:rPr lang="en-US" dirty="0"/>
              <a:t>Before committing AI-generated code, ask yourself:</a:t>
            </a:r>
          </a:p>
          <a:p>
            <a:pPr lvl="1"/>
            <a:r>
              <a:rPr lang="en-US" dirty="0"/>
              <a:t>Can I justify the design decisions in this code to a colleague?</a:t>
            </a:r>
          </a:p>
          <a:p>
            <a:pPr lvl="1"/>
            <a:r>
              <a:rPr lang="en-US" dirty="0"/>
              <a:t>If I look at this in 6 months, will I know WHY I chose this approach?</a:t>
            </a:r>
          </a:p>
          <a:p>
            <a:pPr lvl="1"/>
            <a:r>
              <a:rPr lang="en-US" dirty="0"/>
              <a:t>Am I prepared to take responsibility if this code is wrong?</a:t>
            </a:r>
          </a:p>
          <a:p>
            <a:pPr lvl="1"/>
            <a:r>
              <a:rPr lang="en-US" dirty="0"/>
              <a:t>Would a new team member understand the design decisions?</a:t>
            </a:r>
          </a:p>
          <a:p>
            <a:r>
              <a:rPr lang="en-US" dirty="0"/>
              <a:t>If the answer to any of these is “no” — you are creating maintenance debt that future-you will pay.</a:t>
            </a:r>
          </a:p>
          <a:p>
            <a:r>
              <a:rPr lang="en-US" dirty="0"/>
              <a:t>“It worked” is not a reason. “The AI suggested it” is not a reason. Document the actual design rationale.</a:t>
            </a:r>
          </a:p>
        </p:txBody>
      </p:sp>
      <p:sp>
        <p:nvSpPr>
          <p:cNvPr id="4" name="Slide Number Placeholder 3"/>
          <p:cNvSpPr>
            <a:spLocks noGrp="1"/>
          </p:cNvSpPr>
          <p:nvPr>
            <p:ph type="sldNum" sz="quarter" idx="12"/>
          </p:nvPr>
        </p:nvSpPr>
        <p:spPr/>
        <p:txBody>
          <a:bodyPr/>
          <a:lstStyle/>
          <a:p>
            <a:fld id="{20F37917-FD3A-4669-9018-DA04BCDD3D75}" type="slidenum">
              <a:rPr lang="en-US" smtClean="0"/>
              <a:t>36</a:t>
            </a:fld>
            <a:endParaRPr lang="en-US"/>
          </a:p>
        </p:txBody>
      </p:sp>
    </p:spTree>
    <p:extLst>
      <p:ext uri="{BB962C8B-B14F-4D97-AF65-F5344CB8AC3E}">
        <p14:creationId xmlns:p14="http://schemas.microsoft.com/office/powerpoint/2010/main" val="6642964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4A770-8D81-BFD1-9195-638C66F46B9A}"/>
              </a:ext>
            </a:extLst>
          </p:cNvPr>
          <p:cNvSpPr>
            <a:spLocks noGrp="1"/>
          </p:cNvSpPr>
          <p:nvPr>
            <p:ph type="title"/>
          </p:nvPr>
        </p:nvSpPr>
        <p:spPr/>
        <p:txBody>
          <a:bodyPr/>
          <a:lstStyle/>
          <a:p>
            <a:r>
              <a:rPr lang="en-US" dirty="0"/>
              <a:t>Use Design As a Way of Communicating Organization</a:t>
            </a:r>
          </a:p>
        </p:txBody>
      </p:sp>
      <p:sp>
        <p:nvSpPr>
          <p:cNvPr id="3" name="Content Placeholder 2">
            <a:extLst>
              <a:ext uri="{FF2B5EF4-FFF2-40B4-BE49-F238E27FC236}">
                <a16:creationId xmlns:a16="http://schemas.microsoft.com/office/drawing/2014/main" id="{20AA8411-AAE1-73CF-7E57-9F071571944D}"/>
              </a:ext>
            </a:extLst>
          </p:cNvPr>
          <p:cNvSpPr>
            <a:spLocks noGrp="1"/>
          </p:cNvSpPr>
          <p:nvPr>
            <p:ph idx="1"/>
          </p:nvPr>
        </p:nvSpPr>
        <p:spPr/>
        <p:txBody>
          <a:bodyPr/>
          <a:lstStyle/>
          <a:p>
            <a:endParaRPr lang="en-US" altLang="en-US" dirty="0"/>
          </a:p>
          <a:p>
            <a:endParaRPr lang="en-US" dirty="0"/>
          </a:p>
        </p:txBody>
      </p:sp>
      <p:sp>
        <p:nvSpPr>
          <p:cNvPr id="4" name="Slide Number Placeholder 3">
            <a:extLst>
              <a:ext uri="{FF2B5EF4-FFF2-40B4-BE49-F238E27FC236}">
                <a16:creationId xmlns:a16="http://schemas.microsoft.com/office/drawing/2014/main" id="{4BDDE8F2-E630-6077-062C-45407447F44C}"/>
              </a:ext>
            </a:extLst>
          </p:cNvPr>
          <p:cNvSpPr>
            <a:spLocks noGrp="1"/>
          </p:cNvSpPr>
          <p:nvPr>
            <p:ph type="sldNum" sz="quarter" idx="12"/>
          </p:nvPr>
        </p:nvSpPr>
        <p:spPr/>
        <p:txBody>
          <a:bodyPr/>
          <a:lstStyle/>
          <a:p>
            <a:fld id="{20F37917-FD3A-4669-9018-DA04BCDD3D75}" type="slidenum">
              <a:rPr lang="en-US" smtClean="0"/>
              <a:t>37</a:t>
            </a:fld>
            <a:endParaRPr lang="en-US"/>
          </a:p>
        </p:txBody>
      </p:sp>
      <p:sp>
        <p:nvSpPr>
          <p:cNvPr id="7" name="Rectangle 2">
            <a:extLst>
              <a:ext uri="{FF2B5EF4-FFF2-40B4-BE49-F238E27FC236}">
                <a16:creationId xmlns:a16="http://schemas.microsoft.com/office/drawing/2014/main" id="{8BBDEB92-85BE-2CDB-073B-4C6104E3F4D5}"/>
              </a:ext>
            </a:extLst>
          </p:cNvPr>
          <p:cNvSpPr txBox="1">
            <a:spLocks noChangeArrowheads="1"/>
          </p:cNvSpPr>
          <p:nvPr/>
        </p:nvSpPr>
        <p:spPr>
          <a:xfrm>
            <a:off x="990600" y="1652560"/>
            <a:ext cx="788734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US" dirty="0"/>
              <a:t>Software systems must be comprehensible by humans</a:t>
            </a:r>
          </a:p>
          <a:p>
            <a:r>
              <a:rPr lang="en-US" altLang="en-US" dirty="0"/>
              <a:t>Which humans?</a:t>
            </a:r>
          </a:p>
          <a:p>
            <a:pPr lvl="1"/>
            <a:r>
              <a:rPr lang="en-US" altLang="en-US" dirty="0"/>
              <a:t>The other members of your team</a:t>
            </a:r>
          </a:p>
          <a:p>
            <a:pPr lvl="1"/>
            <a:r>
              <a:rPr lang="en-US" altLang="en-US" dirty="0"/>
              <a:t>The folks who will maintain and modify your system</a:t>
            </a:r>
          </a:p>
          <a:p>
            <a:pPr lvl="1"/>
            <a:r>
              <a:rPr lang="en-US" altLang="en-US" dirty="0"/>
              <a:t>Management</a:t>
            </a:r>
          </a:p>
          <a:p>
            <a:pPr lvl="1"/>
            <a:r>
              <a:rPr lang="en-US" altLang="en-US" dirty="0"/>
              <a:t>Your clients</a:t>
            </a:r>
          </a:p>
          <a:p>
            <a:pPr lvl="1"/>
            <a:r>
              <a:rPr lang="en-US" altLang="en-US" dirty="0"/>
              <a:t>and ...</a:t>
            </a:r>
          </a:p>
          <a:p>
            <a:pPr lvl="1"/>
            <a:r>
              <a:rPr lang="en-US" altLang="en-US" dirty="0"/>
              <a:t>You, a week from now or 6 weeks from now</a:t>
            </a:r>
          </a:p>
          <a:p>
            <a:pPr lvl="1"/>
            <a:endParaRPr lang="en-US" altLang="en-US" dirty="0"/>
          </a:p>
        </p:txBody>
      </p:sp>
      <p:sp>
        <p:nvSpPr>
          <p:cNvPr id="6" name="TextBox 5">
            <a:extLst>
              <a:ext uri="{FF2B5EF4-FFF2-40B4-BE49-F238E27FC236}">
                <a16:creationId xmlns:a16="http://schemas.microsoft.com/office/drawing/2014/main" id="{87400E05-01E0-0D77-1701-956A4BB74959}"/>
              </a:ext>
            </a:extLst>
          </p:cNvPr>
          <p:cNvSpPr txBox="1"/>
          <p:nvPr/>
        </p:nvSpPr>
        <p:spPr>
          <a:xfrm>
            <a:off x="8725546" y="1006502"/>
            <a:ext cx="3124201" cy="1815882"/>
          </a:xfrm>
          <a:prstGeom prst="rect">
            <a:avLst/>
          </a:prstGeom>
          <a:solidFill>
            <a:schemeClr val="bg1"/>
          </a:solid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pPr algn="l"/>
            <a:r>
              <a:rPr lang="en-US" sz="2800" b="0" dirty="0">
                <a:solidFill>
                  <a:srgbClr val="AF00DB"/>
                </a:solidFill>
                <a:effectLst/>
                <a:latin typeface="Consolas" panose="020B0609020204030204" pitchFamily="49" charset="0"/>
              </a:rPr>
              <a:t>Remember this slide from Module 08 Code Level Design?</a:t>
            </a:r>
          </a:p>
        </p:txBody>
      </p:sp>
    </p:spTree>
    <p:extLst>
      <p:ext uri="{BB962C8B-B14F-4D97-AF65-F5344CB8AC3E}">
        <p14:creationId xmlns:p14="http://schemas.microsoft.com/office/powerpoint/2010/main" val="4165308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CE0A9-D49A-C9A3-4D02-BE93F3D82363}"/>
              </a:ext>
            </a:extLst>
          </p:cNvPr>
          <p:cNvSpPr>
            <a:spLocks noGrp="1"/>
          </p:cNvSpPr>
          <p:nvPr>
            <p:ph type="title"/>
          </p:nvPr>
        </p:nvSpPr>
        <p:spPr/>
        <p:txBody>
          <a:bodyPr/>
          <a:lstStyle/>
          <a:p>
            <a:r>
              <a:rPr lang="en-US" dirty="0"/>
              <a:t>The future of H/AI workflows: “Teams of agents”??</a:t>
            </a:r>
          </a:p>
        </p:txBody>
      </p:sp>
      <p:sp>
        <p:nvSpPr>
          <p:cNvPr id="3" name="Content Placeholder 2">
            <a:extLst>
              <a:ext uri="{FF2B5EF4-FFF2-40B4-BE49-F238E27FC236}">
                <a16:creationId xmlns:a16="http://schemas.microsoft.com/office/drawing/2014/main" id="{EA58A68B-D8E2-7052-7127-52886714C324}"/>
              </a:ext>
            </a:extLst>
          </p:cNvPr>
          <p:cNvSpPr>
            <a:spLocks noGrp="1"/>
          </p:cNvSpPr>
          <p:nvPr>
            <p:ph idx="1"/>
          </p:nvPr>
        </p:nvSpPr>
        <p:spPr>
          <a:xfrm>
            <a:off x="838200" y="1500160"/>
            <a:ext cx="10967720" cy="5357840"/>
          </a:xfrm>
        </p:spPr>
        <p:txBody>
          <a:bodyPr/>
          <a:lstStyle/>
          <a:p>
            <a:r>
              <a:rPr lang="en-US" dirty="0"/>
              <a:t>So far in 2026, there have been some unhinged, heavily hyped versions of having different agents with different instructions working together. (Search for “Gas Town Yegge” at your own risk)</a:t>
            </a:r>
          </a:p>
          <a:p>
            <a:r>
              <a:rPr lang="en-US" dirty="0"/>
              <a:t>One of Prof Simmons’s colleagues at Lean FRO, Kim Morrison, </a:t>
            </a:r>
            <a:br>
              <a:rPr lang="en-US" dirty="0"/>
            </a:br>
            <a:r>
              <a:rPr lang="en-US" dirty="0"/>
              <a:t>recently demoed a less unhinged version of this idea. </a:t>
            </a:r>
          </a:p>
          <a:p>
            <a:r>
              <a:rPr lang="en-US" dirty="0"/>
              <a:t>Nobody at present thinks this kind of workflow produces good software engineering — software maintainable </a:t>
            </a:r>
            <a:r>
              <a:rPr lang="en-US" i="1" dirty="0"/>
              <a:t>over time</a:t>
            </a:r>
            <a:r>
              <a:rPr lang="en-US" dirty="0"/>
              <a:t> — but it is demonstrably better at doing certain goal-oriented complex tasks (like searching for bugs in a compiler).</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7E6D50D8-E273-4596-958D-1CEA0092E672}"/>
              </a:ext>
            </a:extLst>
          </p:cNvPr>
          <p:cNvSpPr>
            <a:spLocks noGrp="1"/>
          </p:cNvSpPr>
          <p:nvPr>
            <p:ph type="sldNum" sz="quarter" idx="12"/>
          </p:nvPr>
        </p:nvSpPr>
        <p:spPr/>
        <p:txBody>
          <a:bodyPr/>
          <a:lstStyle/>
          <a:p>
            <a:fld id="{20F37917-FD3A-4669-9018-DA04BCDD3D75}" type="slidenum">
              <a:rPr lang="en-US" smtClean="0"/>
              <a:t>38</a:t>
            </a:fld>
            <a:endParaRPr lang="en-US"/>
          </a:p>
        </p:txBody>
      </p:sp>
    </p:spTree>
    <p:extLst>
      <p:ext uri="{BB962C8B-B14F-4D97-AF65-F5344CB8AC3E}">
        <p14:creationId xmlns:p14="http://schemas.microsoft.com/office/powerpoint/2010/main" val="12034497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922C6B-EDFC-20C4-8EB6-A70752B18E64}"/>
              </a:ext>
            </a:extLst>
          </p:cNvPr>
          <p:cNvSpPr>
            <a:spLocks noGrp="1"/>
          </p:cNvSpPr>
          <p:nvPr>
            <p:ph type="title"/>
          </p:nvPr>
        </p:nvSpPr>
        <p:spPr/>
        <p:txBody>
          <a:bodyPr/>
          <a:lstStyle/>
          <a:p>
            <a:r>
              <a:rPr lang="en-US" dirty="0"/>
              <a:t>4. A few words about AI traps</a:t>
            </a:r>
          </a:p>
        </p:txBody>
      </p:sp>
      <p:sp>
        <p:nvSpPr>
          <p:cNvPr id="3" name="Content Placeholder 2">
            <a:extLst>
              <a:ext uri="{FF2B5EF4-FFF2-40B4-BE49-F238E27FC236}">
                <a16:creationId xmlns:a16="http://schemas.microsoft.com/office/drawing/2014/main" id="{4FBF8BAD-DB4D-9083-C1CA-42E4FE997DE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628E6770-A7B8-FE51-E86F-5D8E4CF219A7}"/>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2982449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Trap #1: The “Vibe Coding” Trap</a:t>
            </a:r>
          </a:p>
        </p:txBody>
      </p:sp>
      <p:sp>
        <p:nvSpPr>
          <p:cNvPr id="3" name="Content Placeholder 2"/>
          <p:cNvSpPr>
            <a:spLocks noGrp="1"/>
          </p:cNvSpPr>
          <p:nvPr>
            <p:ph idx="1"/>
          </p:nvPr>
        </p:nvSpPr>
        <p:spPr/>
        <p:txBody>
          <a:bodyPr>
            <a:normAutofit fontScale="92500" lnSpcReduction="20000"/>
          </a:bodyPr>
          <a:lstStyle/>
          <a:p>
            <a:r>
              <a:rPr lang="en-US" dirty="0"/>
              <a:t>What is “vibe coding”?</a:t>
            </a:r>
          </a:p>
          <a:p>
            <a:pPr lvl="1"/>
            <a:r>
              <a:rPr lang="en-US" dirty="0"/>
              <a:t>Evaluating only execution, not code. Ask AI to implement a feature. Run the app, see if it “works.” If error, describe the error to AI and repeat. Never actually read or understand the code.</a:t>
            </a:r>
          </a:p>
          <a:p>
            <a:r>
              <a:rPr lang="en-US" dirty="0"/>
              <a:t>Why it leads to collapse:</a:t>
            </a:r>
          </a:p>
          <a:p>
            <a:pPr lvl="1"/>
            <a:r>
              <a:rPr lang="en-US" dirty="0"/>
              <a:t>No troubleshooting capability — you don’t understand what the code does</a:t>
            </a:r>
          </a:p>
          <a:p>
            <a:pPr lvl="1"/>
            <a:r>
              <a:rPr lang="en-US" dirty="0"/>
              <a:t>Can’t provide effective feedback — you can only describe symptoms, not problems</a:t>
            </a:r>
          </a:p>
          <a:p>
            <a:pPr lvl="1"/>
            <a:r>
              <a:rPr lang="en-US" dirty="0"/>
              <a:t>Brittle development — one change breaks everything and you don’t know why</a:t>
            </a:r>
          </a:p>
          <a:p>
            <a:r>
              <a:rPr lang="en-US" dirty="0"/>
              <a:t>To effectively use AI, you must be able to evaluate the code itself — not just “does it run?”</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Trap #2: AI Creates “Learning Debt” When Used Too Early</a:t>
            </a:r>
          </a:p>
        </p:txBody>
      </p:sp>
      <p:sp>
        <p:nvSpPr>
          <p:cNvPr id="3" name="Content Placeholder 2"/>
          <p:cNvSpPr>
            <a:spLocks noGrp="1"/>
          </p:cNvSpPr>
          <p:nvPr>
            <p:ph idx="1"/>
          </p:nvPr>
        </p:nvSpPr>
        <p:spPr/>
        <p:txBody>
          <a:bodyPr>
            <a:normAutofit fontScale="92500"/>
          </a:bodyPr>
          <a:lstStyle/>
          <a:p>
            <a:r>
              <a:rPr lang="en-US" b="1" dirty="0"/>
              <a:t>Path A — Learning First (recommended):</a:t>
            </a:r>
          </a:p>
          <a:p>
            <a:pPr lvl="1"/>
            <a:r>
              <a:rPr lang="en-US" dirty="0"/>
              <a:t>Manual coding, mistakes, understanding errors, building mental models. Slower at first.</a:t>
            </a:r>
          </a:p>
          <a:p>
            <a:pPr lvl="1"/>
            <a:r>
              <a:rPr lang="en-US" dirty="0"/>
              <a:t>When you eventually use AI, you can evaluate and guide it effectively.</a:t>
            </a:r>
          </a:p>
          <a:p>
            <a:pPr lvl="1"/>
            <a:r>
              <a:rPr lang="en-US" dirty="0"/>
              <a:t>Solid foundation that supports long-term productivity growth.</a:t>
            </a:r>
          </a:p>
          <a:p>
            <a:r>
              <a:rPr lang="en-US" b="1" dirty="0"/>
              <a:t>Path B — AI First:</a:t>
            </a:r>
          </a:p>
          <a:p>
            <a:pPr lvl="1"/>
            <a:r>
              <a:rPr lang="en-US" dirty="0"/>
              <a:t>Fast initial progress. But you never learn WHY the code works.</a:t>
            </a:r>
          </a:p>
          <a:p>
            <a:pPr lvl="1"/>
            <a:r>
              <a:rPr lang="en-US" dirty="0"/>
              <a:t>When complex bugs hit, you’re stuck — you can’t even describe the problem to AI effectively.</a:t>
            </a:r>
          </a:p>
          <a:p>
            <a:pPr lvl="1"/>
            <a:r>
              <a:rPr lang="en-US" dirty="0"/>
              <a:t>Productivity collapses and never recovers to Path A levels.</a:t>
            </a:r>
          </a:p>
        </p:txBody>
      </p:sp>
      <p:sp>
        <p:nvSpPr>
          <p:cNvPr id="4" name="Slide Number Placeholder 3"/>
          <p:cNvSpPr>
            <a:spLocks noGrp="1"/>
          </p:cNvSpPr>
          <p:nvPr>
            <p:ph type="sldNum" sz="quarter" idx="12"/>
          </p:nvPr>
        </p:nvSpPr>
        <p:spPr/>
        <p:txBody>
          <a:bodyPr/>
          <a:lstStyle/>
          <a:p>
            <a:fld id="{20F37917-FD3A-4669-9018-DA04BCDD3D75}" type="slidenum">
              <a:rPr lang="en-US" smtClean="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4D5D3-62C7-FC3A-5BF2-3B8E08DDA091}"/>
              </a:ext>
            </a:extLst>
          </p:cNvPr>
          <p:cNvSpPr>
            <a:spLocks noGrp="1"/>
          </p:cNvSpPr>
          <p:nvPr>
            <p:ph type="title"/>
          </p:nvPr>
        </p:nvSpPr>
        <p:spPr/>
        <p:txBody>
          <a:bodyPr/>
          <a:lstStyle/>
          <a:p>
            <a:r>
              <a:rPr lang="en-US" dirty="0"/>
              <a:t>A "learning-tax" strategy can help mitigate deskilling.</a:t>
            </a:r>
          </a:p>
        </p:txBody>
      </p:sp>
      <p:sp>
        <p:nvSpPr>
          <p:cNvPr id="3" name="Content Placeholder 2">
            <a:extLst>
              <a:ext uri="{FF2B5EF4-FFF2-40B4-BE49-F238E27FC236}">
                <a16:creationId xmlns:a16="http://schemas.microsoft.com/office/drawing/2014/main" id="{391A5C37-C6EC-6BD1-ED22-C0F09F2537F6}"/>
              </a:ext>
            </a:extLst>
          </p:cNvPr>
          <p:cNvSpPr>
            <a:spLocks noGrp="1"/>
          </p:cNvSpPr>
          <p:nvPr>
            <p:ph idx="1"/>
          </p:nvPr>
        </p:nvSpPr>
        <p:spPr/>
        <p:txBody>
          <a:bodyPr/>
          <a:lstStyle/>
          <a:p>
            <a:r>
              <a:rPr lang="en-US" dirty="0"/>
              <a:t>Adopt a “learning tax” strategy: deliberately choose to implement certain components manually, even when AI could generate them instantly.</a:t>
            </a:r>
          </a:p>
          <a:p>
            <a:r>
              <a:rPr lang="en-US" dirty="0"/>
              <a:t>Otherwise you won't recognize when the AI is screwing up!</a:t>
            </a:r>
          </a:p>
          <a:p>
            <a:r>
              <a:rPr lang="en-US" dirty="0"/>
              <a:t>The goal isn’t to code without AI or to use it for everything, but to maintain the expertise that makes you irreplaceable—the judgment, creativity, and deep understanding that transforms good code into great software. (--Jon Bell)</a:t>
            </a:r>
          </a:p>
        </p:txBody>
      </p:sp>
      <p:sp>
        <p:nvSpPr>
          <p:cNvPr id="4" name="Slide Number Placeholder 3">
            <a:extLst>
              <a:ext uri="{FF2B5EF4-FFF2-40B4-BE49-F238E27FC236}">
                <a16:creationId xmlns:a16="http://schemas.microsoft.com/office/drawing/2014/main" id="{B5A705CD-F17C-2935-2551-EF05FC294324}"/>
              </a:ext>
            </a:extLst>
          </p:cNvPr>
          <p:cNvSpPr>
            <a:spLocks noGrp="1"/>
          </p:cNvSpPr>
          <p:nvPr>
            <p:ph type="sldNum" sz="quarter" idx="12"/>
          </p:nvPr>
        </p:nvSpPr>
        <p:spPr/>
        <p:txBody>
          <a:bodyPr/>
          <a:lstStyle/>
          <a:p>
            <a:fld id="{20F37917-FD3A-4669-9018-DA04BCDD3D75}" type="slidenum">
              <a:rPr lang="en-US" smtClean="0"/>
              <a:t>42</a:t>
            </a:fld>
            <a:endParaRPr lang="en-US"/>
          </a:p>
        </p:txBody>
      </p:sp>
    </p:spTree>
    <p:extLst>
      <p:ext uri="{BB962C8B-B14F-4D97-AF65-F5344CB8AC3E}">
        <p14:creationId xmlns:p14="http://schemas.microsoft.com/office/powerpoint/2010/main" val="8022331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60B93-B575-16F1-5E75-325BAAF66E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398664-2689-622F-AD44-D45B83E78EB7}"/>
              </a:ext>
            </a:extLst>
          </p:cNvPr>
          <p:cNvSpPr>
            <a:spLocks noGrp="1"/>
          </p:cNvSpPr>
          <p:nvPr>
            <p:ph type="title"/>
          </p:nvPr>
        </p:nvSpPr>
        <p:spPr/>
        <p:txBody>
          <a:bodyPr/>
          <a:lstStyle/>
          <a:p>
            <a:r>
              <a:rPr lang="en-US" dirty="0"/>
              <a:t>Review: </a:t>
            </a:r>
            <a:r>
              <a:rPr lang="en-US"/>
              <a:t>Our outline</a:t>
            </a:r>
            <a:endParaRPr lang="en-US" dirty="0"/>
          </a:p>
        </p:txBody>
      </p:sp>
      <p:sp>
        <p:nvSpPr>
          <p:cNvPr id="3" name="Content Placeholder 2">
            <a:extLst>
              <a:ext uri="{FF2B5EF4-FFF2-40B4-BE49-F238E27FC236}">
                <a16:creationId xmlns:a16="http://schemas.microsoft.com/office/drawing/2014/main" id="{DB953178-2B6F-6821-B321-A9FCC03CA5B2}"/>
              </a:ext>
            </a:extLst>
          </p:cNvPr>
          <p:cNvSpPr>
            <a:spLocks noGrp="1"/>
          </p:cNvSpPr>
          <p:nvPr>
            <p:ph idx="1"/>
          </p:nvPr>
        </p:nvSpPr>
        <p:spPr/>
        <p:txBody>
          <a:bodyPr>
            <a:normAutofit/>
          </a:bodyPr>
          <a:lstStyle/>
          <a:p>
            <a:pPr marL="514350" indent="-514350">
              <a:buFont typeface="+mj-lt"/>
              <a:buAutoNum type="arabicPeriod"/>
            </a:pPr>
            <a:r>
              <a:rPr lang="en-US" dirty="0"/>
              <a:t>What is an LLM? What is an AI Coding Assistant? Why is context so important?</a:t>
            </a:r>
          </a:p>
          <a:p>
            <a:pPr marL="514350" indent="-514350">
              <a:buFont typeface="+mj-lt"/>
              <a:buAutoNum type="arabicPeriod"/>
            </a:pPr>
            <a:r>
              <a:rPr lang="en-US" dirty="0"/>
              <a:t>A 4-Step Pattern for Human-AI Workflow</a:t>
            </a:r>
          </a:p>
          <a:p>
            <a:pPr marL="971550" lvl="1" indent="-514350">
              <a:buFont typeface="+mj-lt"/>
              <a:buAutoNum type="arabicPeriod"/>
            </a:pPr>
            <a:r>
              <a:rPr lang="en-US" dirty="0"/>
              <a:t>Prompt</a:t>
            </a:r>
          </a:p>
          <a:p>
            <a:pPr marL="971550" lvl="1" indent="-514350">
              <a:buFont typeface="+mj-lt"/>
              <a:buAutoNum type="arabicPeriod"/>
            </a:pPr>
            <a:r>
              <a:rPr lang="en-US" dirty="0"/>
              <a:t>Plan</a:t>
            </a:r>
          </a:p>
          <a:p>
            <a:pPr marL="971550" lvl="1" indent="-514350">
              <a:buFont typeface="+mj-lt"/>
              <a:buAutoNum type="arabicPeriod"/>
            </a:pPr>
            <a:r>
              <a:rPr lang="en-US" dirty="0"/>
              <a:t>Engage &amp; Evaluate</a:t>
            </a:r>
          </a:p>
          <a:p>
            <a:pPr marL="971550" lvl="1" indent="-514350">
              <a:buFont typeface="+mj-lt"/>
              <a:buAutoNum type="arabicPeriod"/>
            </a:pPr>
            <a:r>
              <a:rPr lang="en-US" dirty="0"/>
              <a:t>Finalize &amp; Document</a:t>
            </a:r>
          </a:p>
          <a:p>
            <a:pPr marL="514350" indent="-514350">
              <a:buFont typeface="+mj-lt"/>
              <a:buAutoNum type="arabicPeriod"/>
            </a:pPr>
            <a:r>
              <a:rPr lang="en-US" dirty="0"/>
              <a:t>A Few Words about AI traps</a:t>
            </a:r>
          </a:p>
          <a:p>
            <a:pPr marL="971550" lvl="1" indent="-514350">
              <a:buFont typeface="+mj-lt"/>
              <a:buAutoNum type="arabicPeriod"/>
            </a:pPr>
            <a:endParaRPr lang="en-US" dirty="0"/>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07A649C4-3647-088E-0BE1-1EF7EAB97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799735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ctr">
          <a:defRPr sz="24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C0112DC-710E-4100-A833-EC0FD2217761}">
  <we:reference id="wa200010001" version="1.0.0.1" store="en-US" storeType="OMEX"/>
  <we:alternateReferences>
    <we:reference id="WA200010001" version="1.0.0.1" store="WA200010001" storeType="OMEX"/>
  </we:alternateReferences>
  <we:properties/>
  <we:bindings/>
  <we:snapshot xmlns:r="http://schemas.openxmlformats.org/officeDocument/2006/relationships"/>
</we:webextension>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16355</TotalTime>
  <Words>3929</Words>
  <Application>Microsoft Office PowerPoint</Application>
  <PresentationFormat>Widescreen</PresentationFormat>
  <Paragraphs>448</Paragraphs>
  <Slides>43</Slides>
  <Notes>27</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43</vt:i4>
      </vt:variant>
    </vt:vector>
  </HeadingPairs>
  <TitlesOfParts>
    <vt:vector size="50" baseType="lpstr">
      <vt:lpstr>Consolas</vt:lpstr>
      <vt:lpstr>Arial</vt:lpstr>
      <vt:lpstr>Helvetica Neue</vt:lpstr>
      <vt:lpstr>Verdana</vt:lpstr>
      <vt:lpstr>Courier New</vt:lpstr>
      <vt:lpstr>Calibri</vt:lpstr>
      <vt:lpstr>Office Theme</vt:lpstr>
      <vt:lpstr>CS 4530: Fundamentals of Software Engineering Module 16: Coding With AI Agents</vt:lpstr>
      <vt:lpstr>This Is Just the Beginning of Our Conversation</vt:lpstr>
      <vt:lpstr>Outline</vt:lpstr>
      <vt:lpstr>Our Slogan:</vt:lpstr>
      <vt:lpstr>What is a Large Language Model (LLM?)</vt:lpstr>
      <vt:lpstr>Why this matters</vt:lpstr>
      <vt:lpstr>What is an AI Coding Assistant?</vt:lpstr>
      <vt:lpstr>AI Coding Assistants: Strengths</vt:lpstr>
      <vt:lpstr>AI Coding Assistants: Limitations</vt:lpstr>
      <vt:lpstr>But An LLM Can't Find Everything</vt:lpstr>
      <vt:lpstr>A 4-Step Workflow for Human-AI Interaction</vt:lpstr>
      <vt:lpstr>A 4-Step Workflow for Human-AI Interaction</vt:lpstr>
      <vt:lpstr>Prompt: Give the AI the context it needs  to do its job</vt:lpstr>
      <vt:lpstr>Prompts can have different scopes</vt:lpstr>
      <vt:lpstr>Project Constraint Prompts</vt:lpstr>
      <vt:lpstr>Architecture Constraint Prompts</vt:lpstr>
      <vt:lpstr>Task Prompts</vt:lpstr>
      <vt:lpstr>      Task Prompts should have testable Success and Failure Criteria</vt:lpstr>
      <vt:lpstr>Task Prompt: Goal</vt:lpstr>
      <vt:lpstr>Task Prompt: Format</vt:lpstr>
      <vt:lpstr>How much prompting you need to provide depends on three things:</vt:lpstr>
      <vt:lpstr>Prompting Myths That Don’t Actually Help</vt:lpstr>
      <vt:lpstr>A 4-Step Workflow for Human-AI Interaction</vt:lpstr>
      <vt:lpstr>Step 2: Generate a plan first.</vt:lpstr>
      <vt:lpstr>The plan is your blueprint</vt:lpstr>
      <vt:lpstr>Remember that you need a definition of done.</vt:lpstr>
      <vt:lpstr>If you can't evaluate the AI output, maybe you shouldn't be using so much AI (Just sayin')</vt:lpstr>
      <vt:lpstr>When should I use AI?  Task familiarity determines appropriateness</vt:lpstr>
      <vt:lpstr>A 4-Step Workflow for Human-AI Interaction</vt:lpstr>
      <vt:lpstr>Step 3: Engage &amp; Evaluate</vt:lpstr>
      <vt:lpstr>Calibration and Tweaking</vt:lpstr>
      <vt:lpstr>Another kind of engagement: Making sure the AI obeys the constraints</vt:lpstr>
      <vt:lpstr>Step 3, cont'd: Evaluate</vt:lpstr>
      <vt:lpstr>You probably need a plan to do the evaluation</vt:lpstr>
      <vt:lpstr>A 4-Step Workflow for Human-AI Interaction</vt:lpstr>
      <vt:lpstr>Finalizing</vt:lpstr>
      <vt:lpstr>Use Design As a Way of Communicating Organization</vt:lpstr>
      <vt:lpstr>The future of H/AI workflows: “Teams of agents”??</vt:lpstr>
      <vt:lpstr>4. A few words about AI traps</vt:lpstr>
      <vt:lpstr>Trap #1: The “Vibe Coding” Trap</vt:lpstr>
      <vt:lpstr>Trap #2: AI Creates “Learning Debt” When Used Too Early</vt:lpstr>
      <vt:lpstr>A "learning-tax" strategy can help mitigate deskilling.</vt:lpstr>
      <vt:lpstr>Review: Our outline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6.1: Software Development Processes</dc:title>
  <dc:creator>Mitchell Wand</dc:creator>
  <cp:lastModifiedBy>Mitchell Wand</cp:lastModifiedBy>
  <cp:revision>234</cp:revision>
  <dcterms:created xsi:type="dcterms:W3CDTF">2021-01-07T15:19:22Z</dcterms:created>
  <dcterms:modified xsi:type="dcterms:W3CDTF">2026-04-05T20:34:01Z</dcterms:modified>
</cp:coreProperties>
</file>