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485" r:id="rId2"/>
    <p:sldId id="630" r:id="rId3"/>
    <p:sldId id="680" r:id="rId4"/>
    <p:sldId id="579" r:id="rId5"/>
    <p:sldId id="653" r:id="rId6"/>
    <p:sldId id="677" r:id="rId7"/>
    <p:sldId id="666" r:id="rId8"/>
    <p:sldId id="583" r:id="rId9"/>
    <p:sldId id="682" r:id="rId10"/>
    <p:sldId id="679" r:id="rId11"/>
    <p:sldId id="668" r:id="rId12"/>
    <p:sldId id="669" r:id="rId13"/>
    <p:sldId id="683" r:id="rId14"/>
    <p:sldId id="685" r:id="rId15"/>
    <p:sldId id="672" r:id="rId16"/>
    <p:sldId id="674" r:id="rId17"/>
    <p:sldId id="675" r:id="rId18"/>
    <p:sldId id="681" r:id="rId19"/>
    <p:sldId id="676" r:id="rId20"/>
  </p:sldIdLst>
  <p:sldSz cx="12192000" cy="6858000"/>
  <p:notesSz cx="6858000" cy="9144000"/>
  <p:embeddedFontLst>
    <p:embeddedFont>
      <p:font typeface="Consolas" panose="020B0609020204030204" pitchFamily="49" charset="0"/>
      <p:regular r:id="rId22"/>
      <p:bold r:id="rId23"/>
      <p:italic r:id="rId24"/>
      <p:boldItalic r:id="rId25"/>
    </p:embeddedFont>
    <p:embeddedFont>
      <p:font typeface="Verdana" panose="020B0604030504040204" pitchFamily="34" charset="0"/>
      <p:regular r:id="rId26"/>
      <p:bold r:id="rId27"/>
      <p:italic r:id="rId28"/>
      <p:boldItalic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30"/>
            <p14:sldId id="680"/>
            <p14:sldId id="579"/>
            <p14:sldId id="653"/>
            <p14:sldId id="677"/>
            <p14:sldId id="666"/>
            <p14:sldId id="583"/>
            <p14:sldId id="682"/>
            <p14:sldId id="679"/>
            <p14:sldId id="668"/>
            <p14:sldId id="669"/>
            <p14:sldId id="683"/>
            <p14:sldId id="685"/>
            <p14:sldId id="672"/>
            <p14:sldId id="674"/>
            <p14:sldId id="675"/>
            <p14:sldId id="681"/>
            <p14:sldId id="676"/>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78548" autoAdjust="0"/>
  </p:normalViewPr>
  <p:slideViewPr>
    <p:cSldViewPr snapToGrid="0">
      <p:cViewPr varScale="1">
        <p:scale>
          <a:sx n="109" d="100"/>
          <a:sy n="109" d="100"/>
        </p:scale>
        <p:origin x="216" y="52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key question of this lecture is: when have I written enough tests?</a:t>
            </a:r>
          </a:p>
          <a:p>
            <a:endParaRPr lang="en-US" dirty="0"/>
          </a:p>
          <a:p>
            <a:r>
              <a:rPr lang="en-US" dirty="0"/>
              <a:t>We’re going to answer this question in three different ways</a:t>
            </a:r>
          </a:p>
        </p:txBody>
      </p:sp>
    </p:spTree>
    <p:extLst>
      <p:ext uri="{BB962C8B-B14F-4D97-AF65-F5344CB8AC3E}">
        <p14:creationId xmlns:p14="http://schemas.microsoft.com/office/powerpoint/2010/main" val="2435961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motivates some more discussion of TypeScript.</a:t>
            </a:r>
          </a:p>
          <a:p>
            <a:endParaRPr lang="en-US" dirty="0"/>
          </a:p>
          <a:p>
            <a:r>
              <a:rPr lang="en-US" dirty="0"/>
              <a:t>The second answer is based on code coverage, a very common metric of test adequacy in modern software engineering.</a:t>
            </a:r>
          </a:p>
          <a:p>
            <a:endParaRPr lang="en-US" dirty="0"/>
          </a:p>
          <a:p>
            <a:r>
              <a:rPr lang="en-US" dirty="0"/>
              <a:t>The third answer is probably the most compelling: we’ve written enough tests when the tests will catch bugs!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5021-3CA2-6D6D-0AF1-7FEE237718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8E98A6-CC49-7C9B-6554-082FEC5FD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2B779-AA7F-56AE-126B-D02E9917C299}"/>
              </a:ext>
            </a:extLst>
          </p:cNvPr>
          <p:cNvSpPr>
            <a:spLocks noGrp="1"/>
          </p:cNvSpPr>
          <p:nvPr>
            <p:ph type="body" idx="1"/>
          </p:nvPr>
        </p:nvSpPr>
        <p:spPr/>
        <p:txBody>
          <a:bodyPr/>
          <a:lstStyle/>
          <a:p>
            <a:r>
              <a:rPr lang="en-US" dirty="0"/>
              <a:t>This is something we’ll return to later, but the answer to “which inputs should we test” is that we don’t need to test this function with -3 or null.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a:p>
            <a:endParaRPr lang="en-US" dirty="0"/>
          </a:p>
        </p:txBody>
      </p:sp>
      <p:sp>
        <p:nvSpPr>
          <p:cNvPr id="4" name="Slide Number Placeholder 3">
            <a:extLst>
              <a:ext uri="{FF2B5EF4-FFF2-40B4-BE49-F238E27FC236}">
                <a16:creationId xmlns:a16="http://schemas.microsoft.com/office/drawing/2014/main" id="{E5DB4872-4723-D3D0-0A11-CB70DA990E54}"/>
              </a:ext>
            </a:extLst>
          </p:cNvPr>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85188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A digression: here’s a more “real” version of our example, a piece of code from the project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Having contracts checked by code is, generally, good! TypeScript helps us check some of our contracts, but obviously we may have preconditions that aren’t expressible in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There’s an important caveat, however!</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CB425-B43A-7680-97E7-564D28D69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4EBA1-E6E5-5512-37D0-2337A7075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EF7EE-97FD-33CC-2BB5-43CA86B79B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That’s not true about TypeScript</a:t>
            </a:r>
          </a:p>
        </p:txBody>
      </p:sp>
      <p:sp>
        <p:nvSpPr>
          <p:cNvPr id="4" name="Slide Number Placeholder 3">
            <a:extLst>
              <a:ext uri="{FF2B5EF4-FFF2-40B4-BE49-F238E27FC236}">
                <a16:creationId xmlns:a16="http://schemas.microsoft.com/office/drawing/2014/main" id="{21426478-8011-8E27-F7FB-E1E4C9016FF2}"/>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4769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Node will run code even if TypeScript says it’s bad!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But it’s even worse: no matter how picky you make TypeScript, it can be pretty easily convinced to ignore obvious type errors, such as this one.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r>
              <a:rPr lang="en-US" i="0" dirty="0"/>
              <a:t> </a:t>
            </a:r>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3EC9-518D-FCC5-8EA1-DF2CBD86FC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60EE71-F33A-9E02-9F5B-B57A0D8E22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278113-69A9-D728-08C2-E94BC0154DC5}"/>
              </a:ext>
            </a:extLst>
          </p:cNvPr>
          <p:cNvSpPr>
            <a:spLocks noGrp="1"/>
          </p:cNvSpPr>
          <p:nvPr>
            <p:ph type="body" idx="1"/>
          </p:nvPr>
        </p:nvSpPr>
        <p:spPr/>
        <p:txBody>
          <a:bodyPr/>
          <a:lstStyle/>
          <a:p>
            <a:r>
              <a:rPr lang="en-US" dirty="0"/>
              <a:t>This was just about shortest code I could come up with to use straightforwardly use TypeScript to reliably take an unknown piece of data and get record with a string username and a string password. It’s not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TypeScript makes us do all the work ourselves if we want to check that a value actually matches the structure that its type suggests. This is difficult and error-prone in practice.</a:t>
            </a:r>
          </a:p>
          <a:p>
            <a:endParaRPr lang="en-US" dirty="0"/>
          </a:p>
        </p:txBody>
      </p:sp>
      <p:sp>
        <p:nvSpPr>
          <p:cNvPr id="4" name="Slide Number Placeholder 3">
            <a:extLst>
              <a:ext uri="{FF2B5EF4-FFF2-40B4-BE49-F238E27FC236}">
                <a16:creationId xmlns:a16="http://schemas.microsoft.com/office/drawing/2014/main" id="{7E75EFEE-7794-7F1D-D7BF-9A22FC8EC87D}"/>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185626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D96-3CD3-280F-36D5-3ED18849A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1933A-9CFB-22E0-EA2A-484486C8E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D6D758-614F-2E85-5E06-30093C54F245}"/>
              </a:ext>
            </a:extLst>
          </p:cNvPr>
          <p:cNvSpPr>
            <a:spLocks noGrp="1"/>
          </p:cNvSpPr>
          <p:nvPr>
            <p:ph type="body" idx="1"/>
          </p:nvPr>
        </p:nvSpPr>
        <p:spPr/>
        <p:txBody>
          <a:bodyPr/>
          <a:lstStyle/>
          <a:p>
            <a:r>
              <a:rPr lang="en-US" i="1" dirty="0"/>
              <a:t>Zod</a:t>
            </a:r>
            <a:r>
              <a:rPr lang="en-US" dirty="0"/>
              <a:t> is a library that makes our job easier — we can create Zod representations of the TypeScript types,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A4259CBB-0374-5EC3-CBD4-9F91A3973FED}"/>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924652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The third line where we “use” </a:t>
            </a:r>
            <a:r>
              <a:rPr lang="en-US" dirty="0" err="1"/>
              <a:t>express.json</a:t>
            </a:r>
            <a:r>
              <a:rPr lang="en-US" dirty="0"/>
              <a:t>() covers an enormous amount of validation — it ensures that our web server will only respond to specific requests that send JSON data (we’ll be using JSON data a lot in the class, there’s an article about it in the resources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 It’s would have been better design for express to treat </a:t>
            </a:r>
            <a:r>
              <a:rPr lang="en-US" dirty="0" err="1"/>
              <a:t>req.body</a:t>
            </a:r>
            <a:r>
              <a:rPr lang="en-US" dirty="0"/>
              <a:t> as 'unknown’.</a:t>
            </a:r>
          </a:p>
          <a:p>
            <a:endParaRPr lang="en-US" dirty="0"/>
          </a:p>
          <a:p>
            <a:r>
              <a:rPr lang="en-US" dirty="0"/>
              <a:t>(History: the unknown type was only added to TypeScript in 2018, and the TypeScript spec for express dates back to at least 2012 — https://</a:t>
            </a:r>
            <a:r>
              <a:rPr lang="en-US" dirty="0" err="1"/>
              <a:t>github.com</a:t>
            </a:r>
            <a:r>
              <a:rPr lang="en-US" dirty="0"/>
              <a:t>/</a:t>
            </a:r>
            <a:r>
              <a:rPr lang="en-US" dirty="0" err="1"/>
              <a:t>DefinitelyTyped</a:t>
            </a:r>
            <a:r>
              <a:rPr lang="en-US" dirty="0"/>
              <a:t>/</a:t>
            </a:r>
            <a:r>
              <a:rPr lang="en-US" dirty="0" err="1"/>
              <a:t>DefinitelyTyped</a:t>
            </a:r>
            <a:r>
              <a:rPr lang="en-US" dirty="0"/>
              <a:t>/commit/a6f2316773e0456d947381afb7683a7ac6548e24 , specifically. So express uses the any type as another artifact of maintaining software over time.)</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try to invoke the </a:t>
            </a:r>
            <a:r>
              <a:rPr lang="en-US" dirty="0" err="1"/>
              <a:t>toUpperCase</a:t>
            </a:r>
            <a:r>
              <a:rPr lang="en-US" dirty="0"/>
              <a:t> method of the numeric value 4, but JavaScript numbers don’t have </a:t>
            </a:r>
            <a:r>
              <a:rPr lang="en-US" dirty="0" err="1"/>
              <a:t>toUpperCase</a:t>
            </a:r>
            <a:r>
              <a:rPr lang="en-US" dirty="0"/>
              <a:t> methods — only strings do!</a:t>
            </a:r>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374E-9BDA-A981-EAF7-818A369DCC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73DF6-DC1E-6914-C403-E775206BDA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BCCC5A-2DF7-ED6C-9A27-733DA812AB05}"/>
              </a:ext>
            </a:extLst>
          </p:cNvPr>
          <p:cNvSpPr>
            <a:spLocks noGrp="1"/>
          </p:cNvSpPr>
          <p:nvPr>
            <p:ph type="body" idx="1"/>
          </p:nvPr>
        </p:nvSpPr>
        <p:spPr/>
        <p:txBody>
          <a:bodyPr/>
          <a:lstStyle/>
          <a:p>
            <a:r>
              <a:rPr lang="en-US" dirty="0"/>
              <a:t>Coming back around to the initial example, if we had to write </a:t>
            </a:r>
            <a:r>
              <a:rPr lang="en-US" dirty="0" err="1"/>
              <a:t>helloNTimes</a:t>
            </a:r>
            <a:r>
              <a:rPr lang="en-US" dirty="0"/>
              <a:t> to take untrusted inputs with the unknown type, we could use Zod to check that the input is not only a JavaScript number, but that it’s an integer greater than are equal to zero. This changes the function’s contract: both the TypeScript and the </a:t>
            </a:r>
            <a:r>
              <a:rPr lang="en-US" dirty="0" err="1"/>
              <a:t>JavaDoc</a:t>
            </a:r>
            <a:r>
              <a:rPr lang="en-US" dirty="0"/>
              <a:t> allow weird inputs to the function, with the specification that this will cause the function to throw </a:t>
            </a:r>
            <a:r>
              <a:rPr lang="en-US"/>
              <a:t>an error.</a:t>
            </a:r>
            <a:endParaRPr lang="en-US" dirty="0"/>
          </a:p>
        </p:txBody>
      </p:sp>
      <p:sp>
        <p:nvSpPr>
          <p:cNvPr id="4" name="Slide Number Placeholder 3">
            <a:extLst>
              <a:ext uri="{FF2B5EF4-FFF2-40B4-BE49-F238E27FC236}">
                <a16:creationId xmlns:a16="http://schemas.microsoft.com/office/drawing/2014/main" id="{A715753A-6BA7-C4D5-11F0-E4344BF2732C}"/>
              </a:ext>
            </a:extLst>
          </p:cNvPr>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12981467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3597398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b="1" dirty="0"/>
              <a:t>When I’ve tested the valid inputs</a:t>
            </a:r>
          </a:p>
          <a:p>
            <a:r>
              <a:rPr lang="en-US" dirty="0"/>
              <a:t>When I’ve tested all the code</a:t>
            </a:r>
          </a:p>
          <a:p>
            <a:r>
              <a:rPr lang="en-US"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563959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t> vs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r>
              <a:rPr lang="en-US" dirty="0"/>
              <a:t> types in TypeScript</a:t>
            </a:r>
          </a:p>
          <a:p>
            <a:pPr lvl="1"/>
            <a:r>
              <a:rPr lang="en-US" dirty="0"/>
              <a:t>Understand the structure of a simple Express server incorporating Zod validation</a:t>
            </a:r>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sz="2000" dirty="0">
                <a:solidFill>
                  <a:srgbClr val="008000"/>
                </a:solidFill>
                <a:latin typeface="Consolas" panose="020B0609020204030204" pitchFamily="49" charset="0"/>
                <a:cs typeface="Consolas" panose="020B0609020204030204" pitchFamily="49" charset="0"/>
              </a:rPr>
              <a:t>Returns an array that repeats</a:t>
            </a:r>
            <a:r>
              <a:rPr lang="en-US" sz="2000" b="0" dirty="0">
                <a:solidFill>
                  <a:srgbClr val="008000"/>
                </a:solidFill>
                <a:effectLst/>
                <a:latin typeface="Consolas" panose="020B0609020204030204" pitchFamily="49" charset="0"/>
                <a:cs typeface="Consolas" panose="020B0609020204030204" pitchFamily="49" charset="0"/>
              </a:rPr>
              <a:t> "hello"</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a:t>
            </a:r>
            <a:r>
              <a:rPr lang="en-US" sz="2000" b="0" dirty="0" err="1">
                <a:solidFill>
                  <a:srgbClr val="008000"/>
                </a:solidFill>
                <a:effectLst/>
                <a:latin typeface="Consolas" panose="020B0609020204030204" pitchFamily="49" charset="0"/>
                <a:cs typeface="Consolas" panose="020B0609020204030204" pitchFamily="49" charset="0"/>
              </a:rPr>
              <a:t>hello”s</a:t>
            </a:r>
            <a:r>
              <a:rPr lang="en-US" sz="2000" b="0" dirty="0">
                <a:solidFill>
                  <a:srgbClr val="008000"/>
                </a:solidFill>
                <a:effectLst/>
                <a:latin typeface="Consolas" panose="020B0609020204030204" pitchFamily="49" charset="0"/>
                <a:cs typeface="Consolas" panose="020B0609020204030204" pitchFamily="49" charset="0"/>
              </a:rPr>
              <a:t> to return, 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b="0" dirty="0">
                <a:solidFill>
                  <a:srgbClr val="3B3B3B"/>
                </a:solidFill>
                <a:effectLst/>
                <a:latin typeface="Consolas" panose="020B0609020204030204" pitchFamily="49" charset="0"/>
                <a:cs typeface="Consolas" panose="020B0609020204030204" pitchFamily="49" charset="0"/>
              </a:rPr>
              <a:t> {</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arr.</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b="0" dirty="0">
                <a:solidFill>
                  <a:srgbClr val="3B3B3B"/>
                </a:solidFill>
                <a:effectLst/>
                <a:latin typeface="Consolas" panose="020B0609020204030204" pitchFamily="49" charset="0"/>
                <a:cs typeface="Consolas" panose="020B0609020204030204" pitchFamily="49" charset="0"/>
              </a:rPr>
              <a:t>}</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4475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B0ED1-8A3F-5F48-0DE9-A50048F8D4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F50B1-AD48-87E8-00D9-01D2F21FB0A3}"/>
              </a:ext>
            </a:extLst>
          </p:cNvPr>
          <p:cNvSpPr>
            <a:spLocks noGrp="1"/>
          </p:cNvSpPr>
          <p:nvPr>
            <p:ph type="title"/>
          </p:nvPr>
        </p:nvSpPr>
        <p:spPr>
          <a:xfrm>
            <a:off x="838200" y="18255"/>
            <a:ext cx="10515600" cy="1325563"/>
          </a:xfrm>
        </p:spPr>
        <p:txBody>
          <a:bodyPr>
            <a:normAutofit/>
          </a:bodyPr>
          <a:lstStyle/>
          <a:p>
            <a:r>
              <a:rPr lang="en-US" dirty="0"/>
              <a:t>For Unit Testing, Tests Inputs Should Respect a Function’s Contracts</a:t>
            </a:r>
          </a:p>
        </p:txBody>
      </p:sp>
      <p:sp>
        <p:nvSpPr>
          <p:cNvPr id="3" name="Content Placeholder 2">
            <a:extLst>
              <a:ext uri="{FF2B5EF4-FFF2-40B4-BE49-F238E27FC236}">
                <a16:creationId xmlns:a16="http://schemas.microsoft.com/office/drawing/2014/main" id="{E78D7B6A-C82F-32C2-BC2C-9AEC1DC4F893}"/>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a:t>
            </a:r>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613728FD-54AD-0E30-7DA2-44DC837507E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5" name="TextBox 4">
            <a:extLst>
              <a:ext uri="{FF2B5EF4-FFF2-40B4-BE49-F238E27FC236}">
                <a16:creationId xmlns:a16="http://schemas.microsoft.com/office/drawing/2014/main" id="{BA1A8473-3649-56E6-6F85-4BD163021EB6}"/>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205123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addMessageToChat</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UserWithId</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ChatInfo</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7</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TypeScript Types Help With (Some) Contracts</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is helpful, but it’s obviously only providing help in making sure that the function gets </a:t>
            </a:r>
            <a:r>
              <a:rPr lang="en-US" dirty="0">
                <a:solidFill>
                  <a:srgbClr val="0070C0"/>
                </a:solidFill>
                <a:latin typeface="Consolas" panose="020B0609020204030204" pitchFamily="49" charset="0"/>
                <a:cs typeface="Consolas" panose="020B0609020204030204" pitchFamily="49" charset="0"/>
              </a:rPr>
              <a:t>3</a:t>
            </a:r>
            <a:r>
              <a:rPr lang="en-US" dirty="0"/>
              <a:t> and not </a:t>
            </a:r>
            <a:r>
              <a:rPr lang="en-US" dirty="0">
                <a:solidFill>
                  <a:srgbClr val="C00000"/>
                </a:solidFill>
                <a:latin typeface="Consolas" panose="020B0609020204030204" pitchFamily="49" charset="0"/>
                <a:cs typeface="Consolas" panose="020B0609020204030204" pitchFamily="49" charset="0"/>
              </a:rPr>
              <a:t>“three”</a:t>
            </a:r>
            <a:r>
              <a:rPr lang="en-US" dirty="0"/>
              <a:t>. It’s not going to help with </a:t>
            </a:r>
            <a:r>
              <a:rPr lang="en-US" dirty="0">
                <a:solidFill>
                  <a:srgbClr val="0070C0"/>
                </a:solidFill>
                <a:latin typeface="Consolas" panose="020B0609020204030204" pitchFamily="49" charset="0"/>
                <a:cs typeface="Consolas" panose="020B0609020204030204" pitchFamily="49" charset="0"/>
              </a:rPr>
              <a:t>3</a:t>
            </a:r>
            <a:r>
              <a:rPr lang="en-US" dirty="0"/>
              <a:t> versus </a:t>
            </a:r>
            <a:r>
              <a:rPr lang="en-US" dirty="0">
                <a:solidFill>
                  <a:srgbClr val="0070C0"/>
                </a:solidFill>
                <a:latin typeface="Consolas" panose="020B0609020204030204" pitchFamily="49" charset="0"/>
                <a:cs typeface="Consolas" panose="020B0609020204030204" pitchFamily="49" charset="0"/>
              </a:rPr>
              <a:t>3.1</a:t>
            </a:r>
            <a:r>
              <a:rPr lang="en-US" dirty="0"/>
              <a:t> or </a:t>
            </a:r>
            <a:r>
              <a:rPr lang="en-US" dirty="0">
                <a:solidFill>
                  <a:srgbClr val="0070C0"/>
                </a:solidFill>
                <a:latin typeface="Consolas" panose="020B0609020204030204" pitchFamily="49" charset="0"/>
                <a:cs typeface="Consolas" panose="020B0609020204030204" pitchFamily="49" charset="0"/>
              </a:rPr>
              <a:t>-8</a:t>
            </a:r>
            <a:r>
              <a:rPr lang="en-US" dirty="0"/>
              <a:t> or </a:t>
            </a:r>
            <a:r>
              <a:rPr lang="en-US" dirty="0" err="1">
                <a:solidFill>
                  <a:srgbClr val="0070C0"/>
                </a:solidFill>
                <a:latin typeface="Consolas" panose="020B0609020204030204" pitchFamily="49" charset="0"/>
                <a:cs typeface="Consolas" panose="020B0609020204030204" pitchFamily="49" charset="0"/>
              </a:rPr>
              <a:t>NaN</a:t>
            </a:r>
            <a:r>
              <a:rPr lang="en-US" dirty="0"/>
              <a:t>.</a:t>
            </a:r>
            <a:endParaRPr lang="en-US" dirty="0">
              <a:solidFill>
                <a:srgbClr val="0070C0"/>
              </a:solidFill>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5CD808FC-0999-473D-F77E-225E4F7E37DB}"/>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327F-22A1-4858-1365-1E3780FF58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2B059-757E-9900-F3C3-A7DE49BDE852}"/>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97361434-8C0C-5286-0C8D-6084297805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9</a:t>
            </a:fld>
            <a:endParaRPr lang="en-US"/>
          </a:p>
        </p:txBody>
      </p:sp>
      <p:sp>
        <p:nvSpPr>
          <p:cNvPr id="10" name="Content Placeholder 9">
            <a:extLst>
              <a:ext uri="{FF2B5EF4-FFF2-40B4-BE49-F238E27FC236}">
                <a16:creationId xmlns:a16="http://schemas.microsoft.com/office/drawing/2014/main" id="{452ABDD1-C1FF-5ACA-5A18-D8E75F9E0909}"/>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9E75617B-DE59-86D2-C4C2-7782026D63E1}"/>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406012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10</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will happily accept the following as a well-typed expression:</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They do seem to make it less likely you’ll screw up </a:t>
            </a:r>
            <a:r>
              <a:rPr lang="en-US" i="1" dirty="0"/>
              <a:t>accidentally…</a:t>
            </a:r>
            <a:r>
              <a:rPr lang="en-US" dirty="0"/>
              <a:t>, and </a:t>
            </a:r>
            <a:r>
              <a:rPr lang="en-US" dirty="0" err="1"/>
              <a:t>ESLint</a:t>
            </a:r>
            <a:r>
              <a:rPr lang="en-US" dirty="0"/>
              <a:t> + TypeScript work together to do even more</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3284864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Where Might An Untrusted Input Come From?</a:t>
            </a: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p:txBody>
          <a:bodyPr>
            <a:normAutofit/>
          </a:bodyPr>
          <a:lstStyle/>
          <a:p>
            <a:pPr marL="0" indent="0">
              <a:buNone/>
            </a:pPr>
            <a:r>
              <a:rPr lang="en-US" dirty="0"/>
              <a:t>Any input given to a web app</a:t>
            </a:r>
            <a:br>
              <a:rPr lang="en-US" dirty="0"/>
            </a:br>
            <a:r>
              <a:rPr lang="en-US" dirty="0"/>
              <a:t>can also be given by other</a:t>
            </a:r>
            <a:br>
              <a:rPr lang="en-US" dirty="0"/>
            </a:br>
            <a:r>
              <a:rPr lang="en-US" dirty="0"/>
              <a:t>means…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11</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623477" y="253350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63021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curl https://</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strategy.town</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api</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/user/signup -H 'Content-Type: application/</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--data '{ "username": "</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trugamer</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753600" y="1505653"/>
            <a:ext cx="6083723" cy="4124557"/>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normAutofit/>
          </a:bodyPr>
          <a:lstStyle/>
          <a:p>
            <a:r>
              <a:rPr lang="en-US" dirty="0"/>
              <a:t>Untrusted Inputs Should Have Type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lookAtMe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latin typeface="Consolas" panose="020B0609020204030204" pitchFamily="49" charset="0"/>
                <a:ea typeface="Menlo" panose="020B0609030804020204" pitchFamily="49" charset="0"/>
                <a:cs typeface="Consolas" panose="020B0609020204030204" pitchFamily="49" charset="0"/>
              </a:rPr>
              <a:t>console.log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input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100" dirty="0">
                <a:latin typeface="Consolas" panose="020B0609020204030204" pitchFamily="49" charset="0"/>
                <a:ea typeface="Menlo" panose="020B0609030804020204" pitchFamily="49" charset="0"/>
                <a:cs typeface="Consolas" panose="020B0609020204030204" pitchFamily="49" charset="0"/>
              </a:rPr>
            </a:br>
            <a:endParaRPr lang="en-US" sz="2100" dirty="0">
              <a:latin typeface="Consolas" panose="020B0609020204030204" pitchFamily="49" charset="0"/>
              <a:ea typeface="Menlo" panose="020B0609030804020204" pitchFamily="49" charset="0"/>
              <a:cs typeface="Consolas" panose="020B060902020403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12</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
        <p:nvSpPr>
          <p:cNvPr id="5" name="TextBox 4">
            <a:extLst>
              <a:ext uri="{FF2B5EF4-FFF2-40B4-BE49-F238E27FC236}">
                <a16:creationId xmlns:a16="http://schemas.microsoft.com/office/drawing/2014/main" id="{0A1FF862-8A7D-3FBB-64E0-B244D7C4022C}"/>
              </a:ext>
            </a:extLst>
          </p:cNvPr>
          <p:cNvSpPr txBox="1"/>
          <p:nvPr/>
        </p:nvSpPr>
        <p:spPr>
          <a:xfrm>
            <a:off x="10621108" y="77372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A5D0A-50BC-49E0-F9CB-2DA14275CD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524C4D-9E8A-4032-5B42-EBAD05204237}"/>
              </a:ext>
            </a:extLst>
          </p:cNvPr>
          <p:cNvSpPr>
            <a:spLocks noGrp="1"/>
          </p:cNvSpPr>
          <p:nvPr>
            <p:ph type="title"/>
          </p:nvPr>
        </p:nvSpPr>
        <p:spPr/>
        <p:txBody>
          <a:bodyPr/>
          <a:lstStyle/>
          <a:p>
            <a:r>
              <a:rPr lang="en-US" dirty="0"/>
              <a:t>How Can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r>
              <a:rPr lang="en-US" dirty="0"/>
              <a:t> Inputs Be Used Safely?</a:t>
            </a:r>
          </a:p>
        </p:txBody>
      </p:sp>
      <p:sp>
        <p:nvSpPr>
          <p:cNvPr id="5" name="Content Placeholder 4">
            <a:extLst>
              <a:ext uri="{FF2B5EF4-FFF2-40B4-BE49-F238E27FC236}">
                <a16:creationId xmlns:a16="http://schemas.microsoft.com/office/drawing/2014/main" id="{312A9750-10B6-B37F-F4DD-FBB32BAFFEE4}"/>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3151BBE3-A6E4-CC21-0948-D1F3EA35EC59}"/>
              </a:ext>
            </a:extLst>
          </p:cNvPr>
          <p:cNvSpPr>
            <a:spLocks noGrp="1"/>
          </p:cNvSpPr>
          <p:nvPr>
            <p:ph type="sldNum" sz="quarter" idx="12"/>
          </p:nvPr>
        </p:nvSpPr>
        <p:spPr/>
        <p:txBody>
          <a:bodyPr/>
          <a:lstStyle/>
          <a:p>
            <a:fld id="{20F37917-FD3A-4669-9018-DA04BCDD3D75}" type="slidenum">
              <a:rPr lang="en-US" smtClean="0"/>
              <a:pPr/>
              <a:t>13</a:t>
            </a:fld>
            <a:endParaRPr lang="en-US"/>
          </a:p>
        </p:txBody>
      </p:sp>
      <p:sp>
        <p:nvSpPr>
          <p:cNvPr id="6" name="TextBox 5">
            <a:extLst>
              <a:ext uri="{FF2B5EF4-FFF2-40B4-BE49-F238E27FC236}">
                <a16:creationId xmlns:a16="http://schemas.microsoft.com/office/drawing/2014/main" id="{05749A91-6998-71B2-5AA9-8A1721549E39}"/>
              </a:ext>
            </a:extLst>
          </p:cNvPr>
          <p:cNvSpPr txBox="1"/>
          <p:nvPr/>
        </p:nvSpPr>
        <p:spPr>
          <a:xfrm>
            <a:off x="744069" y="2110610"/>
            <a:ext cx="11354146" cy="57355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endParaRPr lang="en-US" sz="20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2000" dirty="0">
              <a:solidFill>
                <a:srgbClr val="AF00D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002060"/>
                </a:solidFill>
                <a:latin typeface="Consolas" panose="020B0609020204030204" pitchFamily="49" charset="0"/>
                <a:cs typeface="Consolas" panose="020B0609020204030204" pitchFamily="49" charset="0"/>
              </a:rPr>
              <a:t> type</a:t>
            </a:r>
            <a:r>
              <a:rPr lang="en-US" sz="2000" dirty="0">
                <a:solidFill>
                  <a:srgbClr val="0000FF"/>
                </a:solidFill>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 username: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password: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'object'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x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null</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'password'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BFA56B02-D0AE-D113-7967-AD9C44E8630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034AD8C7-B433-50AE-2969-5D8975BF9894}"/>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12255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AC3D8-9283-1871-C91B-CEA7E4F523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77D3CB-4AAC-FA35-DA1C-EBB14AE39B2F}"/>
              </a:ext>
            </a:extLst>
          </p:cNvPr>
          <p:cNvSpPr>
            <a:spLocks noGrp="1"/>
          </p:cNvSpPr>
          <p:nvPr>
            <p:ph type="title"/>
          </p:nvPr>
        </p:nvSpPr>
        <p:spPr/>
        <p:txBody>
          <a:bodyPr/>
          <a:lstStyle/>
          <a:p>
            <a:r>
              <a:rPr lang="en-US" dirty="0"/>
              <a:t>Libraries Make Checking Types Easier</a:t>
            </a:r>
          </a:p>
        </p:txBody>
      </p:sp>
      <p:sp>
        <p:nvSpPr>
          <p:cNvPr id="5" name="Content Placeholder 4">
            <a:extLst>
              <a:ext uri="{FF2B5EF4-FFF2-40B4-BE49-F238E27FC236}">
                <a16:creationId xmlns:a16="http://schemas.microsoft.com/office/drawing/2014/main" id="{DF7F49A2-A482-7053-356D-0219D44D5E37}"/>
              </a:ext>
            </a:extLst>
          </p:cNvPr>
          <p:cNvSpPr>
            <a:spLocks noGrp="1"/>
          </p:cNvSpPr>
          <p:nvPr>
            <p:ph idx="1"/>
          </p:nvPr>
        </p:nvSpPr>
        <p:spPr>
          <a:xfrm>
            <a:off x="838199" y="1500160"/>
            <a:ext cx="10838935" cy="4351338"/>
          </a:xfrm>
        </p:spPr>
        <p:txBody>
          <a:bodyPr/>
          <a:lstStyle/>
          <a:p>
            <a:pPr marL="0" indent="0">
              <a:buNone/>
            </a:pPr>
            <a:r>
              <a:rPr lang="en-US" i="1" dirty="0"/>
              <a:t>Zod</a:t>
            </a:r>
            <a:r>
              <a:rPr lang="en-US" dirty="0"/>
              <a:t> is a library that makes checking structure less tedious &amp; error-prone.</a:t>
            </a:r>
          </a:p>
        </p:txBody>
      </p:sp>
      <p:sp>
        <p:nvSpPr>
          <p:cNvPr id="4" name="Slide Number Placeholder 3">
            <a:extLst>
              <a:ext uri="{FF2B5EF4-FFF2-40B4-BE49-F238E27FC236}">
                <a16:creationId xmlns:a16="http://schemas.microsoft.com/office/drawing/2014/main" id="{41BADECE-D111-E542-1650-459A5ABB936E}"/>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6" name="TextBox 5">
            <a:extLst>
              <a:ext uri="{FF2B5EF4-FFF2-40B4-BE49-F238E27FC236}">
                <a16:creationId xmlns:a16="http://schemas.microsoft.com/office/drawing/2014/main" id="{356A3CB8-94ED-8321-2103-9DA307545630}"/>
              </a:ext>
            </a:extLst>
          </p:cNvPr>
          <p:cNvSpPr txBox="1"/>
          <p:nvPr/>
        </p:nvSpPr>
        <p:spPr>
          <a:xfrm>
            <a:off x="744069" y="2110610"/>
            <a:ext cx="11354146" cy="57355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AF00DB"/>
                </a:solidFill>
                <a:latin typeface="Consolas" panose="020B0609020204030204" pitchFamily="49" charset="0"/>
                <a:cs typeface="Consolas" panose="020B0609020204030204" pitchFamily="49" charset="0"/>
              </a:rPr>
              <a:t>import </a:t>
            </a:r>
            <a:r>
              <a:rPr lang="en-US" sz="2000" dirty="0">
                <a:solidFill>
                  <a:srgbClr val="002060"/>
                </a:solidFill>
                <a:latin typeface="Consolas" panose="020B0609020204030204" pitchFamily="49" charset="0"/>
                <a:cs typeface="Consolas" panose="020B0609020204030204" pitchFamily="49" charset="0"/>
              </a:rPr>
              <a:t>{ z } </a:t>
            </a:r>
            <a:r>
              <a:rPr lang="en-US" sz="2000" dirty="0">
                <a:solidFill>
                  <a:srgbClr val="AF00DB"/>
                </a:solidFill>
                <a:latin typeface="Consolas" panose="020B0609020204030204" pitchFamily="49" charset="0"/>
                <a:cs typeface="Consolas" panose="020B0609020204030204" pitchFamily="49" charset="0"/>
              </a:rPr>
              <a:t>from</a:t>
            </a:r>
            <a:r>
              <a:rPr lang="en-US" sz="2000" dirty="0">
                <a:solidFill>
                  <a:srgbClr val="C00000"/>
                </a:solidFill>
                <a:latin typeface="Consolas" panose="020B0609020204030204" pitchFamily="49" charset="0"/>
                <a:cs typeface="Consolas" panose="020B0609020204030204" pitchFamily="49" charset="0"/>
              </a:rPr>
              <a:t> '</a:t>
            </a:r>
            <a:r>
              <a:rPr lang="en-US" sz="2000" dirty="0" err="1">
                <a:solidFill>
                  <a:srgbClr val="C00000"/>
                </a:solidFill>
                <a:latin typeface="Consolas" panose="020B0609020204030204" pitchFamily="49" charset="0"/>
                <a:cs typeface="Consolas" panose="020B0609020204030204" pitchFamily="49" charset="0"/>
              </a:rPr>
              <a:t>zod</a:t>
            </a:r>
            <a:r>
              <a:rPr lang="en-US" sz="2000" dirty="0">
                <a:solidFill>
                  <a:srgbClr val="C00000"/>
                </a:solidFill>
                <a:latin typeface="Consolas" panose="020B0609020204030204" pitchFamily="49" charset="0"/>
                <a:cs typeface="Consolas" panose="020B0609020204030204" pitchFamily="49" charset="0"/>
              </a:rPr>
              <a:t>’</a:t>
            </a:r>
            <a:r>
              <a:rPr lang="en-US" sz="2000" dirty="0">
                <a:solidFill>
                  <a:srgbClr val="002060"/>
                </a:solidFill>
                <a:latin typeface="Consolas" panose="020B0609020204030204" pitchFamily="49" charset="0"/>
                <a:cs typeface="Consolas" panose="020B0609020204030204" pitchFamily="49" charset="0"/>
              </a:rPr>
              <a:t>;</a:t>
            </a:r>
            <a:endParaRPr lang="en-US" sz="2000" dirty="0">
              <a:solidFill>
                <a:srgbClr val="AF00DB"/>
              </a:solidFill>
              <a:latin typeface="Consolas" panose="020B0609020204030204" pitchFamily="49" charset="0"/>
              <a:cs typeface="Consolas" panose="020B0609020204030204" pitchFamily="49" charset="0"/>
            </a:endParaRPr>
          </a:p>
          <a:p>
            <a:pPr>
              <a:lnSpc>
                <a:spcPct val="110000"/>
              </a:lnSpc>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object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username: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password: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002060"/>
                </a:solidFill>
                <a:latin typeface="Consolas" panose="020B0609020204030204" pitchFamily="49" charset="0"/>
                <a:cs typeface="Consolas" panose="020B0609020204030204" pitchFamily="49" charset="0"/>
              </a:rPr>
              <a:t> type</a:t>
            </a:r>
            <a:r>
              <a:rPr lang="en-US" sz="2000" dirty="0">
                <a:solidFill>
                  <a:srgbClr val="0000FF"/>
                </a:solidFill>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infer</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&lt;</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&gt;;</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parseResult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(x);</a:t>
            </a:r>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parseResult.success</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parseResult.data</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a:t>
            </a: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E1A2BFE7-FD6E-CF0F-8920-590955A7A0C6}"/>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C35491D7-2651-6C8A-61A1-77CBDEF8338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TextBox 6">
            <a:extLst>
              <a:ext uri="{FF2B5EF4-FFF2-40B4-BE49-F238E27FC236}">
                <a16:creationId xmlns:a16="http://schemas.microsoft.com/office/drawing/2014/main" id="{218AD17B-60BA-3A73-E27E-EA587E1DFA68}"/>
              </a:ext>
            </a:extLst>
          </p:cNvPr>
          <p:cNvSpPr txBox="1"/>
          <p:nvPr/>
        </p:nvSpPr>
        <p:spPr>
          <a:xfrm>
            <a:off x="2755557" y="76611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AutoShape 9">
            <a:extLst>
              <a:ext uri="{FF2B5EF4-FFF2-40B4-BE49-F238E27FC236}">
                <a16:creationId xmlns:a16="http://schemas.microsoft.com/office/drawing/2014/main" id="{18FEFF12-2622-04A8-3617-921E05E1A7ED}"/>
              </a:ext>
            </a:extLst>
          </p:cNvPr>
          <p:cNvSpPr>
            <a:spLocks/>
          </p:cNvSpPr>
          <p:nvPr/>
        </p:nvSpPr>
        <p:spPr bwMode="auto">
          <a:xfrm>
            <a:off x="8142234" y="3429000"/>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9" name="Straight Arrow Connector 8">
            <a:extLst>
              <a:ext uri="{FF2B5EF4-FFF2-40B4-BE49-F238E27FC236}">
                <a16:creationId xmlns:a16="http://schemas.microsoft.com/office/drawing/2014/main" id="{FA4BE756-8B20-AE58-4E5F-144D046BE081}"/>
              </a:ext>
            </a:extLst>
          </p:cNvPr>
          <p:cNvCxnSpPr>
            <a:cxnSpLocks/>
          </p:cNvCxnSpPr>
          <p:nvPr/>
        </p:nvCxnSpPr>
        <p:spPr>
          <a:xfrm flipH="1" flipV="1">
            <a:off x="3027667" y="3150973"/>
            <a:ext cx="5237960" cy="721547"/>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9DACDD70-6AA2-46BA-FAF7-C60C796C4E7D}"/>
              </a:ext>
            </a:extLst>
          </p:cNvPr>
          <p:cNvPicPr>
            <a:picLocks noChangeAspect="1"/>
          </p:cNvPicPr>
          <p:nvPr/>
        </p:nvPicPr>
        <p:blipFill>
          <a:blip r:embed="rId3"/>
          <a:stretch>
            <a:fillRect/>
          </a:stretch>
        </p:blipFill>
        <p:spPr>
          <a:xfrm>
            <a:off x="8350590" y="3588910"/>
            <a:ext cx="2197100" cy="965200"/>
          </a:xfrm>
          <a:prstGeom prst="rect">
            <a:avLst/>
          </a:prstGeom>
        </p:spPr>
      </p:pic>
    </p:spTree>
    <p:extLst>
      <p:ext uri="{BB962C8B-B14F-4D97-AF65-F5344CB8AC3E}">
        <p14:creationId xmlns:p14="http://schemas.microsoft.com/office/powerpoint/2010/main" val="20287719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Consolas" panose="020B0609020204030204" pitchFamily="49" charset="0"/>
                <a:ea typeface="Menlo" panose="020B0609030804020204" pitchFamily="49" charset="0"/>
                <a:cs typeface="Consolas" panose="020B060902020403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16</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Improving This Web Server With Zod</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17</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import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 z } </a:t>
            </a: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from</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zod</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endPar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object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username</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password</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auth </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safeParse</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req.body</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if</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auth.error</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res</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status</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400</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send</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'Unexpected message' </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else 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else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63F7C-2061-A5F6-3422-8C083D667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3DC859-9561-2AF2-FC3D-34664DD3B9BC}"/>
              </a:ext>
            </a:extLst>
          </p:cNvPr>
          <p:cNvSpPr>
            <a:spLocks noGrp="1"/>
          </p:cNvSpPr>
          <p:nvPr>
            <p:ph type="title"/>
          </p:nvPr>
        </p:nvSpPr>
        <p:spPr>
          <a:xfrm>
            <a:off x="838200" y="18255"/>
            <a:ext cx="10515600" cy="1325563"/>
          </a:xfrm>
        </p:spPr>
        <p:txBody>
          <a:bodyPr>
            <a:normAutofit/>
          </a:bodyPr>
          <a:lstStyle/>
          <a:p>
            <a:r>
              <a:rPr lang="en-US" dirty="0"/>
              <a:t>Zod Can Check Conditions Even Finer than TypeScript Types</a:t>
            </a:r>
          </a:p>
        </p:txBody>
      </p:sp>
      <p:sp>
        <p:nvSpPr>
          <p:cNvPr id="4" name="Slide Number Placeholder 3">
            <a:extLst>
              <a:ext uri="{FF2B5EF4-FFF2-40B4-BE49-F238E27FC236}">
                <a16:creationId xmlns:a16="http://schemas.microsoft.com/office/drawing/2014/main" id="{ED67282D-A4ED-863F-8554-A25F31C97C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5" name="TextBox 4">
            <a:extLst>
              <a:ext uri="{FF2B5EF4-FFF2-40B4-BE49-F238E27FC236}">
                <a16:creationId xmlns:a16="http://schemas.microsoft.com/office/drawing/2014/main" id="{E38EC348-38DC-B0E5-0496-F2710E33B587}"/>
              </a:ext>
            </a:extLst>
          </p:cNvPr>
          <p:cNvSpPr txBox="1"/>
          <p:nvPr/>
        </p:nvSpPr>
        <p:spPr>
          <a:xfrm>
            <a:off x="744069" y="1984124"/>
            <a:ext cx="11354146" cy="44748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dirty="0">
                <a:solidFill>
                  <a:srgbClr val="002060"/>
                </a:solidFill>
                <a:effectLst/>
                <a:latin typeface="Consolas" panose="020B0609020204030204" pitchFamily="49" charset="0"/>
                <a:cs typeface="Consolas" panose="020B0609020204030204" pitchFamily="49" charset="0"/>
              </a:rPr>
              <a:t>const</a:t>
            </a:r>
            <a:r>
              <a:rPr lang="en-US" sz="2000" b="0" dirty="0">
                <a:solidFill>
                  <a:schemeClr val="tx1"/>
                </a:solidFill>
                <a:effectLst/>
                <a:latin typeface="Consolas" panose="020B0609020204030204" pitchFamily="49" charset="0"/>
                <a:cs typeface="Consolas" panose="020B0609020204030204" pitchFamily="49" charset="0"/>
              </a:rPr>
              <a:t> </a:t>
            </a:r>
            <a:r>
              <a:rPr lang="en-US" sz="2000" b="0" dirty="0" err="1">
                <a:solidFill>
                  <a:srgbClr val="0070C0"/>
                </a:solidFill>
                <a:effectLst/>
                <a:latin typeface="Consolas" panose="020B0609020204030204" pitchFamily="49" charset="0"/>
                <a:cs typeface="Consolas" panose="020B0609020204030204" pitchFamily="49" charset="0"/>
              </a:rPr>
              <a:t>zHelloInput</a:t>
            </a:r>
            <a:r>
              <a:rPr lang="en-US" sz="2000" b="0" dirty="0">
                <a:solidFill>
                  <a:schemeClr val="tx1"/>
                </a:solidFill>
                <a:effectLst/>
                <a:latin typeface="Consolas" panose="020B0609020204030204" pitchFamily="49" charset="0"/>
                <a:cs typeface="Consolas" panose="020B0609020204030204" pitchFamily="49" charset="0"/>
              </a:rPr>
              <a:t> = </a:t>
            </a:r>
            <a:r>
              <a:rPr lang="en-US" sz="2000" b="0" dirty="0" err="1">
                <a:solidFill>
                  <a:srgbClr val="0070C0"/>
                </a:solidFill>
                <a:effectLst/>
                <a:latin typeface="Consolas" panose="020B0609020204030204" pitchFamily="49" charset="0"/>
                <a:cs typeface="Consolas" panose="020B0609020204030204" pitchFamily="49" charset="0"/>
              </a:rPr>
              <a:t>z</a:t>
            </a:r>
            <a:r>
              <a:rPr lang="en-US" sz="2000" b="0" dirty="0" err="1">
                <a:solidFill>
                  <a:schemeClr val="tx1"/>
                </a:solidFill>
                <a:effectLst/>
                <a:latin typeface="Consolas" panose="020B0609020204030204" pitchFamily="49" charset="0"/>
                <a:cs typeface="Consolas" panose="020B0609020204030204" pitchFamily="49" charset="0"/>
              </a:rPr>
              <a:t>.</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int</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gte</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0070C0"/>
                </a:solidFill>
                <a:effectLst/>
                <a:latin typeface="Consolas" panose="020B0609020204030204" pitchFamily="49" charset="0"/>
                <a:cs typeface="Consolas" panose="020B0609020204030204" pitchFamily="49" charset="0"/>
              </a:rPr>
              <a:t>0</a:t>
            </a:r>
            <a:r>
              <a:rPr lang="en-US" sz="2000" b="0" dirty="0">
                <a:solidFill>
                  <a:schemeClr val="tx1"/>
                </a:solidFill>
                <a:effectLst/>
                <a:latin typeface="Consolas" panose="020B0609020204030204" pitchFamily="49" charset="0"/>
                <a:cs typeface="Consolas" panose="020B0609020204030204" pitchFamily="49" charset="0"/>
              </a:rPr>
              <a:t>);</a:t>
            </a:r>
          </a:p>
          <a:p>
            <a:pPr>
              <a:lnSpc>
                <a:spcPct val="110000"/>
              </a:lnSpc>
              <a:buNone/>
            </a:pPr>
            <a:endParaRPr lang="en-US" sz="2000" b="0" dirty="0">
              <a:solidFill>
                <a:srgbClr val="008000"/>
              </a:solidFill>
              <a:effectLst/>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a:solidFill>
                  <a:srgbClr val="000000"/>
                </a:solidFill>
                <a:latin typeface="Consolas" panose="020B0609020204030204" pitchFamily="49" charset="0"/>
                <a:cs typeface="Consolas" panose="020B0609020204030204" pitchFamily="49" charset="0"/>
              </a:rPr>
              <a:t>:</a:t>
            </a:r>
            <a:r>
              <a:rPr lang="en-US" sz="2000">
                <a:solidFill>
                  <a:srgbClr val="3B3B3B"/>
                </a:solidFill>
                <a:latin typeface="Consolas" panose="020B0609020204030204" pitchFamily="49" charset="0"/>
                <a:cs typeface="Consolas" panose="020B0609020204030204" pitchFamily="49" charset="0"/>
              </a:rPr>
              <a:t> </a:t>
            </a:r>
            <a:r>
              <a:rPr lang="en-US" sz="2000">
                <a:solidFill>
                  <a:srgbClr val="267F99"/>
                </a:solidFill>
                <a:latin typeface="Consolas" panose="020B0609020204030204" pitchFamily="49" charset="0"/>
                <a:cs typeface="Consolas" panose="020B0609020204030204" pitchFamily="49" charset="0"/>
              </a:rPr>
              <a:t>unknown</a:t>
            </a:r>
            <a:r>
              <a:rPr lang="en-US" sz="200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353521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19</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24487</TotalTime>
  <Words>3781</Words>
  <Application>Microsoft Macintosh PowerPoint</Application>
  <PresentationFormat>Widescreen</PresentationFormat>
  <Paragraphs>309</Paragraphs>
  <Slides>19</Slides>
  <Notes>19</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Helvetica Neue</vt:lpstr>
      <vt:lpstr>Verdana</vt:lpstr>
      <vt:lpstr>Arial</vt:lpstr>
      <vt:lpstr>Menlo</vt:lpstr>
      <vt:lpstr>Consolas</vt:lpstr>
      <vt:lpstr>Calibri</vt:lpstr>
      <vt:lpstr>Office Theme</vt:lpstr>
      <vt:lpstr>CS 4530: Fundamentals of Software Engineering Module 3.1: Trusting TypeScript (or not!)</vt:lpstr>
      <vt:lpstr>PowerPoint Presentation</vt:lpstr>
      <vt:lpstr>When Have I Written Enough Tests?</vt:lpstr>
      <vt:lpstr>Learning Goals for this Lesson</vt:lpstr>
      <vt:lpstr>What Inputs Should We Test?</vt:lpstr>
      <vt:lpstr>For Unit Testing, Tests Inputs Should Respect a Function’s Contracts</vt:lpstr>
      <vt:lpstr>What Trusting Contracts Looks Like</vt:lpstr>
      <vt:lpstr>TypeScript Types Help With (Some) Contracts</vt:lpstr>
      <vt:lpstr>TypeScript Types Are Easily Circumvented (1)</vt:lpstr>
      <vt:lpstr>TypeScript Types Are Easily Circumvented (2)</vt:lpstr>
      <vt:lpstr>Where Might An Untrusted Input Come From?</vt:lpstr>
      <vt:lpstr>Untrusted Inputs Should Have Type unknown</vt:lpstr>
      <vt:lpstr>How Can unknown Inputs Be Used Safely?</vt:lpstr>
      <vt:lpstr>Libraries Make Checking Types Easier</vt:lpstr>
      <vt:lpstr>Some Libraries Use any: Common But Dangerous</vt:lpstr>
      <vt:lpstr>Some Libraries Use any: Common But Dangerous</vt:lpstr>
      <vt:lpstr>Improving This Web Server With Zod</vt:lpstr>
      <vt:lpstr>Zod Can Check Conditions Even Finer than TypeScript Types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263</cp:revision>
  <cp:lastPrinted>2026-01-02T18:10:21Z</cp:lastPrinted>
  <dcterms:created xsi:type="dcterms:W3CDTF">2021-01-07T15:19:22Z</dcterms:created>
  <dcterms:modified xsi:type="dcterms:W3CDTF">2026-01-12T15:43:28Z</dcterms:modified>
</cp:coreProperties>
</file>