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0"/>
  </p:notesMasterIdLst>
  <p:sldIdLst>
    <p:sldId id="485" r:id="rId2"/>
    <p:sldId id="579" r:id="rId3"/>
    <p:sldId id="630" r:id="rId4"/>
    <p:sldId id="264" r:id="rId5"/>
    <p:sldId id="680" r:id="rId6"/>
    <p:sldId id="584" r:id="rId7"/>
    <p:sldId id="585" r:id="rId8"/>
    <p:sldId id="586" r:id="rId9"/>
    <p:sldId id="587" r:id="rId10"/>
    <p:sldId id="652" r:id="rId11"/>
    <p:sldId id="681" r:id="rId12"/>
    <p:sldId id="661" r:id="rId13"/>
    <p:sldId id="663" r:id="rId14"/>
    <p:sldId id="589" r:id="rId15"/>
    <p:sldId id="588" r:id="rId16"/>
    <p:sldId id="658" r:id="rId17"/>
    <p:sldId id="659" r:id="rId18"/>
    <p:sldId id="614" r:id="rId19"/>
    <p:sldId id="640" r:id="rId20"/>
    <p:sldId id="641" r:id="rId21"/>
    <p:sldId id="643" r:id="rId22"/>
    <p:sldId id="644" r:id="rId23"/>
    <p:sldId id="645" r:id="rId24"/>
    <p:sldId id="646" r:id="rId25"/>
    <p:sldId id="289" r:id="rId26"/>
    <p:sldId id="660" r:id="rId27"/>
    <p:sldId id="291" r:id="rId28"/>
    <p:sldId id="669" r:id="rId29"/>
  </p:sldIdLst>
  <p:sldSz cx="12192000" cy="6858000"/>
  <p:notesSz cx="6858000" cy="9144000"/>
  <p:embeddedFontLst>
    <p:embeddedFont>
      <p:font typeface="Consolas" panose="020B0609020204030204" pitchFamily="49" charset="0"/>
      <p:regular r:id="rId31"/>
      <p:bold r:id="rId32"/>
      <p:italic r:id="rId33"/>
      <p:boldItalic r:id="rId34"/>
    </p:embeddedFont>
    <p:embeddedFont>
      <p:font typeface="Ink Free" panose="03080402000500000000" pitchFamily="66" charset="0"/>
      <p:regular r:id="rId35"/>
    </p:embeddedFont>
    <p:embeddedFont>
      <p:font typeface="Verdana" panose="020B0604030504040204" pitchFamily="3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9"/>
            <p14:sldId id="630"/>
            <p14:sldId id="264"/>
            <p14:sldId id="680"/>
            <p14:sldId id="584"/>
            <p14:sldId id="585"/>
            <p14:sldId id="586"/>
            <p14:sldId id="587"/>
            <p14:sldId id="652"/>
            <p14:sldId id="681"/>
            <p14:sldId id="661"/>
            <p14:sldId id="663"/>
            <p14:sldId id="589"/>
            <p14:sldId id="588"/>
            <p14:sldId id="658"/>
            <p14:sldId id="659"/>
            <p14:sldId id="614"/>
            <p14:sldId id="640"/>
            <p14:sldId id="641"/>
            <p14:sldId id="643"/>
            <p14:sldId id="644"/>
            <p14:sldId id="645"/>
            <p14:sldId id="646"/>
            <p14:sldId id="289"/>
            <p14:sldId id="660"/>
            <p14:sldId id="291"/>
            <p14:sldId id="669"/>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65714" autoAdjust="0"/>
  </p:normalViewPr>
  <p:slideViewPr>
    <p:cSldViewPr snapToGrid="0">
      <p:cViewPr varScale="1">
        <p:scale>
          <a:sx n="82" d="100"/>
          <a:sy n="82" d="100"/>
        </p:scale>
        <p:origin x="1232" y="16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Returning to the key question: when have we written enough tests.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why do we write tests in the first place? That might help us know when we’re done.</a:t>
            </a:r>
          </a:p>
          <a:p>
            <a:endParaRPr lang="en-US" dirty="0"/>
          </a:p>
        </p:txBody>
      </p:sp>
    </p:spTree>
    <p:extLst>
      <p:ext uri="{BB962C8B-B14F-4D97-AF65-F5344CB8AC3E}">
        <p14:creationId xmlns:p14="http://schemas.microsoft.com/office/powerpoint/2010/main" val="2435961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5568267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821C-67E5-8350-8F52-79928E554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4F64-6412-2638-E2F7-82FA716D1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3CD913-A083-B4FB-75C8-AE67FCF9C912}"/>
              </a:ext>
            </a:extLst>
          </p:cNvPr>
          <p:cNvSpPr>
            <a:spLocks noGrp="1"/>
          </p:cNvSpPr>
          <p:nvPr>
            <p:ph type="body" idx="1"/>
          </p:nvPr>
        </p:nvSpPr>
        <p:spPr/>
        <p:txBody>
          <a:bodyPr/>
          <a:lstStyle/>
          <a:p>
            <a:r>
              <a:rPr lang="en-US" dirty="0"/>
              <a:t>In the version of </a:t>
            </a:r>
            <a:r>
              <a:rPr lang="en-US" dirty="0" err="1"/>
              <a:t>helloNTimes</a:t>
            </a:r>
            <a:r>
              <a:rPr lang="en-US" dirty="0"/>
              <a:t> that gets untrusted inputs, there’s an extra branch that needs to be tested: we need to give at least a valid and invalid input.</a:t>
            </a:r>
          </a:p>
        </p:txBody>
      </p:sp>
      <p:sp>
        <p:nvSpPr>
          <p:cNvPr id="4" name="Slide Number Placeholder 3">
            <a:extLst>
              <a:ext uri="{FF2B5EF4-FFF2-40B4-BE49-F238E27FC236}">
                <a16:creationId xmlns:a16="http://schemas.microsoft.com/office/drawing/2014/main" id="{308B5E58-7984-E931-CF1A-24740634002E}"/>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1022658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48171-4442-B15D-DE0D-B372B9BDC397}"/>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C66D89A7-B0D1-C436-6C0D-DB4F9CEF445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0871838B-0D1F-E7BC-D35F-37CF66C33B3C}"/>
              </a:ext>
            </a:extLst>
          </p:cNvPr>
          <p:cNvSpPr>
            <a:spLocks noGrp="1"/>
          </p:cNvSpPr>
          <p:nvPr>
            <p:ph type="body" sz="quarter" idx="1"/>
          </p:nvPr>
        </p:nvSpPr>
        <p:spPr>
          <a:prstGeom prst="rect">
            <a:avLst/>
          </a:prstGeom>
        </p:spPr>
        <p:txBody>
          <a:bodyPr/>
          <a:lstStyle/>
          <a:p>
            <a:r>
              <a:rPr lang="en-US" dirty="0"/>
              <a:t>The idea of "mutation testing" is that most defects are the result of simple errors.  (Is this a realistic assumption?  Spoiler alert: it's realistic enough!)</a:t>
            </a:r>
          </a:p>
          <a:p>
            <a:endParaRPr lang="en-US" dirty="0"/>
          </a:p>
          <a:p>
            <a:r>
              <a:rPr lang="en-US" dirty="0"/>
              <a:t> In mutation testing, the adversary generates buggy code by making simple changes.  Generating buggy code in this way is clearly automatable.</a:t>
            </a:r>
            <a:endParaRPr dirty="0"/>
          </a:p>
        </p:txBody>
      </p:sp>
    </p:spTree>
    <p:extLst>
      <p:ext uri="{BB962C8B-B14F-4D97-AF65-F5344CB8AC3E}">
        <p14:creationId xmlns:p14="http://schemas.microsoft.com/office/powerpoint/2010/main" val="36674070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825207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look at a tiny example. &lt;Read Slide&gt; Next, let's look at the Stryker report for this example.</a:t>
            </a:r>
          </a:p>
        </p:txBody>
      </p:sp>
    </p:spTree>
    <p:extLst>
      <p:ext uri="{BB962C8B-B14F-4D97-AF65-F5344CB8AC3E}">
        <p14:creationId xmlns:p14="http://schemas.microsoft.com/office/powerpoint/2010/main" val="1442141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actual Stryker report for my initial set of tests.  (There was actually only one test in my suite, but that doesn't make a difference)</a:t>
            </a:r>
          </a:p>
          <a:p>
            <a:endParaRPr lang="en-US" dirty="0"/>
          </a:p>
          <a:p>
            <a:r>
              <a:rPr lang="en-US" dirty="0"/>
              <a:t>Let's look at each of these mutants in turn.  Point out: the location of the mutation; the titles of the test(s) that covered this location (in this case, there was only one test, so they are both the same).</a:t>
            </a:r>
          </a:p>
          <a:p>
            <a:endParaRPr lang="en-US" dirty="0"/>
          </a:p>
        </p:txBody>
      </p:sp>
    </p:spTree>
    <p:extLst>
      <p:ext uri="{BB962C8B-B14F-4D97-AF65-F5344CB8AC3E}">
        <p14:creationId xmlns:p14="http://schemas.microsoft.com/office/powerpoint/2010/main" val="41577293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do these code fragments behave differently?  How could we give the program an input that makes the mutant fail?.</a:t>
            </a:r>
          </a:p>
          <a:p>
            <a:r>
              <a:rPr lang="en-US" dirty="0"/>
              <a:t>Discuss.</a:t>
            </a:r>
          </a:p>
          <a:p>
            <a:endParaRPr lang="en-US" dirty="0"/>
          </a:p>
          <a:p>
            <a:r>
              <a:rPr lang="en-US" dirty="0"/>
              <a:t>Ans: the mutant always returns the first element of the list.   You could distinguish them by giving an input that should return some other element of the list</a:t>
            </a:r>
          </a:p>
        </p:txBody>
      </p:sp>
    </p:spTree>
    <p:extLst>
      <p:ext uri="{BB962C8B-B14F-4D97-AF65-F5344CB8AC3E}">
        <p14:creationId xmlns:p14="http://schemas.microsoft.com/office/powerpoint/2010/main" val="4457648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 what conditions will these two program fragments behave differently?  How could we write a test to create those conditions? </a:t>
            </a:r>
          </a:p>
          <a:p>
            <a:endParaRPr lang="en-US" dirty="0"/>
          </a:p>
          <a:p>
            <a:r>
              <a:rPr lang="en-US" dirty="0"/>
              <a:t>DISCUSS.</a:t>
            </a:r>
          </a:p>
          <a:p>
            <a:endParaRPr lang="en-US" dirty="0"/>
          </a:p>
          <a:p>
            <a:r>
              <a:rPr lang="en-US" dirty="0"/>
              <a:t>ANS: if the target is equal to one of the list items, the second one will keep going and return a different one.</a:t>
            </a:r>
          </a:p>
        </p:txBody>
      </p:sp>
    </p:spTree>
    <p:extLst>
      <p:ext uri="{BB962C8B-B14F-4D97-AF65-F5344CB8AC3E}">
        <p14:creationId xmlns:p14="http://schemas.microsoft.com/office/powerpoint/2010/main" val="1690511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We've made the mutant fail, but our correct program succeeds.</a:t>
            </a:r>
          </a:p>
        </p:txBody>
      </p:sp>
    </p:spTree>
    <p:extLst>
      <p:ext uri="{BB962C8B-B14F-4D97-AF65-F5344CB8AC3E}">
        <p14:creationId xmlns:p14="http://schemas.microsoft.com/office/powerpoint/2010/main" val="346233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Mutation analysis helps us improve our tests as we write them, because it shows us changes to our code (potential bugs!) that our tests do not detect. Remember, that to “detect” a mutant means that at least one test  in your test suite fails when run on the mutated code.</a:t>
            </a:r>
          </a:p>
          <a:p>
            <a:endParaRPr lang="en-US" dirty="0"/>
          </a:p>
          <a:p>
            <a:r>
              <a:rPr lang="en-US" dirty="0"/>
              <a:t>Stryker actually reports both in plain text form, as we showed before, and as a handy html page.   Here is a piece of the html report, running on an 'overlaps' method from </a:t>
            </a:r>
            <a:r>
              <a:rPr lang="en-US" dirty="0" err="1"/>
              <a:t>Covey.town</a:t>
            </a:r>
            <a:r>
              <a:rPr lang="en-US" dirty="0"/>
              <a:t> (our project from last year). In this screenshot, we can see an undetected mutant, on line 137. The red highlighting (with the minus sign) shows how the line was before the mutation, and the green highlighting (with the plus sign) shows the line after the mutation. In this case, the mutation was to replace a &gt;= with a &gt; sign. </a:t>
            </a:r>
          </a:p>
          <a:p>
            <a:endParaRPr lang="en-US" dirty="0"/>
          </a:p>
          <a:p>
            <a:r>
              <a:rPr lang="en-US" dirty="0"/>
              <a:t>There is also an undetected mutation on line 138, but it is not expanded (the red dot). When working through the report, you'll see them a single mutant at a time (because that’s what was run – one mutant at a time).</a:t>
            </a:r>
          </a:p>
          <a:p>
            <a:endParaRPr lang="en-US" dirty="0"/>
          </a:p>
          <a:p>
            <a:r>
              <a:rPr lang="en-US" dirty="0"/>
              <a:t>Was this a bug?  I don't know, because I don't have enough context to decide </a:t>
            </a:r>
            <a:r>
              <a:rPr lang="en-US" dirty="0">
                <a:sym typeface="Wingdings" panose="05000000000000000000" pitchFamily="2" charset="2"/>
              </a:rPr>
              <a:t>.  But when you are running Stryker, you *will* know the context.</a:t>
            </a:r>
            <a:endParaRPr lang="en-US" dirty="0"/>
          </a:p>
        </p:txBody>
      </p:sp>
    </p:spTree>
    <p:extLst>
      <p:ext uri="{BB962C8B-B14F-4D97-AF65-F5344CB8AC3E}">
        <p14:creationId xmlns:p14="http://schemas.microsoft.com/office/powerpoint/2010/main" val="4213120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1/12/26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1/12/26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1/12/26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1/12/26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1/12/26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1/12/26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1/12/26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1/12/26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1/12/26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1/12/26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1/12/26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3.2: Code Coverage &amp; Mutation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16283B-5D58-1CB7-234A-7FED19D9EC31}"/>
              </a:ext>
            </a:extLst>
          </p:cNvPr>
          <p:cNvSpPr txBox="1"/>
          <p:nvPr/>
        </p:nvSpPr>
        <p:spPr>
          <a:xfrm>
            <a:off x="1779105" y="1807319"/>
            <a:ext cx="8975035" cy="206210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algn="ctr" hangingPunct="0"/>
            <a:r>
              <a:rPr lang="en-US" sz="6400" dirty="0">
                <a:solidFill>
                  <a:schemeClr val="accent5">
                    <a:lumMod val="75000"/>
                  </a:schemeClr>
                </a:solidFill>
                <a:latin typeface="Verdana" panose="020B0604030504040204" pitchFamily="34" charset="0"/>
                <a:ea typeface="Verdana" panose="020B0604030504040204" pitchFamily="34" charset="0"/>
                <a:sym typeface="Calibri"/>
              </a:rPr>
              <a:t>When have I written enough tests?</a:t>
            </a:r>
          </a:p>
        </p:txBody>
      </p:sp>
    </p:spTree>
    <p:extLst>
      <p:ext uri="{BB962C8B-B14F-4D97-AF65-F5344CB8AC3E}">
        <p14:creationId xmlns:p14="http://schemas.microsoft.com/office/powerpoint/2010/main" val="153333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idx="1"/>
          </p:nvPr>
        </p:nvSpPr>
        <p:spPr>
          <a:xfrm>
            <a:off x="838199" y="1500160"/>
            <a:ext cx="8574741"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7BF824-4720-FC3F-8B18-EE0D0F86F03B}"/>
              </a:ext>
            </a:extLst>
          </p:cNvPr>
          <p:cNvSpPr>
            <a:spLocks noGrp="1"/>
          </p:cNvSpPr>
          <p:nvPr>
            <p:ph type="title"/>
          </p:nvPr>
        </p:nvSpPr>
        <p:spPr/>
        <p:txBody>
          <a:bodyPr/>
          <a:lstStyle/>
          <a:p>
            <a:r>
              <a:rPr lang="en-US" dirty="0"/>
              <a:t>When Have I Written Enough Tests?</a:t>
            </a:r>
          </a:p>
        </p:txBody>
      </p:sp>
      <p:sp>
        <p:nvSpPr>
          <p:cNvPr id="4" name="Content Placeholder 3">
            <a:extLst>
              <a:ext uri="{FF2B5EF4-FFF2-40B4-BE49-F238E27FC236}">
                <a16:creationId xmlns:a16="http://schemas.microsoft.com/office/drawing/2014/main" id="{CA352D8D-6CE5-72A5-B938-E31511D95B80}"/>
              </a:ext>
            </a:extLst>
          </p:cNvPr>
          <p:cNvSpPr>
            <a:spLocks noGrp="1"/>
          </p:cNvSpPr>
          <p:nvPr>
            <p:ph idx="1"/>
          </p:nvPr>
        </p:nvSpPr>
        <p:spPr/>
        <p:txBody>
          <a:bodyPr/>
          <a:lstStyle/>
          <a:p>
            <a:r>
              <a:rPr lang="en-US" dirty="0"/>
              <a:t>When I’ve tested the valid inputs</a:t>
            </a:r>
          </a:p>
          <a:p>
            <a:r>
              <a:rPr lang="en-US" b="1" dirty="0"/>
              <a:t>When I’ve tested all the code</a:t>
            </a:r>
          </a:p>
          <a:p>
            <a:r>
              <a:rPr lang="en-US" b="1" dirty="0"/>
              <a:t>When the tests will catch bugs</a:t>
            </a:r>
          </a:p>
        </p:txBody>
      </p:sp>
      <p:sp>
        <p:nvSpPr>
          <p:cNvPr id="2" name="Slide Number Placeholder 1">
            <a:extLst>
              <a:ext uri="{FF2B5EF4-FFF2-40B4-BE49-F238E27FC236}">
                <a16:creationId xmlns:a16="http://schemas.microsoft.com/office/drawing/2014/main" id="{1FAF0941-51E1-F5D3-5DE8-6881AE024D0B}"/>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3563959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7</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dirty="0"/>
              <a:t>Line </a:t>
            </a:r>
            <a:r>
              <a:rPr lang="en-US" dirty="0"/>
              <a:t>and </a:t>
            </a:r>
            <a:r>
              <a:rPr lang="en-US" i="1" dirty="0"/>
              <a:t>Statement </a:t>
            </a:r>
            <a:r>
              <a:rPr lang="en-US" dirty="0"/>
              <a:t>coverage are a coarse measurement.</a:t>
            </a:r>
          </a:p>
          <a:p>
            <a:r>
              <a:rPr lang="en-US" dirty="0"/>
              <a:t>Testing x = 0 exercises lines 2 and 3</a:t>
            </a:r>
          </a:p>
          <a:p>
            <a:r>
              <a:rPr lang="en-US" dirty="0"/>
              <a:t>Testing x = 10 exercises lines 2, 5, 6, and 7.</a:t>
            </a:r>
          </a:p>
          <a:p>
            <a:pPr marL="0" indent="0">
              <a:buNone/>
            </a:pPr>
            <a:endParaRPr lang="en-US" dirty="0"/>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endParaRPr lang="en-US" sz="2200" b="0" dirty="0">
              <a:solidFill>
                <a:schemeClr val="tx1"/>
              </a:solidFill>
              <a:effectLst/>
              <a:latin typeface="Consolas" panose="020B0609020204030204" pitchFamily="49" charset="0"/>
              <a:cs typeface="Consolas" panose="020B0609020204030204" pitchFamily="49" charset="0"/>
            </a:endParaRP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3|</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4|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5|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6|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8</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dirty="0"/>
              <a:t>Branch </a:t>
            </a:r>
            <a:r>
              <a:rPr lang="en-US" dirty="0"/>
              <a:t>coverage: widely used in industry.</a:t>
            </a:r>
          </a:p>
          <a:p>
            <a:r>
              <a:rPr lang="en-US" dirty="0"/>
              <a:t>Testing with x &gt; 4 and x &lt;= 4 necessary to handle both branches on line 5.</a:t>
            </a:r>
          </a:p>
          <a:p>
            <a:r>
              <a:rPr lang="en-US" dirty="0"/>
              <a:t>Testing with odd and even numbers necessary to handle both branches on line 6.</a:t>
            </a:r>
          </a:p>
          <a:p>
            <a:r>
              <a:rPr lang="en-US" dirty="0"/>
              <a:t>The values -2, 0, 1, and 10 get full branch coverage.</a:t>
            </a:r>
          </a:p>
          <a:p>
            <a:pPr marL="0" indent="0">
              <a:buNone/>
            </a:pPr>
            <a:endParaRPr lang="en-US" dirty="0"/>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9</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5257800" cy="5221316"/>
          </a:xfrm>
        </p:spPr>
        <p:txBody>
          <a:bodyPr>
            <a:normAutofit lnSpcReduction="10000"/>
          </a:bodyPr>
          <a:lstStyle/>
          <a:p>
            <a:r>
              <a:rPr lang="en-US" dirty="0"/>
              <a:t>The values -2, 0, 1, and 10 get full branch coverage…</a:t>
            </a:r>
          </a:p>
          <a:p>
            <a:r>
              <a:rPr lang="en-US" dirty="0"/>
              <a:t>…but 5 causes line 7 to divide by zero! </a:t>
            </a:r>
          </a:p>
          <a:p>
            <a:pPr lvl="1"/>
            <a:r>
              <a:rPr lang="en-US" dirty="0"/>
              <a:t>In JavaScript/TypeScript, this doesn’t cause an exception, there’s a number called “Infinity” (which is  </a:t>
            </a:r>
            <a:r>
              <a:rPr lang="en-US" i="1" dirty="0"/>
              <a:t>different</a:t>
            </a:r>
            <a:r>
              <a:rPr lang="en-US" dirty="0"/>
              <a:t> from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 1</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074FD-D20C-7CBA-7145-A607CF7B3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72CA-E97F-D3BD-0B02-44B5CC0B2C3D}"/>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6B523148-C504-4C21-1541-CC438AFAAF11}"/>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5D79B563-FA25-DE5E-F8D5-58C1945CBE4C}"/>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5" name="TextBox 4">
            <a:extLst>
              <a:ext uri="{FF2B5EF4-FFF2-40B4-BE49-F238E27FC236}">
                <a16:creationId xmlns:a16="http://schemas.microsoft.com/office/drawing/2014/main" id="{75CFD0E7-AE43-5654-CC94-2CFF670D7B5A}"/>
              </a:ext>
            </a:extLst>
          </p:cNvPr>
          <p:cNvSpPr txBox="1"/>
          <p:nvPr/>
        </p:nvSpPr>
        <p:spPr>
          <a:xfrm>
            <a:off x="744069" y="2501474"/>
            <a:ext cx="11354146" cy="44748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zHelloInput</a:t>
            </a:r>
            <a:r>
              <a:rPr lang="en-US" sz="2000" dirty="0">
                <a:solidFill>
                  <a:schemeClr val="tx1"/>
                </a:solidFill>
                <a:latin typeface="Consolas" panose="020B0609020204030204" pitchFamily="49" charset="0"/>
                <a:cs typeface="Consolas" panose="020B0609020204030204" pitchFamily="49" charset="0"/>
              </a:rPr>
              <a:t> = </a:t>
            </a:r>
            <a:r>
              <a:rPr lang="en-US" sz="2000" dirty="0" err="1">
                <a:solidFill>
                  <a:srgbClr val="0070C0"/>
                </a:solidFill>
                <a:latin typeface="Consolas" panose="020B0609020204030204" pitchFamily="49" charset="0"/>
                <a:cs typeface="Consolas" panose="020B0609020204030204" pitchFamily="49" charset="0"/>
              </a:rPr>
              <a:t>z</a:t>
            </a:r>
            <a:r>
              <a:rPr lang="en-US" sz="2000" dirty="0" err="1">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int</a:t>
            </a:r>
            <a:r>
              <a:rPr lang="en-US" sz="2000" dirty="0">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gte</a:t>
            </a:r>
            <a:r>
              <a:rPr lang="en-US" sz="2000" dirty="0">
                <a:solidFill>
                  <a:schemeClr val="tx1"/>
                </a:solidFill>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0</a:t>
            </a:r>
            <a:r>
              <a:rPr lang="en-US" sz="2000" dirty="0">
                <a:solidFill>
                  <a:schemeClr val="tx1"/>
                </a:solidFill>
                <a:latin typeface="Consolas" panose="020B0609020204030204" pitchFamily="49" charset="0"/>
                <a:cs typeface="Consolas" panose="020B0609020204030204" pitchFamily="49" charset="0"/>
              </a:rPr>
              <a:t>);</a:t>
            </a:r>
          </a:p>
          <a:p>
            <a:pPr>
              <a:lnSpc>
                <a:spcPct val="110000"/>
              </a:lnSpc>
              <a:buNone/>
            </a:pPr>
            <a:endParaRPr lang="en-US" sz="2000" dirty="0">
              <a:solidFill>
                <a:srgbClr val="008000"/>
              </a:solidFill>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unknown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634021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More Examples</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42398377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13</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Code Coverage: Review</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pPr lvl="1"/>
            <a:r>
              <a:rPr lang="en-US" dirty="0"/>
              <a:t>“Coverage is no substitute for thought” — Rob Pike</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299220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a:bodyPr>
          <a:lstStyle/>
          <a:p>
            <a:r>
              <a:rPr lang="en-US" dirty="0"/>
              <a:t>It can be helpful to think of testing as a game in which you play against an adversary.</a:t>
            </a:r>
          </a:p>
          <a:p>
            <a:r>
              <a:rPr lang="en-US" dirty="0"/>
              <a:t>Your adversary plays by producing multiple versions of code that you agree is buggy, and multiple versions of code you agree is correct.</a:t>
            </a:r>
          </a:p>
          <a:p>
            <a:r>
              <a:rPr lang="en-US" dirty="0"/>
              <a:t>Your win if your tests catch all the buggy code, </a:t>
            </a:r>
            <a:br>
              <a:rPr lang="en-US" dirty="0"/>
            </a:br>
            <a:r>
              <a:rPr lang="en-US" dirty="0"/>
              <a:t>and pass all the correct code.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5827377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16</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964C-B9F1-B09A-02B9-F3DBDD834230}"/>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3505756F-0E16-DD45-F6F8-5EF6A9FC0F4B}"/>
              </a:ext>
            </a:extLst>
          </p:cNvPr>
          <p:cNvSpPr txBox="1">
            <a:spLocks noGrp="1"/>
          </p:cNvSpPr>
          <p:nvPr>
            <p:ph type="title"/>
          </p:nvPr>
        </p:nvSpPr>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95BB1608-BF12-06F4-3A8E-8E22548F46EC}"/>
              </a:ext>
            </a:extLst>
          </p:cNvPr>
          <p:cNvSpPr>
            <a:spLocks noGrp="1"/>
          </p:cNvSpPr>
          <p:nvPr>
            <p:ph idx="1"/>
          </p:nvPr>
        </p:nvSpPr>
        <p:spPr>
          <a:xfrm>
            <a:off x="838200" y="1500160"/>
            <a:ext cx="9220200" cy="4351338"/>
          </a:xfrm>
        </p:spPr>
        <p:txBody>
          <a:bodyPr/>
          <a:lstStyle/>
          <a:p>
            <a:pPr marL="0" indent="0">
              <a:buNone/>
            </a:pPr>
            <a:r>
              <a:rPr lang="en-US"/>
              <a:t>Stryker is a </a:t>
            </a:r>
            <a:r>
              <a:rPr lang="en-US" i="1"/>
              <a:t>mutation tester </a:t>
            </a:r>
            <a:r>
              <a:rPr lang="en-US"/>
              <a:t>for JavaScript — an automated adversary!</a:t>
            </a:r>
          </a:p>
        </p:txBody>
      </p:sp>
      <p:sp>
        <p:nvSpPr>
          <p:cNvPr id="828" name="Slide Number">
            <a:extLst>
              <a:ext uri="{FF2B5EF4-FFF2-40B4-BE49-F238E27FC236}">
                <a16:creationId xmlns:a16="http://schemas.microsoft.com/office/drawing/2014/main" id="{02E8DAD1-E08C-F87D-BFC9-1B8899A1AC29}"/>
              </a:ext>
            </a:extLst>
          </p:cNvP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17</a:t>
            </a:fld>
            <a:endParaRPr/>
          </a:p>
        </p:txBody>
      </p:sp>
      <p:pic>
        <p:nvPicPr>
          <p:cNvPr id="4" name="Image" descr="Image">
            <a:extLst>
              <a:ext uri="{FF2B5EF4-FFF2-40B4-BE49-F238E27FC236}">
                <a16:creationId xmlns:a16="http://schemas.microsoft.com/office/drawing/2014/main" id="{4DE925F5-88D1-1054-240C-326948CD9F6D}"/>
              </a:ext>
            </a:extLst>
          </p:cNvPr>
          <p:cNvPicPr>
            <a:picLocks noChangeAspect="1"/>
          </p:cNvPicPr>
          <p:nvPr/>
        </p:nvPicPr>
        <p:blipFill>
          <a:blip r:embed="rId3"/>
          <a:stretch>
            <a:fillRect/>
          </a:stretch>
        </p:blipFill>
        <p:spPr>
          <a:xfrm>
            <a:off x="838200" y="2554975"/>
            <a:ext cx="10637069" cy="3548949"/>
          </a:xfrm>
          <a:prstGeom prst="rect">
            <a:avLst/>
          </a:prstGeom>
          <a:ln w="25400">
            <a:solidFill>
              <a:schemeClr val="accent1"/>
            </a:solidFill>
            <a:miter/>
          </a:ln>
        </p:spPr>
      </p:pic>
    </p:spTree>
    <p:extLst>
      <p:ext uri="{BB962C8B-B14F-4D97-AF65-F5344CB8AC3E}">
        <p14:creationId xmlns:p14="http://schemas.microsoft.com/office/powerpoint/2010/main" val="19954053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9B469-35A7-4F5A-C014-9F2A26187087}"/>
              </a:ext>
            </a:extLst>
          </p:cNvPr>
          <p:cNvSpPr>
            <a:spLocks noGrp="1"/>
          </p:cNvSpPr>
          <p:nvPr>
            <p:ph type="title"/>
          </p:nvPr>
        </p:nvSpPr>
        <p:spPr/>
        <p:txBody>
          <a:bodyPr>
            <a:normAutofit fontScale="90000"/>
          </a:bodyPr>
          <a:lstStyle/>
          <a:p>
            <a:r>
              <a:rPr lang="en-US" dirty="0"/>
              <a:t>Remedy: you need to devise tests that distinguish the original code from the mutants</a:t>
            </a:r>
          </a:p>
        </p:txBody>
      </p:sp>
      <p:sp>
        <p:nvSpPr>
          <p:cNvPr id="3" name="Content Placeholder 2">
            <a:extLst>
              <a:ext uri="{FF2B5EF4-FFF2-40B4-BE49-F238E27FC236}">
                <a16:creationId xmlns:a16="http://schemas.microsoft.com/office/drawing/2014/main" id="{D0B6384A-8B5F-F715-09B4-31E2DFA5F6B7}"/>
              </a:ext>
            </a:extLst>
          </p:cNvPr>
          <p:cNvSpPr>
            <a:spLocks noGrp="1"/>
          </p:cNvSpPr>
          <p:nvPr>
            <p:ph idx="1"/>
          </p:nvPr>
        </p:nvSpPr>
        <p:spPr/>
        <p:txBody>
          <a:bodyPr/>
          <a:lstStyle/>
          <a:p>
            <a:r>
              <a:rPr lang="en-US" dirty="0"/>
              <a:t>Devise a test that your original code will pass, but the mutant will fail.</a:t>
            </a:r>
          </a:p>
        </p:txBody>
      </p:sp>
      <p:sp>
        <p:nvSpPr>
          <p:cNvPr id="4" name="Slide Number Placeholder 3">
            <a:extLst>
              <a:ext uri="{FF2B5EF4-FFF2-40B4-BE49-F238E27FC236}">
                <a16:creationId xmlns:a16="http://schemas.microsoft.com/office/drawing/2014/main" id="{957E3C2D-B3FE-4EA4-1BFC-D46FFDBF5392}"/>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18</a:t>
            </a:fld>
            <a:endParaRPr lang="en-US" sz="1200">
              <a:solidFill>
                <a:prstClr val="black">
                  <a:tint val="75000"/>
                </a:prstClr>
              </a:solidFill>
              <a:latin typeface="Calibri" panose="020F0502020204030204"/>
            </a:endParaRPr>
          </a:p>
        </p:txBody>
      </p:sp>
    </p:spTree>
    <p:extLst>
      <p:ext uri="{BB962C8B-B14F-4D97-AF65-F5344CB8AC3E}">
        <p14:creationId xmlns:p14="http://schemas.microsoft.com/office/powerpoint/2010/main" val="28476552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44F8DE-8BC6-BECE-4FD9-9006F9063D2D}"/>
              </a:ext>
            </a:extLst>
          </p:cNvPr>
          <p:cNvSpPr>
            <a:spLocks noGrp="1"/>
          </p:cNvSpPr>
          <p:nvPr>
            <p:ph type="title"/>
          </p:nvPr>
        </p:nvSpPr>
        <p:spPr/>
        <p:txBody>
          <a:bodyPr/>
          <a:lstStyle/>
          <a:p>
            <a:r>
              <a:rPr lang="en-US" dirty="0"/>
              <a:t>A tiny example</a:t>
            </a:r>
          </a:p>
        </p:txBody>
      </p:sp>
      <p:sp>
        <p:nvSpPr>
          <p:cNvPr id="6" name="TextBox 5">
            <a:extLst>
              <a:ext uri="{FF2B5EF4-FFF2-40B4-BE49-F238E27FC236}">
                <a16:creationId xmlns:a16="http://schemas.microsoft.com/office/drawing/2014/main" id="{0361304E-2D94-5F38-A8AF-133184220E6C}"/>
              </a:ext>
            </a:extLst>
          </p:cNvPr>
          <p:cNvSpPr txBox="1"/>
          <p:nvPr/>
        </p:nvSpPr>
        <p:spPr>
          <a:xfrm>
            <a:off x="838200" y="1511669"/>
            <a:ext cx="10307595" cy="466345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5000"/>
              </a:lnSpc>
            </a:pPr>
            <a:r>
              <a:rPr lang="en-US" sz="2400" dirty="0">
                <a:solidFill>
                  <a:srgbClr val="000000"/>
                </a:solidFill>
                <a:latin typeface="Arial" panose="020B0604020202020204" pitchFamily="34" charset="0"/>
                <a:ea typeface="Arial" panose="020B0604020202020204" pitchFamily="34" charset="0"/>
              </a:rPr>
              <a:t>Imagine that this is the code to be tested</a:t>
            </a: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 </a:t>
            </a: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find the first item in the list that is</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greater than or equal to the target.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export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default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function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795E26"/>
                </a:solidFill>
                <a:latin typeface="Consolas" panose="020B0609020204030204" pitchFamily="49" charset="0"/>
                <a:ea typeface="Consolas" panose="020B0609020204030204" pitchFamily="49" charset="0"/>
                <a:cs typeface="Consolas" panose="020B0609020204030204" pitchFamily="49" charset="0"/>
              </a:rPr>
              <a:t>search</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return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795E26"/>
                </a:solidFill>
                <a:latin typeface="Consolas" panose="020B0609020204030204" pitchFamily="49" charset="0"/>
                <a:ea typeface="Consolas" panose="020B0609020204030204" pitchFamily="49" charset="0"/>
                <a:cs typeface="Consolas" panose="020B0609020204030204" pitchFamily="49" charset="0"/>
              </a:rPr>
              <a:t>find</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=&gt;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&gt;=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latin typeface="Arial" panose="020B0604020202020204" pitchFamily="34" charset="0"/>
                <a:ea typeface="Arial" panose="020B0604020202020204" pitchFamily="34" charset="0"/>
              </a:rPr>
              <a:t> </a:t>
            </a:r>
          </a:p>
          <a:p>
            <a:pPr>
              <a:lnSpc>
                <a:spcPct val="115000"/>
              </a:lnSpc>
            </a:pP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and we have written some tests.</a:t>
            </a:r>
          </a:p>
          <a:p>
            <a:pPr>
              <a:lnSpc>
                <a:spcPct val="115000"/>
              </a:lnSpc>
            </a:pPr>
            <a:endParaRPr lang="en-US" sz="2000" dirty="0">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5959564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C5B4731-5245-DB6F-A23F-1B47EFF080BE}"/>
              </a:ext>
            </a:extLst>
          </p:cNvPr>
          <p:cNvSpPr txBox="1"/>
          <p:nvPr/>
        </p:nvSpPr>
        <p:spPr>
          <a:xfrm>
            <a:off x="1394254" y="1786005"/>
            <a:ext cx="9959546" cy="501675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latin typeface="Consolas" panose="020B0609020204030204" pitchFamily="49" charset="0"/>
              </a:rPr>
              <a:t>[Survived] </a:t>
            </a:r>
            <a:r>
              <a:rPr lang="en-US" sz="2000" dirty="0" err="1">
                <a:latin typeface="Consolas" panose="020B0609020204030204" pitchFamily="49" charset="0"/>
              </a:rPr>
              <a:t>EqualityOperator</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item &gt; target);</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a:p>
            <a:endParaRPr lang="en-US" sz="2000" dirty="0">
              <a:latin typeface="Consolas" panose="020B0609020204030204" pitchFamily="49" charset="0"/>
            </a:endParaRPr>
          </a:p>
          <a:p>
            <a:endParaRPr lang="en-US" sz="2000" dirty="0">
              <a:latin typeface="Consolas" panose="020B0609020204030204" pitchFamily="49" charset="0"/>
            </a:endParaRPr>
          </a:p>
          <a:p>
            <a:r>
              <a:rPr lang="en-US" sz="2000" dirty="0">
                <a:latin typeface="Consolas" panose="020B0609020204030204" pitchFamily="49" charset="0"/>
              </a:rPr>
              <a:t>[Survived] </a:t>
            </a:r>
            <a:r>
              <a:rPr lang="en-US" sz="2000" dirty="0" err="1">
                <a:latin typeface="Consolas" panose="020B0609020204030204" pitchFamily="49" charset="0"/>
              </a:rPr>
              <a:t>ConditionalExpression</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true);</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p:txBody>
      </p:sp>
      <p:sp>
        <p:nvSpPr>
          <p:cNvPr id="2" name="Title 1">
            <a:extLst>
              <a:ext uri="{FF2B5EF4-FFF2-40B4-BE49-F238E27FC236}">
                <a16:creationId xmlns:a16="http://schemas.microsoft.com/office/drawing/2014/main" id="{1FC8905C-E51E-F593-86DE-FD4AC20A6740}"/>
              </a:ext>
            </a:extLst>
          </p:cNvPr>
          <p:cNvSpPr>
            <a:spLocks noGrp="1"/>
          </p:cNvSpPr>
          <p:nvPr>
            <p:ph type="title"/>
          </p:nvPr>
        </p:nvSpPr>
        <p:spPr/>
        <p:txBody>
          <a:bodyPr/>
          <a:lstStyle/>
          <a:p>
            <a:r>
              <a:rPr lang="en-US" dirty="0"/>
              <a:t>Stryker report for this test</a:t>
            </a:r>
          </a:p>
        </p:txBody>
      </p:sp>
      <p:grpSp>
        <p:nvGrpSpPr>
          <p:cNvPr id="27" name="Group 26">
            <a:extLst>
              <a:ext uri="{FF2B5EF4-FFF2-40B4-BE49-F238E27FC236}">
                <a16:creationId xmlns:a16="http://schemas.microsoft.com/office/drawing/2014/main" id="{9C93698D-3036-C07F-52CA-7250BA51BCBA}"/>
              </a:ext>
            </a:extLst>
          </p:cNvPr>
          <p:cNvGrpSpPr/>
          <p:nvPr/>
        </p:nvGrpSpPr>
        <p:grpSpPr>
          <a:xfrm>
            <a:off x="1278082" y="2101358"/>
            <a:ext cx="10649530" cy="962753"/>
            <a:chOff x="2556164" y="4202716"/>
            <a:chExt cx="21299060" cy="1925506"/>
          </a:xfrm>
        </p:grpSpPr>
        <p:grpSp>
          <p:nvGrpSpPr>
            <p:cNvPr id="8" name="Group 7">
              <a:extLst>
                <a:ext uri="{FF2B5EF4-FFF2-40B4-BE49-F238E27FC236}">
                  <a16:creationId xmlns:a16="http://schemas.microsoft.com/office/drawing/2014/main" id="{F088A65E-2654-903F-B637-FBD98BEF6234}"/>
                </a:ext>
              </a:extLst>
            </p:cNvPr>
            <p:cNvGrpSpPr/>
            <p:nvPr/>
          </p:nvGrpSpPr>
          <p:grpSpPr>
            <a:xfrm>
              <a:off x="17888465" y="4202716"/>
              <a:ext cx="5966759" cy="1925506"/>
              <a:chOff x="12253181" y="3243758"/>
              <a:chExt cx="5966759" cy="1925506"/>
            </a:xfrm>
          </p:grpSpPr>
          <p:sp>
            <p:nvSpPr>
              <p:cNvPr id="3" name="Rectangle: Rounded Corners 2">
                <a:extLst>
                  <a:ext uri="{FF2B5EF4-FFF2-40B4-BE49-F238E27FC236}">
                    <a16:creationId xmlns:a16="http://schemas.microsoft.com/office/drawing/2014/main" id="{8E148E09-53EB-05C7-8184-57AE7D6DB47C}"/>
                  </a:ext>
                </a:extLst>
              </p:cNvPr>
              <p:cNvSpPr/>
              <p:nvPr/>
            </p:nvSpPr>
            <p:spPr>
              <a:xfrm>
                <a:off x="13079529" y="3243758"/>
                <a:ext cx="5140411" cy="1925506"/>
              </a:xfrm>
              <a:prstGeom prst="roundRect">
                <a:avLst/>
              </a:prstGeom>
              <a:solidFill>
                <a:schemeClr val="accent2">
                  <a:lumMod val="20000"/>
                  <a:lumOff val="80000"/>
                </a:schemeClr>
              </a:solidFill>
              <a:ln>
                <a:solidFill>
                  <a:srgbClr val="0070C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location of the mutation</a:t>
                </a:r>
              </a:p>
            </p:txBody>
          </p:sp>
          <p:cxnSp>
            <p:nvCxnSpPr>
              <p:cNvPr id="5" name="Straight Arrow Connector 4">
                <a:extLst>
                  <a:ext uri="{FF2B5EF4-FFF2-40B4-BE49-F238E27FC236}">
                    <a16:creationId xmlns:a16="http://schemas.microsoft.com/office/drawing/2014/main" id="{8AB1E689-D22D-A308-5937-86694ABD04F1}"/>
                  </a:ext>
                </a:extLst>
              </p:cNvPr>
              <p:cNvCxnSpPr>
                <a:cxnSpLocks/>
                <a:stCxn id="3" idx="1"/>
                <a:endCxn id="17" idx="3"/>
              </p:cNvCxnSpPr>
              <p:nvPr/>
            </p:nvCxnSpPr>
            <p:spPr>
              <a:xfrm flipH="1" flipV="1">
                <a:off x="12253181" y="4151173"/>
                <a:ext cx="826348" cy="55338"/>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grpSp>
        <p:sp>
          <p:nvSpPr>
            <p:cNvPr id="17" name="Rectangle: Rounded Corners 16">
              <a:extLst>
                <a:ext uri="{FF2B5EF4-FFF2-40B4-BE49-F238E27FC236}">
                  <a16:creationId xmlns:a16="http://schemas.microsoft.com/office/drawing/2014/main" id="{28921B20-AD10-06D5-AF8D-E88BAC12DA83}"/>
                </a:ext>
              </a:extLst>
            </p:cNvPr>
            <p:cNvSpPr/>
            <p:nvPr/>
          </p:nvSpPr>
          <p:spPr>
            <a:xfrm>
              <a:off x="2556164" y="4229330"/>
              <a:ext cx="15332301"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grpSp>
        <p:nvGrpSpPr>
          <p:cNvPr id="28" name="Group 27">
            <a:extLst>
              <a:ext uri="{FF2B5EF4-FFF2-40B4-BE49-F238E27FC236}">
                <a16:creationId xmlns:a16="http://schemas.microsoft.com/office/drawing/2014/main" id="{F037B5CB-4CB3-61CE-608B-E068DE21F727}"/>
              </a:ext>
            </a:extLst>
          </p:cNvPr>
          <p:cNvGrpSpPr/>
          <p:nvPr/>
        </p:nvGrpSpPr>
        <p:grpSpPr>
          <a:xfrm>
            <a:off x="1267158" y="3068586"/>
            <a:ext cx="10504086" cy="2997602"/>
            <a:chOff x="2534316" y="6137171"/>
            <a:chExt cx="21008171" cy="5995203"/>
          </a:xfrm>
        </p:grpSpPr>
        <p:sp>
          <p:nvSpPr>
            <p:cNvPr id="12" name="Rectangle: Rounded Corners 11">
              <a:extLst>
                <a:ext uri="{FF2B5EF4-FFF2-40B4-BE49-F238E27FC236}">
                  <a16:creationId xmlns:a16="http://schemas.microsoft.com/office/drawing/2014/main" id="{FBFACC36-C440-1F1F-FED8-E37CC2FFEE65}"/>
                </a:ext>
              </a:extLst>
            </p:cNvPr>
            <p:cNvSpPr/>
            <p:nvPr/>
          </p:nvSpPr>
          <p:spPr>
            <a:xfrm>
              <a:off x="18402076" y="9416882"/>
              <a:ext cx="5140411" cy="2715492"/>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tests that were run on this piece of code</a:t>
              </a:r>
            </a:p>
          </p:txBody>
        </p:sp>
        <p:cxnSp>
          <p:nvCxnSpPr>
            <p:cNvPr id="13" name="Straight Arrow Connector 12">
              <a:extLst>
                <a:ext uri="{FF2B5EF4-FFF2-40B4-BE49-F238E27FC236}">
                  <a16:creationId xmlns:a16="http://schemas.microsoft.com/office/drawing/2014/main" id="{4DF291EC-E8D9-D718-2D79-A61E8EE0E61E}"/>
                </a:ext>
              </a:extLst>
            </p:cNvPr>
            <p:cNvCxnSpPr>
              <a:cxnSpLocks/>
            </p:cNvCxnSpPr>
            <p:nvPr/>
          </p:nvCxnSpPr>
          <p:spPr>
            <a:xfrm flipH="1" flipV="1">
              <a:off x="16081513" y="8045012"/>
              <a:ext cx="2405270" cy="1532745"/>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sp>
          <p:nvSpPr>
            <p:cNvPr id="21" name="Rectangle: Rounded Corners 20">
              <a:extLst>
                <a:ext uri="{FF2B5EF4-FFF2-40B4-BE49-F238E27FC236}">
                  <a16:creationId xmlns:a16="http://schemas.microsoft.com/office/drawing/2014/main" id="{8555FAD4-5CF9-C5AE-ACBE-697EB0B83996}"/>
                </a:ext>
              </a:extLst>
            </p:cNvPr>
            <p:cNvSpPr/>
            <p:nvPr/>
          </p:nvSpPr>
          <p:spPr>
            <a:xfrm>
              <a:off x="2534316" y="6137171"/>
              <a:ext cx="19371527"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spTree>
    <p:extLst>
      <p:ext uri="{BB962C8B-B14F-4D97-AF65-F5344CB8AC3E}">
        <p14:creationId xmlns:p14="http://schemas.microsoft.com/office/powerpoint/2010/main" val="223250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F676-845C-AA13-7C43-7846EC4ECD4E}"/>
              </a:ext>
            </a:extLst>
          </p:cNvPr>
          <p:cNvSpPr>
            <a:spLocks noGrp="1"/>
          </p:cNvSpPr>
          <p:nvPr>
            <p:ph type="title"/>
          </p:nvPr>
        </p:nvSpPr>
        <p:spPr/>
        <p:txBody>
          <a:bodyPr/>
          <a:lstStyle/>
          <a:p>
            <a:r>
              <a:rPr lang="en-US" dirty="0"/>
              <a:t>Let's look at the second one:</a:t>
            </a:r>
          </a:p>
        </p:txBody>
      </p:sp>
      <p:sp>
        <p:nvSpPr>
          <p:cNvPr id="4" name="TextBox 3">
            <a:extLst>
              <a:ext uri="{FF2B5EF4-FFF2-40B4-BE49-F238E27FC236}">
                <a16:creationId xmlns:a16="http://schemas.microsoft.com/office/drawing/2014/main" id="{7B25E64B-8920-C6C1-3A4B-4CF648D97F63}"/>
              </a:ext>
            </a:extLst>
          </p:cNvPr>
          <p:cNvSpPr txBox="1"/>
          <p:nvPr/>
        </p:nvSpPr>
        <p:spPr>
          <a:xfrm>
            <a:off x="838200" y="1910231"/>
            <a:ext cx="9875108" cy="156966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latin typeface="Consolas" panose="020B0609020204030204" pitchFamily="49" charset="0"/>
              </a:rPr>
              <a:t>[Survived] </a:t>
            </a:r>
            <a:r>
              <a:rPr lang="en-US" sz="2400" dirty="0" err="1">
                <a:latin typeface="Consolas" panose="020B0609020204030204" pitchFamily="49" charset="0"/>
              </a:rPr>
              <a:t>ConditionalExpression</a:t>
            </a:r>
            <a:endParaRPr lang="en-US" sz="2400" dirty="0">
              <a:latin typeface="Consolas" panose="020B0609020204030204" pitchFamily="49" charset="0"/>
            </a:endParaRPr>
          </a:p>
          <a:p>
            <a:r>
              <a:rPr lang="en-US" sz="2400" dirty="0" err="1">
                <a:latin typeface="Consolas" panose="020B0609020204030204" pitchFamily="49" charset="0"/>
              </a:rPr>
              <a:t>src</a:t>
            </a:r>
            <a:r>
              <a:rPr lang="en-US" sz="2400" dirty="0">
                <a:latin typeface="Consolas" panose="020B0609020204030204" pitchFamily="49" charset="0"/>
              </a:rPr>
              <a:t>/for-midterm/adrian.ts:4:32</a:t>
            </a:r>
          </a:p>
          <a:p>
            <a:r>
              <a:rPr lang="en-US" sz="2400" dirty="0">
                <a:solidFill>
                  <a:srgbClr val="FF0000"/>
                </a:solidFill>
                <a:latin typeface="Consolas" panose="020B0609020204030204" pitchFamily="49" charset="0"/>
              </a:rPr>
              <a:t>-       return </a:t>
            </a:r>
            <a:r>
              <a:rPr lang="en-US" sz="2400" dirty="0" err="1">
                <a:solidFill>
                  <a:srgbClr val="FF0000"/>
                </a:solidFill>
                <a:latin typeface="Consolas" panose="020B0609020204030204" pitchFamily="49" charset="0"/>
              </a:rPr>
              <a:t>list.find</a:t>
            </a:r>
            <a:r>
              <a:rPr lang="en-US" sz="2400" dirty="0">
                <a:solidFill>
                  <a:srgbClr val="FF0000"/>
                </a:solidFill>
                <a:latin typeface="Consolas" panose="020B0609020204030204" pitchFamily="49" charset="0"/>
              </a:rPr>
              <a:t>((item) =&gt; item &gt;= target);</a:t>
            </a:r>
          </a:p>
          <a:p>
            <a:r>
              <a:rPr lang="en-US" sz="2400" dirty="0">
                <a:solidFill>
                  <a:srgbClr val="00B050"/>
                </a:solidFill>
                <a:latin typeface="Consolas" panose="020B0609020204030204" pitchFamily="49" charset="0"/>
              </a:rPr>
              <a:t>+       return </a:t>
            </a:r>
            <a:r>
              <a:rPr lang="en-US" sz="2400" dirty="0" err="1">
                <a:solidFill>
                  <a:srgbClr val="00B050"/>
                </a:solidFill>
                <a:latin typeface="Consolas" panose="020B0609020204030204" pitchFamily="49" charset="0"/>
              </a:rPr>
              <a:t>list.find</a:t>
            </a:r>
            <a:r>
              <a:rPr lang="en-US" sz="2400" dirty="0">
                <a:solidFill>
                  <a:srgbClr val="00B050"/>
                </a:solidFill>
                <a:latin typeface="Consolas" panose="020B0609020204030204" pitchFamily="49" charset="0"/>
              </a:rPr>
              <a:t>((item) =&gt; true);</a:t>
            </a:r>
          </a:p>
        </p:txBody>
      </p:sp>
      <p:sp>
        <p:nvSpPr>
          <p:cNvPr id="3" name="Content Placeholder 2">
            <a:extLst>
              <a:ext uri="{FF2B5EF4-FFF2-40B4-BE49-F238E27FC236}">
                <a16:creationId xmlns:a16="http://schemas.microsoft.com/office/drawing/2014/main" id="{10F5F6BA-677D-F1D2-28E1-901151DEEB2E}"/>
              </a:ext>
            </a:extLst>
          </p:cNvPr>
          <p:cNvSpPr txBox="1">
            <a:spLocks/>
          </p:cNvSpPr>
          <p:nvPr/>
        </p:nvSpPr>
        <p:spPr>
          <a:xfrm>
            <a:off x="838200" y="4000137"/>
            <a:ext cx="8763000" cy="2698837"/>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always returns the first element of the list</a:t>
            </a:r>
          </a:p>
          <a:p>
            <a:pPr hangingPunct="1"/>
            <a:r>
              <a:rPr lang="en-US" sz="2800" dirty="0"/>
              <a:t>Remedy: Add a test that searches for something that is NOT the first element in the input?</a:t>
            </a:r>
          </a:p>
        </p:txBody>
      </p:sp>
    </p:spTree>
    <p:extLst>
      <p:ext uri="{BB962C8B-B14F-4D97-AF65-F5344CB8AC3E}">
        <p14:creationId xmlns:p14="http://schemas.microsoft.com/office/powerpoint/2010/main" val="162188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70FB3-1057-7A33-FC43-A7D9987E1C3E}"/>
              </a:ext>
            </a:extLst>
          </p:cNvPr>
          <p:cNvSpPr>
            <a:spLocks noGrp="1"/>
          </p:cNvSpPr>
          <p:nvPr>
            <p:ph type="title"/>
          </p:nvPr>
        </p:nvSpPr>
        <p:spPr/>
        <p:txBody>
          <a:bodyPr/>
          <a:lstStyle/>
          <a:p>
            <a:r>
              <a:rPr lang="en-US" dirty="0"/>
              <a:t>Here's one test that will cause the mutant to be killed.</a:t>
            </a:r>
          </a:p>
        </p:txBody>
      </p:sp>
      <p:sp>
        <p:nvSpPr>
          <p:cNvPr id="4" name="TextBox 3">
            <a:extLst>
              <a:ext uri="{FF2B5EF4-FFF2-40B4-BE49-F238E27FC236}">
                <a16:creationId xmlns:a16="http://schemas.microsoft.com/office/drawing/2014/main" id="{343A3FC9-7A98-DA25-7371-25A3B5798B97}"/>
              </a:ext>
            </a:extLst>
          </p:cNvPr>
          <p:cNvSpPr txBox="1"/>
          <p:nvPr/>
        </p:nvSpPr>
        <p:spPr>
          <a:xfrm>
            <a:off x="838200" y="2068949"/>
            <a:ext cx="973279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20" tIns="45720" rIns="45720" bIns="45720" numCol="1" spcCol="38100" rtlCol="0" anchor="t">
            <a:spAutoFit/>
          </a:bodyPr>
          <a:lstStyle/>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return the second element of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6</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a:p>
            <a:pPr hangingPunct="0"/>
            <a:endParaRPr lang="en-US" sz="2200" dirty="0">
              <a:solidFill>
                <a:srgbClr val="000000"/>
              </a:solidFill>
              <a:latin typeface="+mj-lt"/>
              <a:ea typeface="+mj-ea"/>
              <a:cs typeface="+mj-cs"/>
              <a:sym typeface="Calibri"/>
            </a:endParaRPr>
          </a:p>
        </p:txBody>
      </p:sp>
    </p:spTree>
    <p:extLst>
      <p:ext uri="{BB962C8B-B14F-4D97-AF65-F5344CB8AC3E}">
        <p14:creationId xmlns:p14="http://schemas.microsoft.com/office/powerpoint/2010/main" val="26227531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94FC2-1419-5C03-C709-353179FF5D69}"/>
              </a:ext>
            </a:extLst>
          </p:cNvPr>
          <p:cNvSpPr>
            <a:spLocks noGrp="1"/>
          </p:cNvSpPr>
          <p:nvPr>
            <p:ph type="title"/>
          </p:nvPr>
        </p:nvSpPr>
        <p:spPr/>
        <p:txBody>
          <a:bodyPr/>
          <a:lstStyle/>
          <a:p>
            <a:r>
              <a:rPr lang="en-US" dirty="0"/>
              <a:t>What about the other mutant?</a:t>
            </a:r>
          </a:p>
        </p:txBody>
      </p:sp>
      <p:sp>
        <p:nvSpPr>
          <p:cNvPr id="4" name="TextBox 3">
            <a:extLst>
              <a:ext uri="{FF2B5EF4-FFF2-40B4-BE49-F238E27FC236}">
                <a16:creationId xmlns:a16="http://schemas.microsoft.com/office/drawing/2014/main" id="{86B43FE4-09FA-20CC-45EA-0BDA89972D8E}"/>
              </a:ext>
            </a:extLst>
          </p:cNvPr>
          <p:cNvSpPr txBox="1"/>
          <p:nvPr/>
        </p:nvSpPr>
        <p:spPr>
          <a:xfrm>
            <a:off x="838200" y="1845872"/>
            <a:ext cx="821930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latin typeface="Consolas" panose="020B0609020204030204" pitchFamily="49" charset="0"/>
              </a:rPr>
              <a:t>[Survived] </a:t>
            </a:r>
            <a:r>
              <a:rPr lang="en-US" sz="2200" dirty="0" err="1">
                <a:latin typeface="Consolas" panose="020B0609020204030204" pitchFamily="49" charset="0"/>
              </a:rPr>
              <a:t>EqualityOperator</a:t>
            </a:r>
            <a:endParaRPr lang="en-US" sz="2200" dirty="0">
              <a:latin typeface="Consolas" panose="020B0609020204030204" pitchFamily="49" charset="0"/>
            </a:endParaRPr>
          </a:p>
          <a:p>
            <a:r>
              <a:rPr lang="en-US" sz="2200" dirty="0" err="1">
                <a:latin typeface="Consolas" panose="020B0609020204030204" pitchFamily="49" charset="0"/>
              </a:rPr>
              <a:t>src</a:t>
            </a:r>
            <a:r>
              <a:rPr lang="en-US" sz="2200" dirty="0">
                <a:latin typeface="Consolas" panose="020B0609020204030204" pitchFamily="49" charset="0"/>
              </a:rPr>
              <a:t>/for-midterm/adrian.ts:4:32</a:t>
            </a:r>
          </a:p>
          <a:p>
            <a:r>
              <a:rPr lang="en-US" sz="2200" dirty="0">
                <a:solidFill>
                  <a:srgbClr val="FF0000"/>
                </a:solidFill>
                <a:latin typeface="Consolas" panose="020B0609020204030204" pitchFamily="49" charset="0"/>
              </a:rPr>
              <a:t>-       return </a:t>
            </a:r>
            <a:r>
              <a:rPr lang="en-US" sz="2200" dirty="0" err="1">
                <a:solidFill>
                  <a:srgbClr val="FF0000"/>
                </a:solidFill>
                <a:latin typeface="Consolas" panose="020B0609020204030204" pitchFamily="49" charset="0"/>
              </a:rPr>
              <a:t>list.find</a:t>
            </a:r>
            <a:r>
              <a:rPr lang="en-US" sz="2200" dirty="0">
                <a:solidFill>
                  <a:srgbClr val="FF0000"/>
                </a:solidFill>
                <a:latin typeface="Consolas" panose="020B0609020204030204" pitchFamily="49" charset="0"/>
              </a:rPr>
              <a:t>((item) =&gt; item &gt;= target);</a:t>
            </a:r>
          </a:p>
          <a:p>
            <a:r>
              <a:rPr lang="en-US" sz="2200" dirty="0">
                <a:solidFill>
                  <a:srgbClr val="00B050"/>
                </a:solidFill>
                <a:latin typeface="Consolas" panose="020B0609020204030204" pitchFamily="49" charset="0"/>
              </a:rPr>
              <a:t>+       return </a:t>
            </a:r>
            <a:r>
              <a:rPr lang="en-US" sz="2200" dirty="0" err="1">
                <a:solidFill>
                  <a:srgbClr val="00B050"/>
                </a:solidFill>
                <a:latin typeface="Consolas" panose="020B0609020204030204" pitchFamily="49" charset="0"/>
              </a:rPr>
              <a:t>list.find</a:t>
            </a:r>
            <a:r>
              <a:rPr lang="en-US" sz="2200" dirty="0">
                <a:solidFill>
                  <a:srgbClr val="00B050"/>
                </a:solidFill>
                <a:latin typeface="Consolas" panose="020B0609020204030204" pitchFamily="49" charset="0"/>
              </a:rPr>
              <a:t>((item) =&gt; item &gt; target);</a:t>
            </a:r>
            <a:endParaRPr lang="en-US" sz="2200" dirty="0"/>
          </a:p>
        </p:txBody>
      </p:sp>
      <p:sp>
        <p:nvSpPr>
          <p:cNvPr id="6" name="Content Placeholder 2">
            <a:extLst>
              <a:ext uri="{FF2B5EF4-FFF2-40B4-BE49-F238E27FC236}">
                <a16:creationId xmlns:a16="http://schemas.microsoft.com/office/drawing/2014/main" id="{600D241B-FCC6-B31F-ADC1-C80A01381F43}"/>
              </a:ext>
            </a:extLst>
          </p:cNvPr>
          <p:cNvSpPr txBox="1">
            <a:spLocks/>
          </p:cNvSpPr>
          <p:nvPr/>
        </p:nvSpPr>
        <p:spPr>
          <a:xfrm>
            <a:off x="838200" y="4000137"/>
            <a:ext cx="8763000" cy="2748533"/>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returns the first element of the list that is </a:t>
            </a:r>
            <a:r>
              <a:rPr lang="en-US" sz="2800" dirty="0">
                <a:solidFill>
                  <a:srgbClr val="FF0000"/>
                </a:solidFill>
              </a:rPr>
              <a:t>larger</a:t>
            </a:r>
            <a:r>
              <a:rPr lang="en-US" sz="2800" dirty="0"/>
              <a:t> than the original</a:t>
            </a:r>
          </a:p>
          <a:p>
            <a:pPr hangingPunct="1"/>
            <a:r>
              <a:rPr lang="en-US" sz="2800" dirty="0"/>
              <a:t>Remedy: Add a test where the input list included an “equal” item before a larger item</a:t>
            </a:r>
          </a:p>
        </p:txBody>
      </p:sp>
    </p:spTree>
    <p:extLst>
      <p:ext uri="{BB962C8B-B14F-4D97-AF65-F5344CB8AC3E}">
        <p14:creationId xmlns:p14="http://schemas.microsoft.com/office/powerpoint/2010/main" val="261653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9E186-D46D-AB72-2799-EF993F03EF44}"/>
              </a:ext>
            </a:extLst>
          </p:cNvPr>
          <p:cNvSpPr>
            <a:spLocks noGrp="1"/>
          </p:cNvSpPr>
          <p:nvPr>
            <p:ph type="title"/>
          </p:nvPr>
        </p:nvSpPr>
        <p:spPr/>
        <p:txBody>
          <a:bodyPr/>
          <a:lstStyle/>
          <a:p>
            <a:r>
              <a:rPr lang="en-US" dirty="0"/>
              <a:t>Here's one test that will catch that mutant</a:t>
            </a:r>
          </a:p>
        </p:txBody>
      </p:sp>
      <p:sp>
        <p:nvSpPr>
          <p:cNvPr id="4" name="TextBox 3">
            <a:extLst>
              <a:ext uri="{FF2B5EF4-FFF2-40B4-BE49-F238E27FC236}">
                <a16:creationId xmlns:a16="http://schemas.microsoft.com/office/drawing/2014/main" id="{3E229CB5-D4EF-EC3D-16E3-6CFCCBA2A754}"/>
              </a:ext>
            </a:extLst>
          </p:cNvPr>
          <p:cNvSpPr txBox="1"/>
          <p:nvPr/>
        </p:nvSpPr>
        <p:spPr>
          <a:xfrm>
            <a:off x="838200" y="2163627"/>
            <a:ext cx="10515600" cy="11079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"try target that is equal to some item in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p:txBody>
      </p:sp>
    </p:spTree>
    <p:extLst>
      <p:ext uri="{BB962C8B-B14F-4D97-AF65-F5344CB8AC3E}">
        <p14:creationId xmlns:p14="http://schemas.microsoft.com/office/powerpoint/2010/main" val="40658047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 name="Use Mutation Analysis While Writing Tests"/>
          <p:cNvSpPr txBox="1">
            <a:spLocks noGrp="1"/>
          </p:cNvSpPr>
          <p:nvPr>
            <p:ph type="title"/>
          </p:nvPr>
        </p:nvSpPr>
        <p:spPr>
          <a:prstGeom prst="rect">
            <a:avLst/>
          </a:prstGeom>
        </p:spPr>
        <p:txBody>
          <a:bodyPr/>
          <a:lstStyle/>
          <a:p>
            <a:r>
              <a:t>Use Mutation Analysis While Writing Tests</a:t>
            </a:r>
          </a:p>
        </p:txBody>
      </p:sp>
      <p:sp>
        <p:nvSpPr>
          <p:cNvPr id="848" name="When you feel “done” writing tests, run a mutation analysis…"/>
          <p:cNvSpPr txBox="1">
            <a:spLocks noGrp="1"/>
          </p:cNvSpPr>
          <p:nvPr>
            <p:ph type="body" idx="1"/>
          </p:nvPr>
        </p:nvSpPr>
        <p:spPr>
          <a:prstGeom prst="rect">
            <a:avLst/>
          </a:prstGeom>
        </p:spPr>
        <p:txBody>
          <a:bodyPr/>
          <a:lstStyle/>
          <a:p>
            <a:r>
              <a:rPr dirty="0"/>
              <a:t>When you feel “done” writing tests, run a mutation analysis</a:t>
            </a:r>
          </a:p>
          <a:p>
            <a:r>
              <a:rPr dirty="0"/>
              <a:t>Inspect undetected mutants, and try to </a:t>
            </a:r>
            <a:r>
              <a:rPr lang="en-US" dirty="0"/>
              <a:t>write tests that will make those mutants fail.</a:t>
            </a:r>
            <a:endParaRPr dirty="0"/>
          </a:p>
        </p:txBody>
      </p:sp>
      <p:sp>
        <p:nvSpPr>
          <p:cNvPr id="849"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25</a:t>
            </a:fld>
            <a:endParaRPr/>
          </a:p>
        </p:txBody>
      </p:sp>
      <p:pic>
        <p:nvPicPr>
          <p:cNvPr id="850" name="Image" descr="Image"/>
          <p:cNvPicPr>
            <a:picLocks noChangeAspect="1"/>
          </p:cNvPicPr>
          <p:nvPr/>
        </p:nvPicPr>
        <p:blipFill>
          <a:blip r:embed="rId3"/>
          <a:stretch>
            <a:fillRect/>
          </a:stretch>
        </p:blipFill>
        <p:spPr>
          <a:xfrm>
            <a:off x="2641600" y="3626755"/>
            <a:ext cx="6908801" cy="2305051"/>
          </a:xfrm>
          <a:prstGeom prst="rect">
            <a:avLst/>
          </a:prstGeom>
          <a:ln w="25400">
            <a:solidFill>
              <a:schemeClr val="accent1"/>
            </a:solidFill>
            <a:miter/>
          </a:ln>
        </p:spPr>
      </p:pic>
      <p:sp>
        <p:nvSpPr>
          <p:cNvPr id="851" name="Detailed mutation report for “overlaps” method - two mutants were not detected!"/>
          <p:cNvSpPr txBox="1"/>
          <p:nvPr/>
        </p:nvSpPr>
        <p:spPr>
          <a:xfrm>
            <a:off x="2447065" y="6007840"/>
            <a:ext cx="4059125" cy="2308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sz="900"/>
              <a:t>Detailed mutation report for “overlaps” method - two mutants were not detected!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26</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27</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a:bodyPr>
          <a:lstStyle/>
          <a:p>
            <a:pPr marL="0" indent="0">
              <a:buNone/>
            </a:pPr>
            <a:r>
              <a:rPr lang="en-US" dirty="0"/>
              <a:t>It’s the end of the lesson, so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r>
              <a:rPr lang="en-US" dirty="0"/>
              <a:t>When have you written enough tests?</a:t>
            </a:r>
          </a:p>
          <a:p>
            <a:pPr lvl="1"/>
            <a:r>
              <a:rPr lang="en-US" dirty="0"/>
              <a:t>When you’ve tested all valid inputs?</a:t>
            </a:r>
          </a:p>
          <a:p>
            <a:pPr lvl="1"/>
            <a:r>
              <a:rPr lang="en-US" dirty="0"/>
              <a:t>When your tests get full code coverage?</a:t>
            </a:r>
          </a:p>
          <a:p>
            <a:pPr lvl="1"/>
            <a:r>
              <a:rPr lang="en-US" dirty="0"/>
              <a:t>When your tests can catch any buggy mutant code?</a:t>
            </a:r>
          </a:p>
          <a:p>
            <a:pPr lvl="1"/>
            <a:r>
              <a:rPr lang="en-US" dirty="0"/>
              <a:t>The answer depends!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28</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24446</TotalTime>
  <Words>3681</Words>
  <Application>Microsoft Macintosh PowerPoint</Application>
  <PresentationFormat>Widescreen</PresentationFormat>
  <Paragraphs>309</Paragraphs>
  <Slides>28</Slides>
  <Notes>26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Wingdings</vt:lpstr>
      <vt:lpstr>Helvetica Neue</vt:lpstr>
      <vt:lpstr>Verdana</vt:lpstr>
      <vt:lpstr>Arial</vt:lpstr>
      <vt:lpstr>Consolas</vt:lpstr>
      <vt:lpstr>Calibri</vt:lpstr>
      <vt:lpstr>Ink Free</vt:lpstr>
      <vt:lpstr>Office Theme</vt:lpstr>
      <vt:lpstr>CS 4530: Fundamentals of Software Engineering Module 3.2: Code Coverage &amp; Mutation Testing</vt:lpstr>
      <vt:lpstr>Learning Goals for this Lesson</vt:lpstr>
      <vt:lpstr>PowerPoint Presentation</vt:lpstr>
      <vt:lpstr>Why do we test?</vt:lpstr>
      <vt:lpstr>When Have I Written Enough Tests?</vt:lpstr>
      <vt:lpstr>Code Coverage</vt:lpstr>
      <vt:lpstr>Code Coverage: Line or Statement Coverage</vt:lpstr>
      <vt:lpstr>Code Coverage: Branch Coverage</vt:lpstr>
      <vt:lpstr>Code Coverage: Path Coverage</vt:lpstr>
      <vt:lpstr>Code Coverage: Example 1</vt:lpstr>
      <vt:lpstr>Code Coverage: Example 2</vt:lpstr>
      <vt:lpstr>Code Coverage: More Examples</vt:lpstr>
      <vt:lpstr>Code Coverage in Vitest</vt:lpstr>
      <vt:lpstr>Code Coverage: Review</vt:lpstr>
      <vt:lpstr>Adversarial Testing</vt:lpstr>
      <vt:lpstr>Adversarial Testing</vt:lpstr>
      <vt:lpstr>Adversarial Testing</vt:lpstr>
      <vt:lpstr>Remedy: you need to devise tests that distinguish the original code from the mutants</vt:lpstr>
      <vt:lpstr>A tiny example</vt:lpstr>
      <vt:lpstr>Stryker report for this test</vt:lpstr>
      <vt:lpstr>Let's look at the second one:</vt:lpstr>
      <vt:lpstr>Here's one test that will cause the mutant to be killed.</vt:lpstr>
      <vt:lpstr>What about the other mutant?</vt:lpstr>
      <vt:lpstr>Here's one test that will catch that mutant</vt:lpstr>
      <vt:lpstr>Use Mutation Analysis While Writing Tests</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249</cp:revision>
  <dcterms:created xsi:type="dcterms:W3CDTF">2021-01-07T15:19:22Z</dcterms:created>
  <dcterms:modified xsi:type="dcterms:W3CDTF">2026-01-12T17:45:32Z</dcterms:modified>
</cp:coreProperties>
</file>