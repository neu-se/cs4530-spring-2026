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54"/>
  </p:notesMasterIdLst>
  <p:sldIdLst>
    <p:sldId id="485" r:id="rId2"/>
    <p:sldId id="580" r:id="rId3"/>
    <p:sldId id="688" r:id="rId4"/>
    <p:sldId id="714" r:id="rId5"/>
    <p:sldId id="689" r:id="rId6"/>
    <p:sldId id="697" r:id="rId7"/>
    <p:sldId id="691" r:id="rId8"/>
    <p:sldId id="698" r:id="rId9"/>
    <p:sldId id="699" r:id="rId10"/>
    <p:sldId id="694" r:id="rId11"/>
    <p:sldId id="695" r:id="rId12"/>
    <p:sldId id="718" r:id="rId13"/>
    <p:sldId id="719" r:id="rId14"/>
    <p:sldId id="720" r:id="rId15"/>
    <p:sldId id="696" r:id="rId16"/>
    <p:sldId id="693" r:id="rId17"/>
    <p:sldId id="700" r:id="rId18"/>
    <p:sldId id="701" r:id="rId19"/>
    <p:sldId id="708" r:id="rId20"/>
    <p:sldId id="704" r:id="rId21"/>
    <p:sldId id="705" r:id="rId22"/>
    <p:sldId id="709" r:id="rId23"/>
    <p:sldId id="514" r:id="rId24"/>
    <p:sldId id="262" r:id="rId25"/>
    <p:sldId id="715" r:id="rId26"/>
    <p:sldId id="687" r:id="rId27"/>
    <p:sldId id="658" r:id="rId28"/>
    <p:sldId id="679" r:id="rId29"/>
    <p:sldId id="717" r:id="rId30"/>
    <p:sldId id="661" r:id="rId31"/>
    <p:sldId id="662" r:id="rId32"/>
    <p:sldId id="677" r:id="rId33"/>
    <p:sldId id="681" r:id="rId34"/>
    <p:sldId id="682" r:id="rId35"/>
    <p:sldId id="578" r:id="rId36"/>
    <p:sldId id="673" r:id="rId37"/>
    <p:sldId id="675" r:id="rId38"/>
    <p:sldId id="676" r:id="rId39"/>
    <p:sldId id="277" r:id="rId40"/>
    <p:sldId id="716" r:id="rId41"/>
    <p:sldId id="628" r:id="rId42"/>
    <p:sldId id="664" r:id="rId43"/>
    <p:sldId id="629" r:id="rId44"/>
    <p:sldId id="499" r:id="rId45"/>
    <p:sldId id="550" r:id="rId46"/>
    <p:sldId id="546" r:id="rId47"/>
    <p:sldId id="711" r:id="rId48"/>
    <p:sldId id="712" r:id="rId49"/>
    <p:sldId id="713" r:id="rId50"/>
    <p:sldId id="721" r:id="rId51"/>
    <p:sldId id="722" r:id="rId52"/>
    <p:sldId id="604" r:id="rId53"/>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714"/>
            <p14:sldId id="689"/>
            <p14:sldId id="697"/>
            <p14:sldId id="691"/>
            <p14:sldId id="698"/>
            <p14:sldId id="699"/>
            <p14:sldId id="694"/>
            <p14:sldId id="695"/>
            <p14:sldId id="718"/>
            <p14:sldId id="719"/>
            <p14:sldId id="720"/>
            <p14:sldId id="696"/>
            <p14:sldId id="693"/>
            <p14:sldId id="700"/>
            <p14:sldId id="701"/>
            <p14:sldId id="708"/>
            <p14:sldId id="704"/>
            <p14:sldId id="705"/>
            <p14:sldId id="709"/>
            <p14:sldId id="514"/>
            <p14:sldId id="262"/>
          </p14:sldIdLst>
        </p14:section>
        <p14:section name="Lesson 2" id="{BA52E22A-2377-4E73-A5E3-1699CA06DA57}">
          <p14:sldIdLst>
            <p14:sldId id="715"/>
            <p14:sldId id="687"/>
            <p14:sldId id="658"/>
            <p14:sldId id="679"/>
            <p14:sldId id="717"/>
            <p14:sldId id="661"/>
            <p14:sldId id="662"/>
            <p14:sldId id="677"/>
            <p14:sldId id="681"/>
            <p14:sldId id="682"/>
            <p14:sldId id="578"/>
            <p14:sldId id="673"/>
            <p14:sldId id="675"/>
            <p14:sldId id="676"/>
            <p14:sldId id="277"/>
            <p14:sldId id="716"/>
            <p14:sldId id="628"/>
            <p14:sldId id="664"/>
            <p14:sldId id="629"/>
            <p14:sldId id="499"/>
            <p14:sldId id="550"/>
            <p14:sldId id="546"/>
            <p14:sldId id="711"/>
            <p14:sldId id="712"/>
            <p14:sldId id="713"/>
            <p14:sldId id="721"/>
            <p14:sldId id="722"/>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73" autoAdjust="0"/>
    <p:restoredTop sz="79562" autoAdjust="0"/>
  </p:normalViewPr>
  <p:slideViewPr>
    <p:cSldViewPr snapToGrid="0" snapToObjects="1">
      <p:cViewPr>
        <p:scale>
          <a:sx n="60" d="100"/>
          <a:sy n="60" d="100"/>
        </p:scale>
        <p:origin x="-28" y="-492"/>
      </p:cViewPr>
      <p:guideLst/>
    </p:cSldViewPr>
  </p:slideViewPr>
  <p:outlineViewPr>
    <p:cViewPr>
      <p:scale>
        <a:sx n="33" d="100"/>
        <a:sy n="33" d="100"/>
      </p:scale>
      <p:origin x="0" y="-9996"/>
    </p:cViewPr>
  </p:outlineViewPr>
  <p:notesTextViewPr>
    <p:cViewPr>
      <p:scale>
        <a:sx n="3" d="2"/>
        <a:sy n="3" d="2"/>
      </p:scale>
      <p:origin x="0" y="0"/>
    </p:cViewPr>
  </p:notesTextViewPr>
  <p:sorterViewPr>
    <p:cViewPr>
      <p:scale>
        <a:sx n="90" d="100"/>
        <a:sy n="90" d="100"/>
      </p:scale>
      <p:origin x="0" y="-520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C6B5E-0F3B-C2CE-5210-A26D47DDA0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168D10-80A5-07DB-5748-66FCFFC83B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059A0E-17D3-74B7-73D9-410CE8A39634}"/>
              </a:ext>
            </a:extLst>
          </p:cNvPr>
          <p:cNvSpPr>
            <a:spLocks noGrp="1"/>
          </p:cNvSpPr>
          <p:nvPr>
            <p:ph type="body" idx="1"/>
          </p:nvPr>
        </p:nvSpPr>
        <p:spPr/>
        <p:txBody>
          <a:bodyPr/>
          <a:lstStyle/>
          <a:p>
            <a:r>
              <a:rPr lang="en-US" dirty="0"/>
              <a:t>What's a promise? Do promises have other important properties?  Yes, we will get to that in few minutes.</a:t>
            </a:r>
          </a:p>
        </p:txBody>
      </p:sp>
    </p:spTree>
    <p:extLst>
      <p:ext uri="{BB962C8B-B14F-4D97-AF65-F5344CB8AC3E}">
        <p14:creationId xmlns:p14="http://schemas.microsoft.com/office/powerpoint/2010/main" val="12652229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write a promise-returning function?</a:t>
            </a:r>
          </a:p>
        </p:txBody>
      </p:sp>
    </p:spTree>
    <p:extLst>
      <p:ext uri="{BB962C8B-B14F-4D97-AF65-F5344CB8AC3E}">
        <p14:creationId xmlns:p14="http://schemas.microsoft.com/office/powerpoint/2010/main" val="56955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7A05-1822-2350-8D1E-01AB2EBF98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0825A7-0017-0E77-6539-7B85A3E6A9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BA8A13-8E08-6DD4-900B-B2EF959C49AD}"/>
              </a:ext>
            </a:extLst>
          </p:cNvPr>
          <p:cNvSpPr>
            <a:spLocks noGrp="1"/>
          </p:cNvSpPr>
          <p:nvPr>
            <p:ph type="body" idx="1"/>
          </p:nvPr>
        </p:nvSpPr>
        <p:spPr/>
        <p:txBody>
          <a:bodyPr/>
          <a:lstStyle/>
          <a:p>
            <a:r>
              <a:rPr lang="en-US" dirty="0"/>
              <a:t>Good question!  We'll answer</a:t>
            </a:r>
          </a:p>
        </p:txBody>
      </p:sp>
    </p:spTree>
    <p:extLst>
      <p:ext uri="{BB962C8B-B14F-4D97-AF65-F5344CB8AC3E}">
        <p14:creationId xmlns:p14="http://schemas.microsoft.com/office/powerpoint/2010/main" val="18123974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9C2A8-AC3A-92BE-0F5C-C6F03F9A90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D3DD0-B5D2-8075-5BCC-F28A38DDA7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F49A96-A576-8F61-A3A1-49E7667E0A93}"/>
              </a:ext>
            </a:extLst>
          </p:cNvPr>
          <p:cNvSpPr>
            <a:spLocks noGrp="1"/>
          </p:cNvSpPr>
          <p:nvPr>
            <p:ph type="body" idx="1"/>
          </p:nvPr>
        </p:nvSpPr>
        <p:spPr/>
        <p:txBody>
          <a:bodyPr/>
          <a:lstStyle/>
          <a:p>
            <a:r>
              <a:rPr lang="en-US" dirty="0"/>
              <a:t>Promises have other properties, too, but this is the most important thing.</a:t>
            </a:r>
          </a:p>
          <a:p>
            <a:r>
              <a:rPr lang="en-US" dirty="0"/>
              <a:t>(Note the types)</a:t>
            </a:r>
          </a:p>
        </p:txBody>
      </p:sp>
    </p:spTree>
    <p:extLst>
      <p:ext uri="{BB962C8B-B14F-4D97-AF65-F5344CB8AC3E}">
        <p14:creationId xmlns:p14="http://schemas.microsoft.com/office/powerpoint/2010/main" val="16573575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D7FAA-ED8F-AF38-08CA-E350FB8B5F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B3536F-65B9-8B30-278C-44AD1ECA79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471173-FE31-A6BD-3BD1-C278A91D88C5}"/>
              </a:ext>
            </a:extLst>
          </p:cNvPr>
          <p:cNvSpPr>
            <a:spLocks noGrp="1"/>
          </p:cNvSpPr>
          <p:nvPr>
            <p:ph type="body" idx="1"/>
          </p:nvPr>
        </p:nvSpPr>
        <p:spPr/>
        <p:txBody>
          <a:bodyPr/>
          <a:lstStyle/>
          <a:p>
            <a:r>
              <a:rPr lang="en-US" dirty="0"/>
              <a:t>Promises have other properties, too, but this is the most important thing.</a:t>
            </a:r>
          </a:p>
          <a:p>
            <a:r>
              <a:rPr lang="en-US" dirty="0"/>
              <a:t>(Note the types)</a:t>
            </a:r>
          </a:p>
        </p:txBody>
      </p:sp>
    </p:spTree>
    <p:extLst>
      <p:ext uri="{BB962C8B-B14F-4D97-AF65-F5344CB8AC3E}">
        <p14:creationId xmlns:p14="http://schemas.microsoft.com/office/powerpoint/2010/main" val="11822832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8A64C-CAB3-C585-F6ED-0164A672AD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54F2D-F98E-B976-5D67-88760D280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5F7C71-E05E-F0EB-8C80-6F83C43D88A5}"/>
              </a:ext>
            </a:extLst>
          </p:cNvPr>
          <p:cNvSpPr>
            <a:spLocks noGrp="1"/>
          </p:cNvSpPr>
          <p:nvPr>
            <p:ph type="body" idx="1"/>
          </p:nvPr>
        </p:nvSpPr>
        <p:spPr/>
        <p:txBody>
          <a:bodyPr/>
          <a:lstStyle/>
          <a:p>
            <a:r>
              <a:rPr lang="en-US" dirty="0"/>
              <a:t>Promises have other properties, too, but this is the most important thing.</a:t>
            </a:r>
          </a:p>
          <a:p>
            <a:r>
              <a:rPr lang="en-US" dirty="0"/>
              <a:t>(Note the types)</a:t>
            </a:r>
          </a:p>
        </p:txBody>
      </p:sp>
    </p:spTree>
    <p:extLst>
      <p:ext uri="{BB962C8B-B14F-4D97-AF65-F5344CB8AC3E}">
        <p14:creationId xmlns:p14="http://schemas.microsoft.com/office/powerpoint/2010/main" val="1217674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550FF-1BE8-4511-B4BD-B5BAB90D36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DF795F-3591-66E0-B8BF-F8501CA0B2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D4CB9-CAB3-FC99-1FAE-E0623DE23B15}"/>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774456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CED5A-1015-526C-9DEF-31C905DBAE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8E349-05F2-DD1D-CD95-737BCE04ED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78C41A-5D44-7040-845B-9C4C34302868}"/>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2834137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C7501-4FB4-193A-DF7C-0526586EC9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68E562-BF72-1F62-6075-A95AA8957A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76254B-B5A9-A065-6963-BBC9A62FD3D2}"/>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7163594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06FED-6056-F01D-B07D-09A251CC26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ED788D-D79C-4106-3F52-BBD3F4151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BC9621-760B-B5DA-2DB3-E09078F4B4D3}"/>
              </a:ext>
            </a:extLst>
          </p:cNvPr>
          <p:cNvSpPr>
            <a:spLocks noGrp="1"/>
          </p:cNvSpPr>
          <p:nvPr>
            <p:ph type="body" idx="1"/>
          </p:nvPr>
        </p:nvSpPr>
        <p:spPr/>
        <p:txBody>
          <a:bodyPr/>
          <a:lstStyle/>
          <a:p>
            <a:r>
              <a:rPr lang="en-US" dirty="0"/>
              <a:t>If my function uses a promise, and creates a promise, where do promises come from in the first place?</a:t>
            </a:r>
          </a:p>
        </p:txBody>
      </p:sp>
    </p:spTree>
    <p:extLst>
      <p:ext uri="{BB962C8B-B14F-4D97-AF65-F5344CB8AC3E}">
        <p14:creationId xmlns:p14="http://schemas.microsoft.com/office/powerpoint/2010/main" val="26961206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65437-55A6-EF53-7C64-839809E9F9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24AAFC-A6CF-2A20-A060-2988E403E3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0BB1F-1497-1F6A-DF52-0E4E158A5BA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018373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A calls B, B calls C, C calls </a:t>
            </a:r>
            <a:r>
              <a:rPr lang="en-US" dirty="0" err="1"/>
              <a:t>myfetch</a:t>
            </a:r>
            <a:r>
              <a:rPr lang="en-US" dirty="0"/>
              <a:t>, which creates a promise.  C prints C2 and returns to its caller B.  B prints B2 and returns to its caller A.  A prints A2, and finishes.   But this didn't show much-- there was nothing to interrupt the execution.</a:t>
            </a:r>
          </a:p>
        </p:txBody>
      </p:sp>
    </p:spTree>
    <p:extLst>
      <p:ext uri="{BB962C8B-B14F-4D97-AF65-F5344CB8AC3E}">
        <p14:creationId xmlns:p14="http://schemas.microsoft.com/office/powerpoint/2010/main" val="22956347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C3CC9-F253-1FAD-7718-6438082E4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BA59F9-10F1-B37E-1BA9-DB17BDAE5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FC027-5878-6749-171D-618394EAF97B}"/>
              </a:ext>
            </a:extLst>
          </p:cNvPr>
          <p:cNvSpPr>
            <a:spLocks noGrp="1"/>
          </p:cNvSpPr>
          <p:nvPr>
            <p:ph type="body" idx="1"/>
          </p:nvPr>
        </p:nvSpPr>
        <p:spPr/>
        <p:txBody>
          <a:bodyPr/>
          <a:lstStyle/>
          <a:p>
            <a:r>
              <a:rPr lang="en-US" dirty="0"/>
              <a:t>Here's an example.  A calls B, B calls C, C calls </a:t>
            </a:r>
            <a:r>
              <a:rPr lang="en-US" dirty="0" err="1"/>
              <a:t>myfetch</a:t>
            </a:r>
            <a:r>
              <a:rPr lang="en-US" dirty="0"/>
              <a:t>, which creates a promise.  C prints C2 and returns to its caller B.  B prints B2 and returns to its caller A.  A prints A2, and finishes.   But this didn't show much-- there was nothing to interrupt the execution.</a:t>
            </a:r>
          </a:p>
        </p:txBody>
      </p:sp>
    </p:spTree>
    <p:extLst>
      <p:ext uri="{BB962C8B-B14F-4D97-AF65-F5344CB8AC3E}">
        <p14:creationId xmlns:p14="http://schemas.microsoft.com/office/powerpoint/2010/main" val="38415883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more interesting example.  Let's imagine we have another file </a:t>
            </a:r>
            <a:r>
              <a:rPr lang="en-US" dirty="0" err="1"/>
              <a:t>xyz.ts</a:t>
            </a:r>
            <a:r>
              <a:rPr lang="en-US" dirty="0"/>
              <a:t>, which exports a function X which calls Y which calls Z (just like </a:t>
            </a:r>
            <a:r>
              <a:rPr lang="en-US" dirty="0" err="1"/>
              <a:t>abc.ts</a:t>
            </a:r>
            <a:r>
              <a:rPr lang="en-US" dirty="0"/>
              <a:t>).</a:t>
            </a:r>
          </a:p>
          <a:p>
            <a:endParaRPr lang="en-US" dirty="0"/>
          </a:p>
          <a:p>
            <a:r>
              <a:rPr lang="en-US" dirty="0"/>
              <a:t>And now let's try running these two functions concurrently.   The syntax for that is </a:t>
            </a:r>
            <a:r>
              <a:rPr lang="en-US" dirty="0" err="1"/>
              <a:t>Promise.all</a:t>
            </a:r>
            <a:r>
              <a:rPr lang="en-US" dirty="0"/>
              <a:t>, which takes a /list/ of calls to async functions, and evaluates them concurrently.</a:t>
            </a:r>
          </a:p>
          <a:p>
            <a:endParaRPr lang="en-US" dirty="0"/>
          </a:p>
          <a:p>
            <a:r>
              <a:rPr lang="en-US" dirty="0"/>
              <a:t>Let's try running A() from </a:t>
            </a:r>
            <a:r>
              <a:rPr lang="en-US" dirty="0" err="1"/>
              <a:t>abc.ts</a:t>
            </a:r>
            <a:r>
              <a:rPr lang="en-US" dirty="0"/>
              <a:t> and X from </a:t>
            </a:r>
            <a:r>
              <a:rPr lang="en-US" dirty="0" err="1"/>
              <a:t>xyz.ts</a:t>
            </a:r>
            <a:r>
              <a:rPr lang="en-US" dirty="0"/>
              <a:t> (which is just like </a:t>
            </a:r>
            <a:r>
              <a:rPr lang="en-US" dirty="0" err="1"/>
              <a:t>abc.ts</a:t>
            </a:r>
            <a:r>
              <a:rPr lang="en-US" dirty="0"/>
              <a:t>): X calls Y calls Z.</a:t>
            </a:r>
          </a:p>
        </p:txBody>
      </p:sp>
    </p:spTree>
    <p:extLst>
      <p:ext uri="{BB962C8B-B14F-4D97-AF65-F5344CB8AC3E}">
        <p14:creationId xmlns:p14="http://schemas.microsoft.com/office/powerpoint/2010/main" val="34983826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&lt;Be sure to demo this several times to illustrate out-of-order completion&gt;</a:t>
            </a:r>
          </a:p>
        </p:txBody>
      </p:sp>
    </p:spTree>
    <p:extLst>
      <p:ext uri="{BB962C8B-B14F-4D97-AF65-F5344CB8AC3E}">
        <p14:creationId xmlns:p14="http://schemas.microsoft.com/office/powerpoint/2010/main" val="24007430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have only 3 critical sections:  the end of ABC continues </a:t>
            </a:r>
            <a:r>
              <a:rPr lang="en-US" dirty="0" err="1"/>
              <a:t>uninterruptibly</a:t>
            </a:r>
            <a:r>
              <a:rPr lang="en-US" dirty="0"/>
              <a:t> to the console.log(&gt;&gt;&gt;&gt;&gt;) and then </a:t>
            </a:r>
            <a:r>
              <a:rPr lang="en-US" dirty="0" err="1"/>
              <a:t>uninterruptibly</a:t>
            </a:r>
            <a:r>
              <a:rPr lang="en-US" dirty="0"/>
              <a:t> to the beginning of XYZ</a:t>
            </a:r>
          </a:p>
        </p:txBody>
      </p:sp>
    </p:spTree>
    <p:extLst>
      <p:ext uri="{BB962C8B-B14F-4D97-AF65-F5344CB8AC3E}">
        <p14:creationId xmlns:p14="http://schemas.microsoft.com/office/powerpoint/2010/main" val="38693108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Now we have enough to show the general pattern.  </a:t>
            </a:r>
            <a:r>
              <a:rPr lang="en-US" dirty="0" err="1"/>
              <a:t>fakeRequest</a:t>
            </a:r>
            <a:r>
              <a:rPr lang="en-US" dirty="0"/>
              <a:t> calls </a:t>
            </a:r>
            <a:r>
              <a:rPr lang="en-US" b="1" dirty="0"/>
              <a:t>fetch</a:t>
            </a:r>
            <a:endParaRPr lang="en-US" dirty="0"/>
          </a:p>
        </p:txBody>
      </p:sp>
    </p:spTree>
    <p:extLst>
      <p:ext uri="{BB962C8B-B14F-4D97-AF65-F5344CB8AC3E}">
        <p14:creationId xmlns:p14="http://schemas.microsoft.com/office/powerpoint/2010/main" val="19917182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14C2E-1775-6954-B46D-E1BB6A9BCF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5F0B9E-AD51-B909-2E87-C1D7781D72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4780E8-21D9-0537-297B-91D9099575DA}"/>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219913282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this was an experiment Prof. Wand conducted a few semesters ago)</a:t>
            </a:r>
          </a:p>
          <a:p>
            <a:endParaRPr lang="en-US" dirty="0"/>
          </a:p>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18236548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ADD2E-CE0A-3316-E633-3DAB86AA99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9FA54F-7979-A519-F9FE-4AF7F3BF5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BC488C-DB67-859D-DE90-34A06B62500C}"/>
              </a:ext>
            </a:extLst>
          </p:cNvPr>
          <p:cNvSpPr>
            <a:spLocks noGrp="1"/>
          </p:cNvSpPr>
          <p:nvPr>
            <p:ph type="body" idx="1"/>
          </p:nvPr>
        </p:nvSpPr>
        <p:spPr/>
        <p:txBody>
          <a:bodyPr/>
          <a:lstStyle/>
          <a:p>
            <a:r>
              <a:rPr lang="en-US" dirty="0"/>
              <a:t>Here's a question we asked a while back.  Now we're ready for a more complete answer.</a:t>
            </a:r>
          </a:p>
        </p:txBody>
      </p:sp>
    </p:spTree>
    <p:extLst>
      <p:ext uri="{BB962C8B-B14F-4D97-AF65-F5344CB8AC3E}">
        <p14:creationId xmlns:p14="http://schemas.microsoft.com/office/powerpoint/2010/main" val="14367382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29306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7FCD8-59E7-2658-5011-B821ED7466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7EB317-4FC4-624C-1B22-E013C01343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B75BA9-817C-87F3-6100-8348BA2CE3A0}"/>
              </a:ext>
            </a:extLst>
          </p:cNvPr>
          <p:cNvSpPr>
            <a:spLocks noGrp="1"/>
          </p:cNvSpPr>
          <p:nvPr>
            <p:ph type="body" idx="1"/>
          </p:nvPr>
        </p:nvSpPr>
        <p:spPr/>
        <p:txBody>
          <a:bodyPr/>
          <a:lstStyle/>
          <a:p>
            <a:r>
              <a:rPr lang="en-US" dirty="0"/>
              <a:t>Here we have only 3 critical sections:  the end of ABC continues </a:t>
            </a:r>
            <a:r>
              <a:rPr lang="en-US" dirty="0" err="1"/>
              <a:t>uninterruptibly</a:t>
            </a:r>
            <a:r>
              <a:rPr lang="en-US" dirty="0"/>
              <a:t> to the console.log(&gt;&gt;&gt;&gt;&gt;) and then </a:t>
            </a:r>
            <a:r>
              <a:rPr lang="en-US" dirty="0" err="1"/>
              <a:t>uninterruptibly</a:t>
            </a:r>
            <a:r>
              <a:rPr lang="en-US" dirty="0"/>
              <a:t> to the beginning of XYZ</a:t>
            </a:r>
          </a:p>
        </p:txBody>
      </p:sp>
    </p:spTree>
    <p:extLst>
      <p:ext uri="{BB962C8B-B14F-4D97-AF65-F5344CB8AC3E}">
        <p14:creationId xmlns:p14="http://schemas.microsoft.com/office/powerpoint/2010/main" val="198798457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52</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1/29/2026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hyperlink" Target="https://creativecommons.org/licenses/by-nc/3.0/" TargetMode="External"/><Relationship Id="rId4" Type="http://schemas.openxmlformats.org/officeDocument/2006/relationships/hyperlink" Target="https://www.pngall.com/stork-png/download/31773"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6.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09: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order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a:p>
            <a:r>
              <a:rPr lang="en-US" b="1" dirty="0"/>
              <a:t>async</a:t>
            </a:r>
            <a:r>
              <a:rPr lang="en-US" dirty="0"/>
              <a:t> is Typescript's way of handling this</a:t>
            </a:r>
            <a:endParaRPr lang="en-US" b="1" dirty="0"/>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892C1-3CE3-9778-344D-F754E0F65005}"/>
              </a:ext>
            </a:extLst>
          </p:cNvPr>
          <p:cNvSpPr>
            <a:spLocks noGrp="1"/>
          </p:cNvSpPr>
          <p:nvPr>
            <p:ph type="title"/>
          </p:nvPr>
        </p:nvSpPr>
        <p:spPr/>
        <p:txBody>
          <a:bodyPr/>
          <a:lstStyle/>
          <a:p>
            <a:r>
              <a:rPr lang="en-US" dirty="0"/>
              <a:t>Lesson 1: Basic terminology</a:t>
            </a:r>
          </a:p>
        </p:txBody>
      </p:sp>
      <p:sp>
        <p:nvSpPr>
          <p:cNvPr id="3" name="Content Placeholder 2">
            <a:extLst>
              <a:ext uri="{FF2B5EF4-FFF2-40B4-BE49-F238E27FC236}">
                <a16:creationId xmlns:a16="http://schemas.microsoft.com/office/drawing/2014/main" id="{6CE6AAB5-D817-A9E7-CAF7-BEE3F297A80B}"/>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AC0452EB-218A-5894-D364-FDE34B88335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14045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6D2A5D-12EF-57BA-A37A-ECB80A821716}"/>
              </a:ext>
            </a:extLst>
          </p:cNvPr>
          <p:cNvSpPr>
            <a:spLocks noGrp="1"/>
          </p:cNvSpPr>
          <p:nvPr>
            <p:ph idx="1"/>
          </p:nvPr>
        </p:nvSpPr>
        <p:spPr>
          <a:xfrm>
            <a:off x="838200" y="1727065"/>
            <a:ext cx="9578009" cy="4351338"/>
          </a:xfrm>
        </p:spPr>
        <p:txBody>
          <a:bodyPr>
            <a:normAutofit/>
          </a:bodyPr>
          <a:lstStyle/>
          <a:p>
            <a:r>
              <a:rPr lang="en-US" dirty="0"/>
              <a:t>An ordinary function might have type</a:t>
            </a:r>
          </a:p>
          <a:p>
            <a:endParaRPr lang="en-US" dirty="0"/>
          </a:p>
          <a:p>
            <a:endParaRPr lang="en-US" dirty="0"/>
          </a:p>
          <a:p>
            <a:r>
              <a:rPr lang="en-US" dirty="0"/>
              <a:t>A long-executing function will have type</a:t>
            </a:r>
          </a:p>
          <a:p>
            <a:endParaRPr lang="en-US" dirty="0"/>
          </a:p>
          <a:p>
            <a:endParaRPr lang="en-US" dirty="0"/>
          </a:p>
          <a:p>
            <a:endParaRPr lang="en-US" dirty="0"/>
          </a:p>
          <a:p>
            <a:endParaRPr lang="en-US" dirty="0"/>
          </a:p>
        </p:txBody>
      </p:sp>
      <p:sp>
        <p:nvSpPr>
          <p:cNvPr id="2" name="Title 1">
            <a:extLst>
              <a:ext uri="{FF2B5EF4-FFF2-40B4-BE49-F238E27FC236}">
                <a16:creationId xmlns:a16="http://schemas.microsoft.com/office/drawing/2014/main" id="{E2CFBE65-738D-6CF2-6368-E21242C7BB1C}"/>
              </a:ext>
            </a:extLst>
          </p:cNvPr>
          <p:cNvSpPr>
            <a:spLocks noGrp="1"/>
          </p:cNvSpPr>
          <p:nvPr>
            <p:ph type="title"/>
          </p:nvPr>
        </p:nvSpPr>
        <p:spPr/>
        <p:txBody>
          <a:bodyPr/>
          <a:lstStyle/>
          <a:p>
            <a:r>
              <a:rPr lang="en-US" dirty="0"/>
              <a:t>Typescript types distinguish functions that take a long time to return</a:t>
            </a:r>
          </a:p>
        </p:txBody>
      </p:sp>
      <p:sp>
        <p:nvSpPr>
          <p:cNvPr id="4" name="Slide Number Placeholder 3">
            <a:extLst>
              <a:ext uri="{FF2B5EF4-FFF2-40B4-BE49-F238E27FC236}">
                <a16:creationId xmlns:a16="http://schemas.microsoft.com/office/drawing/2014/main" id="{481B51C9-78D2-0DE5-2B50-38A68669FD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5A096E1-6B53-DAA1-4663-CFC7E3A87E10}"/>
              </a:ext>
            </a:extLst>
          </p:cNvPr>
          <p:cNvSpPr txBox="1"/>
          <p:nvPr/>
        </p:nvSpPr>
        <p:spPr>
          <a:xfrm>
            <a:off x="1481346" y="2496336"/>
            <a:ext cx="6097656" cy="79348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228600" marR="0" lvl="0" indent="-228600" algn="l" defTabSz="914400" rtl="0" eaLnBrk="1" fontAlgn="auto" latinLnBrk="0" hangingPunct="1">
              <a:lnSpc>
                <a:spcPts val="1425"/>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a:t>
            </a:r>
            <a:r>
              <a:rPr kumimoji="0" lang="en-US" sz="2400" b="0" i="0" u="none" strike="noStrike" kern="1200" cap="none" spc="0" normalizeH="0" baseline="0" noProof="0" dirty="0" err="1">
                <a:ln>
                  <a:noFill/>
                </a:ln>
                <a:solidFill>
                  <a:srgbClr val="001080"/>
                </a:solidFill>
                <a:effectLst/>
                <a:uLnTx/>
                <a:uFillTx/>
                <a:latin typeface="Consolas" panose="020B0609020204030204" pitchFamily="49" charset="0"/>
                <a:ea typeface="Verdana" panose="020B0604030504040204" pitchFamily="34" charset="0"/>
                <a:cs typeface="+mn-cs"/>
              </a:rPr>
              <a:t>arg</a:t>
            </a:r>
            <a:r>
              <a:rPr kumimoji="0" lang="en-US" sz="2400" b="0" i="0" u="none" strike="noStrike" kern="1200" cap="none" spc="0" normalizeH="0" baseline="0" noProof="0" dirty="0" err="1">
                <a:ln>
                  <a:noFill/>
                </a:ln>
                <a:solidFill>
                  <a:srgbClr val="000000"/>
                </a:solidFill>
                <a:effectLst/>
                <a:uLnTx/>
                <a:uFillTx/>
                <a:latin typeface="Consolas" panose="020B0609020204030204" pitchFamily="49" charset="0"/>
                <a:ea typeface="Verdana" panose="020B0604030504040204" pitchFamily="34" charset="0"/>
                <a:cs typeface="+mn-cs"/>
              </a:rPr>
              <a:t>:</a:t>
            </a:r>
            <a:r>
              <a:rPr kumimoji="0" lang="en-US" sz="2400" b="0" i="0" u="none" strike="noStrike" kern="1200" cap="none" spc="0" normalizeH="0" baseline="0" noProof="0" dirty="0" err="1">
                <a:ln>
                  <a:noFill/>
                </a:ln>
                <a:solidFill>
                  <a:srgbClr val="267F99"/>
                </a:solidFill>
                <a:effectLst/>
                <a:uLnTx/>
                <a:uFillTx/>
                <a:latin typeface="Consolas" panose="020B0609020204030204" pitchFamily="49" charset="0"/>
                <a:ea typeface="Verdana" panose="020B0604030504040204" pitchFamily="34" charset="0"/>
                <a:cs typeface="+mn-cs"/>
              </a:rPr>
              <a:t>number</a:t>
            </a: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 </a:t>
            </a:r>
            <a:r>
              <a:rPr kumimoji="0" lang="en-US" sz="2400" b="0" i="0" u="none" strike="noStrike" kern="1200" cap="none" spc="0" normalizeH="0" baseline="0" noProof="0" dirty="0">
                <a:ln>
                  <a:noFill/>
                </a:ln>
                <a:solidFill>
                  <a:srgbClr val="0000FF"/>
                </a:solidFill>
                <a:effectLst/>
                <a:uLnTx/>
                <a:uFillTx/>
                <a:latin typeface="Consolas" panose="020B0609020204030204" pitchFamily="49" charset="0"/>
                <a:ea typeface="Verdana" panose="020B0604030504040204" pitchFamily="34" charset="0"/>
                <a:cs typeface="+mn-cs"/>
              </a:rPr>
              <a:t>=&gt;</a:t>
            </a: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 </a:t>
            </a:r>
            <a:r>
              <a:rPr kumimoji="0" lang="en-US" sz="2400" b="0" i="0" u="none" strike="noStrike" kern="1200" cap="none" spc="0" normalizeH="0" baseline="0" noProof="0" dirty="0">
                <a:ln>
                  <a:noFill/>
                </a:ln>
                <a:solidFill>
                  <a:srgbClr val="267F99"/>
                </a:solidFill>
                <a:effectLst/>
                <a:uLnTx/>
                <a:uFillTx/>
                <a:latin typeface="Consolas" panose="020B0609020204030204" pitchFamily="49" charset="0"/>
                <a:ea typeface="Verdana" panose="020B0604030504040204" pitchFamily="34" charset="0"/>
                <a:cs typeface="+mn-cs"/>
              </a:rPr>
              <a:t>number</a:t>
            </a: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a:t>
            </a:r>
          </a:p>
          <a:p>
            <a:pPr marL="228600" marR="0" lvl="0" indent="-228600" algn="l" defTabSz="914400" rtl="0" eaLnBrk="1" fontAlgn="auto" latinLnBrk="0" hangingPunct="1">
              <a:lnSpc>
                <a:spcPts val="1425"/>
              </a:lnSpc>
              <a:spcBef>
                <a:spcPts val="1000"/>
              </a:spcBef>
              <a:spcAft>
                <a:spcPts val="0"/>
              </a:spcAft>
              <a:buClrTx/>
              <a:buSzTx/>
              <a:buFont typeface="Arial" panose="020B0604020202020204" pitchFamily="34" charset="0"/>
              <a:buNone/>
              <a:tabLst/>
              <a:defRPr/>
            </a:pPr>
            <a:b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br>
            <a:endPar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endParaRPr>
          </a:p>
        </p:txBody>
      </p:sp>
      <p:sp>
        <p:nvSpPr>
          <p:cNvPr id="10" name="TextBox 9">
            <a:extLst>
              <a:ext uri="{FF2B5EF4-FFF2-40B4-BE49-F238E27FC236}">
                <a16:creationId xmlns:a16="http://schemas.microsoft.com/office/drawing/2014/main" id="{E129438A-B907-099E-BA75-E425760151AA}"/>
              </a:ext>
            </a:extLst>
          </p:cNvPr>
          <p:cNvSpPr txBox="1"/>
          <p:nvPr/>
        </p:nvSpPr>
        <p:spPr>
          <a:xfrm>
            <a:off x="1393963" y="3906007"/>
            <a:ext cx="6763578" cy="30617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228600" marR="0" lvl="0" indent="-228600" algn="l" defTabSz="914400" rtl="0" eaLnBrk="1" fontAlgn="auto" latinLnBrk="0" hangingPunct="1">
              <a:lnSpc>
                <a:spcPts val="1425"/>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a:t>
            </a:r>
            <a:r>
              <a:rPr kumimoji="0" lang="en-US" sz="2400" b="0" i="0" u="none" strike="noStrike" kern="1200" cap="none" spc="0" normalizeH="0" baseline="0" noProof="0" dirty="0" err="1">
                <a:ln>
                  <a:noFill/>
                </a:ln>
                <a:solidFill>
                  <a:srgbClr val="001080"/>
                </a:solidFill>
                <a:effectLst/>
                <a:uLnTx/>
                <a:uFillTx/>
                <a:latin typeface="Consolas" panose="020B0609020204030204" pitchFamily="49" charset="0"/>
                <a:ea typeface="Verdana" panose="020B0604030504040204" pitchFamily="34" charset="0"/>
                <a:cs typeface="+mn-cs"/>
              </a:rPr>
              <a:t>arg</a:t>
            </a:r>
            <a:r>
              <a:rPr kumimoji="0" lang="en-US" sz="2400" b="0" i="0" u="none" strike="noStrike" kern="1200" cap="none" spc="0" normalizeH="0" baseline="0" noProof="0" dirty="0" err="1">
                <a:ln>
                  <a:noFill/>
                </a:ln>
                <a:solidFill>
                  <a:srgbClr val="000000"/>
                </a:solidFill>
                <a:effectLst/>
                <a:uLnTx/>
                <a:uFillTx/>
                <a:latin typeface="Consolas" panose="020B0609020204030204" pitchFamily="49" charset="0"/>
                <a:ea typeface="Verdana" panose="020B0604030504040204" pitchFamily="34" charset="0"/>
                <a:cs typeface="+mn-cs"/>
              </a:rPr>
              <a:t>:</a:t>
            </a:r>
            <a:r>
              <a:rPr kumimoji="0" lang="en-US" sz="2400" b="0" i="0" u="none" strike="noStrike" kern="1200" cap="none" spc="0" normalizeH="0" baseline="0" noProof="0" dirty="0" err="1">
                <a:ln>
                  <a:noFill/>
                </a:ln>
                <a:solidFill>
                  <a:srgbClr val="267F99"/>
                </a:solidFill>
                <a:effectLst/>
                <a:uLnTx/>
                <a:uFillTx/>
                <a:latin typeface="Consolas" panose="020B0609020204030204" pitchFamily="49" charset="0"/>
                <a:ea typeface="Verdana" panose="020B0604030504040204" pitchFamily="34" charset="0"/>
                <a:cs typeface="+mn-cs"/>
              </a:rPr>
              <a:t>number</a:t>
            </a: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 </a:t>
            </a:r>
            <a:r>
              <a:rPr kumimoji="0" lang="en-US" sz="2400" b="0" i="0" u="none" strike="noStrike" kern="1200" cap="none" spc="0" normalizeH="0" baseline="0" noProof="0" dirty="0">
                <a:ln>
                  <a:noFill/>
                </a:ln>
                <a:solidFill>
                  <a:srgbClr val="0000FF"/>
                </a:solidFill>
                <a:effectLst/>
                <a:uLnTx/>
                <a:uFillTx/>
                <a:latin typeface="Consolas" panose="020B0609020204030204" pitchFamily="49" charset="0"/>
                <a:ea typeface="Verdana" panose="020B0604030504040204" pitchFamily="34" charset="0"/>
                <a:cs typeface="+mn-cs"/>
              </a:rPr>
              <a:t>=&gt;</a:t>
            </a: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 </a:t>
            </a:r>
            <a:r>
              <a:rPr kumimoji="0" lang="en-US" sz="2400" b="0" i="0" u="none" strike="noStrike" kern="1200" cap="none" spc="0" normalizeH="0" baseline="0" noProof="0" dirty="0">
                <a:ln>
                  <a:noFill/>
                </a:ln>
                <a:solidFill>
                  <a:srgbClr val="267F99"/>
                </a:solidFill>
                <a:effectLst/>
                <a:uLnTx/>
                <a:uFillTx/>
                <a:latin typeface="Consolas" panose="020B0609020204030204" pitchFamily="49" charset="0"/>
                <a:ea typeface="Verdana" panose="020B0604030504040204" pitchFamily="34" charset="0"/>
                <a:cs typeface="+mn-cs"/>
              </a:rPr>
              <a:t>Promise</a:t>
            </a: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&lt;</a:t>
            </a:r>
            <a:r>
              <a:rPr kumimoji="0" lang="en-US" sz="2400" b="0" i="0" u="none" strike="noStrike" kern="1200" cap="none" spc="0" normalizeH="0" baseline="0" noProof="0" dirty="0">
                <a:ln>
                  <a:noFill/>
                </a:ln>
                <a:solidFill>
                  <a:srgbClr val="267F99"/>
                </a:solidFill>
                <a:effectLst/>
                <a:uLnTx/>
                <a:uFillTx/>
                <a:latin typeface="Consolas" panose="020B0609020204030204" pitchFamily="49" charset="0"/>
                <a:ea typeface="Verdana" panose="020B0604030504040204" pitchFamily="34" charset="0"/>
                <a:cs typeface="+mn-cs"/>
              </a:rPr>
              <a:t>number</a:t>
            </a:r>
            <a:r>
              <a:rPr kumimoji="0" lang="en-US" sz="2400" b="0" i="0" u="none" strike="noStrike" kern="1200" cap="none" spc="0" normalizeH="0" baseline="0" noProof="0" dirty="0">
                <a:ln>
                  <a:noFill/>
                </a:ln>
                <a:solidFill>
                  <a:srgbClr val="3B3B3B"/>
                </a:solidFill>
                <a:effectLst/>
                <a:uLnTx/>
                <a:uFillTx/>
                <a:latin typeface="Consolas" panose="020B0609020204030204" pitchFamily="49" charset="0"/>
                <a:ea typeface="Verdana" panose="020B0604030504040204" pitchFamily="34" charset="0"/>
                <a:cs typeface="+mn-cs"/>
              </a:rPr>
              <a:t>&gt;;</a:t>
            </a:r>
          </a:p>
        </p:txBody>
      </p:sp>
    </p:spTree>
    <p:extLst>
      <p:ext uri="{BB962C8B-B14F-4D97-AF65-F5344CB8AC3E}">
        <p14:creationId xmlns:p14="http://schemas.microsoft.com/office/powerpoint/2010/main" val="28305572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0C0F4-F3BC-0834-1459-0DA9839CDE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A6B32C-BE07-95A8-1836-47EA57EA09E4}"/>
              </a:ext>
            </a:extLst>
          </p:cNvPr>
          <p:cNvSpPr>
            <a:spLocks noGrp="1"/>
          </p:cNvSpPr>
          <p:nvPr>
            <p:ph type="title"/>
          </p:nvPr>
        </p:nvSpPr>
        <p:spPr/>
        <p:txBody>
          <a:bodyPr/>
          <a:lstStyle/>
          <a:p>
            <a:r>
              <a:rPr lang="en-US" dirty="0"/>
              <a:t>A promise is a thing that if you </a:t>
            </a:r>
            <a:r>
              <a:rPr lang="en-US" b="1" dirty="0"/>
              <a:t>await</a:t>
            </a:r>
            <a:r>
              <a:rPr lang="en-US" dirty="0"/>
              <a:t> it, you get back a value</a:t>
            </a:r>
          </a:p>
        </p:txBody>
      </p:sp>
      <p:sp>
        <p:nvSpPr>
          <p:cNvPr id="4" name="Slide Number Placeholder 3">
            <a:extLst>
              <a:ext uri="{FF2B5EF4-FFF2-40B4-BE49-F238E27FC236}">
                <a16:creationId xmlns:a16="http://schemas.microsoft.com/office/drawing/2014/main" id="{E8ECFB1B-7255-1B47-B26D-068107177B1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2B0C07A-EE52-3C9B-48D3-FF5A8834CB47}"/>
              </a:ext>
            </a:extLst>
          </p:cNvPr>
          <p:cNvSpPr txBox="1"/>
          <p:nvPr/>
        </p:nvSpPr>
        <p:spPr>
          <a:xfrm>
            <a:off x="838199" y="1647369"/>
            <a:ext cx="8772939"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err="1">
                <a:solidFill>
                  <a:srgbClr val="001080"/>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src</a:t>
            </a:r>
            <a:r>
              <a:rPr lang="en-US" sz="2000" b="0" dirty="0">
                <a:solidFill>
                  <a:srgbClr val="A31515"/>
                </a:solidFill>
                <a:effectLst/>
                <a:latin typeface="Consolas" panose="020B0609020204030204" pitchFamily="49" charset="0"/>
              </a:rPr>
              <a:t>/Slides/</a:t>
            </a:r>
            <a:r>
              <a:rPr lang="en-US" sz="2000" b="0" dirty="0" err="1">
                <a:solidFill>
                  <a:srgbClr val="A31515"/>
                </a:solidFill>
                <a:effectLst/>
                <a:latin typeface="Consolas" panose="020B0609020204030204" pitchFamily="49" charset="0"/>
              </a:rPr>
              <a:t>myFetch</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lgn="l">
              <a:buNone/>
            </a:pP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addAsync</a:t>
            </a:r>
            <a:r>
              <a:rPr lang="en-US" sz="2000" b="0" dirty="0">
                <a:solidFill>
                  <a:srgbClr val="008000"/>
                </a:solidFill>
                <a:effectLst/>
                <a:latin typeface="Consolas" panose="020B0609020204030204" pitchFamily="49" charset="0"/>
              </a:rPr>
              <a:t> returns a promise for the sum of x and y</a:t>
            </a:r>
            <a:endParaRPr lang="en-US" sz="2000" b="0" dirty="0">
              <a:solidFill>
                <a:srgbClr val="3B3B3B"/>
              </a:solidFill>
              <a:effectLst/>
              <a:latin typeface="Consolas" panose="020B0609020204030204" pitchFamily="49" charset="0"/>
            </a:endParaRP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slowAdd</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
        <p:nvSpPr>
          <p:cNvPr id="3" name="Rectangle: Rounded Corners 2">
            <a:extLst>
              <a:ext uri="{FF2B5EF4-FFF2-40B4-BE49-F238E27FC236}">
                <a16:creationId xmlns:a16="http://schemas.microsoft.com/office/drawing/2014/main" id="{99C919E6-BBB1-FF85-C305-1AC72C4F0226}"/>
              </a:ext>
            </a:extLst>
          </p:cNvPr>
          <p:cNvSpPr/>
          <p:nvPr/>
        </p:nvSpPr>
        <p:spPr>
          <a:xfrm>
            <a:off x="7912260" y="5122642"/>
            <a:ext cx="3397755"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slowAdd.ts</a:t>
            </a:r>
            <a:endParaRPr lang="en-US" sz="2400" dirty="0">
              <a:solidFill>
                <a:schemeClr val="tx1"/>
              </a:solidFill>
            </a:endParaRPr>
          </a:p>
        </p:txBody>
      </p:sp>
    </p:spTree>
    <p:extLst>
      <p:ext uri="{BB962C8B-B14F-4D97-AF65-F5344CB8AC3E}">
        <p14:creationId xmlns:p14="http://schemas.microsoft.com/office/powerpoint/2010/main" val="2447506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10171-9C09-F458-E6F0-E66D95B8DAD6}"/>
              </a:ext>
            </a:extLst>
          </p:cNvPr>
          <p:cNvSpPr>
            <a:spLocks noGrp="1"/>
          </p:cNvSpPr>
          <p:nvPr>
            <p:ph type="title"/>
          </p:nvPr>
        </p:nvSpPr>
        <p:spPr/>
        <p:txBody>
          <a:bodyPr/>
          <a:lstStyle/>
          <a:p>
            <a:r>
              <a:rPr lang="en-US" dirty="0"/>
              <a:t>Promise-returning functions are created with </a:t>
            </a:r>
            <a:r>
              <a:rPr lang="en-US" b="1" dirty="0"/>
              <a:t>async</a:t>
            </a:r>
            <a:r>
              <a:rPr lang="en-US" dirty="0"/>
              <a:t>.</a:t>
            </a:r>
          </a:p>
        </p:txBody>
      </p:sp>
      <p:sp>
        <p:nvSpPr>
          <p:cNvPr id="4" name="Slide Number Placeholder 3">
            <a:extLst>
              <a:ext uri="{FF2B5EF4-FFF2-40B4-BE49-F238E27FC236}">
                <a16:creationId xmlns:a16="http://schemas.microsoft.com/office/drawing/2014/main" id="{DEE46F82-7ED3-2874-6F47-D815DBC86B5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0B6F76BD-CECC-8C34-1F4A-24054F18EB0E}"/>
              </a:ext>
            </a:extLst>
          </p:cNvPr>
          <p:cNvSpPr txBox="1"/>
          <p:nvPr/>
        </p:nvSpPr>
        <p:spPr>
          <a:xfrm>
            <a:off x="838199" y="1647369"/>
            <a:ext cx="8772939"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err="1">
                <a:solidFill>
                  <a:srgbClr val="001080"/>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src</a:t>
            </a:r>
            <a:r>
              <a:rPr lang="en-US" sz="2000" b="0" dirty="0">
                <a:solidFill>
                  <a:srgbClr val="A31515"/>
                </a:solidFill>
                <a:effectLst/>
                <a:latin typeface="Consolas" panose="020B0609020204030204" pitchFamily="49" charset="0"/>
              </a:rPr>
              <a:t>/Slides/</a:t>
            </a:r>
            <a:r>
              <a:rPr lang="en-US" sz="2000" b="0" dirty="0" err="1">
                <a:solidFill>
                  <a:srgbClr val="A31515"/>
                </a:solidFill>
                <a:effectLst/>
                <a:latin typeface="Consolas" panose="020B0609020204030204" pitchFamily="49" charset="0"/>
              </a:rPr>
              <a:t>myFetch</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lgn="l">
              <a:buNone/>
            </a:pP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addAsync</a:t>
            </a:r>
            <a:r>
              <a:rPr lang="en-US" sz="2000" b="0" dirty="0">
                <a:solidFill>
                  <a:srgbClr val="008000"/>
                </a:solidFill>
                <a:effectLst/>
                <a:latin typeface="Consolas" panose="020B0609020204030204" pitchFamily="49" charset="0"/>
              </a:rPr>
              <a:t> returns a promise for the sum of x and y</a:t>
            </a:r>
            <a:endParaRPr lang="en-US" sz="2000" b="0" dirty="0">
              <a:solidFill>
                <a:srgbClr val="3B3B3B"/>
              </a:solidFill>
              <a:effectLst/>
              <a:latin typeface="Consolas" panose="020B0609020204030204" pitchFamily="49" charset="0"/>
            </a:endParaRP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slowAdd</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1113407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C4FD3-B464-37AB-4A82-3670961517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41012-1DF6-89C0-7FBB-321D0693A833}"/>
              </a:ext>
            </a:extLst>
          </p:cNvPr>
          <p:cNvSpPr>
            <a:spLocks noGrp="1"/>
          </p:cNvSpPr>
          <p:nvPr>
            <p:ph type="title"/>
          </p:nvPr>
        </p:nvSpPr>
        <p:spPr/>
        <p:txBody>
          <a:bodyPr/>
          <a:lstStyle/>
          <a:p>
            <a:r>
              <a:rPr lang="en-US" dirty="0"/>
              <a:t>Wait! Where did </a:t>
            </a:r>
            <a:r>
              <a:rPr lang="en-US" b="1" dirty="0" err="1"/>
              <a:t>slowAdd</a:t>
            </a:r>
            <a:r>
              <a:rPr lang="en-US" dirty="0"/>
              <a:t> return a promise?</a:t>
            </a:r>
          </a:p>
        </p:txBody>
      </p:sp>
      <p:sp>
        <p:nvSpPr>
          <p:cNvPr id="4" name="Slide Number Placeholder 3">
            <a:extLst>
              <a:ext uri="{FF2B5EF4-FFF2-40B4-BE49-F238E27FC236}">
                <a16:creationId xmlns:a16="http://schemas.microsoft.com/office/drawing/2014/main" id="{E3F13212-FDB2-48D6-08D9-60E8A36B2CD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5CE5D029-3E2C-3542-E907-5D7F145DDC95}"/>
              </a:ext>
            </a:extLst>
          </p:cNvPr>
          <p:cNvSpPr txBox="1"/>
          <p:nvPr/>
        </p:nvSpPr>
        <p:spPr>
          <a:xfrm>
            <a:off x="838199" y="1647369"/>
            <a:ext cx="8772939"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err="1">
                <a:solidFill>
                  <a:srgbClr val="001080"/>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src</a:t>
            </a:r>
            <a:r>
              <a:rPr lang="en-US" sz="2000" b="0" dirty="0">
                <a:solidFill>
                  <a:srgbClr val="A31515"/>
                </a:solidFill>
                <a:effectLst/>
                <a:latin typeface="Consolas" panose="020B0609020204030204" pitchFamily="49" charset="0"/>
              </a:rPr>
              <a:t>/Slides/</a:t>
            </a:r>
            <a:r>
              <a:rPr lang="en-US" sz="2000" b="0" dirty="0" err="1">
                <a:solidFill>
                  <a:srgbClr val="A31515"/>
                </a:solidFill>
                <a:effectLst/>
                <a:latin typeface="Consolas" panose="020B0609020204030204" pitchFamily="49" charset="0"/>
              </a:rPr>
              <a:t>myFetch</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lgn="l">
              <a:buNone/>
            </a:pP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addAsync</a:t>
            </a:r>
            <a:r>
              <a:rPr lang="en-US" sz="2000" b="0" dirty="0">
                <a:solidFill>
                  <a:srgbClr val="008000"/>
                </a:solidFill>
                <a:effectLst/>
                <a:latin typeface="Consolas" panose="020B0609020204030204" pitchFamily="49" charset="0"/>
              </a:rPr>
              <a:t> returns a promise for the sum of x and y</a:t>
            </a:r>
            <a:endParaRPr lang="en-US" sz="2000" b="0" dirty="0">
              <a:solidFill>
                <a:srgbClr val="3B3B3B"/>
              </a:solidFill>
              <a:effectLst/>
              <a:latin typeface="Consolas" panose="020B0609020204030204" pitchFamily="49" charset="0"/>
            </a:endParaRP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slowAdd</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4466266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03EDE-FBA3-7C96-0017-C9DC3C208E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EA69A2-C63A-59D3-19F1-5CA19789FA7D}"/>
              </a:ext>
            </a:extLst>
          </p:cNvPr>
          <p:cNvSpPr>
            <a:spLocks noGrp="1"/>
          </p:cNvSpPr>
          <p:nvPr>
            <p:ph type="title"/>
          </p:nvPr>
        </p:nvSpPr>
        <p:spPr/>
        <p:txBody>
          <a:bodyPr/>
          <a:lstStyle/>
          <a:p>
            <a:r>
              <a:rPr lang="en-US" dirty="0"/>
              <a:t>Hang on, we'll get back to that later.</a:t>
            </a:r>
          </a:p>
        </p:txBody>
      </p:sp>
      <p:sp>
        <p:nvSpPr>
          <p:cNvPr id="4" name="Slide Number Placeholder 3">
            <a:extLst>
              <a:ext uri="{FF2B5EF4-FFF2-40B4-BE49-F238E27FC236}">
                <a16:creationId xmlns:a16="http://schemas.microsoft.com/office/drawing/2014/main" id="{ED9CFB2F-8B4D-B218-B70A-45F03DBBFC2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C87D65FA-A25C-B61D-22FE-20F5206BEAE6}"/>
              </a:ext>
            </a:extLst>
          </p:cNvPr>
          <p:cNvSpPr txBox="1"/>
          <p:nvPr/>
        </p:nvSpPr>
        <p:spPr>
          <a:xfrm>
            <a:off x="838199" y="1647369"/>
            <a:ext cx="8772939"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err="1">
                <a:solidFill>
                  <a:srgbClr val="001080"/>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src</a:t>
            </a:r>
            <a:r>
              <a:rPr lang="en-US" sz="2000" b="0" dirty="0">
                <a:solidFill>
                  <a:srgbClr val="A31515"/>
                </a:solidFill>
                <a:effectLst/>
                <a:latin typeface="Consolas" panose="020B0609020204030204" pitchFamily="49" charset="0"/>
              </a:rPr>
              <a:t>/Slides/</a:t>
            </a:r>
            <a:r>
              <a:rPr lang="en-US" sz="2000" b="0" dirty="0" err="1">
                <a:solidFill>
                  <a:srgbClr val="A31515"/>
                </a:solidFill>
                <a:effectLst/>
                <a:latin typeface="Consolas" panose="020B0609020204030204" pitchFamily="49" charset="0"/>
              </a:rPr>
              <a:t>myFetch</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lgn="l">
              <a:buNone/>
            </a:pP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addAsync</a:t>
            </a:r>
            <a:r>
              <a:rPr lang="en-US" sz="2000" b="0" dirty="0">
                <a:solidFill>
                  <a:srgbClr val="008000"/>
                </a:solidFill>
                <a:effectLst/>
                <a:latin typeface="Consolas" panose="020B0609020204030204" pitchFamily="49" charset="0"/>
              </a:rPr>
              <a:t> returns a promise for the sum of x and y</a:t>
            </a:r>
            <a:endParaRPr lang="en-US" sz="2000" b="0" dirty="0">
              <a:solidFill>
                <a:srgbClr val="3B3B3B"/>
              </a:solidFill>
              <a:effectLst/>
              <a:latin typeface="Consolas" panose="020B0609020204030204" pitchFamily="49" charset="0"/>
            </a:endParaRP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slowAdd</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41866246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BFFEF-5BF6-F02B-E81A-85586E834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FD83CD-2D5C-7B82-C489-C706056334AA}"/>
              </a:ext>
            </a:extLst>
          </p:cNvPr>
          <p:cNvSpPr>
            <a:spLocks noGrp="1"/>
          </p:cNvSpPr>
          <p:nvPr>
            <p:ph type="title"/>
          </p:nvPr>
        </p:nvSpPr>
        <p:spPr/>
        <p:txBody>
          <a:bodyPr/>
          <a:lstStyle/>
          <a:p>
            <a:r>
              <a:rPr lang="en-US" dirty="0"/>
              <a:t>If your function calls </a:t>
            </a:r>
            <a:r>
              <a:rPr lang="en-US" b="1" dirty="0"/>
              <a:t>await</a:t>
            </a:r>
            <a:r>
              <a:rPr lang="en-US" dirty="0"/>
              <a:t> then your function is long-running, too</a:t>
            </a:r>
          </a:p>
        </p:txBody>
      </p:sp>
      <p:sp>
        <p:nvSpPr>
          <p:cNvPr id="4" name="Slide Number Placeholder 3">
            <a:extLst>
              <a:ext uri="{FF2B5EF4-FFF2-40B4-BE49-F238E27FC236}">
                <a16:creationId xmlns:a16="http://schemas.microsoft.com/office/drawing/2014/main" id="{75CC0C0D-6BB9-0CBA-CC06-9B0854B0F1F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5524BC83-E4F1-572E-3F19-AC1D7A785148}"/>
              </a:ext>
            </a:extLst>
          </p:cNvPr>
          <p:cNvSpPr txBox="1"/>
          <p:nvPr/>
        </p:nvSpPr>
        <p:spPr>
          <a:xfrm>
            <a:off x="838199" y="1647369"/>
            <a:ext cx="8772939"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err="1">
                <a:solidFill>
                  <a:srgbClr val="001080"/>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src</a:t>
            </a:r>
            <a:r>
              <a:rPr lang="en-US" sz="2000" b="0" dirty="0">
                <a:solidFill>
                  <a:srgbClr val="A31515"/>
                </a:solidFill>
                <a:effectLst/>
                <a:latin typeface="Consolas" panose="020B0609020204030204" pitchFamily="49" charset="0"/>
              </a:rPr>
              <a:t>/Slides/</a:t>
            </a:r>
            <a:r>
              <a:rPr lang="en-US" sz="2000" b="0" dirty="0" err="1">
                <a:solidFill>
                  <a:srgbClr val="A31515"/>
                </a:solidFill>
                <a:effectLst/>
                <a:latin typeface="Consolas" panose="020B0609020204030204" pitchFamily="49" charset="0"/>
              </a:rPr>
              <a:t>myFetch</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lgn="l">
              <a:buNone/>
            </a:pP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addAsync</a:t>
            </a:r>
            <a:r>
              <a:rPr lang="en-US" sz="2000" b="0" dirty="0">
                <a:solidFill>
                  <a:srgbClr val="008000"/>
                </a:solidFill>
                <a:effectLst/>
                <a:latin typeface="Consolas" panose="020B0609020204030204" pitchFamily="49" charset="0"/>
              </a:rPr>
              <a:t> returns a promise for the sum of x and y</a:t>
            </a:r>
            <a:endParaRPr lang="en-US" sz="2000" b="0" dirty="0">
              <a:solidFill>
                <a:srgbClr val="3B3B3B"/>
              </a:solidFill>
              <a:effectLst/>
              <a:latin typeface="Consolas" panose="020B0609020204030204" pitchFamily="49" charset="0"/>
            </a:endParaRP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slowAdd</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3606637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73CF-8CE6-A369-5507-658A419AE8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D545E-5153-6648-329F-74341D78BA38}"/>
              </a:ext>
            </a:extLst>
          </p:cNvPr>
          <p:cNvSpPr>
            <a:spLocks noGrp="1"/>
          </p:cNvSpPr>
          <p:nvPr>
            <p:ph type="title"/>
          </p:nvPr>
        </p:nvSpPr>
        <p:spPr/>
        <p:txBody>
          <a:bodyPr/>
          <a:lstStyle/>
          <a:p>
            <a:r>
              <a:rPr lang="en-US" dirty="0"/>
              <a:t>…which means that your function must return a promise.</a:t>
            </a:r>
          </a:p>
        </p:txBody>
      </p:sp>
      <p:sp>
        <p:nvSpPr>
          <p:cNvPr id="4" name="Slide Number Placeholder 3">
            <a:extLst>
              <a:ext uri="{FF2B5EF4-FFF2-40B4-BE49-F238E27FC236}">
                <a16:creationId xmlns:a16="http://schemas.microsoft.com/office/drawing/2014/main" id="{9E1BCD44-4815-BF2B-A2FF-CBC547757A2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DA97C193-7AC3-D388-DBFC-8292DD4CED2D}"/>
              </a:ext>
            </a:extLst>
          </p:cNvPr>
          <p:cNvSpPr txBox="1"/>
          <p:nvPr/>
        </p:nvSpPr>
        <p:spPr>
          <a:xfrm>
            <a:off x="838199" y="1647369"/>
            <a:ext cx="8772939"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err="1">
                <a:solidFill>
                  <a:srgbClr val="001080"/>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src</a:t>
            </a:r>
            <a:r>
              <a:rPr lang="en-US" sz="2000" b="0" dirty="0">
                <a:solidFill>
                  <a:srgbClr val="A31515"/>
                </a:solidFill>
                <a:effectLst/>
                <a:latin typeface="Consolas" panose="020B0609020204030204" pitchFamily="49" charset="0"/>
              </a:rPr>
              <a:t>/Slides/</a:t>
            </a:r>
            <a:r>
              <a:rPr lang="en-US" sz="2000" b="0" dirty="0" err="1">
                <a:solidFill>
                  <a:srgbClr val="A31515"/>
                </a:solidFill>
                <a:effectLst/>
                <a:latin typeface="Consolas" panose="020B0609020204030204" pitchFamily="49" charset="0"/>
              </a:rPr>
              <a:t>myFetch</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lgn="l">
              <a:buNone/>
            </a:pP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addAsync</a:t>
            </a:r>
            <a:r>
              <a:rPr lang="en-US" sz="2000" b="0" dirty="0">
                <a:solidFill>
                  <a:srgbClr val="008000"/>
                </a:solidFill>
                <a:effectLst/>
                <a:latin typeface="Consolas" panose="020B0609020204030204" pitchFamily="49" charset="0"/>
              </a:rPr>
              <a:t> returns a promise for the sum of x and y</a:t>
            </a:r>
            <a:endParaRPr lang="en-US" sz="2000" b="0" dirty="0">
              <a:solidFill>
                <a:srgbClr val="3B3B3B"/>
              </a:solidFill>
              <a:effectLst/>
              <a:latin typeface="Consolas" panose="020B0609020204030204" pitchFamily="49" charset="0"/>
            </a:endParaRP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slowAdd</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5322830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F5C76-606A-5C19-8C47-C1DDAA572C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B41D0C-FA62-073D-4A80-FF4B1283AF60}"/>
              </a:ext>
            </a:extLst>
          </p:cNvPr>
          <p:cNvSpPr>
            <a:spLocks noGrp="1"/>
          </p:cNvSpPr>
          <p:nvPr>
            <p:ph type="title"/>
          </p:nvPr>
        </p:nvSpPr>
        <p:spPr/>
        <p:txBody>
          <a:bodyPr/>
          <a:lstStyle/>
          <a:p>
            <a:r>
              <a:rPr lang="en-US" dirty="0"/>
              <a:t>Your async function will usually await one or more promises</a:t>
            </a:r>
          </a:p>
        </p:txBody>
      </p:sp>
      <p:sp>
        <p:nvSpPr>
          <p:cNvPr id="3" name="Slide Number Placeholder 2">
            <a:extLst>
              <a:ext uri="{FF2B5EF4-FFF2-40B4-BE49-F238E27FC236}">
                <a16:creationId xmlns:a16="http://schemas.microsoft.com/office/drawing/2014/main" id="{439F03E4-8ACC-DF50-99D3-1EB15FB43D0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C91D3194-64FF-3E1C-F936-17F694F804EF}"/>
              </a:ext>
            </a:extLst>
          </p:cNvPr>
          <p:cNvSpPr txBox="1"/>
          <p:nvPr/>
        </p:nvSpPr>
        <p:spPr>
          <a:xfrm>
            <a:off x="320842" y="1546051"/>
            <a:ext cx="9921240" cy="397031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AF00DB"/>
                </a:solidFill>
                <a:effectLst/>
                <a:latin typeface="Consolas" panose="020B0609020204030204" pitchFamily="49" charset="0"/>
              </a:rPr>
              <a:t>export</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'making 3 sequential requests'</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result2</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result3</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'all 3 requests done, results:'</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result2</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a:p>
            <a:pPr algn="l">
              <a:buNone/>
            </a:pPr>
            <a:r>
              <a:rPr lang="en-US" sz="1800" b="0" dirty="0">
                <a:solidFill>
                  <a:srgbClr val="008000"/>
                </a:solidFill>
                <a:effectLst/>
                <a:latin typeface="Consolas" panose="020B0609020204030204" pitchFamily="49" charset="0"/>
              </a:rPr>
              <a:t>// await </a:t>
            </a:r>
            <a:r>
              <a:rPr lang="en-US" sz="1800" b="0" dirty="0" err="1">
                <a:solidFill>
                  <a:srgbClr val="008000"/>
                </a:solidFill>
                <a:effectLst/>
                <a:latin typeface="Consolas" panose="020B0609020204030204" pitchFamily="49" charset="0"/>
              </a:rPr>
              <a:t>timeit</a:t>
            </a:r>
            <a:r>
              <a:rPr lang="en-US" sz="1800" b="0" dirty="0">
                <a:solidFill>
                  <a:srgbClr val="008000"/>
                </a:solidFill>
                <a:effectLst/>
                <a:latin typeface="Consolas" panose="020B0609020204030204" pitchFamily="49" charset="0"/>
              </a:rPr>
              <a:t>(make3ConcurrentRequests);</a:t>
            </a:r>
            <a:endParaRPr lang="en-US" sz="1800" b="0" dirty="0">
              <a:solidFill>
                <a:srgbClr val="3B3B3B"/>
              </a:solidFill>
              <a:effectLst/>
              <a:latin typeface="Consolas" panose="020B0609020204030204" pitchFamily="49" charset="0"/>
            </a:endParaRPr>
          </a:p>
          <a:p>
            <a:pPr algn="l">
              <a:buNone/>
            </a:pPr>
            <a:r>
              <a:rPr lang="en-US" sz="1800" dirty="0">
                <a:solidFill>
                  <a:srgbClr val="795E26"/>
                </a:solidFill>
                <a:latin typeface="Consolas" panose="020B0609020204030204" pitchFamily="49" charset="0"/>
              </a:rPr>
              <a:t>await </a:t>
            </a:r>
            <a:r>
              <a:rPr lang="en-US" sz="1800" b="0" dirty="0" err="1">
                <a:solidFill>
                  <a:srgbClr val="795E26"/>
                </a:solidFill>
                <a:effectLst/>
                <a:latin typeface="Consolas" panose="020B0609020204030204" pitchFamily="49" charset="0"/>
              </a:rPr>
              <a:t>timeit</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AEEF328A-6256-DEC4-D4AB-E6D5924C3917}"/>
              </a:ext>
            </a:extLst>
          </p:cNvPr>
          <p:cNvSpPr/>
          <p:nvPr/>
        </p:nvSpPr>
        <p:spPr>
          <a:xfrm>
            <a:off x="2173705" y="6119494"/>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requestPatterns.ts</a:t>
            </a:r>
            <a:endParaRPr lang="en-US" sz="2400" dirty="0">
              <a:solidFill>
                <a:schemeClr val="tx1"/>
              </a:solidFill>
            </a:endParaRPr>
          </a:p>
        </p:txBody>
      </p:sp>
    </p:spTree>
    <p:extLst>
      <p:ext uri="{BB962C8B-B14F-4D97-AF65-F5344CB8AC3E}">
        <p14:creationId xmlns:p14="http://schemas.microsoft.com/office/powerpoint/2010/main" val="4114097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0EDD9-147B-D50D-38A4-C498DC3C7A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AE021-8249-7555-26F6-BBABFDFB495A}"/>
              </a:ext>
            </a:extLst>
          </p:cNvPr>
          <p:cNvSpPr>
            <a:spLocks noGrp="1"/>
          </p:cNvSpPr>
          <p:nvPr>
            <p:ph type="title"/>
          </p:nvPr>
        </p:nvSpPr>
        <p:spPr/>
        <p:txBody>
          <a:bodyPr/>
          <a:lstStyle/>
          <a:p>
            <a:r>
              <a:rPr lang="en-US" dirty="0"/>
              <a:t>It will return a promise to complete the first promise that it awaits…</a:t>
            </a:r>
          </a:p>
        </p:txBody>
      </p:sp>
      <p:sp>
        <p:nvSpPr>
          <p:cNvPr id="3" name="Slide Number Placeholder 2">
            <a:extLst>
              <a:ext uri="{FF2B5EF4-FFF2-40B4-BE49-F238E27FC236}">
                <a16:creationId xmlns:a16="http://schemas.microsoft.com/office/drawing/2014/main" id="{BC5C9AD5-A823-9454-44EB-F25F3FA9651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E4D658D-D3E8-98D0-AEF6-EB6F241D5312}"/>
              </a:ext>
            </a:extLst>
          </p:cNvPr>
          <p:cNvSpPr txBox="1"/>
          <p:nvPr/>
        </p:nvSpPr>
        <p:spPr>
          <a:xfrm>
            <a:off x="320842" y="1546051"/>
            <a:ext cx="9921240" cy="397031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AF00DB"/>
                </a:solidFill>
                <a:effectLst/>
                <a:latin typeface="Consolas" panose="020B0609020204030204" pitchFamily="49" charset="0"/>
              </a:rPr>
              <a:t>export</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'making 3 sequential requests'</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result2</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result3</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'all 3 requests done, results:'</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result2</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a:p>
            <a:pPr algn="l">
              <a:buNone/>
            </a:pPr>
            <a:r>
              <a:rPr lang="en-US" sz="1800" b="0" dirty="0">
                <a:solidFill>
                  <a:srgbClr val="008000"/>
                </a:solidFill>
                <a:effectLst/>
                <a:latin typeface="Consolas" panose="020B0609020204030204" pitchFamily="49" charset="0"/>
              </a:rPr>
              <a:t>// await </a:t>
            </a:r>
            <a:r>
              <a:rPr lang="en-US" sz="1800" b="0" dirty="0" err="1">
                <a:solidFill>
                  <a:srgbClr val="008000"/>
                </a:solidFill>
                <a:effectLst/>
                <a:latin typeface="Consolas" panose="020B0609020204030204" pitchFamily="49" charset="0"/>
              </a:rPr>
              <a:t>timeit</a:t>
            </a:r>
            <a:r>
              <a:rPr lang="en-US" sz="1800" b="0" dirty="0">
                <a:solidFill>
                  <a:srgbClr val="008000"/>
                </a:solidFill>
                <a:effectLst/>
                <a:latin typeface="Consolas" panose="020B0609020204030204" pitchFamily="49" charset="0"/>
              </a:rPr>
              <a:t>(make3ConcurrentRequests);</a:t>
            </a:r>
            <a:endParaRPr lang="en-US" sz="1800" b="0" dirty="0">
              <a:solidFill>
                <a:srgbClr val="3B3B3B"/>
              </a:solidFill>
              <a:effectLst/>
              <a:latin typeface="Consolas" panose="020B0609020204030204" pitchFamily="49" charset="0"/>
            </a:endParaRPr>
          </a:p>
          <a:p>
            <a:pPr algn="l">
              <a:buNone/>
            </a:pPr>
            <a:r>
              <a:rPr lang="en-US" sz="1800" dirty="0">
                <a:solidFill>
                  <a:srgbClr val="795E26"/>
                </a:solidFill>
                <a:latin typeface="Consolas" panose="020B0609020204030204" pitchFamily="49" charset="0"/>
              </a:rPr>
              <a:t>await </a:t>
            </a:r>
            <a:r>
              <a:rPr lang="en-US" sz="1800" b="0" dirty="0" err="1">
                <a:solidFill>
                  <a:srgbClr val="795E26"/>
                </a:solidFill>
                <a:effectLst/>
                <a:latin typeface="Consolas" panose="020B0609020204030204" pitchFamily="49" charset="0"/>
              </a:rPr>
              <a:t>timeit</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32DC783-4134-2A51-94EE-D7181A1368CA}"/>
              </a:ext>
            </a:extLst>
          </p:cNvPr>
          <p:cNvSpPr/>
          <p:nvPr/>
        </p:nvSpPr>
        <p:spPr>
          <a:xfrm>
            <a:off x="5526011" y="5504421"/>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requestPatterns.ts</a:t>
            </a:r>
            <a:endParaRPr lang="en-US" sz="2400" dirty="0">
              <a:solidFill>
                <a:schemeClr val="tx1"/>
              </a:solidFill>
            </a:endParaRPr>
          </a:p>
        </p:txBody>
      </p:sp>
    </p:spTree>
    <p:extLst>
      <p:ext uri="{BB962C8B-B14F-4D97-AF65-F5344CB8AC3E}">
        <p14:creationId xmlns:p14="http://schemas.microsoft.com/office/powerpoint/2010/main" val="1369996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642C8-F0DC-808F-F912-0ED38945EB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03137-C623-1647-F2FE-CB201A593A49}"/>
              </a:ext>
            </a:extLst>
          </p:cNvPr>
          <p:cNvSpPr>
            <a:spLocks noGrp="1"/>
          </p:cNvSpPr>
          <p:nvPr>
            <p:ph type="title"/>
          </p:nvPr>
        </p:nvSpPr>
        <p:spPr/>
        <p:txBody>
          <a:bodyPr/>
          <a:lstStyle/>
          <a:p>
            <a:r>
              <a:rPr lang="en-US" dirty="0"/>
              <a:t>…and go on from there</a:t>
            </a:r>
          </a:p>
        </p:txBody>
      </p:sp>
      <p:sp>
        <p:nvSpPr>
          <p:cNvPr id="3" name="Slide Number Placeholder 2">
            <a:extLst>
              <a:ext uri="{FF2B5EF4-FFF2-40B4-BE49-F238E27FC236}">
                <a16:creationId xmlns:a16="http://schemas.microsoft.com/office/drawing/2014/main" id="{1F72CB8D-5482-F30A-5D6C-6929C647D27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4A463731-D76E-AEAD-6AD5-38FCBDD44CFE}"/>
              </a:ext>
            </a:extLst>
          </p:cNvPr>
          <p:cNvSpPr txBox="1"/>
          <p:nvPr/>
        </p:nvSpPr>
        <p:spPr>
          <a:xfrm>
            <a:off x="320841" y="1546051"/>
            <a:ext cx="10322349" cy="23083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AF00DB"/>
                </a:solidFill>
                <a:effectLst/>
                <a:latin typeface="Consolas" panose="020B0609020204030204" pitchFamily="49" charset="0"/>
              </a:rPr>
              <a:t>export</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'making 3 sequential requests'</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highlight>
                  <a:srgbClr val="FFFF00"/>
                </a:highlight>
                <a:latin typeface="Consolas" panose="020B0609020204030204" pitchFamily="49" charset="0"/>
              </a:rPr>
              <a:t>makeRequest</a:t>
            </a:r>
            <a:r>
              <a:rPr lang="en-US" sz="1800" b="0" dirty="0">
                <a:solidFill>
                  <a:srgbClr val="3B3B3B"/>
                </a:solidFill>
                <a:effectLst/>
                <a:highlight>
                  <a:srgbClr val="FFFF00"/>
                </a:highlight>
                <a:latin typeface="Consolas" panose="020B0609020204030204" pitchFamily="49" charset="0"/>
              </a:rPr>
              <a:t>(</a:t>
            </a:r>
            <a:r>
              <a:rPr lang="en-US" sz="1800" b="0" dirty="0">
                <a:solidFill>
                  <a:srgbClr val="098658"/>
                </a:solidFill>
                <a:effectLst/>
                <a:highlight>
                  <a:srgbClr val="FFFF00"/>
                </a:highlight>
                <a:latin typeface="Consolas" panose="020B0609020204030204" pitchFamily="49" charset="0"/>
              </a:rPr>
              <a:t>1</a:t>
            </a:r>
            <a:r>
              <a:rPr lang="en-US" sz="1800" b="0" dirty="0">
                <a:solidFill>
                  <a:srgbClr val="3B3B3B"/>
                </a:solidFill>
                <a:effectLst/>
                <a:highlight>
                  <a:srgbClr val="FFFF00"/>
                </a:highlight>
                <a:latin typeface="Consolas" panose="020B0609020204030204" pitchFamily="49" charset="0"/>
              </a:rPr>
              <a:t>);</a:t>
            </a:r>
          </a:p>
          <a:p>
            <a:pPr algn="l">
              <a:buNone/>
            </a:pPr>
            <a:r>
              <a:rPr lang="en-US" sz="1800" b="0" dirty="0">
                <a:solidFill>
                  <a:srgbClr val="3B3B3B"/>
                </a:solidFill>
                <a:effectLst/>
                <a:highlight>
                  <a:srgbClr val="FFFF00"/>
                </a:highlight>
                <a:latin typeface="Consolas" panose="020B0609020204030204" pitchFamily="49" charset="0"/>
              </a:rPr>
              <a:t>    </a:t>
            </a:r>
            <a:r>
              <a:rPr lang="en-US" sz="1800" b="0" dirty="0">
                <a:solidFill>
                  <a:srgbClr val="0000FF"/>
                </a:solidFill>
                <a:effectLst/>
                <a:highlight>
                  <a:srgbClr val="FFFF00"/>
                </a:highlight>
                <a:latin typeface="Consolas" panose="020B0609020204030204" pitchFamily="49" charset="0"/>
              </a:rPr>
              <a:t>const</a:t>
            </a:r>
            <a:r>
              <a:rPr lang="en-US" sz="1800" b="0" dirty="0">
                <a:solidFill>
                  <a:srgbClr val="3B3B3B"/>
                </a:solidFill>
                <a:effectLst/>
                <a:highlight>
                  <a:srgbClr val="FFFF00"/>
                </a:highlight>
                <a:latin typeface="Consolas" panose="020B0609020204030204" pitchFamily="49" charset="0"/>
              </a:rPr>
              <a:t> </a:t>
            </a:r>
            <a:r>
              <a:rPr lang="en-US" sz="1800" b="0" dirty="0">
                <a:solidFill>
                  <a:srgbClr val="0070C1"/>
                </a:solidFill>
                <a:effectLst/>
                <a:highlight>
                  <a:srgbClr val="FFFF00"/>
                </a:highlight>
                <a:latin typeface="Consolas" panose="020B0609020204030204" pitchFamily="49" charset="0"/>
              </a:rPr>
              <a:t>result2</a:t>
            </a:r>
            <a:r>
              <a:rPr lang="en-US" sz="1800" b="0" dirty="0">
                <a:solidFill>
                  <a:srgbClr val="3B3B3B"/>
                </a:solidFill>
                <a:effectLst/>
                <a:highlight>
                  <a:srgbClr val="FFFF00"/>
                </a:highlight>
                <a:latin typeface="Consolas" panose="020B0609020204030204" pitchFamily="49" charset="0"/>
              </a:rPr>
              <a:t> </a:t>
            </a:r>
            <a:r>
              <a:rPr lang="en-US" sz="1800" b="0" dirty="0">
                <a:solidFill>
                  <a:srgbClr val="000000"/>
                </a:solidFill>
                <a:effectLst/>
                <a:highlight>
                  <a:srgbClr val="FFFF00"/>
                </a:highlight>
                <a:latin typeface="Consolas" panose="020B0609020204030204" pitchFamily="49" charset="0"/>
              </a:rPr>
              <a:t>=</a:t>
            </a:r>
            <a:r>
              <a:rPr lang="en-US" sz="1800" b="0" dirty="0">
                <a:solidFill>
                  <a:srgbClr val="3B3B3B"/>
                </a:solidFill>
                <a:effectLst/>
                <a:highlight>
                  <a:srgbClr val="FFFF00"/>
                </a:highlight>
                <a:latin typeface="Consolas" panose="020B0609020204030204" pitchFamily="49" charset="0"/>
              </a:rPr>
              <a:t> </a:t>
            </a:r>
            <a:r>
              <a:rPr lang="en-US" sz="1800" b="0" dirty="0">
                <a:solidFill>
                  <a:srgbClr val="AF00DB"/>
                </a:solidFill>
                <a:effectLst/>
                <a:highlight>
                  <a:srgbClr val="FFFF00"/>
                </a:highlight>
                <a:latin typeface="Consolas" panose="020B0609020204030204" pitchFamily="49" charset="0"/>
              </a:rPr>
              <a:t>await</a:t>
            </a:r>
            <a:r>
              <a:rPr lang="en-US" sz="1800" b="0" dirty="0">
                <a:solidFill>
                  <a:srgbClr val="3B3B3B"/>
                </a:solidFill>
                <a:effectLst/>
                <a:highlight>
                  <a:srgbClr val="FFFF00"/>
                </a:highlight>
                <a:latin typeface="Consolas" panose="020B0609020204030204" pitchFamily="49" charset="0"/>
              </a:rPr>
              <a:t> </a:t>
            </a:r>
            <a:r>
              <a:rPr lang="en-US" sz="1800" b="0" dirty="0" err="1">
                <a:solidFill>
                  <a:srgbClr val="795E26"/>
                </a:solidFill>
                <a:effectLst/>
                <a:highlight>
                  <a:srgbClr val="FFFF00"/>
                </a:highlight>
                <a:latin typeface="Consolas" panose="020B0609020204030204" pitchFamily="49" charset="0"/>
              </a:rPr>
              <a:t>makeRequest</a:t>
            </a:r>
            <a:r>
              <a:rPr lang="en-US" sz="1800" b="0" dirty="0">
                <a:solidFill>
                  <a:srgbClr val="3B3B3B"/>
                </a:solidFill>
                <a:effectLst/>
                <a:highlight>
                  <a:srgbClr val="FFFF00"/>
                </a:highlight>
                <a:latin typeface="Consolas" panose="020B0609020204030204" pitchFamily="49" charset="0"/>
              </a:rPr>
              <a:t>(</a:t>
            </a:r>
            <a:r>
              <a:rPr lang="en-US" sz="1800" b="0" dirty="0">
                <a:solidFill>
                  <a:srgbClr val="098658"/>
                </a:solidFill>
                <a:effectLst/>
                <a:highlight>
                  <a:srgbClr val="FFFF00"/>
                </a:highlight>
                <a:latin typeface="Consolas" panose="020B0609020204030204" pitchFamily="49" charset="0"/>
              </a:rPr>
              <a:t>2</a:t>
            </a:r>
            <a:r>
              <a:rPr lang="en-US" sz="1800" b="0" dirty="0">
                <a:solidFill>
                  <a:srgbClr val="3B3B3B"/>
                </a:solidFill>
                <a:effectLst/>
                <a:highlight>
                  <a:srgbClr val="FFFF00"/>
                </a:highlight>
                <a:latin typeface="Consolas" panose="020B0609020204030204" pitchFamily="49" charset="0"/>
              </a:rPr>
              <a:t>);</a:t>
            </a:r>
          </a:p>
          <a:p>
            <a:pPr algn="l">
              <a:buNone/>
            </a:pPr>
            <a:r>
              <a:rPr lang="en-US" sz="1800" b="0" dirty="0">
                <a:solidFill>
                  <a:srgbClr val="3B3B3B"/>
                </a:solidFill>
                <a:effectLst/>
                <a:highlight>
                  <a:srgbClr val="FFFF00"/>
                </a:highlight>
                <a:latin typeface="Consolas" panose="020B0609020204030204" pitchFamily="49" charset="0"/>
              </a:rPr>
              <a:t>    </a:t>
            </a:r>
            <a:r>
              <a:rPr lang="en-US" sz="1800" b="0" dirty="0">
                <a:solidFill>
                  <a:srgbClr val="0000FF"/>
                </a:solidFill>
                <a:effectLst/>
                <a:highlight>
                  <a:srgbClr val="FFFF00"/>
                </a:highlight>
                <a:latin typeface="Consolas" panose="020B0609020204030204" pitchFamily="49" charset="0"/>
              </a:rPr>
              <a:t>const</a:t>
            </a:r>
            <a:r>
              <a:rPr lang="en-US" sz="1800" b="0" dirty="0">
                <a:solidFill>
                  <a:srgbClr val="3B3B3B"/>
                </a:solidFill>
                <a:effectLst/>
                <a:highlight>
                  <a:srgbClr val="FFFF00"/>
                </a:highlight>
                <a:latin typeface="Consolas" panose="020B0609020204030204" pitchFamily="49" charset="0"/>
              </a:rPr>
              <a:t> </a:t>
            </a:r>
            <a:r>
              <a:rPr lang="en-US" sz="1800" b="0" dirty="0">
                <a:solidFill>
                  <a:srgbClr val="0070C1"/>
                </a:solidFill>
                <a:effectLst/>
                <a:highlight>
                  <a:srgbClr val="FFFF00"/>
                </a:highlight>
                <a:latin typeface="Consolas" panose="020B0609020204030204" pitchFamily="49" charset="0"/>
              </a:rPr>
              <a:t>result3</a:t>
            </a:r>
            <a:r>
              <a:rPr lang="en-US" sz="1800" b="0" dirty="0">
                <a:solidFill>
                  <a:srgbClr val="3B3B3B"/>
                </a:solidFill>
                <a:effectLst/>
                <a:highlight>
                  <a:srgbClr val="FFFF00"/>
                </a:highlight>
                <a:latin typeface="Consolas" panose="020B0609020204030204" pitchFamily="49" charset="0"/>
              </a:rPr>
              <a:t> </a:t>
            </a:r>
            <a:r>
              <a:rPr lang="en-US" sz="1800" b="0" dirty="0">
                <a:solidFill>
                  <a:srgbClr val="000000"/>
                </a:solidFill>
                <a:effectLst/>
                <a:highlight>
                  <a:srgbClr val="FFFF00"/>
                </a:highlight>
                <a:latin typeface="Consolas" panose="020B0609020204030204" pitchFamily="49" charset="0"/>
              </a:rPr>
              <a:t>=</a:t>
            </a:r>
            <a:r>
              <a:rPr lang="en-US" sz="1800" b="0" dirty="0">
                <a:solidFill>
                  <a:srgbClr val="3B3B3B"/>
                </a:solidFill>
                <a:effectLst/>
                <a:highlight>
                  <a:srgbClr val="FFFF00"/>
                </a:highlight>
                <a:latin typeface="Consolas" panose="020B0609020204030204" pitchFamily="49" charset="0"/>
              </a:rPr>
              <a:t> </a:t>
            </a:r>
            <a:r>
              <a:rPr lang="en-US" sz="1800" b="0" dirty="0">
                <a:solidFill>
                  <a:srgbClr val="AF00DB"/>
                </a:solidFill>
                <a:effectLst/>
                <a:highlight>
                  <a:srgbClr val="FFFF00"/>
                </a:highlight>
                <a:latin typeface="Consolas" panose="020B0609020204030204" pitchFamily="49" charset="0"/>
              </a:rPr>
              <a:t>await</a:t>
            </a:r>
            <a:r>
              <a:rPr lang="en-US" sz="1800" b="0" dirty="0">
                <a:solidFill>
                  <a:srgbClr val="3B3B3B"/>
                </a:solidFill>
                <a:effectLst/>
                <a:highlight>
                  <a:srgbClr val="FFFF00"/>
                </a:highlight>
                <a:latin typeface="Consolas" panose="020B0609020204030204" pitchFamily="49" charset="0"/>
              </a:rPr>
              <a:t> </a:t>
            </a:r>
            <a:r>
              <a:rPr lang="en-US" sz="1800" b="0" dirty="0" err="1">
                <a:solidFill>
                  <a:srgbClr val="795E26"/>
                </a:solidFill>
                <a:effectLst/>
                <a:highlight>
                  <a:srgbClr val="FFFF00"/>
                </a:highlight>
                <a:latin typeface="Consolas" panose="020B0609020204030204" pitchFamily="49" charset="0"/>
              </a:rPr>
              <a:t>makeRequest</a:t>
            </a:r>
            <a:r>
              <a:rPr lang="en-US" sz="1800" b="0" dirty="0">
                <a:solidFill>
                  <a:srgbClr val="3B3B3B"/>
                </a:solidFill>
                <a:effectLst/>
                <a:highlight>
                  <a:srgbClr val="FFFF00"/>
                </a:highlight>
                <a:latin typeface="Consolas" panose="020B0609020204030204" pitchFamily="49" charset="0"/>
              </a:rPr>
              <a:t>(</a:t>
            </a:r>
            <a:r>
              <a:rPr lang="en-US" sz="1800" b="0" dirty="0">
                <a:solidFill>
                  <a:srgbClr val="098658"/>
                </a:solidFill>
                <a:effectLst/>
                <a:highlight>
                  <a:srgbClr val="FFFF00"/>
                </a:highlight>
                <a:latin typeface="Consolas" panose="020B0609020204030204" pitchFamily="49" charset="0"/>
              </a:rPr>
              <a:t>3</a:t>
            </a:r>
            <a:r>
              <a:rPr lang="en-US" sz="1800" b="0" dirty="0">
                <a:solidFill>
                  <a:srgbClr val="3B3B3B"/>
                </a:solidFill>
                <a:effectLst/>
                <a:highlight>
                  <a:srgbClr val="FFFF00"/>
                </a:highlight>
                <a:latin typeface="Consolas" panose="020B0609020204030204" pitchFamily="49" charset="0"/>
              </a:rPr>
              <a:t>);</a:t>
            </a:r>
          </a:p>
          <a:p>
            <a:pPr algn="l">
              <a:buNone/>
            </a:pPr>
            <a:r>
              <a:rPr lang="en-US" sz="1800" b="0" dirty="0">
                <a:solidFill>
                  <a:srgbClr val="3B3B3B"/>
                </a:solidFill>
                <a:effectLst/>
                <a:highlight>
                  <a:srgbClr val="FFFF00"/>
                </a:highlight>
                <a:latin typeface="Consolas" panose="020B0609020204030204" pitchFamily="49" charset="0"/>
              </a:rPr>
              <a:t>    </a:t>
            </a:r>
            <a:r>
              <a:rPr lang="en-US" sz="1800" b="0" dirty="0">
                <a:solidFill>
                  <a:srgbClr val="001080"/>
                </a:solidFill>
                <a:effectLst/>
                <a:highlight>
                  <a:srgbClr val="FFFF00"/>
                </a:highlight>
                <a:latin typeface="Consolas" panose="020B0609020204030204" pitchFamily="49" charset="0"/>
              </a:rPr>
              <a:t>console</a:t>
            </a:r>
            <a:r>
              <a:rPr lang="en-US" sz="1800" b="0" dirty="0">
                <a:solidFill>
                  <a:srgbClr val="3B3B3B"/>
                </a:solidFill>
                <a:effectLst/>
                <a:highlight>
                  <a:srgbClr val="FFFF00"/>
                </a:highlight>
                <a:latin typeface="Consolas" panose="020B0609020204030204" pitchFamily="49" charset="0"/>
              </a:rPr>
              <a:t>.</a:t>
            </a:r>
            <a:r>
              <a:rPr lang="en-US" sz="1800" b="0" dirty="0">
                <a:solidFill>
                  <a:srgbClr val="795E26"/>
                </a:solidFill>
                <a:effectLst/>
                <a:highlight>
                  <a:srgbClr val="FFFF00"/>
                </a:highlight>
                <a:latin typeface="Consolas" panose="020B0609020204030204" pitchFamily="49" charset="0"/>
              </a:rPr>
              <a:t>log</a:t>
            </a:r>
            <a:r>
              <a:rPr lang="en-US" sz="1800" b="0" dirty="0">
                <a:solidFill>
                  <a:srgbClr val="3B3B3B"/>
                </a:solidFill>
                <a:effectLst/>
                <a:highlight>
                  <a:srgbClr val="FFFF00"/>
                </a:highlight>
                <a:latin typeface="Consolas" panose="020B0609020204030204" pitchFamily="49" charset="0"/>
              </a:rPr>
              <a:t>(</a:t>
            </a:r>
            <a:r>
              <a:rPr lang="en-US" sz="1800" b="0" dirty="0">
                <a:solidFill>
                  <a:srgbClr val="A31515"/>
                </a:solidFill>
                <a:effectLst/>
                <a:highlight>
                  <a:srgbClr val="FFFF00"/>
                </a:highlight>
                <a:latin typeface="Consolas" panose="020B0609020204030204" pitchFamily="49" charset="0"/>
              </a:rPr>
              <a:t>'all 3 requests done, results:'</a:t>
            </a:r>
            <a:r>
              <a:rPr lang="en-US" sz="1800" b="0" dirty="0">
                <a:solidFill>
                  <a:srgbClr val="3B3B3B"/>
                </a:solidFill>
                <a:effectLst/>
                <a:highlight>
                  <a:srgbClr val="FFFF00"/>
                </a:highlight>
                <a:latin typeface="Consolas" panose="020B0609020204030204" pitchFamily="49" charset="0"/>
              </a:rPr>
              <a:t>, [</a:t>
            </a:r>
            <a:r>
              <a:rPr lang="en-US" sz="1800" b="0" dirty="0">
                <a:solidFill>
                  <a:srgbClr val="0070C1"/>
                </a:solidFill>
                <a:effectLst/>
                <a:highlight>
                  <a:srgbClr val="FFFF00"/>
                </a:highlight>
                <a:latin typeface="Consolas" panose="020B0609020204030204" pitchFamily="49" charset="0"/>
              </a:rPr>
              <a:t>result1</a:t>
            </a:r>
            <a:r>
              <a:rPr lang="en-US" sz="1800" b="0" dirty="0">
                <a:solidFill>
                  <a:srgbClr val="3B3B3B"/>
                </a:solidFill>
                <a:effectLst/>
                <a:highlight>
                  <a:srgbClr val="FFFF00"/>
                </a:highlight>
                <a:latin typeface="Consolas" panose="020B0609020204030204" pitchFamily="49" charset="0"/>
              </a:rPr>
              <a:t>, </a:t>
            </a:r>
            <a:r>
              <a:rPr lang="en-US" sz="1800" b="0" dirty="0">
                <a:solidFill>
                  <a:srgbClr val="0070C1"/>
                </a:solidFill>
                <a:effectLst/>
                <a:highlight>
                  <a:srgbClr val="FFFF00"/>
                </a:highlight>
                <a:latin typeface="Consolas" panose="020B0609020204030204" pitchFamily="49" charset="0"/>
              </a:rPr>
              <a:t>result2</a:t>
            </a:r>
            <a:r>
              <a:rPr lang="en-US" sz="1800" b="0" dirty="0">
                <a:solidFill>
                  <a:srgbClr val="3B3B3B"/>
                </a:solidFill>
                <a:effectLst/>
                <a:highlight>
                  <a:srgbClr val="FFFF00"/>
                </a:highlight>
                <a:latin typeface="Consolas" panose="020B0609020204030204" pitchFamily="49" charset="0"/>
              </a:rPr>
              <a:t>, </a:t>
            </a:r>
            <a:r>
              <a:rPr lang="en-US" sz="1800" b="0" dirty="0">
                <a:solidFill>
                  <a:srgbClr val="0070C1"/>
                </a:solidFill>
                <a:effectLst/>
                <a:highlight>
                  <a:srgbClr val="FFFF00"/>
                </a:highlight>
                <a:latin typeface="Consolas" panose="020B0609020204030204" pitchFamily="49" charset="0"/>
              </a:rPr>
              <a:t>result3</a:t>
            </a:r>
            <a:r>
              <a:rPr lang="en-US" sz="1800" b="0" dirty="0">
                <a:solidFill>
                  <a:srgbClr val="3B3B3B"/>
                </a:solidFill>
                <a:effectLst/>
                <a:highlight>
                  <a:srgbClr val="FFFF00"/>
                </a:highlight>
                <a:latin typeface="Consolas" panose="020B0609020204030204" pitchFamily="49" charset="0"/>
              </a:rPr>
              <a:t>]);</a:t>
            </a:r>
          </a:p>
          <a:p>
            <a:pPr algn="l">
              <a:buNone/>
            </a:pPr>
            <a:r>
              <a:rPr lang="en-US" sz="1800" b="0" dirty="0">
                <a:solidFill>
                  <a:srgbClr val="3B3B3B"/>
                </a:solidFill>
                <a:effectLst/>
                <a:highlight>
                  <a:srgbClr val="FFFF00"/>
                </a:highlight>
                <a:latin typeface="Consolas" panose="020B0609020204030204" pitchFamily="49" charset="0"/>
              </a:rPr>
              <a:t>}</a:t>
            </a:r>
          </a:p>
          <a:p>
            <a:pPr algn="l">
              <a:buNone/>
            </a:pPr>
            <a:endParaRPr lang="en-US" sz="18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7E15F98C-DF16-1E26-100B-3F6559FE4F1B}"/>
              </a:ext>
            </a:extLst>
          </p:cNvPr>
          <p:cNvSpPr/>
          <p:nvPr/>
        </p:nvSpPr>
        <p:spPr>
          <a:xfrm>
            <a:off x="3772133" y="5196691"/>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requestPatterns.ts</a:t>
            </a:r>
            <a:endParaRPr lang="en-US" sz="2400" dirty="0">
              <a:solidFill>
                <a:schemeClr val="tx1"/>
              </a:solidFill>
            </a:endParaRPr>
          </a:p>
        </p:txBody>
      </p:sp>
    </p:spTree>
    <p:extLst>
      <p:ext uri="{BB962C8B-B14F-4D97-AF65-F5344CB8AC3E}">
        <p14:creationId xmlns:p14="http://schemas.microsoft.com/office/powerpoint/2010/main" val="8351218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66AD4-8E06-1095-F34E-A159E70E7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D7E5E9-8852-321A-CFE6-5FDA85ED8AFC}"/>
              </a:ext>
            </a:extLst>
          </p:cNvPr>
          <p:cNvSpPr>
            <a:spLocks noGrp="1"/>
          </p:cNvSpPr>
          <p:nvPr>
            <p:ph type="title"/>
          </p:nvPr>
        </p:nvSpPr>
        <p:spPr/>
        <p:txBody>
          <a:bodyPr/>
          <a:lstStyle/>
          <a:p>
            <a:r>
              <a:rPr lang="en-US" dirty="0"/>
              <a:t>But where do promises come from in the first place?</a:t>
            </a:r>
          </a:p>
        </p:txBody>
      </p:sp>
      <p:sp>
        <p:nvSpPr>
          <p:cNvPr id="4" name="Slide Number Placeholder 3">
            <a:extLst>
              <a:ext uri="{FF2B5EF4-FFF2-40B4-BE49-F238E27FC236}">
                <a16:creationId xmlns:a16="http://schemas.microsoft.com/office/drawing/2014/main" id="{B2045B16-70AE-1C9E-7C9F-E54E6E31971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68718D51-0C63-71B6-B6E3-B72CB811575A}"/>
              </a:ext>
            </a:extLst>
          </p:cNvPr>
          <p:cNvSpPr txBox="1"/>
          <p:nvPr/>
        </p:nvSpPr>
        <p:spPr>
          <a:xfrm>
            <a:off x="838199" y="1647369"/>
            <a:ext cx="8772939"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err="1">
                <a:solidFill>
                  <a:srgbClr val="001080"/>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src</a:t>
            </a:r>
            <a:r>
              <a:rPr lang="en-US" sz="2000" b="0" dirty="0">
                <a:solidFill>
                  <a:srgbClr val="A31515"/>
                </a:solidFill>
                <a:effectLst/>
                <a:latin typeface="Consolas" panose="020B0609020204030204" pitchFamily="49" charset="0"/>
              </a:rPr>
              <a:t>/Slides/</a:t>
            </a:r>
            <a:r>
              <a:rPr lang="en-US" sz="2000" b="0" dirty="0" err="1">
                <a:solidFill>
                  <a:srgbClr val="A31515"/>
                </a:solidFill>
                <a:effectLst/>
                <a:latin typeface="Consolas" panose="020B0609020204030204" pitchFamily="49" charset="0"/>
              </a:rPr>
              <a:t>myFetch</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lgn="l">
              <a:buNone/>
            </a:pP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addAsync</a:t>
            </a:r>
            <a:r>
              <a:rPr lang="en-US" sz="2000" b="0" dirty="0">
                <a:solidFill>
                  <a:srgbClr val="008000"/>
                </a:solidFill>
                <a:effectLst/>
                <a:latin typeface="Consolas" panose="020B0609020204030204" pitchFamily="49" charset="0"/>
              </a:rPr>
              <a:t> returns a promise for the sum of x and y</a:t>
            </a:r>
            <a:endParaRPr lang="en-US" sz="2000" b="0" dirty="0">
              <a:solidFill>
                <a:srgbClr val="3B3B3B"/>
              </a:solidFill>
              <a:effectLst/>
              <a:latin typeface="Consolas" panose="020B0609020204030204" pitchFamily="49" charset="0"/>
            </a:endParaRP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slowAdd</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pic>
        <p:nvPicPr>
          <p:cNvPr id="5" name="Content Placeholder 5" descr="A cartoon of a stork carrying a baby&#10;&#10;Description automatically generated">
            <a:extLst>
              <a:ext uri="{FF2B5EF4-FFF2-40B4-BE49-F238E27FC236}">
                <a16:creationId xmlns:a16="http://schemas.microsoft.com/office/drawing/2014/main" id="{58C0299D-E99E-3593-8780-6DBEA9B6D90D}"/>
              </a:ext>
            </a:extLst>
          </p:cNvPr>
          <p:cNvPicPr>
            <a:picLocks noChangeAspect="1"/>
          </p:cNvPicPr>
          <p:nvPr/>
        </p:nvPicPr>
        <p:blipFill>
          <a:blip r:embed="rId3" cstate="print">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b="9820"/>
          <a:stretch/>
        </p:blipFill>
        <p:spPr>
          <a:xfrm>
            <a:off x="8191369" y="3448345"/>
            <a:ext cx="2319866" cy="2606931"/>
          </a:xfrm>
          <a:prstGeom prst="rect">
            <a:avLst/>
          </a:prstGeom>
        </p:spPr>
      </p:pic>
      <p:sp>
        <p:nvSpPr>
          <p:cNvPr id="6" name="TextBox 5">
            <a:extLst>
              <a:ext uri="{FF2B5EF4-FFF2-40B4-BE49-F238E27FC236}">
                <a16:creationId xmlns:a16="http://schemas.microsoft.com/office/drawing/2014/main" id="{1F9AA745-3034-65C3-1682-0F641CF80077}"/>
              </a:ext>
            </a:extLst>
          </p:cNvPr>
          <p:cNvSpPr txBox="1"/>
          <p:nvPr/>
        </p:nvSpPr>
        <p:spPr>
          <a:xfrm>
            <a:off x="5352476" y="10002741"/>
            <a:ext cx="2319866" cy="200055"/>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spAutoFit/>
          </a:bodyPr>
          <a:lstStyle/>
          <a:p>
            <a:pPr algn="r">
              <a:spcAft>
                <a:spcPts val="600"/>
              </a:spcAft>
            </a:pPr>
            <a:r>
              <a:rPr lang="en-US" sz="700">
                <a:solidFill>
                  <a:srgbClr val="FFFFFF"/>
                </a:solidFill>
                <a:hlinkClick r:id="rId4" tooltip="https://www.pngall.com/stork-png/download/31773">
                  <a:extLst>
                    <a:ext uri="{A12FA001-AC4F-418D-AE19-62706E023703}">
                      <ahyp:hlinkClr xmlns:ahyp="http://schemas.microsoft.com/office/drawing/2018/hyperlinkcolor" val="tx"/>
                    </a:ext>
                  </a:extLst>
                </a:hlinkClick>
              </a:rPr>
              <a:t>This Photo</a:t>
            </a:r>
            <a:r>
              <a:rPr lang="en-US" sz="700">
                <a:solidFill>
                  <a:srgbClr val="FFFFFF"/>
                </a:solidFill>
              </a:rPr>
              <a:t> by Unknown Author is licensed under </a:t>
            </a:r>
            <a:r>
              <a:rPr lang="en-US" sz="700">
                <a:solidFill>
                  <a:srgbClr val="FFFFFF"/>
                </a:solidFill>
                <a:hlinkClick r:id="rId5" tooltip="https://creativecommons.org/licenses/by-nc/3.0/">
                  <a:extLst>
                    <a:ext uri="{A12FA001-AC4F-418D-AE19-62706E023703}">
                      <ahyp:hlinkClr xmlns:ahyp="http://schemas.microsoft.com/office/drawing/2018/hyperlinkcolor" val="tx"/>
                    </a:ext>
                  </a:extLst>
                </a:hlinkClick>
              </a:rPr>
              <a:t>CC BY-NC</a:t>
            </a:r>
            <a:endParaRPr lang="en-US" sz="700">
              <a:solidFill>
                <a:srgbClr val="FFFFFF"/>
              </a:solidFill>
            </a:endParaRPr>
          </a:p>
        </p:txBody>
      </p:sp>
      <p:sp>
        <p:nvSpPr>
          <p:cNvPr id="7" name="Rectangle: Rounded Corners 6">
            <a:extLst>
              <a:ext uri="{FF2B5EF4-FFF2-40B4-BE49-F238E27FC236}">
                <a16:creationId xmlns:a16="http://schemas.microsoft.com/office/drawing/2014/main" id="{22C31661-7A9B-A145-71E4-A95A2A4EBC1A}"/>
              </a:ext>
            </a:extLst>
          </p:cNvPr>
          <p:cNvSpPr/>
          <p:nvPr/>
        </p:nvSpPr>
        <p:spPr>
          <a:xfrm>
            <a:off x="1347910" y="5798672"/>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slowAdd.ts</a:t>
            </a:r>
            <a:endParaRPr lang="en-US" sz="2400" dirty="0">
              <a:solidFill>
                <a:schemeClr val="tx1"/>
              </a:solidFill>
            </a:endParaRPr>
          </a:p>
        </p:txBody>
      </p:sp>
    </p:spTree>
    <p:extLst>
      <p:ext uri="{BB962C8B-B14F-4D97-AF65-F5344CB8AC3E}">
        <p14:creationId xmlns:p14="http://schemas.microsoft.com/office/powerpoint/2010/main" val="26339080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B3D81-7BA7-C4DB-8FED-DCB96E76A2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A9BC82-04AA-BF21-E473-3A14C9D99C71}"/>
              </a:ext>
            </a:extLst>
          </p:cNvPr>
          <p:cNvSpPr>
            <a:spLocks noGrp="1"/>
          </p:cNvSpPr>
          <p:nvPr>
            <p:ph type="title"/>
          </p:nvPr>
        </p:nvSpPr>
        <p:spPr/>
        <p:txBody>
          <a:bodyPr/>
          <a:lstStyle/>
          <a:p>
            <a:r>
              <a:rPr lang="en-US" dirty="0"/>
              <a:t>Answer: JS/TS has an API for generating primitive promises</a:t>
            </a:r>
          </a:p>
        </p:txBody>
      </p:sp>
      <p:sp>
        <p:nvSpPr>
          <p:cNvPr id="3" name="Content Placeholder 2">
            <a:extLst>
              <a:ext uri="{FF2B5EF4-FFF2-40B4-BE49-F238E27FC236}">
                <a16:creationId xmlns:a16="http://schemas.microsoft.com/office/drawing/2014/main" id="{7DA785C3-5DEF-055B-2BDE-66240111C2DD}"/>
              </a:ext>
            </a:extLst>
          </p:cNvPr>
          <p:cNvSpPr>
            <a:spLocks noGrp="1"/>
          </p:cNvSpPr>
          <p:nvPr>
            <p:ph idx="1"/>
          </p:nvPr>
        </p:nvSpPr>
        <p:spPr>
          <a:xfrm>
            <a:off x="838200" y="1500160"/>
            <a:ext cx="7977810" cy="4403683"/>
          </a:xfrm>
        </p:spPr>
        <p:txBody>
          <a:bodyPr>
            <a:normAutofit fontScale="92500" lnSpcReduction="10000"/>
          </a:bodyPr>
          <a:lstStyle/>
          <a:p>
            <a:r>
              <a:rPr lang="en-US" dirty="0"/>
              <a:t>These are things like http requests, I/O operations, or timers.</a:t>
            </a:r>
          </a:p>
          <a:p>
            <a:r>
              <a:rPr lang="en-US" dirty="0"/>
              <a:t>Each of these returns a promise that you can </a:t>
            </a:r>
            <a:r>
              <a:rPr lang="en-US" b="1" dirty="0"/>
              <a:t>await</a:t>
            </a:r>
            <a:r>
              <a:rPr lang="en-US" dirty="0"/>
              <a:t>.  The promise runs while it is pending, and produces the response from the http request, or the contents of the file, etc.</a:t>
            </a:r>
          </a:p>
          <a:p>
            <a:r>
              <a:rPr lang="en-US" dirty="0"/>
              <a:t>You will hardly ever call one of these primitives yourself; usually they are wrapped in a convenient procedure, e.g., we write</a:t>
            </a:r>
          </a:p>
          <a:p>
            <a:pPr marL="0" indent="0">
              <a:buNone/>
            </a:pPr>
            <a:r>
              <a:rPr lang="en-US" b="0" dirty="0">
                <a:solidFill>
                  <a:srgbClr val="0070C1"/>
                </a:solidFill>
                <a:effectLst/>
                <a:latin typeface="Consolas" panose="020B0609020204030204" pitchFamily="49" charset="0"/>
              </a:rPr>
              <a:t>	</a:t>
            </a:r>
            <a:r>
              <a:rPr lang="en-US" b="0" dirty="0" err="1">
                <a:solidFill>
                  <a:srgbClr val="0070C1"/>
                </a:solidFill>
                <a:effectLst/>
                <a:latin typeface="Consolas" panose="020B0609020204030204" pitchFamily="49" charset="0"/>
              </a:rPr>
              <a:t>axios</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'https://rest-</a:t>
            </a:r>
            <a:r>
              <a:rPr lang="en-US" b="0" dirty="0" err="1">
                <a:solidFill>
                  <a:srgbClr val="A31515"/>
                </a:solidFill>
                <a:effectLst/>
                <a:latin typeface="Consolas" panose="020B0609020204030204" pitchFamily="49" charset="0"/>
              </a:rPr>
              <a:t>example.covey.town</a:t>
            </a:r>
            <a:r>
              <a:rPr lang="en-US" dirty="0">
                <a:solidFill>
                  <a:srgbClr val="A31515"/>
                </a:solidFill>
                <a:latin typeface="Consolas" panose="020B0609020204030204" pitchFamily="49" charset="0"/>
              </a:rPr>
              <a:t>’</a:t>
            </a:r>
            <a:r>
              <a:rPr lang="en-US" b="0" dirty="0">
                <a:solidFill>
                  <a:srgbClr val="000000"/>
                </a:solidFill>
                <a:effectLst/>
                <a:latin typeface="Consolas" panose="020B0609020204030204" pitchFamily="49" charset="0"/>
              </a:rPr>
              <a:t>)</a:t>
            </a:r>
          </a:p>
          <a:p>
            <a:pPr marL="0" indent="0">
              <a:buNone/>
            </a:pPr>
            <a:r>
              <a:rPr lang="en-US" dirty="0"/>
              <a:t>  to make an http request, or </a:t>
            </a:r>
          </a:p>
          <a:p>
            <a:pPr marL="0" indent="0">
              <a:buNone/>
            </a:pPr>
            <a:r>
              <a:rPr lang="en-US" b="0" dirty="0">
                <a:solidFill>
                  <a:srgbClr val="267F99"/>
                </a:solidFill>
                <a:effectLst/>
                <a:latin typeface="Consolas" panose="020B0609020204030204" pitchFamily="49" charset="0"/>
              </a:rPr>
              <a:t>	</a:t>
            </a:r>
            <a:r>
              <a:rPr lang="en-US" b="0" dirty="0" err="1">
                <a:solidFill>
                  <a:srgbClr val="267F99"/>
                </a:solidFill>
                <a:effectLst/>
                <a:latin typeface="Consolas" panose="020B0609020204030204" pitchFamily="49" charset="0"/>
              </a:rPr>
              <a:t>fs</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readFile</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filename)</a:t>
            </a:r>
          </a:p>
          <a:p>
            <a:pPr marL="0" indent="0">
              <a:buNone/>
            </a:pPr>
            <a:r>
              <a:rPr lang="en-US" dirty="0"/>
              <a:t>  to read the contents of a file.</a:t>
            </a:r>
          </a:p>
        </p:txBody>
      </p:sp>
      <p:sp>
        <p:nvSpPr>
          <p:cNvPr id="4" name="Slide Number Placeholder 3">
            <a:extLst>
              <a:ext uri="{FF2B5EF4-FFF2-40B4-BE49-F238E27FC236}">
                <a16:creationId xmlns:a16="http://schemas.microsoft.com/office/drawing/2014/main" id="{2D7A29CE-1A1A-B6B6-9463-EC4B34A4247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548F5C51-8F16-B30F-11C3-7B4956042381}"/>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15842832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3E6A9-3179-9A11-57EE-8DF680170C0D}"/>
              </a:ext>
            </a:extLst>
          </p:cNvPr>
          <p:cNvSpPr>
            <a:spLocks noGrp="1"/>
          </p:cNvSpPr>
          <p:nvPr>
            <p:ph type="title"/>
          </p:nvPr>
        </p:nvSpPr>
        <p:spPr/>
        <p:txBody>
          <a:bodyPr/>
          <a:lstStyle/>
          <a:p>
            <a:r>
              <a:rPr lang="en-US" dirty="0"/>
              <a:t>Second important property: Promises run to completion</a:t>
            </a:r>
          </a:p>
        </p:txBody>
      </p:sp>
      <p:sp>
        <p:nvSpPr>
          <p:cNvPr id="4" name="Content Placeholder 3">
            <a:extLst>
              <a:ext uri="{FF2B5EF4-FFF2-40B4-BE49-F238E27FC236}">
                <a16:creationId xmlns:a16="http://schemas.microsoft.com/office/drawing/2014/main" id="{34450908-8467-03EF-3F9B-72BD3D9C3B1A}"/>
              </a:ext>
            </a:extLst>
          </p:cNvPr>
          <p:cNvSpPr>
            <a:spLocks noGrp="1"/>
          </p:cNvSpPr>
          <p:nvPr>
            <p:ph idx="1"/>
          </p:nvPr>
        </p:nvSpPr>
        <p:spPr/>
        <p:txBody>
          <a:bodyPr/>
          <a:lstStyle/>
          <a:p>
            <a:r>
              <a:rPr lang="en-US" dirty="0"/>
              <a:t>This means that the code you write can't be interrupted by other processes.</a:t>
            </a:r>
          </a:p>
          <a:p>
            <a:r>
              <a:rPr lang="en-US" dirty="0"/>
              <a:t>In OS terms, this means that most of your code resides in critical sections.</a:t>
            </a:r>
          </a:p>
          <a:p>
            <a:r>
              <a:rPr lang="en-US" dirty="0"/>
              <a:t>These critical sections are delimited in statically-determinable places.</a:t>
            </a:r>
          </a:p>
          <a:p>
            <a:r>
              <a:rPr lang="en-US" dirty="0"/>
              <a:t>Let's look at some examples to see what all that means.</a:t>
            </a:r>
          </a:p>
        </p:txBody>
      </p:sp>
      <p:sp>
        <p:nvSpPr>
          <p:cNvPr id="3" name="Slide Number Placeholder 2">
            <a:extLst>
              <a:ext uri="{FF2B5EF4-FFF2-40B4-BE49-F238E27FC236}">
                <a16:creationId xmlns:a16="http://schemas.microsoft.com/office/drawing/2014/main" id="{E1246FE1-B1BD-91B5-C4E1-7B7BF43B311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585512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1892F1E-D2A3-6970-0D11-A28E47F507B5}"/>
              </a:ext>
            </a:extLst>
          </p:cNvPr>
          <p:cNvSpPr>
            <a:spLocks noGrp="1"/>
          </p:cNvSpPr>
          <p:nvPr>
            <p:ph type="title"/>
          </p:nvPr>
        </p:nvSpPr>
        <p:spPr/>
        <p:txBody>
          <a:bodyPr/>
          <a:lstStyle/>
          <a:p>
            <a:r>
              <a:rPr lang="en-US" dirty="0"/>
              <a:t>A Typical Example</a:t>
            </a:r>
          </a:p>
        </p:txBody>
      </p:sp>
      <p:sp>
        <p:nvSpPr>
          <p:cNvPr id="6" name="Content Placeholder 5">
            <a:extLst>
              <a:ext uri="{FF2B5EF4-FFF2-40B4-BE49-F238E27FC236}">
                <a16:creationId xmlns:a16="http://schemas.microsoft.com/office/drawing/2014/main" id="{C08EE4F5-8787-FF56-24FB-D53262FCE4B7}"/>
              </a:ext>
            </a:extLst>
          </p:cNvPr>
          <p:cNvSpPr>
            <a:spLocks noGrp="1"/>
          </p:cNvSpPr>
          <p:nvPr>
            <p:ph idx="1"/>
          </p:nvPr>
        </p:nvSpPr>
        <p:spPr>
          <a:xfrm>
            <a:off x="5820937" y="1631794"/>
            <a:ext cx="5532863" cy="4351338"/>
          </a:xfrm>
        </p:spPr>
        <p:txBody>
          <a:bodyPr>
            <a:normAutofit/>
          </a:bodyPr>
          <a:lstStyle/>
          <a:p>
            <a:pPr marL="0" indent="0">
              <a:buNone/>
            </a:pPr>
            <a:r>
              <a:rPr lang="en-US" sz="2000" dirty="0"/>
              <a:t>$ node </a:t>
            </a:r>
            <a:r>
              <a:rPr lang="en-US" sz="2000" dirty="0" err="1"/>
              <a:t>runABC.ts</a:t>
            </a:r>
            <a:r>
              <a:rPr lang="en-US" sz="2000" dirty="0"/>
              <a:t> </a:t>
            </a:r>
          </a:p>
          <a:p>
            <a:pPr marL="0" indent="0">
              <a:buNone/>
            </a:pPr>
            <a:r>
              <a:rPr lang="en-US" sz="2000" dirty="0"/>
              <a:t>running </a:t>
            </a:r>
            <a:r>
              <a:rPr lang="en-US" sz="2000" dirty="0" err="1"/>
              <a:t>runABC.ts</a:t>
            </a:r>
            <a:endParaRPr lang="en-US" sz="2000" dirty="0"/>
          </a:p>
          <a:p>
            <a:pPr marL="0" indent="0">
              <a:buNone/>
            </a:pPr>
            <a:r>
              <a:rPr lang="en-US" sz="2000" dirty="0"/>
              <a:t>A1 1</a:t>
            </a:r>
          </a:p>
          <a:p>
            <a:pPr marL="0" indent="0">
              <a:buNone/>
            </a:pPr>
            <a:r>
              <a:rPr lang="en-US" sz="2000" dirty="0"/>
              <a:t>B1 1</a:t>
            </a:r>
          </a:p>
          <a:p>
            <a:pPr marL="0" indent="0">
              <a:buNone/>
            </a:pPr>
            <a:r>
              <a:rPr lang="en-US" sz="2000" dirty="0"/>
              <a:t>C1 1</a:t>
            </a:r>
          </a:p>
          <a:p>
            <a:pPr marL="0" indent="0">
              <a:buNone/>
            </a:pPr>
            <a:r>
              <a:rPr lang="en-US" sz="2000" dirty="0"/>
              <a:t>Promise created for ABC 1</a:t>
            </a:r>
          </a:p>
          <a:p>
            <a:pPr marL="0" indent="0">
              <a:buNone/>
            </a:pPr>
            <a:r>
              <a:rPr lang="en-US" sz="2000" dirty="0"/>
              <a:t>C2 1</a:t>
            </a:r>
          </a:p>
          <a:p>
            <a:pPr marL="0" indent="0">
              <a:buNone/>
            </a:pPr>
            <a:r>
              <a:rPr lang="en-US" sz="2000" dirty="0"/>
              <a:t>B2 1</a:t>
            </a:r>
          </a:p>
          <a:p>
            <a:pPr marL="0" indent="0">
              <a:buNone/>
            </a:pPr>
            <a:r>
              <a:rPr lang="en-US" sz="2000" dirty="0"/>
              <a:t>A2 1</a:t>
            </a:r>
          </a:p>
          <a:p>
            <a:pPr marL="0" indent="0">
              <a:buNone/>
            </a:pPr>
            <a:r>
              <a:rPr lang="en-US" sz="2000" dirty="0"/>
              <a:t>====</a:t>
            </a:r>
          </a:p>
          <a:p>
            <a:pPr marL="0" indent="0">
              <a:buNone/>
            </a:pPr>
            <a:endParaRPr lang="en-US" sz="2000" dirty="0"/>
          </a:p>
        </p:txBody>
      </p:sp>
      <p:sp>
        <p:nvSpPr>
          <p:cNvPr id="4" name="Slide Number Placeholder 3">
            <a:extLst>
              <a:ext uri="{FF2B5EF4-FFF2-40B4-BE49-F238E27FC236}">
                <a16:creationId xmlns:a16="http://schemas.microsoft.com/office/drawing/2014/main" id="{29FFEF3D-803B-7969-C452-6E11CC25C39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1546D7BD-154C-7202-9855-3C6640EAD4A1}"/>
              </a:ext>
            </a:extLst>
          </p:cNvPr>
          <p:cNvSpPr txBox="1"/>
          <p:nvPr/>
        </p:nvSpPr>
        <p:spPr>
          <a:xfrm>
            <a:off x="742950" y="1522154"/>
            <a:ext cx="609765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A</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number</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`A1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B</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`A2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a:t>
            </a:r>
          </a:p>
          <a:p>
            <a:pPr algn="l">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lgn="l">
              <a:buNone/>
            </a:pP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B</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number</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`B1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C</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`B2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a:t>
            </a:r>
          </a:p>
          <a:p>
            <a:pPr algn="l">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lgn="l">
              <a:buNone/>
            </a:pP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C</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number</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`C1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myFetch</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`ABC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`C2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a:t>
            </a:r>
          </a:p>
        </p:txBody>
      </p:sp>
      <p:sp>
        <p:nvSpPr>
          <p:cNvPr id="2" name="Rectangle: Rounded Corners 1">
            <a:extLst>
              <a:ext uri="{FF2B5EF4-FFF2-40B4-BE49-F238E27FC236}">
                <a16:creationId xmlns:a16="http://schemas.microsoft.com/office/drawing/2014/main" id="{F1FAA3A3-4F95-D0FC-7A53-2FD1D7837D72}"/>
              </a:ext>
            </a:extLst>
          </p:cNvPr>
          <p:cNvSpPr/>
          <p:nvPr/>
        </p:nvSpPr>
        <p:spPr>
          <a:xfrm>
            <a:off x="5787189" y="758637"/>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runABC.ts</a:t>
            </a:r>
            <a:endParaRPr lang="en-US" sz="2400" dirty="0">
              <a:solidFill>
                <a:schemeClr val="tx1"/>
              </a:solidFill>
            </a:endParaRPr>
          </a:p>
        </p:txBody>
      </p:sp>
    </p:spTree>
    <p:extLst>
      <p:ext uri="{BB962C8B-B14F-4D97-AF65-F5344CB8AC3E}">
        <p14:creationId xmlns:p14="http://schemas.microsoft.com/office/powerpoint/2010/main" val="31329960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41BA1-E2D1-7754-6B95-18CF27B8116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AB47862-357C-73D6-64DF-5508269875A8}"/>
              </a:ext>
            </a:extLst>
          </p:cNvPr>
          <p:cNvSpPr>
            <a:spLocks noGrp="1"/>
          </p:cNvSpPr>
          <p:nvPr>
            <p:ph type="title"/>
          </p:nvPr>
        </p:nvSpPr>
        <p:spPr/>
        <p:txBody>
          <a:bodyPr/>
          <a:lstStyle/>
          <a:p>
            <a:r>
              <a:rPr lang="en-US" dirty="0"/>
              <a:t>A Typical Example</a:t>
            </a:r>
          </a:p>
        </p:txBody>
      </p:sp>
      <p:sp>
        <p:nvSpPr>
          <p:cNvPr id="4" name="Slide Number Placeholder 3">
            <a:extLst>
              <a:ext uri="{FF2B5EF4-FFF2-40B4-BE49-F238E27FC236}">
                <a16:creationId xmlns:a16="http://schemas.microsoft.com/office/drawing/2014/main" id="{7124A29C-4FF6-FF07-DDC9-1D67762531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9AFAC1-B3F2-1E1A-DE34-5821DFBFB380}"/>
              </a:ext>
            </a:extLst>
          </p:cNvPr>
          <p:cNvSpPr txBox="1"/>
          <p:nvPr/>
        </p:nvSpPr>
        <p:spPr>
          <a:xfrm>
            <a:off x="742950" y="1555750"/>
            <a:ext cx="609765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A</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number</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`A1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B</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`A2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a:t>
            </a:r>
          </a:p>
          <a:p>
            <a:pPr algn="l">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lgn="l">
              <a:buNone/>
            </a:pP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B</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number</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`B1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C</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`B2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a:t>
            </a:r>
          </a:p>
          <a:p>
            <a:pPr algn="l">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lgn="l">
              <a:buNone/>
            </a:pP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C</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number</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`C1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myFetch</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`ABC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`C2 </a:t>
            </a:r>
            <a:r>
              <a:rPr lang="en-US" sz="1600" b="0" dirty="0">
                <a:solidFill>
                  <a:srgbClr val="0000FF"/>
                </a:solidFill>
                <a:effectLst/>
                <a:latin typeface="Consolas" panose="020B0609020204030204" pitchFamily="49" charset="0"/>
              </a:rPr>
              <a:t>${</a:t>
            </a:r>
            <a:r>
              <a:rPr lang="en-US" sz="1600" b="0" dirty="0">
                <a:solidFill>
                  <a:srgbClr val="001080"/>
                </a:solidFill>
                <a:effectLst/>
                <a:latin typeface="Consolas" panose="020B0609020204030204" pitchFamily="49" charset="0"/>
              </a:rPr>
              <a:t>n</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a:t>
            </a:r>
          </a:p>
        </p:txBody>
      </p:sp>
      <p:grpSp>
        <p:nvGrpSpPr>
          <p:cNvPr id="7" name="Group 6">
            <a:extLst>
              <a:ext uri="{FF2B5EF4-FFF2-40B4-BE49-F238E27FC236}">
                <a16:creationId xmlns:a16="http://schemas.microsoft.com/office/drawing/2014/main" id="{FF93815C-FF04-8BE9-0D9C-89C36016EC65}"/>
              </a:ext>
            </a:extLst>
          </p:cNvPr>
          <p:cNvGrpSpPr/>
          <p:nvPr/>
        </p:nvGrpSpPr>
        <p:grpSpPr>
          <a:xfrm>
            <a:off x="5516054" y="1522154"/>
            <a:ext cx="579946" cy="4940556"/>
            <a:chOff x="6952736" y="465439"/>
            <a:chExt cx="939114" cy="6236045"/>
          </a:xfrm>
        </p:grpSpPr>
        <p:grpSp>
          <p:nvGrpSpPr>
            <p:cNvPr id="9" name="Group 8">
              <a:extLst>
                <a:ext uri="{FF2B5EF4-FFF2-40B4-BE49-F238E27FC236}">
                  <a16:creationId xmlns:a16="http://schemas.microsoft.com/office/drawing/2014/main" id="{6AA8BC6B-A402-9D64-E49C-70B3E2CEEAC0}"/>
                </a:ext>
              </a:extLst>
            </p:cNvPr>
            <p:cNvGrpSpPr/>
            <p:nvPr/>
          </p:nvGrpSpPr>
          <p:grpSpPr>
            <a:xfrm>
              <a:off x="6952736" y="465439"/>
              <a:ext cx="939114" cy="2788510"/>
              <a:chOff x="7171038" y="2269524"/>
              <a:chExt cx="939114" cy="2788510"/>
            </a:xfrm>
          </p:grpSpPr>
          <p:sp>
            <p:nvSpPr>
              <p:cNvPr id="15" name="Rectangle 14">
                <a:extLst>
                  <a:ext uri="{FF2B5EF4-FFF2-40B4-BE49-F238E27FC236}">
                    <a16:creationId xmlns:a16="http://schemas.microsoft.com/office/drawing/2014/main" id="{6B8568E8-4321-E9C2-8B96-E2C1270E3B29}"/>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A1</a:t>
                </a:r>
              </a:p>
            </p:txBody>
          </p:sp>
          <p:sp>
            <p:nvSpPr>
              <p:cNvPr id="16" name="Rectangle 15">
                <a:extLst>
                  <a:ext uri="{FF2B5EF4-FFF2-40B4-BE49-F238E27FC236}">
                    <a16:creationId xmlns:a16="http://schemas.microsoft.com/office/drawing/2014/main" id="{B7C71B98-713C-57DB-B46D-D53144843A6B}"/>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C1</a:t>
                </a:r>
              </a:p>
            </p:txBody>
          </p:sp>
          <p:sp>
            <p:nvSpPr>
              <p:cNvPr id="17" name="Rectangle 16">
                <a:extLst>
                  <a:ext uri="{FF2B5EF4-FFF2-40B4-BE49-F238E27FC236}">
                    <a16:creationId xmlns:a16="http://schemas.microsoft.com/office/drawing/2014/main" id="{2FCE7392-3AB5-3C73-8F05-F06A24E51069}"/>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B1</a:t>
                </a:r>
              </a:p>
            </p:txBody>
          </p:sp>
        </p:grpSp>
        <p:sp>
          <p:nvSpPr>
            <p:cNvPr id="10" name="TextBox 9">
              <a:extLst>
                <a:ext uri="{FF2B5EF4-FFF2-40B4-BE49-F238E27FC236}">
                  <a16:creationId xmlns:a16="http://schemas.microsoft.com/office/drawing/2014/main" id="{636235D9-CA3E-0E67-EEA3-67D972AEA948}"/>
                </a:ext>
              </a:extLst>
            </p:cNvPr>
            <p:cNvSpPr txBox="1"/>
            <p:nvPr/>
          </p:nvSpPr>
          <p:spPr>
            <a:xfrm>
              <a:off x="6952736" y="3253949"/>
              <a:ext cx="939114"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11" name="Group 10">
              <a:extLst>
                <a:ext uri="{FF2B5EF4-FFF2-40B4-BE49-F238E27FC236}">
                  <a16:creationId xmlns:a16="http://schemas.microsoft.com/office/drawing/2014/main" id="{CB84257A-F80D-112F-3F96-209B42901A26}"/>
                </a:ext>
              </a:extLst>
            </p:cNvPr>
            <p:cNvGrpSpPr/>
            <p:nvPr/>
          </p:nvGrpSpPr>
          <p:grpSpPr>
            <a:xfrm>
              <a:off x="6952736" y="3912974"/>
              <a:ext cx="939114" cy="2788510"/>
              <a:chOff x="7171038" y="2269524"/>
              <a:chExt cx="939114" cy="2788510"/>
            </a:xfrm>
          </p:grpSpPr>
          <p:sp>
            <p:nvSpPr>
              <p:cNvPr id="12" name="Rectangle 11">
                <a:extLst>
                  <a:ext uri="{FF2B5EF4-FFF2-40B4-BE49-F238E27FC236}">
                    <a16:creationId xmlns:a16="http://schemas.microsoft.com/office/drawing/2014/main" id="{CBB4F0D8-6E2B-A1A5-C50C-DE58365C9837}"/>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C2</a:t>
                </a:r>
              </a:p>
            </p:txBody>
          </p:sp>
          <p:sp>
            <p:nvSpPr>
              <p:cNvPr id="13" name="Rectangle 12">
                <a:extLst>
                  <a:ext uri="{FF2B5EF4-FFF2-40B4-BE49-F238E27FC236}">
                    <a16:creationId xmlns:a16="http://schemas.microsoft.com/office/drawing/2014/main" id="{092AB70B-32DF-9C65-6464-01D02D54F787}"/>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A2</a:t>
                </a:r>
              </a:p>
            </p:txBody>
          </p:sp>
          <p:sp>
            <p:nvSpPr>
              <p:cNvPr id="14" name="Rectangle 13">
                <a:extLst>
                  <a:ext uri="{FF2B5EF4-FFF2-40B4-BE49-F238E27FC236}">
                    <a16:creationId xmlns:a16="http://schemas.microsoft.com/office/drawing/2014/main" id="{055EBA6E-E48F-506F-7861-2F822DA6CD9C}"/>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B2</a:t>
                </a:r>
              </a:p>
            </p:txBody>
          </p:sp>
        </p:grpSp>
      </p:grpSp>
      <p:grpSp>
        <p:nvGrpSpPr>
          <p:cNvPr id="20" name="Group 19">
            <a:extLst>
              <a:ext uri="{FF2B5EF4-FFF2-40B4-BE49-F238E27FC236}">
                <a16:creationId xmlns:a16="http://schemas.microsoft.com/office/drawing/2014/main" id="{E95814EA-993F-AC40-2070-6ABE48BE0726}"/>
              </a:ext>
            </a:extLst>
          </p:cNvPr>
          <p:cNvGrpSpPr/>
          <p:nvPr/>
        </p:nvGrpSpPr>
        <p:grpSpPr>
          <a:xfrm>
            <a:off x="6620687" y="1528024"/>
            <a:ext cx="1659006" cy="2209219"/>
            <a:chOff x="6620687" y="1528024"/>
            <a:chExt cx="1659006" cy="2209219"/>
          </a:xfrm>
        </p:grpSpPr>
        <p:sp>
          <p:nvSpPr>
            <p:cNvPr id="18" name="Right Brace 17">
              <a:extLst>
                <a:ext uri="{FF2B5EF4-FFF2-40B4-BE49-F238E27FC236}">
                  <a16:creationId xmlns:a16="http://schemas.microsoft.com/office/drawing/2014/main" id="{571772A3-A232-5167-11C1-5992630AA969}"/>
                </a:ext>
              </a:extLst>
            </p:cNvPr>
            <p:cNvSpPr/>
            <p:nvPr/>
          </p:nvSpPr>
          <p:spPr>
            <a:xfrm>
              <a:off x="6620687" y="1528024"/>
              <a:ext cx="546156" cy="2209219"/>
            </a:xfrm>
            <a:prstGeom prst="rightBrace">
              <a:avLst>
                <a:gd name="adj1" fmla="val 18930"/>
                <a:gd name="adj2" fmla="val 50000"/>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4DB51B15-B6A8-F6A2-3E8A-633E5F024F68}"/>
                </a:ext>
              </a:extLst>
            </p:cNvPr>
            <p:cNvSpPr txBox="1"/>
            <p:nvPr/>
          </p:nvSpPr>
          <p:spPr>
            <a:xfrm>
              <a:off x="7365293" y="2158142"/>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a:t>
              </a:r>
            </a:p>
          </p:txBody>
        </p:sp>
      </p:grpSp>
      <p:grpSp>
        <p:nvGrpSpPr>
          <p:cNvPr id="21" name="Group 20">
            <a:extLst>
              <a:ext uri="{FF2B5EF4-FFF2-40B4-BE49-F238E27FC236}">
                <a16:creationId xmlns:a16="http://schemas.microsoft.com/office/drawing/2014/main" id="{DEBE1163-4AB7-02E5-DDC2-92B1A2CDA57A}"/>
              </a:ext>
            </a:extLst>
          </p:cNvPr>
          <p:cNvGrpSpPr/>
          <p:nvPr/>
        </p:nvGrpSpPr>
        <p:grpSpPr>
          <a:xfrm>
            <a:off x="6620687" y="4329693"/>
            <a:ext cx="1659006" cy="2209219"/>
            <a:chOff x="6620687" y="1528024"/>
            <a:chExt cx="1659006" cy="2209219"/>
          </a:xfrm>
        </p:grpSpPr>
        <p:sp>
          <p:nvSpPr>
            <p:cNvPr id="22" name="Right Brace 21">
              <a:extLst>
                <a:ext uri="{FF2B5EF4-FFF2-40B4-BE49-F238E27FC236}">
                  <a16:creationId xmlns:a16="http://schemas.microsoft.com/office/drawing/2014/main" id="{F4544AAF-E2E0-0DA8-952A-A22624925A0E}"/>
                </a:ext>
              </a:extLst>
            </p:cNvPr>
            <p:cNvSpPr/>
            <p:nvPr/>
          </p:nvSpPr>
          <p:spPr>
            <a:xfrm>
              <a:off x="6620687" y="1528024"/>
              <a:ext cx="546156" cy="2209219"/>
            </a:xfrm>
            <a:prstGeom prst="rightBrace">
              <a:avLst>
                <a:gd name="adj1" fmla="val 18930"/>
                <a:gd name="adj2" fmla="val 50000"/>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76296A7D-1DEF-1D13-B17B-FF1CB145ECCD}"/>
                </a:ext>
              </a:extLst>
            </p:cNvPr>
            <p:cNvSpPr txBox="1"/>
            <p:nvPr/>
          </p:nvSpPr>
          <p:spPr>
            <a:xfrm>
              <a:off x="7365293" y="2158142"/>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grpSp>
    </p:spTree>
    <p:extLst>
      <p:ext uri="{BB962C8B-B14F-4D97-AF65-F5344CB8AC3E}">
        <p14:creationId xmlns:p14="http://schemas.microsoft.com/office/powerpoint/2010/main" val="22970305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1738F-A897-4769-B56B-0A864D1FAD39}"/>
              </a:ext>
            </a:extLst>
          </p:cNvPr>
          <p:cNvSpPr>
            <a:spLocks noGrp="1"/>
          </p:cNvSpPr>
          <p:nvPr>
            <p:ph type="title"/>
          </p:nvPr>
        </p:nvSpPr>
        <p:spPr/>
        <p:txBody>
          <a:bodyPr/>
          <a:lstStyle/>
          <a:p>
            <a:r>
              <a:rPr lang="en-US" dirty="0"/>
              <a:t>What happens when we try to run two promises concurrently?</a:t>
            </a:r>
          </a:p>
        </p:txBody>
      </p:sp>
      <p:sp>
        <p:nvSpPr>
          <p:cNvPr id="4" name="Slide Number Placeholder 3">
            <a:extLst>
              <a:ext uri="{FF2B5EF4-FFF2-40B4-BE49-F238E27FC236}">
                <a16:creationId xmlns:a16="http://schemas.microsoft.com/office/drawing/2014/main" id="{18C48D85-14B7-629F-7CC5-75328A77E46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E9E38A23-5869-E498-CB9F-2A7A6BFCDE1F}"/>
              </a:ext>
            </a:extLst>
          </p:cNvPr>
          <p:cNvSpPr txBox="1"/>
          <p:nvPr/>
        </p:nvSpPr>
        <p:spPr>
          <a:xfrm>
            <a:off x="1062153" y="1807662"/>
            <a:ext cx="8204509" cy="147732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AF00DB"/>
                </a:solidFill>
                <a:effectLst/>
                <a:latin typeface="Consolas" panose="020B0609020204030204" pitchFamily="49" charset="0"/>
              </a:rPr>
              <a:t>import</a:t>
            </a: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A</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from</a:t>
            </a:r>
            <a:r>
              <a:rPr lang="en-US" sz="1800" b="0" dirty="0">
                <a:solidFill>
                  <a:srgbClr val="3B3B3B"/>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abc.ts</a:t>
            </a:r>
            <a:r>
              <a:rPr lang="en-US" sz="1800" b="0" dirty="0">
                <a:solidFill>
                  <a:srgbClr val="A31515"/>
                </a:solidFill>
                <a:effectLst/>
                <a:latin typeface="Consolas" panose="020B0609020204030204" pitchFamily="49" charset="0"/>
              </a:rPr>
              <a:t>'</a:t>
            </a:r>
            <a:r>
              <a:rPr lang="en-US" sz="1800" b="0" dirty="0">
                <a:solidFill>
                  <a:srgbClr val="3B3B3B"/>
                </a:solidFill>
                <a:effectLst/>
                <a:latin typeface="Consolas" panose="020B0609020204030204" pitchFamily="49" charset="0"/>
              </a:rPr>
              <a:t>;</a:t>
            </a:r>
          </a:p>
          <a:p>
            <a:pPr algn="l">
              <a:buNone/>
            </a:pPr>
            <a:r>
              <a:rPr lang="en-US" sz="1800" b="0" dirty="0">
                <a:solidFill>
                  <a:srgbClr val="AF00DB"/>
                </a:solidFill>
                <a:effectLst/>
                <a:latin typeface="Consolas" panose="020B0609020204030204" pitchFamily="49" charset="0"/>
              </a:rPr>
              <a:t>import</a:t>
            </a: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X</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from</a:t>
            </a:r>
            <a:r>
              <a:rPr lang="en-US" sz="1800" b="0" dirty="0">
                <a:solidFill>
                  <a:srgbClr val="3B3B3B"/>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xyz.ts</a:t>
            </a:r>
            <a:r>
              <a:rPr lang="en-US" sz="1800" b="0" dirty="0">
                <a:solidFill>
                  <a:srgbClr val="A31515"/>
                </a:solidFill>
                <a:effectLst/>
                <a:latin typeface="Consolas" panose="020B0609020204030204" pitchFamily="49" charset="0"/>
              </a:rPr>
              <a:t>'</a:t>
            </a:r>
            <a:r>
              <a:rPr lang="en-US" sz="1800" b="0" dirty="0">
                <a:solidFill>
                  <a:srgbClr val="3B3B3B"/>
                </a:solidFill>
                <a:effectLst/>
                <a:latin typeface="Consolas" panose="020B0609020204030204" pitchFamily="49" charset="0"/>
              </a:rPr>
              <a:t>;</a:t>
            </a:r>
          </a:p>
          <a:p>
            <a:pPr algn="l">
              <a:buNone/>
            </a:pPr>
            <a:endParaRPr lang="en-US" sz="1800" b="0" dirty="0">
              <a:solidFill>
                <a:srgbClr val="3B3B3B"/>
              </a:solidFill>
              <a:effectLst/>
              <a:latin typeface="Consolas" panose="020B0609020204030204" pitchFamily="49" charset="0"/>
            </a:endParaRPr>
          </a:p>
          <a:p>
            <a:pPr algn="l">
              <a:buNone/>
            </a:pP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Promise</a:t>
            </a:r>
            <a:r>
              <a:rPr lang="en-US" sz="1800" b="0" dirty="0" err="1">
                <a:solidFill>
                  <a:srgbClr val="3B3B3B"/>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all</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A</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10</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X</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20</a:t>
            </a:r>
            <a:r>
              <a:rPr lang="en-US" sz="1800" b="0" dirty="0">
                <a:solidFill>
                  <a:srgbClr val="3B3B3B"/>
                </a:solidFill>
                <a:effectLst/>
                <a:latin typeface="Consolas" panose="020B0609020204030204" pitchFamily="49" charset="0"/>
              </a:rPr>
              <a:t>)]);</a:t>
            </a: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p:txBody>
      </p:sp>
      <p:sp>
        <p:nvSpPr>
          <p:cNvPr id="3" name="Rectangle: Rounded Corners 2">
            <a:extLst>
              <a:ext uri="{FF2B5EF4-FFF2-40B4-BE49-F238E27FC236}">
                <a16:creationId xmlns:a16="http://schemas.microsoft.com/office/drawing/2014/main" id="{F6B4D691-F22B-34F0-8401-18EDD654F85B}"/>
              </a:ext>
            </a:extLst>
          </p:cNvPr>
          <p:cNvSpPr/>
          <p:nvPr/>
        </p:nvSpPr>
        <p:spPr>
          <a:xfrm>
            <a:off x="5563236" y="4519679"/>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runABCvsXYZ.ts</a:t>
            </a:r>
            <a:endParaRPr lang="en-US" sz="2400" dirty="0">
              <a:solidFill>
                <a:schemeClr val="tx1"/>
              </a:solidFill>
            </a:endParaRPr>
          </a:p>
        </p:txBody>
      </p:sp>
    </p:spTree>
    <p:extLst>
      <p:ext uri="{BB962C8B-B14F-4D97-AF65-F5344CB8AC3E}">
        <p14:creationId xmlns:p14="http://schemas.microsoft.com/office/powerpoint/2010/main" val="39896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0A115-5EFF-5E8F-3AC9-BDA69CD1CF4D}"/>
              </a:ext>
            </a:extLst>
          </p:cNvPr>
          <p:cNvSpPr>
            <a:spLocks noGrp="1"/>
          </p:cNvSpPr>
          <p:nvPr>
            <p:ph type="title"/>
          </p:nvPr>
        </p:nvSpPr>
        <p:spPr/>
        <p:txBody>
          <a:bodyPr/>
          <a:lstStyle/>
          <a:p>
            <a:r>
              <a:rPr lang="en-US" dirty="0"/>
              <a:t>Here's what the result demonstrates.</a:t>
            </a:r>
          </a:p>
        </p:txBody>
      </p:sp>
      <p:sp>
        <p:nvSpPr>
          <p:cNvPr id="3" name="Content Placeholder 2">
            <a:extLst>
              <a:ext uri="{FF2B5EF4-FFF2-40B4-BE49-F238E27FC236}">
                <a16:creationId xmlns:a16="http://schemas.microsoft.com/office/drawing/2014/main" id="{DF0B68D1-FC48-F9D7-BD5E-53B332B2CA63}"/>
              </a:ext>
            </a:extLst>
          </p:cNvPr>
          <p:cNvSpPr>
            <a:spLocks noGrp="1"/>
          </p:cNvSpPr>
          <p:nvPr>
            <p:ph sz="half" idx="1"/>
          </p:nvPr>
        </p:nvSpPr>
        <p:spPr/>
        <p:txBody>
          <a:bodyPr>
            <a:noAutofit/>
          </a:bodyPr>
          <a:lstStyle/>
          <a:p>
            <a:pPr marL="0" indent="0">
              <a:lnSpc>
                <a:spcPct val="100000"/>
              </a:lnSpc>
              <a:spcBef>
                <a:spcPts val="0"/>
              </a:spcBef>
              <a:buNone/>
            </a:pPr>
            <a:r>
              <a:rPr lang="en-US" sz="1600" dirty="0"/>
              <a:t>$ node </a:t>
            </a:r>
            <a:r>
              <a:rPr lang="en-US" sz="1600" dirty="0" err="1"/>
              <a:t>runABCvsXYZ.ts</a:t>
            </a:r>
            <a:r>
              <a:rPr lang="en-US" sz="1600" dirty="0"/>
              <a:t> </a:t>
            </a:r>
          </a:p>
          <a:p>
            <a:pPr marL="0" indent="0">
              <a:lnSpc>
                <a:spcPct val="100000"/>
              </a:lnSpc>
              <a:spcBef>
                <a:spcPts val="0"/>
              </a:spcBef>
              <a:buNone/>
            </a:pPr>
            <a:r>
              <a:rPr lang="en-US" sz="1600" dirty="0"/>
              <a:t>A1 10</a:t>
            </a:r>
          </a:p>
          <a:p>
            <a:pPr marL="0" indent="0">
              <a:lnSpc>
                <a:spcPct val="100000"/>
              </a:lnSpc>
              <a:spcBef>
                <a:spcPts val="0"/>
              </a:spcBef>
              <a:buNone/>
            </a:pPr>
            <a:r>
              <a:rPr lang="en-US" sz="1600" dirty="0"/>
              <a:t>B1 10</a:t>
            </a:r>
          </a:p>
          <a:p>
            <a:pPr marL="0" indent="0">
              <a:lnSpc>
                <a:spcPct val="100000"/>
              </a:lnSpc>
              <a:spcBef>
                <a:spcPts val="0"/>
              </a:spcBef>
              <a:buNone/>
            </a:pPr>
            <a:r>
              <a:rPr lang="en-US" sz="1600" dirty="0"/>
              <a:t>C1 10</a:t>
            </a:r>
          </a:p>
          <a:p>
            <a:pPr marL="0" indent="0">
              <a:lnSpc>
                <a:spcPct val="100000"/>
              </a:lnSpc>
              <a:spcBef>
                <a:spcPts val="0"/>
              </a:spcBef>
              <a:buNone/>
            </a:pPr>
            <a:r>
              <a:rPr lang="en-US" sz="1600" dirty="0"/>
              <a:t>Promise created for ABC 10</a:t>
            </a:r>
          </a:p>
          <a:p>
            <a:pPr marL="0" indent="0">
              <a:lnSpc>
                <a:spcPct val="100000"/>
              </a:lnSpc>
              <a:spcBef>
                <a:spcPts val="0"/>
              </a:spcBef>
              <a:buNone/>
            </a:pPr>
            <a:r>
              <a:rPr lang="en-US" sz="1600" dirty="0"/>
              <a:t>X1 20</a:t>
            </a:r>
          </a:p>
          <a:p>
            <a:pPr marL="0" indent="0">
              <a:lnSpc>
                <a:spcPct val="100000"/>
              </a:lnSpc>
              <a:spcBef>
                <a:spcPts val="0"/>
              </a:spcBef>
              <a:buNone/>
            </a:pPr>
            <a:r>
              <a:rPr lang="en-US" sz="1600" dirty="0"/>
              <a:t>Y1 20</a:t>
            </a:r>
          </a:p>
          <a:p>
            <a:pPr marL="0" indent="0">
              <a:lnSpc>
                <a:spcPct val="100000"/>
              </a:lnSpc>
              <a:spcBef>
                <a:spcPts val="0"/>
              </a:spcBef>
              <a:buNone/>
            </a:pPr>
            <a:r>
              <a:rPr lang="en-US" sz="1600" dirty="0"/>
              <a:t>Z1 20</a:t>
            </a:r>
          </a:p>
          <a:p>
            <a:pPr marL="0" indent="0">
              <a:lnSpc>
                <a:spcPct val="100000"/>
              </a:lnSpc>
              <a:spcBef>
                <a:spcPts val="0"/>
              </a:spcBef>
              <a:buNone/>
            </a:pPr>
            <a:r>
              <a:rPr lang="en-US" sz="1600" dirty="0"/>
              <a:t>Promise created for XYZ 20</a:t>
            </a:r>
          </a:p>
          <a:p>
            <a:pPr marL="0" indent="0">
              <a:lnSpc>
                <a:spcPct val="100000"/>
              </a:lnSpc>
              <a:spcBef>
                <a:spcPts val="0"/>
              </a:spcBef>
              <a:buNone/>
            </a:pPr>
            <a:r>
              <a:rPr lang="en-US" sz="1600" dirty="0"/>
              <a:t>C2 10</a:t>
            </a:r>
          </a:p>
          <a:p>
            <a:pPr marL="0" indent="0">
              <a:lnSpc>
                <a:spcPct val="100000"/>
              </a:lnSpc>
              <a:spcBef>
                <a:spcPts val="0"/>
              </a:spcBef>
              <a:buNone/>
            </a:pPr>
            <a:r>
              <a:rPr lang="en-US" sz="1600" dirty="0"/>
              <a:t>B2 10</a:t>
            </a:r>
          </a:p>
          <a:p>
            <a:pPr marL="0" indent="0">
              <a:lnSpc>
                <a:spcPct val="100000"/>
              </a:lnSpc>
              <a:spcBef>
                <a:spcPts val="0"/>
              </a:spcBef>
              <a:buNone/>
            </a:pPr>
            <a:r>
              <a:rPr lang="en-US" sz="1600" dirty="0"/>
              <a:t>A2 10</a:t>
            </a:r>
          </a:p>
          <a:p>
            <a:pPr marL="0" indent="0">
              <a:lnSpc>
                <a:spcPct val="100000"/>
              </a:lnSpc>
              <a:spcBef>
                <a:spcPts val="0"/>
              </a:spcBef>
              <a:buNone/>
            </a:pPr>
            <a:r>
              <a:rPr lang="en-US" sz="1600" dirty="0"/>
              <a:t>====</a:t>
            </a:r>
          </a:p>
          <a:p>
            <a:pPr marL="0" indent="0">
              <a:lnSpc>
                <a:spcPct val="100000"/>
              </a:lnSpc>
              <a:spcBef>
                <a:spcPts val="0"/>
              </a:spcBef>
              <a:buNone/>
            </a:pPr>
            <a:r>
              <a:rPr lang="en-US" sz="1600" dirty="0"/>
              <a:t>Z2 20</a:t>
            </a:r>
          </a:p>
          <a:p>
            <a:pPr marL="0" indent="0">
              <a:lnSpc>
                <a:spcPct val="100000"/>
              </a:lnSpc>
              <a:spcBef>
                <a:spcPts val="0"/>
              </a:spcBef>
              <a:buNone/>
            </a:pPr>
            <a:r>
              <a:rPr lang="en-US" sz="1600" dirty="0"/>
              <a:t>Y2 20</a:t>
            </a:r>
          </a:p>
          <a:p>
            <a:pPr marL="0" indent="0">
              <a:lnSpc>
                <a:spcPct val="100000"/>
              </a:lnSpc>
              <a:spcBef>
                <a:spcPts val="0"/>
              </a:spcBef>
              <a:buNone/>
            </a:pPr>
            <a:r>
              <a:rPr lang="en-US" sz="1600" dirty="0"/>
              <a:t>X2 20</a:t>
            </a:r>
          </a:p>
          <a:p>
            <a:pPr marL="0" indent="0">
              <a:lnSpc>
                <a:spcPct val="100000"/>
              </a:lnSpc>
              <a:spcBef>
                <a:spcPts val="0"/>
              </a:spcBef>
              <a:buNone/>
            </a:pPr>
            <a:r>
              <a:rPr lang="en-US" sz="1600" dirty="0"/>
              <a:t>====</a:t>
            </a:r>
          </a:p>
        </p:txBody>
      </p:sp>
      <p:sp>
        <p:nvSpPr>
          <p:cNvPr id="6" name="Content Placeholder 5">
            <a:extLst>
              <a:ext uri="{FF2B5EF4-FFF2-40B4-BE49-F238E27FC236}">
                <a16:creationId xmlns:a16="http://schemas.microsoft.com/office/drawing/2014/main" id="{FFD648FA-378C-D0D0-5D78-54A467D9B46C}"/>
              </a:ext>
            </a:extLst>
          </p:cNvPr>
          <p:cNvSpPr>
            <a:spLocks noGrp="1"/>
          </p:cNvSpPr>
          <p:nvPr>
            <p:ph sz="half" idx="2"/>
          </p:nvPr>
        </p:nvSpPr>
        <p:spPr>
          <a:xfrm>
            <a:off x="3962400" y="2532572"/>
            <a:ext cx="8229600" cy="2937444"/>
          </a:xfrm>
        </p:spPr>
        <p:txBody>
          <a:bodyPr>
            <a:normAutofit/>
          </a:bodyPr>
          <a:lstStyle/>
          <a:p>
            <a:r>
              <a:rPr lang="en-US" sz="2000" dirty="0">
                <a:solidFill>
                  <a:srgbClr val="008000"/>
                </a:solidFill>
                <a:latin typeface="Consolas" panose="020B0609020204030204" pitchFamily="49" charset="0"/>
              </a:rPr>
              <a:t>Running both A and X concurrently</a:t>
            </a:r>
          </a:p>
          <a:p>
            <a:r>
              <a:rPr lang="en-US" sz="2000" dirty="0">
                <a:solidFill>
                  <a:srgbClr val="008000"/>
                </a:solidFill>
                <a:latin typeface="Consolas" panose="020B0609020204030204" pitchFamily="49" charset="0"/>
              </a:rPr>
              <a:t>Illustrates critical sections: ABC and CBA always occur together without interleaving</a:t>
            </a:r>
            <a:endParaRPr lang="en-US" sz="2000" dirty="0">
              <a:solidFill>
                <a:srgbClr val="3B3B3B"/>
              </a:solidFill>
              <a:latin typeface="Consolas" panose="020B0609020204030204" pitchFamily="49" charset="0"/>
            </a:endParaRPr>
          </a:p>
          <a:p>
            <a:r>
              <a:rPr lang="en-US" sz="2000" dirty="0">
                <a:solidFill>
                  <a:srgbClr val="008000"/>
                </a:solidFill>
                <a:latin typeface="Consolas" panose="020B0609020204030204" pitchFamily="49" charset="0"/>
              </a:rPr>
              <a:t>And similarly for XYZ and ZYX.</a:t>
            </a:r>
            <a:endParaRPr lang="en-US" sz="2000" dirty="0">
              <a:solidFill>
                <a:srgbClr val="3B3B3B"/>
              </a:solidFill>
              <a:latin typeface="Consolas" panose="020B0609020204030204" pitchFamily="49" charset="0"/>
            </a:endParaRPr>
          </a:p>
          <a:p>
            <a:r>
              <a:rPr lang="en-US" sz="2000" dirty="0">
                <a:solidFill>
                  <a:srgbClr val="008000"/>
                </a:solidFill>
                <a:latin typeface="Consolas" panose="020B0609020204030204" pitchFamily="49" charset="0"/>
              </a:rPr>
              <a:t>Promises are created in order</a:t>
            </a:r>
            <a:endParaRPr lang="en-US" sz="2000" dirty="0">
              <a:solidFill>
                <a:srgbClr val="3B3B3B"/>
              </a:solidFill>
              <a:latin typeface="Consolas" panose="020B0609020204030204" pitchFamily="49" charset="0"/>
            </a:endParaRPr>
          </a:p>
          <a:p>
            <a:r>
              <a:rPr lang="en-US" sz="2000" dirty="0">
                <a:solidFill>
                  <a:srgbClr val="008000"/>
                </a:solidFill>
                <a:latin typeface="Consolas" panose="020B0609020204030204" pitchFamily="49" charset="0"/>
              </a:rPr>
              <a:t>But completion order is non-deterministic: </a:t>
            </a:r>
            <a:r>
              <a:rPr lang="en-US" sz="2000" dirty="0" err="1">
                <a:solidFill>
                  <a:srgbClr val="008000"/>
                </a:solidFill>
                <a:latin typeface="Consolas" panose="020B0609020204030204" pitchFamily="49" charset="0"/>
              </a:rPr>
              <a:t>sometimesthe</a:t>
            </a:r>
            <a:r>
              <a:rPr lang="en-US" sz="2000" dirty="0">
                <a:solidFill>
                  <a:srgbClr val="008000"/>
                </a:solidFill>
                <a:latin typeface="Consolas" panose="020B0609020204030204" pitchFamily="49" charset="0"/>
              </a:rPr>
              <a:t> run ends with ABC before XYZ, sometimes the reverse</a:t>
            </a:r>
            <a:endParaRPr lang="en-US" sz="2000" dirty="0">
              <a:solidFill>
                <a:srgbClr val="3B3B3B"/>
              </a:solidFill>
              <a:latin typeface="Consolas" panose="020B0609020204030204" pitchFamily="49" charset="0"/>
            </a:endParaRPr>
          </a:p>
          <a:p>
            <a:endParaRPr lang="en-US" sz="2000" dirty="0"/>
          </a:p>
        </p:txBody>
      </p:sp>
      <p:sp>
        <p:nvSpPr>
          <p:cNvPr id="4" name="Slide Number Placeholder 3">
            <a:extLst>
              <a:ext uri="{FF2B5EF4-FFF2-40B4-BE49-F238E27FC236}">
                <a16:creationId xmlns:a16="http://schemas.microsoft.com/office/drawing/2014/main" id="{F8FC26BE-61C6-D4D8-034C-84818321601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789569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86571A6-4E63-7722-9565-B8996B971765}"/>
              </a:ext>
            </a:extLst>
          </p:cNvPr>
          <p:cNvSpPr>
            <a:spLocks noGrp="1"/>
          </p:cNvSpPr>
          <p:nvPr>
            <p:ph type="title"/>
          </p:nvPr>
        </p:nvSpPr>
        <p:spPr/>
        <p:txBody>
          <a:bodyPr/>
          <a:lstStyle/>
          <a:p>
            <a:r>
              <a:rPr lang="en-US" dirty="0"/>
              <a:t>You can have more than one await in an async function</a:t>
            </a:r>
          </a:p>
        </p:txBody>
      </p:sp>
      <p:sp>
        <p:nvSpPr>
          <p:cNvPr id="5" name="Slide Number Placeholder 4">
            <a:extLst>
              <a:ext uri="{FF2B5EF4-FFF2-40B4-BE49-F238E27FC236}">
                <a16:creationId xmlns:a16="http://schemas.microsoft.com/office/drawing/2014/main" id="{C97FBAB2-EDD8-7A6D-4A0E-077F55BEC7C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8BA23DE0-0EFE-6A3B-CD3C-B0AD53E21756}"/>
              </a:ext>
            </a:extLst>
          </p:cNvPr>
          <p:cNvSpPr txBox="1"/>
          <p:nvPr/>
        </p:nvSpPr>
        <p:spPr>
          <a:xfrm>
            <a:off x="727585" y="1705872"/>
            <a:ext cx="4531056" cy="348018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main</a:t>
            </a:r>
            <a:r>
              <a:rPr lang="en-US" sz="1800" b="0" dirty="0">
                <a:solidFill>
                  <a:srgbClr val="3B3B3B"/>
                </a:solidFill>
                <a:effectLst/>
                <a:latin typeface="Consolas" panose="020B0609020204030204" pitchFamily="49" charset="0"/>
              </a:rPr>
              <a:t> () {</a:t>
            </a:r>
          </a:p>
          <a:p>
            <a:pPr algn="l">
              <a:buNone/>
            </a:pP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A</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10</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'&gt;&gt;&gt;&gt;&gt;'</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X</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20</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endParaRPr lang="en-US" sz="1800" b="0" dirty="0">
              <a:solidFill>
                <a:srgbClr val="3B3B3B"/>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void</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main</a:t>
            </a:r>
            <a:r>
              <a:rPr lang="en-US" sz="1800" b="0" dirty="0">
                <a:solidFill>
                  <a:srgbClr val="3B3B3B"/>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24801CC8-4576-71A1-0911-934C7811EB32}"/>
              </a:ext>
            </a:extLst>
          </p:cNvPr>
          <p:cNvSpPr txBox="1"/>
          <p:nvPr/>
        </p:nvSpPr>
        <p:spPr>
          <a:xfrm>
            <a:off x="4036493" y="1612382"/>
            <a:ext cx="2201839" cy="499508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1800" dirty="0">
                <a:solidFill>
                  <a:schemeClr val="tx1"/>
                </a:solidFill>
                <a:latin typeface="Verdana" panose="020B0604030504040204" pitchFamily="34" charset="0"/>
                <a:ea typeface="Verdana" panose="020B0604030504040204" pitchFamily="34" charset="0"/>
              </a:rPr>
              <a:t>$ node </a:t>
            </a:r>
            <a:r>
              <a:rPr lang="en-US" sz="1800" dirty="0" err="1">
                <a:solidFill>
                  <a:schemeClr val="tx1"/>
                </a:solidFill>
                <a:latin typeface="Verdana" panose="020B0604030504040204" pitchFamily="34" charset="0"/>
                <a:ea typeface="Verdana" panose="020B0604030504040204" pitchFamily="34" charset="0"/>
              </a:rPr>
              <a:t>abcThenXyz.ts</a:t>
            </a:r>
            <a:r>
              <a:rPr lang="en-US" sz="1800" dirty="0">
                <a:solidFill>
                  <a:schemeClr val="tx1"/>
                </a:solidFill>
                <a:latin typeface="Verdana" panose="020B0604030504040204" pitchFamily="34" charset="0"/>
                <a:ea typeface="Verdana" panose="020B0604030504040204" pitchFamily="34" charset="0"/>
              </a:rPr>
              <a:t> </a:t>
            </a:r>
          </a:p>
          <a:p>
            <a:pPr algn="l"/>
            <a:r>
              <a:rPr lang="en-US" sz="1800" dirty="0">
                <a:solidFill>
                  <a:schemeClr val="tx1"/>
                </a:solidFill>
                <a:latin typeface="Verdana" panose="020B0604030504040204" pitchFamily="34" charset="0"/>
                <a:ea typeface="Verdana" panose="020B0604030504040204" pitchFamily="34" charset="0"/>
              </a:rPr>
              <a:t>A1 10</a:t>
            </a:r>
          </a:p>
          <a:p>
            <a:pPr algn="l"/>
            <a:r>
              <a:rPr lang="en-US" sz="1800" dirty="0">
                <a:solidFill>
                  <a:schemeClr val="tx1"/>
                </a:solidFill>
                <a:latin typeface="Verdana" panose="020B0604030504040204" pitchFamily="34" charset="0"/>
                <a:ea typeface="Verdana" panose="020B0604030504040204" pitchFamily="34" charset="0"/>
              </a:rPr>
              <a:t>B1 10</a:t>
            </a:r>
          </a:p>
          <a:p>
            <a:pPr algn="l"/>
            <a:r>
              <a:rPr lang="en-US" sz="1800" dirty="0">
                <a:solidFill>
                  <a:schemeClr val="tx1"/>
                </a:solidFill>
                <a:latin typeface="Verdana" panose="020B0604030504040204" pitchFamily="34" charset="0"/>
                <a:ea typeface="Verdana" panose="020B0604030504040204" pitchFamily="34" charset="0"/>
              </a:rPr>
              <a:t>C1 10</a:t>
            </a:r>
          </a:p>
          <a:p>
            <a:pPr algn="l"/>
            <a:r>
              <a:rPr lang="en-US" sz="1800" dirty="0">
                <a:solidFill>
                  <a:schemeClr val="tx1"/>
                </a:solidFill>
                <a:latin typeface="Verdana" panose="020B0604030504040204" pitchFamily="34" charset="0"/>
                <a:ea typeface="Verdana" panose="020B0604030504040204" pitchFamily="34" charset="0"/>
              </a:rPr>
              <a:t>Promise created for ABC 10</a:t>
            </a:r>
          </a:p>
          <a:p>
            <a:pPr algn="l"/>
            <a:r>
              <a:rPr lang="en-US" sz="1800" dirty="0">
                <a:solidFill>
                  <a:schemeClr val="tx1"/>
                </a:solidFill>
                <a:latin typeface="Verdana" panose="020B0604030504040204" pitchFamily="34" charset="0"/>
                <a:ea typeface="Verdana" panose="020B0604030504040204" pitchFamily="34" charset="0"/>
              </a:rPr>
              <a:t>C2 10</a:t>
            </a:r>
          </a:p>
          <a:p>
            <a:pPr algn="l"/>
            <a:r>
              <a:rPr lang="en-US" sz="1800" dirty="0">
                <a:solidFill>
                  <a:schemeClr val="tx1"/>
                </a:solidFill>
                <a:latin typeface="Verdana" panose="020B0604030504040204" pitchFamily="34" charset="0"/>
                <a:ea typeface="Verdana" panose="020B0604030504040204" pitchFamily="34" charset="0"/>
              </a:rPr>
              <a:t>B2 10</a:t>
            </a:r>
          </a:p>
          <a:p>
            <a:pPr algn="l"/>
            <a:r>
              <a:rPr lang="en-US" sz="1800" dirty="0">
                <a:solidFill>
                  <a:schemeClr val="tx1"/>
                </a:solidFill>
                <a:latin typeface="Verdana" panose="020B0604030504040204" pitchFamily="34" charset="0"/>
                <a:ea typeface="Verdana" panose="020B0604030504040204" pitchFamily="34" charset="0"/>
              </a:rPr>
              <a:t>A2 10</a:t>
            </a:r>
          </a:p>
          <a:p>
            <a:pPr algn="l"/>
            <a:r>
              <a:rPr lang="en-US" sz="1800" dirty="0">
                <a:solidFill>
                  <a:schemeClr val="tx1"/>
                </a:solidFill>
                <a:latin typeface="Verdana" panose="020B0604030504040204" pitchFamily="34" charset="0"/>
                <a:ea typeface="Verdana" panose="020B0604030504040204" pitchFamily="34" charset="0"/>
              </a:rPr>
              <a:t>====</a:t>
            </a:r>
          </a:p>
          <a:p>
            <a:pPr algn="l"/>
            <a:r>
              <a:rPr lang="en-US" sz="1800" dirty="0">
                <a:solidFill>
                  <a:schemeClr val="tx1"/>
                </a:solidFill>
                <a:latin typeface="Verdana" panose="020B0604030504040204" pitchFamily="34" charset="0"/>
                <a:ea typeface="Verdana" panose="020B0604030504040204" pitchFamily="34" charset="0"/>
              </a:rPr>
              <a:t>&gt;&gt;&gt;&gt;&gt;</a:t>
            </a:r>
          </a:p>
          <a:p>
            <a:pPr algn="l"/>
            <a:r>
              <a:rPr lang="en-US" sz="1800" dirty="0">
                <a:solidFill>
                  <a:schemeClr val="tx1"/>
                </a:solidFill>
                <a:latin typeface="Verdana" panose="020B0604030504040204" pitchFamily="34" charset="0"/>
                <a:ea typeface="Verdana" panose="020B0604030504040204" pitchFamily="34" charset="0"/>
              </a:rPr>
              <a:t>X1 20</a:t>
            </a:r>
          </a:p>
          <a:p>
            <a:pPr algn="l"/>
            <a:r>
              <a:rPr lang="en-US" sz="1800" dirty="0">
                <a:solidFill>
                  <a:schemeClr val="tx1"/>
                </a:solidFill>
                <a:latin typeface="Verdana" panose="020B0604030504040204" pitchFamily="34" charset="0"/>
                <a:ea typeface="Verdana" panose="020B0604030504040204" pitchFamily="34" charset="0"/>
              </a:rPr>
              <a:t>Y1 20</a:t>
            </a:r>
          </a:p>
          <a:p>
            <a:pPr algn="l"/>
            <a:r>
              <a:rPr lang="en-US" sz="1800" dirty="0">
                <a:solidFill>
                  <a:schemeClr val="tx1"/>
                </a:solidFill>
                <a:latin typeface="Verdana" panose="020B0604030504040204" pitchFamily="34" charset="0"/>
                <a:ea typeface="Verdana" panose="020B0604030504040204" pitchFamily="34" charset="0"/>
              </a:rPr>
              <a:t>Z1 20</a:t>
            </a:r>
          </a:p>
          <a:p>
            <a:pPr algn="l"/>
            <a:r>
              <a:rPr lang="en-US" sz="1800" dirty="0">
                <a:solidFill>
                  <a:schemeClr val="tx1"/>
                </a:solidFill>
                <a:latin typeface="Verdana" panose="020B0604030504040204" pitchFamily="34" charset="0"/>
                <a:ea typeface="Verdana" panose="020B0604030504040204" pitchFamily="34" charset="0"/>
              </a:rPr>
              <a:t>Promise created for XYZ 20</a:t>
            </a:r>
          </a:p>
          <a:p>
            <a:pPr algn="l"/>
            <a:r>
              <a:rPr lang="en-US" sz="1800" dirty="0">
                <a:solidFill>
                  <a:schemeClr val="tx1"/>
                </a:solidFill>
                <a:latin typeface="Verdana" panose="020B0604030504040204" pitchFamily="34" charset="0"/>
                <a:ea typeface="Verdana" panose="020B0604030504040204" pitchFamily="34" charset="0"/>
              </a:rPr>
              <a:t>Z2 20</a:t>
            </a:r>
          </a:p>
          <a:p>
            <a:pPr algn="l"/>
            <a:r>
              <a:rPr lang="en-US" sz="1800" dirty="0">
                <a:solidFill>
                  <a:schemeClr val="tx1"/>
                </a:solidFill>
                <a:latin typeface="Verdana" panose="020B0604030504040204" pitchFamily="34" charset="0"/>
                <a:ea typeface="Verdana" panose="020B0604030504040204" pitchFamily="34" charset="0"/>
              </a:rPr>
              <a:t>Y2 20</a:t>
            </a:r>
          </a:p>
          <a:p>
            <a:pPr algn="l"/>
            <a:r>
              <a:rPr lang="en-US" sz="1800" dirty="0">
                <a:solidFill>
                  <a:schemeClr val="tx1"/>
                </a:solidFill>
                <a:latin typeface="Verdana" panose="020B0604030504040204" pitchFamily="34" charset="0"/>
                <a:ea typeface="Verdana" panose="020B0604030504040204" pitchFamily="34" charset="0"/>
              </a:rPr>
              <a:t>X2 20</a:t>
            </a:r>
          </a:p>
          <a:p>
            <a:pPr algn="l"/>
            <a:r>
              <a:rPr lang="en-US" sz="1800" dirty="0">
                <a:solidFill>
                  <a:schemeClr val="tx1"/>
                </a:solidFill>
                <a:latin typeface="Verdana" panose="020B0604030504040204" pitchFamily="34" charset="0"/>
                <a:ea typeface="Verdana" panose="020B0604030504040204" pitchFamily="34" charset="0"/>
              </a:rPr>
              <a:t>====</a:t>
            </a:r>
          </a:p>
        </p:txBody>
      </p:sp>
      <p:grpSp>
        <p:nvGrpSpPr>
          <p:cNvPr id="69" name="Group 68">
            <a:extLst>
              <a:ext uri="{FF2B5EF4-FFF2-40B4-BE49-F238E27FC236}">
                <a16:creationId xmlns:a16="http://schemas.microsoft.com/office/drawing/2014/main" id="{52C8BCC5-E1FB-6ACC-0762-D31DFB0AD0C8}"/>
              </a:ext>
            </a:extLst>
          </p:cNvPr>
          <p:cNvGrpSpPr/>
          <p:nvPr/>
        </p:nvGrpSpPr>
        <p:grpSpPr>
          <a:xfrm>
            <a:off x="7424882" y="1688910"/>
            <a:ext cx="2502383" cy="4933314"/>
            <a:chOff x="8782040" y="136525"/>
            <a:chExt cx="2700276" cy="6485699"/>
          </a:xfrm>
        </p:grpSpPr>
        <p:grpSp>
          <p:nvGrpSpPr>
            <p:cNvPr id="10" name="Group 9">
              <a:extLst>
                <a:ext uri="{FF2B5EF4-FFF2-40B4-BE49-F238E27FC236}">
                  <a16:creationId xmlns:a16="http://schemas.microsoft.com/office/drawing/2014/main" id="{8E607665-2D07-F84B-3396-0B6E58B07AB6}"/>
                </a:ext>
              </a:extLst>
            </p:cNvPr>
            <p:cNvGrpSpPr/>
            <p:nvPr/>
          </p:nvGrpSpPr>
          <p:grpSpPr>
            <a:xfrm>
              <a:off x="8782040" y="136525"/>
              <a:ext cx="935625" cy="6485699"/>
              <a:chOff x="7879492" y="687864"/>
              <a:chExt cx="903001" cy="8514038"/>
            </a:xfrm>
          </p:grpSpPr>
          <p:grpSp>
            <p:nvGrpSpPr>
              <p:cNvPr id="11" name="Group 10">
                <a:extLst>
                  <a:ext uri="{FF2B5EF4-FFF2-40B4-BE49-F238E27FC236}">
                    <a16:creationId xmlns:a16="http://schemas.microsoft.com/office/drawing/2014/main" id="{9A086070-2D2F-30AB-9935-447E7948216A}"/>
                  </a:ext>
                </a:extLst>
              </p:cNvPr>
              <p:cNvGrpSpPr/>
              <p:nvPr/>
            </p:nvGrpSpPr>
            <p:grpSpPr>
              <a:xfrm flipH="1">
                <a:off x="8033875" y="687864"/>
                <a:ext cx="594234" cy="3945924"/>
                <a:chOff x="6952736" y="465439"/>
                <a:chExt cx="939114" cy="6236045"/>
              </a:xfrm>
            </p:grpSpPr>
            <p:grpSp>
              <p:nvGrpSpPr>
                <p:cNvPr id="23" name="Group 22">
                  <a:extLst>
                    <a:ext uri="{FF2B5EF4-FFF2-40B4-BE49-F238E27FC236}">
                      <a16:creationId xmlns:a16="http://schemas.microsoft.com/office/drawing/2014/main" id="{BC948E7C-BBFC-3321-AA4D-3E3400CC4631}"/>
                    </a:ext>
                  </a:extLst>
                </p:cNvPr>
                <p:cNvGrpSpPr/>
                <p:nvPr/>
              </p:nvGrpSpPr>
              <p:grpSpPr>
                <a:xfrm>
                  <a:off x="6952736" y="465439"/>
                  <a:ext cx="939114" cy="2788510"/>
                  <a:chOff x="7171038" y="2269524"/>
                  <a:chExt cx="939114" cy="2788510"/>
                </a:xfrm>
              </p:grpSpPr>
              <p:sp>
                <p:nvSpPr>
                  <p:cNvPr id="29" name="Rectangle 28">
                    <a:extLst>
                      <a:ext uri="{FF2B5EF4-FFF2-40B4-BE49-F238E27FC236}">
                        <a16:creationId xmlns:a16="http://schemas.microsoft.com/office/drawing/2014/main" id="{40401DF8-18B1-AC9E-E10F-10AD6D66A679}"/>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A1</a:t>
                    </a:r>
                  </a:p>
                </p:txBody>
              </p:sp>
              <p:sp>
                <p:nvSpPr>
                  <p:cNvPr id="30" name="Rectangle 29">
                    <a:extLst>
                      <a:ext uri="{FF2B5EF4-FFF2-40B4-BE49-F238E27FC236}">
                        <a16:creationId xmlns:a16="http://schemas.microsoft.com/office/drawing/2014/main" id="{F036AC28-826C-9CA0-1BF7-070187E36FA6}"/>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C1</a:t>
                    </a:r>
                  </a:p>
                </p:txBody>
              </p:sp>
              <p:sp>
                <p:nvSpPr>
                  <p:cNvPr id="31" name="Rectangle 30">
                    <a:extLst>
                      <a:ext uri="{FF2B5EF4-FFF2-40B4-BE49-F238E27FC236}">
                        <a16:creationId xmlns:a16="http://schemas.microsoft.com/office/drawing/2014/main" id="{3ACF21D4-0286-4BA1-CF9D-F6BCAD3AA071}"/>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B1</a:t>
                    </a:r>
                  </a:p>
                </p:txBody>
              </p:sp>
            </p:grpSp>
            <p:sp>
              <p:nvSpPr>
                <p:cNvPr id="24" name="TextBox 23">
                  <a:extLst>
                    <a:ext uri="{FF2B5EF4-FFF2-40B4-BE49-F238E27FC236}">
                      <a16:creationId xmlns:a16="http://schemas.microsoft.com/office/drawing/2014/main" id="{AAB145CB-2988-E3A7-3F5C-B8E14114FCC6}"/>
                    </a:ext>
                  </a:extLst>
                </p:cNvPr>
                <p:cNvSpPr txBox="1"/>
                <p:nvPr/>
              </p:nvSpPr>
              <p:spPr>
                <a:xfrm>
                  <a:off x="6952736" y="3253949"/>
                  <a:ext cx="939114"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25" name="Group 24">
                  <a:extLst>
                    <a:ext uri="{FF2B5EF4-FFF2-40B4-BE49-F238E27FC236}">
                      <a16:creationId xmlns:a16="http://schemas.microsoft.com/office/drawing/2014/main" id="{0546899F-0701-EBED-72E2-7311C1CF34A2}"/>
                    </a:ext>
                  </a:extLst>
                </p:cNvPr>
                <p:cNvGrpSpPr/>
                <p:nvPr/>
              </p:nvGrpSpPr>
              <p:grpSpPr>
                <a:xfrm>
                  <a:off x="6952736" y="3912974"/>
                  <a:ext cx="939114" cy="2788510"/>
                  <a:chOff x="7171038" y="2269524"/>
                  <a:chExt cx="939114" cy="2788510"/>
                </a:xfrm>
              </p:grpSpPr>
              <p:sp>
                <p:nvSpPr>
                  <p:cNvPr id="26" name="Rectangle 25">
                    <a:extLst>
                      <a:ext uri="{FF2B5EF4-FFF2-40B4-BE49-F238E27FC236}">
                        <a16:creationId xmlns:a16="http://schemas.microsoft.com/office/drawing/2014/main" id="{EDB961FF-DA77-9B83-F582-0BA6060100FD}"/>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C2</a:t>
                    </a:r>
                  </a:p>
                </p:txBody>
              </p:sp>
              <p:sp>
                <p:nvSpPr>
                  <p:cNvPr id="27" name="Rectangle 26">
                    <a:extLst>
                      <a:ext uri="{FF2B5EF4-FFF2-40B4-BE49-F238E27FC236}">
                        <a16:creationId xmlns:a16="http://schemas.microsoft.com/office/drawing/2014/main" id="{C660ADF9-1D45-8752-1348-EC9E707AD0A6}"/>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A2</a:t>
                    </a:r>
                  </a:p>
                </p:txBody>
              </p:sp>
              <p:sp>
                <p:nvSpPr>
                  <p:cNvPr id="28" name="Rectangle 27">
                    <a:extLst>
                      <a:ext uri="{FF2B5EF4-FFF2-40B4-BE49-F238E27FC236}">
                        <a16:creationId xmlns:a16="http://schemas.microsoft.com/office/drawing/2014/main" id="{01A2D1B8-5B3B-0C16-199A-1DC82D2491A5}"/>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B2</a:t>
                    </a:r>
                  </a:p>
                </p:txBody>
              </p:sp>
            </p:grpSp>
          </p:grpSp>
          <p:sp>
            <p:nvSpPr>
              <p:cNvPr id="12" name="Rectangle 11">
                <a:extLst>
                  <a:ext uri="{FF2B5EF4-FFF2-40B4-BE49-F238E27FC236}">
                    <a16:creationId xmlns:a16="http://schemas.microsoft.com/office/drawing/2014/main" id="{2872940E-4793-4881-2256-DAD9AB034F14}"/>
                  </a:ext>
                </a:extLst>
              </p:cNvPr>
              <p:cNvSpPr/>
              <p:nvPr/>
            </p:nvSpPr>
            <p:spPr>
              <a:xfrm flipH="1">
                <a:off x="7879492" y="4655899"/>
                <a:ext cx="903001" cy="59423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800" dirty="0">
                    <a:solidFill>
                      <a:schemeClr val="tx1"/>
                    </a:solidFill>
                  </a:rPr>
                  <a:t>"&gt;&gt;&gt;&gt;"</a:t>
                </a:r>
              </a:p>
            </p:txBody>
          </p:sp>
          <p:grpSp>
            <p:nvGrpSpPr>
              <p:cNvPr id="13" name="Group 12">
                <a:extLst>
                  <a:ext uri="{FF2B5EF4-FFF2-40B4-BE49-F238E27FC236}">
                    <a16:creationId xmlns:a16="http://schemas.microsoft.com/office/drawing/2014/main" id="{E1AAC72F-7997-658B-96CA-DB38C813342D}"/>
                  </a:ext>
                </a:extLst>
              </p:cNvPr>
              <p:cNvGrpSpPr/>
              <p:nvPr/>
            </p:nvGrpSpPr>
            <p:grpSpPr>
              <a:xfrm flipH="1">
                <a:off x="8033875" y="5255978"/>
                <a:ext cx="594234" cy="3945924"/>
                <a:chOff x="6952736" y="465439"/>
                <a:chExt cx="939114" cy="6236045"/>
              </a:xfrm>
            </p:grpSpPr>
            <p:grpSp>
              <p:nvGrpSpPr>
                <p:cNvPr id="14" name="Group 13">
                  <a:extLst>
                    <a:ext uri="{FF2B5EF4-FFF2-40B4-BE49-F238E27FC236}">
                      <a16:creationId xmlns:a16="http://schemas.microsoft.com/office/drawing/2014/main" id="{1B4A2B36-9F40-6313-4534-BDBC2DB7F214}"/>
                    </a:ext>
                  </a:extLst>
                </p:cNvPr>
                <p:cNvGrpSpPr/>
                <p:nvPr/>
              </p:nvGrpSpPr>
              <p:grpSpPr>
                <a:xfrm>
                  <a:off x="6952736" y="465439"/>
                  <a:ext cx="939114" cy="2788510"/>
                  <a:chOff x="7171038" y="2269524"/>
                  <a:chExt cx="939114" cy="2788510"/>
                </a:xfrm>
              </p:grpSpPr>
              <p:sp>
                <p:nvSpPr>
                  <p:cNvPr id="20" name="Rectangle 19">
                    <a:extLst>
                      <a:ext uri="{FF2B5EF4-FFF2-40B4-BE49-F238E27FC236}">
                        <a16:creationId xmlns:a16="http://schemas.microsoft.com/office/drawing/2014/main" id="{9B72D799-A8C6-D955-6D5A-21F30F93E40D}"/>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X1</a:t>
                    </a:r>
                  </a:p>
                </p:txBody>
              </p:sp>
              <p:sp>
                <p:nvSpPr>
                  <p:cNvPr id="21" name="Rectangle 20">
                    <a:extLst>
                      <a:ext uri="{FF2B5EF4-FFF2-40B4-BE49-F238E27FC236}">
                        <a16:creationId xmlns:a16="http://schemas.microsoft.com/office/drawing/2014/main" id="{CE70E09B-3C3D-F92A-E527-4B2883960DB0}"/>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Z1</a:t>
                    </a:r>
                  </a:p>
                </p:txBody>
              </p:sp>
              <p:sp>
                <p:nvSpPr>
                  <p:cNvPr id="22" name="Rectangle 21">
                    <a:extLst>
                      <a:ext uri="{FF2B5EF4-FFF2-40B4-BE49-F238E27FC236}">
                        <a16:creationId xmlns:a16="http://schemas.microsoft.com/office/drawing/2014/main" id="{F534294B-0589-C7B7-9136-93667E329816}"/>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Y1</a:t>
                    </a:r>
                  </a:p>
                </p:txBody>
              </p:sp>
            </p:grpSp>
            <p:sp>
              <p:nvSpPr>
                <p:cNvPr id="15" name="TextBox 14">
                  <a:extLst>
                    <a:ext uri="{FF2B5EF4-FFF2-40B4-BE49-F238E27FC236}">
                      <a16:creationId xmlns:a16="http://schemas.microsoft.com/office/drawing/2014/main" id="{C27E9B22-039E-2385-1789-C553B8243864}"/>
                    </a:ext>
                  </a:extLst>
                </p:cNvPr>
                <p:cNvSpPr txBox="1"/>
                <p:nvPr/>
              </p:nvSpPr>
              <p:spPr>
                <a:xfrm>
                  <a:off x="6952736" y="3253949"/>
                  <a:ext cx="939114"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16" name="Group 15">
                  <a:extLst>
                    <a:ext uri="{FF2B5EF4-FFF2-40B4-BE49-F238E27FC236}">
                      <a16:creationId xmlns:a16="http://schemas.microsoft.com/office/drawing/2014/main" id="{356E5B39-D9DC-82F6-D76A-39B38168E4C4}"/>
                    </a:ext>
                  </a:extLst>
                </p:cNvPr>
                <p:cNvGrpSpPr/>
                <p:nvPr/>
              </p:nvGrpSpPr>
              <p:grpSpPr>
                <a:xfrm>
                  <a:off x="6952736" y="3912974"/>
                  <a:ext cx="939114" cy="2788510"/>
                  <a:chOff x="7171038" y="2269524"/>
                  <a:chExt cx="939114" cy="2788510"/>
                </a:xfrm>
              </p:grpSpPr>
              <p:sp>
                <p:nvSpPr>
                  <p:cNvPr id="17" name="Rectangle 16">
                    <a:extLst>
                      <a:ext uri="{FF2B5EF4-FFF2-40B4-BE49-F238E27FC236}">
                        <a16:creationId xmlns:a16="http://schemas.microsoft.com/office/drawing/2014/main" id="{B5DD3C70-9083-26DD-B419-7E87617983BE}"/>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Z2</a:t>
                    </a:r>
                  </a:p>
                </p:txBody>
              </p:sp>
              <p:sp>
                <p:nvSpPr>
                  <p:cNvPr id="18" name="Rectangle 17">
                    <a:extLst>
                      <a:ext uri="{FF2B5EF4-FFF2-40B4-BE49-F238E27FC236}">
                        <a16:creationId xmlns:a16="http://schemas.microsoft.com/office/drawing/2014/main" id="{DB40996C-B062-0E28-3A01-A1DAC1839609}"/>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X2</a:t>
                    </a:r>
                  </a:p>
                </p:txBody>
              </p:sp>
              <p:sp>
                <p:nvSpPr>
                  <p:cNvPr id="19" name="Rectangle 18">
                    <a:extLst>
                      <a:ext uri="{FF2B5EF4-FFF2-40B4-BE49-F238E27FC236}">
                        <a16:creationId xmlns:a16="http://schemas.microsoft.com/office/drawing/2014/main" id="{0A1FF169-7F1D-3537-76BE-2C93EE9038D4}"/>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Y2</a:t>
                    </a:r>
                  </a:p>
                </p:txBody>
              </p:sp>
            </p:grpSp>
          </p:grpSp>
        </p:grpSp>
        <p:grpSp>
          <p:nvGrpSpPr>
            <p:cNvPr id="57" name="Group 56">
              <a:extLst>
                <a:ext uri="{FF2B5EF4-FFF2-40B4-BE49-F238E27FC236}">
                  <a16:creationId xmlns:a16="http://schemas.microsoft.com/office/drawing/2014/main" id="{FB23D048-8D57-2776-806F-3C9D2DF8DCA4}"/>
                </a:ext>
              </a:extLst>
            </p:cNvPr>
            <p:cNvGrpSpPr/>
            <p:nvPr/>
          </p:nvGrpSpPr>
          <p:grpSpPr>
            <a:xfrm>
              <a:off x="9823310" y="1903519"/>
              <a:ext cx="1659006" cy="3056941"/>
              <a:chOff x="6620687" y="1528024"/>
              <a:chExt cx="1659006" cy="2209219"/>
            </a:xfrm>
          </p:grpSpPr>
          <p:sp>
            <p:nvSpPr>
              <p:cNvPr id="58" name="Right Brace 57">
                <a:extLst>
                  <a:ext uri="{FF2B5EF4-FFF2-40B4-BE49-F238E27FC236}">
                    <a16:creationId xmlns:a16="http://schemas.microsoft.com/office/drawing/2014/main" id="{06A6DC4F-B6B3-42E4-2BD1-03DBAEE16839}"/>
                  </a:ext>
                </a:extLst>
              </p:cNvPr>
              <p:cNvSpPr/>
              <p:nvPr/>
            </p:nvSpPr>
            <p:spPr>
              <a:xfrm>
                <a:off x="6620687" y="1528024"/>
                <a:ext cx="546156" cy="2209219"/>
              </a:xfrm>
              <a:prstGeom prst="rightBrace">
                <a:avLst>
                  <a:gd name="adj1" fmla="val 18930"/>
                  <a:gd name="adj2" fmla="val 50000"/>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9" name="TextBox 58">
                <a:extLst>
                  <a:ext uri="{FF2B5EF4-FFF2-40B4-BE49-F238E27FC236}">
                    <a16:creationId xmlns:a16="http://schemas.microsoft.com/office/drawing/2014/main" id="{CF68ED05-0FFB-FB12-3309-53BDF1759DE4}"/>
                  </a:ext>
                </a:extLst>
              </p:cNvPr>
              <p:cNvSpPr txBox="1"/>
              <p:nvPr/>
            </p:nvSpPr>
            <p:spPr>
              <a:xfrm>
                <a:off x="7365293" y="2158142"/>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grpSp>
        <p:grpSp>
          <p:nvGrpSpPr>
            <p:cNvPr id="60" name="Group 59">
              <a:extLst>
                <a:ext uri="{FF2B5EF4-FFF2-40B4-BE49-F238E27FC236}">
                  <a16:creationId xmlns:a16="http://schemas.microsoft.com/office/drawing/2014/main" id="{2F0ABB04-AE4E-C15C-9688-B46D57B7D3FA}"/>
                </a:ext>
              </a:extLst>
            </p:cNvPr>
            <p:cNvGrpSpPr/>
            <p:nvPr/>
          </p:nvGrpSpPr>
          <p:grpSpPr>
            <a:xfrm>
              <a:off x="9823310" y="291950"/>
              <a:ext cx="1659006" cy="1188680"/>
              <a:chOff x="6620687" y="1528024"/>
              <a:chExt cx="1659006" cy="2209219"/>
            </a:xfrm>
          </p:grpSpPr>
          <p:sp>
            <p:nvSpPr>
              <p:cNvPr id="61" name="Right Brace 60">
                <a:extLst>
                  <a:ext uri="{FF2B5EF4-FFF2-40B4-BE49-F238E27FC236}">
                    <a16:creationId xmlns:a16="http://schemas.microsoft.com/office/drawing/2014/main" id="{2E242BEB-0FDA-7ADB-334F-CA047D94A26E}"/>
                  </a:ext>
                </a:extLst>
              </p:cNvPr>
              <p:cNvSpPr/>
              <p:nvPr/>
            </p:nvSpPr>
            <p:spPr>
              <a:xfrm>
                <a:off x="6620687" y="1528024"/>
                <a:ext cx="546156" cy="2209219"/>
              </a:xfrm>
              <a:prstGeom prst="rightBrace">
                <a:avLst>
                  <a:gd name="adj1" fmla="val 18930"/>
                  <a:gd name="adj2" fmla="val 50000"/>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2" name="TextBox 61">
                <a:extLst>
                  <a:ext uri="{FF2B5EF4-FFF2-40B4-BE49-F238E27FC236}">
                    <a16:creationId xmlns:a16="http://schemas.microsoft.com/office/drawing/2014/main" id="{69B51D17-3841-B10C-91D6-7C11627B7493}"/>
                  </a:ext>
                </a:extLst>
              </p:cNvPr>
              <p:cNvSpPr txBox="1"/>
              <p:nvPr/>
            </p:nvSpPr>
            <p:spPr>
              <a:xfrm>
                <a:off x="7365293" y="2158142"/>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a:t>
                </a:r>
              </a:p>
            </p:txBody>
          </p:sp>
        </p:grpSp>
        <p:grpSp>
          <p:nvGrpSpPr>
            <p:cNvPr id="66" name="Group 65">
              <a:extLst>
                <a:ext uri="{FF2B5EF4-FFF2-40B4-BE49-F238E27FC236}">
                  <a16:creationId xmlns:a16="http://schemas.microsoft.com/office/drawing/2014/main" id="{705E79C2-8EAA-62DE-5D45-03B23E402E1A}"/>
                </a:ext>
              </a:extLst>
            </p:cNvPr>
            <p:cNvGrpSpPr/>
            <p:nvPr/>
          </p:nvGrpSpPr>
          <p:grpSpPr>
            <a:xfrm>
              <a:off x="9823310" y="5294737"/>
              <a:ext cx="1659006" cy="1188680"/>
              <a:chOff x="6620687" y="1528024"/>
              <a:chExt cx="1659006" cy="2209219"/>
            </a:xfrm>
          </p:grpSpPr>
          <p:sp>
            <p:nvSpPr>
              <p:cNvPr id="67" name="Right Brace 66">
                <a:extLst>
                  <a:ext uri="{FF2B5EF4-FFF2-40B4-BE49-F238E27FC236}">
                    <a16:creationId xmlns:a16="http://schemas.microsoft.com/office/drawing/2014/main" id="{05B5DD39-AD46-25F7-D2E5-0799909CF269}"/>
                  </a:ext>
                </a:extLst>
              </p:cNvPr>
              <p:cNvSpPr/>
              <p:nvPr/>
            </p:nvSpPr>
            <p:spPr>
              <a:xfrm>
                <a:off x="6620687" y="1528024"/>
                <a:ext cx="546156" cy="2209219"/>
              </a:xfrm>
              <a:prstGeom prst="rightBrace">
                <a:avLst>
                  <a:gd name="adj1" fmla="val 18930"/>
                  <a:gd name="adj2" fmla="val 50000"/>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8" name="TextBox 67">
                <a:extLst>
                  <a:ext uri="{FF2B5EF4-FFF2-40B4-BE49-F238E27FC236}">
                    <a16:creationId xmlns:a16="http://schemas.microsoft.com/office/drawing/2014/main" id="{B1C229A3-F550-ADF6-19F2-DF3B3811560F}"/>
                  </a:ext>
                </a:extLst>
              </p:cNvPr>
              <p:cNvSpPr txBox="1"/>
              <p:nvPr/>
            </p:nvSpPr>
            <p:spPr>
              <a:xfrm>
                <a:off x="7365293" y="2158142"/>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grpSp>
      </p:grpSp>
      <p:sp>
        <p:nvSpPr>
          <p:cNvPr id="70" name="Rectangle: Rounded Corners 69">
            <a:extLst>
              <a:ext uri="{FF2B5EF4-FFF2-40B4-BE49-F238E27FC236}">
                <a16:creationId xmlns:a16="http://schemas.microsoft.com/office/drawing/2014/main" id="{227957B5-A4DB-25C9-E9C9-DDB4768B5DE9}"/>
              </a:ext>
            </a:extLst>
          </p:cNvPr>
          <p:cNvSpPr/>
          <p:nvPr/>
        </p:nvSpPr>
        <p:spPr>
          <a:xfrm>
            <a:off x="345923" y="5671960"/>
            <a:ext cx="344442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abcThenXYZ.ts</a:t>
            </a:r>
            <a:endParaRPr lang="en-US" sz="2400" dirty="0">
              <a:solidFill>
                <a:schemeClr val="tx1"/>
              </a:solidFill>
            </a:endParaRPr>
          </a:p>
        </p:txBody>
      </p:sp>
    </p:spTree>
    <p:extLst>
      <p:ext uri="{BB962C8B-B14F-4D97-AF65-F5344CB8AC3E}">
        <p14:creationId xmlns:p14="http://schemas.microsoft.com/office/powerpoint/2010/main" val="34564517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This is called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r>
              <a:rPr lang="en-US" dirty="0"/>
              <a:t>This is what async/await provides</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2312-2E63-4665-2A7B-063EB5CFC4B0}"/>
              </a:ext>
            </a:extLst>
          </p:cNvPr>
          <p:cNvSpPr>
            <a:spLocks noGrp="1"/>
          </p:cNvSpPr>
          <p:nvPr>
            <p:ph type="title"/>
          </p:nvPr>
        </p:nvSpPr>
        <p:spPr/>
        <p:txBody>
          <a:bodyPr/>
          <a:lstStyle/>
          <a:p>
            <a:r>
              <a:rPr lang="en-US" dirty="0"/>
              <a:t>Lesson 2: Using async</a:t>
            </a:r>
          </a:p>
        </p:txBody>
      </p:sp>
      <p:sp>
        <p:nvSpPr>
          <p:cNvPr id="3" name="Content Placeholder 2">
            <a:extLst>
              <a:ext uri="{FF2B5EF4-FFF2-40B4-BE49-F238E27FC236}">
                <a16:creationId xmlns:a16="http://schemas.microsoft.com/office/drawing/2014/main" id="{05CD4955-973D-1500-4577-9385C7AA9A1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B45AF726-8042-231E-07D2-5E032C4E353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055349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467487" y="4074372"/>
            <a:ext cx="11458698" cy="2755213"/>
          </a:xfrm>
        </p:spPr>
        <p:txBody>
          <a:bodyPr>
            <a:normAutofit/>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sent, using non-blocking </a:t>
            </a:r>
            <a:r>
              <a:rPr lang="en-US" dirty="0" err="1"/>
              <a:t>i</a:t>
            </a:r>
            <a:r>
              <a:rPr lang="en-US" dirty="0"/>
              <a:t>/o</a:t>
            </a:r>
          </a:p>
          <a:p>
            <a:pPr marL="457200" indent="-457200">
              <a:buFont typeface="+mj-lt"/>
              <a:buAutoNum type="arabicPeriod"/>
            </a:pPr>
            <a:r>
              <a:rPr lang="en-US" dirty="0"/>
              <a:t>The browser goes about its business</a:t>
            </a:r>
          </a:p>
          <a:p>
            <a:pPr marL="457200" indent="-457200">
              <a:buFont typeface="+mj-lt"/>
              <a:buAutoNum type="arabicPeriod"/>
            </a:pPr>
            <a:r>
              <a:rPr lang="en-US" dirty="0"/>
              <a:t>Eventually, the http request responds and </a:t>
            </a:r>
            <a:r>
              <a:rPr lang="en-US" b="1" dirty="0"/>
              <a:t>response </a:t>
            </a:r>
            <a:r>
              <a:rPr lang="en-US" dirty="0"/>
              <a:t>gets its value, the console.log is printed, and </a:t>
            </a:r>
            <a:r>
              <a:rPr lang="en-US" dirty="0" err="1"/>
              <a:t>makeRequest</a:t>
            </a:r>
            <a:r>
              <a:rPr lang="en-US" dirty="0"/>
              <a:t> returns the value of response to its caller.</a:t>
            </a:r>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
        <p:nvSpPr>
          <p:cNvPr id="8" name="TextBox 7">
            <a:extLst>
              <a:ext uri="{FF2B5EF4-FFF2-40B4-BE49-F238E27FC236}">
                <a16:creationId xmlns:a16="http://schemas.microsoft.com/office/drawing/2014/main" id="{2D722210-24CE-2DB0-F649-37DB595EFC43}"/>
              </a:ext>
            </a:extLst>
          </p:cNvPr>
          <p:cNvSpPr txBox="1"/>
          <p:nvPr/>
        </p:nvSpPr>
        <p:spPr>
          <a:xfrm>
            <a:off x="338470" y="1492192"/>
            <a:ext cx="12122888" cy="23083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AF00DB"/>
                </a:solidFill>
                <a:effectLst/>
                <a:latin typeface="Consolas" panose="020B0609020204030204" pitchFamily="49" charset="0"/>
              </a:rPr>
              <a:t>export</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async</a:t>
            </a: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makeRequest</a:t>
            </a:r>
            <a:r>
              <a:rPr lang="en-US" sz="2400" b="0" dirty="0">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requestNumber</a:t>
            </a:r>
            <a:r>
              <a:rPr lang="en-US" sz="2400" b="0" dirty="0" err="1">
                <a:solidFill>
                  <a:srgbClr val="000000"/>
                </a:solidFill>
                <a:effectLst/>
                <a:latin typeface="Consolas" panose="020B0609020204030204" pitchFamily="49" charset="0"/>
              </a:rPr>
              <a:t>:</a:t>
            </a:r>
            <a:r>
              <a:rPr lang="en-US" sz="2400" b="0" dirty="0" err="1">
                <a:solidFill>
                  <a:srgbClr val="267F99"/>
                </a:solidFill>
                <a:effectLst/>
                <a:latin typeface="Consolas" panose="020B0609020204030204" pitchFamily="49" charset="0"/>
              </a:rPr>
              <a:t>number</a:t>
            </a:r>
            <a:r>
              <a:rPr lang="en-US" sz="2400" b="0" dirty="0">
                <a:solidFill>
                  <a:srgbClr val="3B3B3B"/>
                </a:solidFill>
                <a:effectLst/>
                <a:latin typeface="Consolas" panose="020B0609020204030204" pitchFamily="49" charset="0"/>
              </a:rPr>
              <a:t>) {</a:t>
            </a:r>
          </a:p>
          <a:p>
            <a:pPr algn="l">
              <a:buNone/>
            </a:pPr>
            <a:r>
              <a:rPr lang="en-US" sz="2400" b="0" dirty="0">
                <a:solidFill>
                  <a:srgbClr val="3B3B3B"/>
                </a:solidFill>
                <a:effectLst/>
                <a:latin typeface="Consolas" panose="020B0609020204030204" pitchFamily="49" charset="0"/>
              </a:rPr>
              <a:t>    </a:t>
            </a:r>
            <a:r>
              <a:rPr lang="en-US" sz="2400" b="0" dirty="0">
                <a:solidFill>
                  <a:srgbClr val="001080"/>
                </a:solidFill>
                <a:effectLst/>
                <a:latin typeface="Consolas" panose="020B0609020204030204" pitchFamily="49" charset="0"/>
              </a:rPr>
              <a:t>console</a:t>
            </a:r>
            <a:r>
              <a:rPr lang="en-US" sz="2400" b="0" dirty="0">
                <a:solidFill>
                  <a:srgbClr val="3B3B3B"/>
                </a:solidFill>
                <a:effectLst/>
                <a:latin typeface="Consolas" panose="020B0609020204030204" pitchFamily="49" charset="0"/>
              </a:rPr>
              <a:t>.</a:t>
            </a:r>
            <a:r>
              <a:rPr lang="en-US" sz="2400" b="0" dirty="0">
                <a:solidFill>
                  <a:srgbClr val="795E26"/>
                </a:solidFill>
                <a:effectLst/>
                <a:latin typeface="Consolas" panose="020B0609020204030204" pitchFamily="49" charset="0"/>
              </a:rPr>
              <a:t>log</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`starting </a:t>
            </a:r>
            <a:r>
              <a:rPr lang="en-US" sz="2400" b="0" dirty="0" err="1">
                <a:solidFill>
                  <a:srgbClr val="A31515"/>
                </a:solidFill>
                <a:effectLst/>
                <a:latin typeface="Consolas" panose="020B0609020204030204" pitchFamily="49" charset="0"/>
              </a:rPr>
              <a:t>makeRequest</a:t>
            </a:r>
            <a:r>
              <a:rPr lang="en-US" sz="2400" b="0" dirty="0">
                <a:solidFill>
                  <a:srgbClr val="A31515"/>
                </a:solidFill>
                <a:effectLst/>
                <a:latin typeface="Consolas" panose="020B0609020204030204" pitchFamily="49" charset="0"/>
              </a:rPr>
              <a:t>(</a:t>
            </a:r>
            <a:r>
              <a:rPr lang="en-US" sz="2400" b="0" dirty="0">
                <a:solidFill>
                  <a:srgbClr val="0000FF"/>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requestNumber</a:t>
            </a:r>
            <a:r>
              <a:rPr lang="en-US" sz="2400" b="0" dirty="0">
                <a:solidFill>
                  <a:srgbClr val="0000FF"/>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a:t>
            </a:r>
          </a:p>
          <a:p>
            <a:pPr algn="l">
              <a:buNone/>
            </a:pPr>
            <a:r>
              <a:rPr lang="en-US" sz="2400" b="0" dirty="0">
                <a:solidFill>
                  <a:srgbClr val="3B3B3B"/>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response</a:t>
            </a:r>
            <a:r>
              <a:rPr lang="en-US" sz="2400" b="0" dirty="0">
                <a:solidFill>
                  <a:srgbClr val="3B3B3B"/>
                </a:solidFill>
                <a:effectLst/>
                <a:latin typeface="Consolas" panose="020B0609020204030204" pitchFamily="49" charset="0"/>
              </a:rPr>
              <a:t> </a:t>
            </a:r>
            <a:r>
              <a:rPr lang="en-US" sz="2400" b="0" dirty="0">
                <a:solidFill>
                  <a:srgbClr val="000000"/>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await</a:t>
            </a:r>
            <a:r>
              <a:rPr lang="en-US" sz="2400" b="0" dirty="0">
                <a:solidFill>
                  <a:srgbClr val="3B3B3B"/>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fakeRequest</a:t>
            </a:r>
            <a:r>
              <a:rPr lang="en-US" sz="2400" b="0" dirty="0">
                <a:solidFill>
                  <a:srgbClr val="3B3B3B"/>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requestNumber</a:t>
            </a:r>
            <a:r>
              <a:rPr lang="en-US" sz="2400" b="0" dirty="0">
                <a:solidFill>
                  <a:srgbClr val="3B3B3B"/>
                </a:solidFill>
                <a:effectLst/>
                <a:latin typeface="Consolas" panose="020B0609020204030204" pitchFamily="49" charset="0"/>
              </a:rPr>
              <a:t>);</a:t>
            </a:r>
          </a:p>
          <a:p>
            <a:pPr algn="l">
              <a:buNone/>
            </a:pPr>
            <a:r>
              <a:rPr lang="en-US" sz="2400" b="0" dirty="0">
                <a:solidFill>
                  <a:srgbClr val="3B3B3B"/>
                </a:solidFill>
                <a:effectLst/>
                <a:latin typeface="Consolas" panose="020B0609020204030204" pitchFamily="49" charset="0"/>
              </a:rPr>
              <a:t>    </a:t>
            </a:r>
            <a:r>
              <a:rPr lang="en-US" sz="2400" b="0" dirty="0">
                <a:solidFill>
                  <a:srgbClr val="001080"/>
                </a:solidFill>
                <a:effectLst/>
                <a:latin typeface="Consolas" panose="020B0609020204030204" pitchFamily="49" charset="0"/>
              </a:rPr>
              <a:t>console</a:t>
            </a:r>
            <a:r>
              <a:rPr lang="en-US" sz="2400" b="0" dirty="0">
                <a:solidFill>
                  <a:srgbClr val="3B3B3B"/>
                </a:solidFill>
                <a:effectLst/>
                <a:latin typeface="Consolas" panose="020B0609020204030204" pitchFamily="49" charset="0"/>
              </a:rPr>
              <a:t>.</a:t>
            </a:r>
            <a:r>
              <a:rPr lang="en-US" sz="2400" b="0" dirty="0">
                <a:solidFill>
                  <a:srgbClr val="795E26"/>
                </a:solidFill>
                <a:effectLst/>
                <a:latin typeface="Consolas" panose="020B0609020204030204" pitchFamily="49" charset="0"/>
              </a:rPr>
              <a:t>log</a:t>
            </a:r>
            <a:r>
              <a:rPr lang="en-US" sz="2400" b="0" dirty="0">
                <a:solidFill>
                  <a:srgbClr val="3B3B3B"/>
                </a:solidFill>
                <a:effectLst/>
                <a:latin typeface="Consolas" panose="020B0609020204030204" pitchFamily="49" charset="0"/>
              </a:rPr>
              <a:t>(</a:t>
            </a:r>
            <a:r>
              <a:rPr lang="en-US" sz="2400" b="0" dirty="0">
                <a:solidFill>
                  <a:srgbClr val="A31515"/>
                </a:solidFill>
                <a:effectLst/>
                <a:latin typeface="Consolas" panose="020B0609020204030204" pitchFamily="49" charset="0"/>
              </a:rPr>
              <a:t>'request:'</a:t>
            </a:r>
            <a:r>
              <a:rPr lang="en-US" sz="2400" b="0" dirty="0">
                <a:solidFill>
                  <a:srgbClr val="3B3B3B"/>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requestNumber</a:t>
            </a:r>
            <a:r>
              <a:rPr lang="en-US" sz="2400" b="0" dirty="0">
                <a:solidFill>
                  <a:srgbClr val="3B3B3B"/>
                </a:solidFill>
                <a:effectLst/>
                <a:latin typeface="Consolas" panose="020B0609020204030204" pitchFamily="49" charset="0"/>
              </a:rPr>
              <a:t>, </a:t>
            </a:r>
            <a:r>
              <a:rPr lang="en-US" sz="2400" b="0" dirty="0">
                <a:solidFill>
                  <a:srgbClr val="A31515"/>
                </a:solidFill>
                <a:effectLst/>
                <a:latin typeface="Consolas" panose="020B0609020204030204" pitchFamily="49" charset="0"/>
              </a:rPr>
              <a:t>'</a:t>
            </a:r>
            <a:r>
              <a:rPr lang="en-US" sz="2400" b="0" dirty="0">
                <a:solidFill>
                  <a:srgbClr val="EE0000"/>
                </a:solidFill>
                <a:effectLst/>
                <a:latin typeface="Consolas" panose="020B0609020204030204" pitchFamily="49" charset="0"/>
              </a:rPr>
              <a:t>\</a:t>
            </a:r>
            <a:r>
              <a:rPr lang="en-US" sz="2400" b="0" dirty="0" err="1">
                <a:solidFill>
                  <a:srgbClr val="EE0000"/>
                </a:solidFill>
                <a:effectLst/>
                <a:latin typeface="Consolas" panose="020B0609020204030204" pitchFamily="49" charset="0"/>
              </a:rPr>
              <a:t>n</a:t>
            </a:r>
            <a:r>
              <a:rPr lang="en-US" sz="2400" b="0" dirty="0" err="1">
                <a:solidFill>
                  <a:srgbClr val="A31515"/>
                </a:solidFill>
                <a:effectLst/>
                <a:latin typeface="Consolas" panose="020B0609020204030204" pitchFamily="49" charset="0"/>
              </a:rPr>
              <a:t>response</a:t>
            </a:r>
            <a:r>
              <a:rPr lang="en-US" sz="2400" b="0" dirty="0">
                <a:solidFill>
                  <a:srgbClr val="A31515"/>
                </a:solidFill>
                <a:effectLst/>
                <a:latin typeface="Consolas" panose="020B0609020204030204" pitchFamily="49" charset="0"/>
              </a:rPr>
              <a:t>:'</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response</a:t>
            </a:r>
            <a:r>
              <a:rPr lang="en-US" sz="2400" b="0" dirty="0">
                <a:solidFill>
                  <a:srgbClr val="3B3B3B"/>
                </a:solidFill>
                <a:effectLst/>
                <a:latin typeface="Consolas" panose="020B0609020204030204" pitchFamily="49" charset="0"/>
              </a:rPr>
              <a:t>)</a:t>
            </a:r>
          </a:p>
          <a:p>
            <a:pPr algn="l">
              <a:buNone/>
            </a:pPr>
            <a:r>
              <a:rPr lang="en-US" sz="2400" b="0" dirty="0">
                <a:solidFill>
                  <a:srgbClr val="3B3B3B"/>
                </a:solidFill>
                <a:effectLst/>
                <a:latin typeface="Consolas" panose="020B0609020204030204" pitchFamily="49" charset="0"/>
              </a:rPr>
              <a:t>    </a:t>
            </a:r>
            <a:r>
              <a:rPr lang="en-US" sz="2400" b="0" dirty="0">
                <a:solidFill>
                  <a:srgbClr val="AF00DB"/>
                </a:solidFill>
                <a:effectLst/>
                <a:latin typeface="Consolas" panose="020B0609020204030204" pitchFamily="49" charset="0"/>
              </a:rPr>
              <a:t>return</a:t>
            </a:r>
            <a:r>
              <a:rPr lang="en-US" sz="2400" b="0" dirty="0">
                <a:solidFill>
                  <a:srgbClr val="3B3B3B"/>
                </a:solidFill>
                <a:effectLst/>
                <a:latin typeface="Consolas" panose="020B0609020204030204" pitchFamily="49" charset="0"/>
              </a:rPr>
              <a:t> </a:t>
            </a:r>
            <a:r>
              <a:rPr lang="en-US" sz="2400" b="0" dirty="0">
                <a:solidFill>
                  <a:srgbClr val="0070C1"/>
                </a:solidFill>
                <a:effectLst/>
                <a:latin typeface="Consolas" panose="020B0609020204030204" pitchFamily="49" charset="0"/>
              </a:rPr>
              <a:t>response</a:t>
            </a:r>
            <a:r>
              <a:rPr lang="en-US" sz="2400" b="0" dirty="0">
                <a:solidFill>
                  <a:srgbClr val="3B3B3B"/>
                </a:solidFill>
                <a:effectLst/>
                <a:latin typeface="Consolas" panose="020B0609020204030204" pitchFamily="49" charset="0"/>
              </a:rPr>
              <a:t>;</a:t>
            </a:r>
          </a:p>
          <a:p>
            <a:pPr algn="l">
              <a:buNone/>
            </a:pPr>
            <a:r>
              <a:rPr lang="en-US" sz="2400" b="0" dirty="0">
                <a:solidFill>
                  <a:srgbClr val="3B3B3B"/>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5" name="TextBox 4">
            <a:extLst>
              <a:ext uri="{FF2B5EF4-FFF2-40B4-BE49-F238E27FC236}">
                <a16:creationId xmlns:a16="http://schemas.microsoft.com/office/drawing/2014/main" id="{F5C46596-489D-B203-0373-763804FB1CCC}"/>
              </a:ext>
            </a:extLst>
          </p:cNvPr>
          <p:cNvSpPr txBox="1"/>
          <p:nvPr/>
        </p:nvSpPr>
        <p:spPr>
          <a:xfrm>
            <a:off x="736600" y="1582340"/>
            <a:ext cx="9573260" cy="3693319"/>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buNone/>
            </a:pPr>
            <a:r>
              <a:rPr lang="en-US" sz="1800" b="0" dirty="0">
                <a:solidFill>
                  <a:srgbClr val="008000"/>
                </a:solidFill>
                <a:effectLst/>
                <a:latin typeface="Consolas" panose="020B0609020204030204" pitchFamily="49" charset="0"/>
              </a:rPr>
              <a:t>// make 3 concurrent requests using </a:t>
            </a:r>
            <a:r>
              <a:rPr lang="en-US" sz="1800" b="0" dirty="0" err="1">
                <a:solidFill>
                  <a:srgbClr val="008000"/>
                </a:solidFill>
                <a:effectLst/>
                <a:latin typeface="Consolas" panose="020B0609020204030204" pitchFamily="49" charset="0"/>
              </a:rPr>
              <a:t>Promise.all</a:t>
            </a:r>
            <a:endParaRPr lang="en-US" sz="1800" b="0" dirty="0">
              <a:solidFill>
                <a:srgbClr val="3B3B3B"/>
              </a:solidFill>
              <a:effectLst/>
              <a:latin typeface="Consolas" panose="020B0609020204030204" pitchFamily="49" charset="0"/>
            </a:endParaRPr>
          </a:p>
          <a:p>
            <a:pPr algn="l">
              <a:buNone/>
            </a:pPr>
            <a:r>
              <a:rPr lang="en-US" sz="1800" b="0" dirty="0">
                <a:solidFill>
                  <a:srgbClr val="AF00DB"/>
                </a:solidFill>
                <a:effectLst/>
                <a:latin typeface="Consolas" panose="020B0609020204030204" pitchFamily="49" charset="0"/>
              </a:rPr>
              <a:t>export</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make3ConcurrentRequests</a:t>
            </a: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'making 3 concurrent requests'</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results</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Promise</a:t>
            </a:r>
            <a:r>
              <a:rPr lang="en-US" sz="1800" b="0" dirty="0" err="1">
                <a:solidFill>
                  <a:srgbClr val="3B3B3B"/>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all</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'all 3 requests done, results:'</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results</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r>
              <a:rPr lang="en-US" sz="1800" b="0" dirty="0">
                <a:solidFill>
                  <a:srgbClr val="3B3B3B"/>
                </a:solidFill>
                <a:effectLst/>
                <a:latin typeface="Consolas" panose="020B0609020204030204" pitchFamily="49" charset="0"/>
              </a:rPr>
              <a:t>await </a:t>
            </a:r>
            <a:r>
              <a:rPr lang="en-US" sz="1800" dirty="0" err="1">
                <a:solidFill>
                  <a:srgbClr val="795E26"/>
                </a:solidFill>
                <a:latin typeface="Consolas" panose="020B0609020204030204" pitchFamily="49" charset="0"/>
              </a:rPr>
              <a:t>timeit</a:t>
            </a:r>
            <a:r>
              <a:rPr lang="en-US" sz="1800" dirty="0">
                <a:solidFill>
                  <a:srgbClr val="3B3B3B"/>
                </a:solidFill>
                <a:latin typeface="Consolas" panose="020B0609020204030204" pitchFamily="49" charset="0"/>
              </a:rPr>
              <a:t>(</a:t>
            </a:r>
            <a:r>
              <a:rPr lang="en-US" sz="1800" dirty="0">
                <a:solidFill>
                  <a:srgbClr val="795E26"/>
                </a:solidFill>
                <a:latin typeface="Consolas" panose="020B0609020204030204" pitchFamily="49" charset="0"/>
              </a:rPr>
              <a:t>make3ConcurrentRequests</a:t>
            </a:r>
            <a:r>
              <a:rPr lang="en-US" sz="1800" dirty="0">
                <a:solidFill>
                  <a:srgbClr val="3B3B3B"/>
                </a:solidFill>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816549" y="2504972"/>
            <a:ext cx="7375451" cy="317009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requestPatterns.ts</a:t>
            </a:r>
            <a:r>
              <a:rPr lang="en-US" sz="2000" dirty="0">
                <a:solidFill>
                  <a:prstClr val="black"/>
                </a:solidFill>
                <a:latin typeface="Lucida Console" panose="020B0609040504020204" pitchFamily="49" charset="0"/>
              </a:rPr>
              <a:t> </a:t>
            </a:r>
          </a:p>
          <a:p>
            <a:pPr algn="l"/>
            <a:r>
              <a:rPr lang="en-US" sz="2000" dirty="0">
                <a:solidFill>
                  <a:prstClr val="black"/>
                </a:solidFill>
                <a:latin typeface="Lucida Console" panose="020B0609040504020204" pitchFamily="49" charset="0"/>
              </a:rPr>
              <a:t>making 3 concurrent 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a:t>
            </a:r>
          </a:p>
          <a:p>
            <a:pPr algn="l"/>
            <a:r>
              <a:rPr lang="en-US" sz="2000" dirty="0">
                <a:solidFill>
                  <a:prstClr val="black"/>
                </a:solidFill>
                <a:latin typeface="Lucida Console" panose="020B0609040504020204" pitchFamily="49" charset="0"/>
              </a:rPr>
              <a:t>request: 1 returned 101</a:t>
            </a:r>
          </a:p>
          <a:p>
            <a:pPr algn="l"/>
            <a:r>
              <a:rPr lang="en-US" sz="2000" dirty="0">
                <a:solidFill>
                  <a:prstClr val="black"/>
                </a:solidFill>
                <a:latin typeface="Lucida Console" panose="020B0609040504020204" pitchFamily="49" charset="0"/>
              </a:rPr>
              <a:t>request: 3 returned 103</a:t>
            </a:r>
          </a:p>
          <a:p>
            <a:pPr algn="l"/>
            <a:r>
              <a:rPr lang="en-US" sz="2000" dirty="0">
                <a:solidFill>
                  <a:prstClr val="black"/>
                </a:solidFill>
                <a:latin typeface="Lucida Console" panose="020B0609040504020204" pitchFamily="49" charset="0"/>
              </a:rPr>
              <a:t>request: 2 returned 102</a:t>
            </a:r>
          </a:p>
          <a:p>
            <a:pPr algn="l"/>
            <a:r>
              <a:rPr lang="en-US" sz="2000" dirty="0">
                <a:solidFill>
                  <a:prstClr val="black"/>
                </a:solidFill>
                <a:latin typeface="Lucida Console" panose="020B0609040504020204" pitchFamily="49" charset="0"/>
              </a:rPr>
              <a:t>all 3 requests done, results: [ 101, 102, 103 ]</a:t>
            </a:r>
          </a:p>
          <a:p>
            <a:pPr algn="l"/>
            <a:r>
              <a:rPr lang="en-US" sz="2000" dirty="0">
                <a:solidFill>
                  <a:prstClr val="black"/>
                </a:solidFill>
                <a:latin typeface="Lucida Console" panose="020B0609040504020204" pitchFamily="49" charset="0"/>
              </a:rPr>
              <a:t>828.12 msec</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523230" y="88193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requestPatterns.ts</a:t>
            </a:r>
            <a:endParaRPr lang="en-US" sz="2400" dirty="0">
              <a:solidFill>
                <a:schemeClr val="tx1"/>
              </a:solidFill>
            </a:endParaRPr>
          </a:p>
        </p:txBody>
      </p:sp>
      <p:sp>
        <p:nvSpPr>
          <p:cNvPr id="6" name="Oval 5">
            <a:extLst>
              <a:ext uri="{FF2B5EF4-FFF2-40B4-BE49-F238E27FC236}">
                <a16:creationId xmlns:a16="http://schemas.microsoft.com/office/drawing/2014/main" id="{09FF731E-D4BE-9E70-DB2C-C3702B9B737F}"/>
              </a:ext>
            </a:extLst>
          </p:cNvPr>
          <p:cNvSpPr/>
          <p:nvPr/>
        </p:nvSpPr>
        <p:spPr>
          <a:xfrm>
            <a:off x="4625235" y="5177066"/>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397031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AF00DB"/>
                </a:solidFill>
                <a:effectLst/>
                <a:latin typeface="Consolas" panose="020B0609020204030204" pitchFamily="49" charset="0"/>
              </a:rPr>
              <a:t>export</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'making 3 sequential requests'</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result2</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result3</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'all 3 requests done, results:'</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result2</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a:p>
            <a:pPr algn="l">
              <a:buNone/>
            </a:pPr>
            <a:r>
              <a:rPr lang="en-US" sz="1800" b="0" dirty="0">
                <a:solidFill>
                  <a:srgbClr val="008000"/>
                </a:solidFill>
                <a:effectLst/>
                <a:latin typeface="Consolas" panose="020B0609020204030204" pitchFamily="49" charset="0"/>
              </a:rPr>
              <a:t>// await </a:t>
            </a:r>
            <a:r>
              <a:rPr lang="en-US" sz="1800" b="0" dirty="0" err="1">
                <a:solidFill>
                  <a:srgbClr val="008000"/>
                </a:solidFill>
                <a:effectLst/>
                <a:latin typeface="Consolas" panose="020B0609020204030204" pitchFamily="49" charset="0"/>
              </a:rPr>
              <a:t>timeit</a:t>
            </a:r>
            <a:r>
              <a:rPr lang="en-US" sz="1800" b="0" dirty="0">
                <a:solidFill>
                  <a:srgbClr val="008000"/>
                </a:solidFill>
                <a:effectLst/>
                <a:latin typeface="Consolas" panose="020B0609020204030204" pitchFamily="49" charset="0"/>
              </a:rPr>
              <a:t>(make3ConcurrentRequests);</a:t>
            </a:r>
            <a:endParaRPr lang="en-US" sz="1800" b="0" dirty="0">
              <a:solidFill>
                <a:srgbClr val="3B3B3B"/>
              </a:solidFill>
              <a:effectLst/>
              <a:latin typeface="Consolas" panose="020B0609020204030204" pitchFamily="49" charset="0"/>
            </a:endParaRPr>
          </a:p>
          <a:p>
            <a:pPr algn="l">
              <a:buNone/>
            </a:pPr>
            <a:r>
              <a:rPr lang="en-US" sz="1800" dirty="0">
                <a:solidFill>
                  <a:srgbClr val="795E26"/>
                </a:solidFill>
                <a:latin typeface="Consolas" panose="020B0609020204030204" pitchFamily="49" charset="0"/>
              </a:rPr>
              <a:t>await </a:t>
            </a:r>
            <a:r>
              <a:rPr lang="en-US" sz="1800" b="0" dirty="0" err="1">
                <a:solidFill>
                  <a:srgbClr val="795E26"/>
                </a:solidFill>
                <a:effectLst/>
                <a:latin typeface="Consolas" panose="020B0609020204030204" pitchFamily="49" charset="0"/>
              </a:rPr>
              <a:t>timeit</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119494"/>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requestPatterns.ts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5762847" y="1150980"/>
            <a:ext cx="5895661"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requestPatterns.ts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making 3 sequential requests</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(1)</a:t>
            </a:r>
          </a:p>
          <a:p>
            <a:pPr algn="l"/>
            <a:r>
              <a:rPr lang="en-US" sz="2000" dirty="0">
                <a:solidFill>
                  <a:schemeClr val="tx1"/>
                </a:solidFill>
                <a:latin typeface="Verdana" panose="020B0604030504040204" pitchFamily="34" charset="0"/>
                <a:ea typeface="Verdana" panose="020B0604030504040204" pitchFamily="34" charset="0"/>
              </a:rPr>
              <a:t>request: 1 returned 101</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(2)</a:t>
            </a:r>
          </a:p>
          <a:p>
            <a:pPr algn="l"/>
            <a:r>
              <a:rPr lang="en-US" sz="2000" dirty="0">
                <a:solidFill>
                  <a:schemeClr val="tx1"/>
                </a:solidFill>
                <a:latin typeface="Verdana" panose="020B0604030504040204" pitchFamily="34" charset="0"/>
                <a:ea typeface="Verdana" panose="020B0604030504040204" pitchFamily="34" charset="0"/>
              </a:rPr>
              <a:t>request: 2 returned 102</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(3)</a:t>
            </a:r>
          </a:p>
          <a:p>
            <a:pPr algn="l"/>
            <a:r>
              <a:rPr lang="en-US" sz="2000" dirty="0">
                <a:solidFill>
                  <a:schemeClr val="tx1"/>
                </a:solidFill>
                <a:latin typeface="Verdana" panose="020B0604030504040204" pitchFamily="34" charset="0"/>
                <a:ea typeface="Verdana" panose="020B0604030504040204" pitchFamily="34" charset="0"/>
              </a:rPr>
              <a:t>request: 3 returned 103</a:t>
            </a:r>
          </a:p>
          <a:p>
            <a:pPr algn="l"/>
            <a:r>
              <a:rPr lang="en-US" sz="2000" dirty="0">
                <a:solidFill>
                  <a:schemeClr val="tx1"/>
                </a:solidFill>
                <a:latin typeface="Verdana" panose="020B0604030504040204" pitchFamily="34" charset="0"/>
                <a:ea typeface="Verdana" panose="020B0604030504040204" pitchFamily="34" charset="0"/>
              </a:rPr>
              <a:t>all 3 requests done, results: [ 101, 102, 103 ]</a:t>
            </a:r>
          </a:p>
          <a:p>
            <a:pPr algn="l"/>
            <a:r>
              <a:rPr lang="en-US" sz="2000" dirty="0">
                <a:solidFill>
                  <a:schemeClr val="tx1"/>
                </a:solidFill>
                <a:latin typeface="Verdana" panose="020B0604030504040204" pitchFamily="34" charset="0"/>
                <a:ea typeface="Verdana" panose="020B0604030504040204" pitchFamily="34" charset="0"/>
              </a:rPr>
              <a:t>1222.06 msec</a:t>
            </a:r>
          </a:p>
        </p:txBody>
      </p:sp>
      <p:sp>
        <p:nvSpPr>
          <p:cNvPr id="6" name="Oval 5">
            <a:extLst>
              <a:ext uri="{FF2B5EF4-FFF2-40B4-BE49-F238E27FC236}">
                <a16:creationId xmlns:a16="http://schemas.microsoft.com/office/drawing/2014/main" id="{0D7BB16A-95D1-89D3-897B-11BAEE66BE98}"/>
              </a:ext>
            </a:extLst>
          </p:cNvPr>
          <p:cNvSpPr/>
          <p:nvPr/>
        </p:nvSpPr>
        <p:spPr>
          <a:xfrm>
            <a:off x="5623225" y="410130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004B4-9AF0-406B-8B21-5FB7155CA5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1A5141-B1EB-D1AA-26B8-2CD97621D0A1}"/>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5441F757-B750-03AD-115A-6176456EBBF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B657E2-D926-576C-B4D1-39A2B29B7421}"/>
              </a:ext>
            </a:extLst>
          </p:cNvPr>
          <p:cNvSpPr txBox="1"/>
          <p:nvPr/>
        </p:nvSpPr>
        <p:spPr>
          <a:xfrm>
            <a:off x="320842" y="1546051"/>
            <a:ext cx="9921240" cy="397031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AF00DB"/>
                </a:solidFill>
                <a:effectLst/>
                <a:latin typeface="Consolas" panose="020B0609020204030204" pitchFamily="49" charset="0"/>
              </a:rPr>
              <a:t>export</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'making 3 sequential requests'</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result2</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result3</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makeRequest</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'all 3 requests done, results:'</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result1</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result2</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result3</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a:p>
            <a:pPr algn="l">
              <a:buNone/>
            </a:pPr>
            <a:r>
              <a:rPr lang="en-US" sz="1800" b="0" dirty="0">
                <a:solidFill>
                  <a:srgbClr val="008000"/>
                </a:solidFill>
                <a:effectLst/>
                <a:latin typeface="Consolas" panose="020B0609020204030204" pitchFamily="49" charset="0"/>
              </a:rPr>
              <a:t>// await </a:t>
            </a:r>
            <a:r>
              <a:rPr lang="en-US" sz="1800" b="0" dirty="0" err="1">
                <a:solidFill>
                  <a:srgbClr val="008000"/>
                </a:solidFill>
                <a:effectLst/>
                <a:latin typeface="Consolas" panose="020B0609020204030204" pitchFamily="49" charset="0"/>
              </a:rPr>
              <a:t>timeit</a:t>
            </a:r>
            <a:r>
              <a:rPr lang="en-US" sz="1800" b="0" dirty="0">
                <a:solidFill>
                  <a:srgbClr val="008000"/>
                </a:solidFill>
                <a:effectLst/>
                <a:latin typeface="Consolas" panose="020B0609020204030204" pitchFamily="49" charset="0"/>
              </a:rPr>
              <a:t>(make3ConcurrentRequests);</a:t>
            </a:r>
            <a:endParaRPr lang="en-US" sz="1800" b="0" dirty="0">
              <a:solidFill>
                <a:srgbClr val="3B3B3B"/>
              </a:solidFill>
              <a:effectLst/>
              <a:latin typeface="Consolas" panose="020B0609020204030204" pitchFamily="49" charset="0"/>
            </a:endParaRPr>
          </a:p>
          <a:p>
            <a:pPr algn="l">
              <a:buNone/>
            </a:pPr>
            <a:r>
              <a:rPr lang="en-US" sz="1800" dirty="0">
                <a:solidFill>
                  <a:srgbClr val="795E26"/>
                </a:solidFill>
                <a:latin typeface="Consolas" panose="020B0609020204030204" pitchFamily="49" charset="0"/>
              </a:rPr>
              <a:t>await </a:t>
            </a:r>
            <a:r>
              <a:rPr lang="en-US" sz="1800" b="0" dirty="0" err="1">
                <a:solidFill>
                  <a:srgbClr val="795E26"/>
                </a:solidFill>
                <a:effectLst/>
                <a:latin typeface="Consolas" panose="020B0609020204030204" pitchFamily="49" charset="0"/>
              </a:rPr>
              <a:t>timeit</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make3SequentialRequests</a:t>
            </a: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118EA7F0-7859-E9AF-29B9-452564B7A873}"/>
              </a:ext>
            </a:extLst>
          </p:cNvPr>
          <p:cNvSpPr/>
          <p:nvPr/>
        </p:nvSpPr>
        <p:spPr>
          <a:xfrm>
            <a:off x="2173705" y="6119494"/>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6549C00F-F199-E524-DB91-30847CC89D8F}"/>
              </a:ext>
            </a:extLst>
          </p:cNvPr>
          <p:cNvSpPr txBox="1"/>
          <p:nvPr/>
        </p:nvSpPr>
        <p:spPr>
          <a:xfrm>
            <a:off x="5762847" y="1150980"/>
            <a:ext cx="5895661"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requestPatterns.ts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making 3 sequential requests</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(1)</a:t>
            </a:r>
          </a:p>
          <a:p>
            <a:pPr algn="l"/>
            <a:r>
              <a:rPr lang="en-US" sz="2000" dirty="0">
                <a:solidFill>
                  <a:schemeClr val="tx1"/>
                </a:solidFill>
                <a:latin typeface="Verdana" panose="020B0604030504040204" pitchFamily="34" charset="0"/>
                <a:ea typeface="Verdana" panose="020B0604030504040204" pitchFamily="34" charset="0"/>
              </a:rPr>
              <a:t>request: 1 returned 101</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(2)</a:t>
            </a:r>
          </a:p>
          <a:p>
            <a:pPr algn="l"/>
            <a:r>
              <a:rPr lang="en-US" sz="2000" dirty="0">
                <a:solidFill>
                  <a:schemeClr val="tx1"/>
                </a:solidFill>
                <a:latin typeface="Verdana" panose="020B0604030504040204" pitchFamily="34" charset="0"/>
                <a:ea typeface="Verdana" panose="020B0604030504040204" pitchFamily="34" charset="0"/>
              </a:rPr>
              <a:t>request: 2 returned 102</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(3)</a:t>
            </a:r>
          </a:p>
          <a:p>
            <a:pPr algn="l"/>
            <a:r>
              <a:rPr lang="en-US" sz="2000" dirty="0">
                <a:solidFill>
                  <a:schemeClr val="tx1"/>
                </a:solidFill>
                <a:latin typeface="Verdana" panose="020B0604030504040204" pitchFamily="34" charset="0"/>
                <a:ea typeface="Verdana" panose="020B0604030504040204" pitchFamily="34" charset="0"/>
              </a:rPr>
              <a:t>request: 3 returned 103</a:t>
            </a:r>
          </a:p>
          <a:p>
            <a:pPr algn="l"/>
            <a:r>
              <a:rPr lang="en-US" sz="2000" dirty="0">
                <a:solidFill>
                  <a:schemeClr val="tx1"/>
                </a:solidFill>
                <a:latin typeface="Verdana" panose="020B0604030504040204" pitchFamily="34" charset="0"/>
                <a:ea typeface="Verdana" panose="020B0604030504040204" pitchFamily="34" charset="0"/>
              </a:rPr>
              <a:t>all 3 requests done, results: [ 101, 102, 103 ]</a:t>
            </a:r>
          </a:p>
          <a:p>
            <a:pPr algn="l"/>
            <a:r>
              <a:rPr lang="en-US" sz="2000" dirty="0">
                <a:solidFill>
                  <a:schemeClr val="tx1"/>
                </a:solidFill>
                <a:latin typeface="Verdana" panose="020B0604030504040204" pitchFamily="34" charset="0"/>
                <a:ea typeface="Verdana" panose="020B0604030504040204" pitchFamily="34" charset="0"/>
              </a:rPr>
              <a:t>1222.06 msec</a:t>
            </a:r>
          </a:p>
        </p:txBody>
      </p:sp>
      <p:sp>
        <p:nvSpPr>
          <p:cNvPr id="6" name="Oval 5">
            <a:extLst>
              <a:ext uri="{FF2B5EF4-FFF2-40B4-BE49-F238E27FC236}">
                <a16:creationId xmlns:a16="http://schemas.microsoft.com/office/drawing/2014/main" id="{07939962-6B42-A21F-16D4-0438441D3533}"/>
              </a:ext>
            </a:extLst>
          </p:cNvPr>
          <p:cNvSpPr/>
          <p:nvPr/>
        </p:nvSpPr>
        <p:spPr>
          <a:xfrm>
            <a:off x="5623225" y="410130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407622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5837274" y="1459874"/>
            <a:ext cx="6258474"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requestPatterns.ts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making 3 chained requests</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(1)</a:t>
            </a:r>
          </a:p>
          <a:p>
            <a:pPr algn="l"/>
            <a:r>
              <a:rPr lang="en-US" sz="2000" dirty="0">
                <a:solidFill>
                  <a:schemeClr val="tx1"/>
                </a:solidFill>
                <a:latin typeface="Verdana" panose="020B0604030504040204" pitchFamily="34" charset="0"/>
                <a:ea typeface="Verdana" panose="020B0604030504040204" pitchFamily="34" charset="0"/>
              </a:rPr>
              <a:t>request: 1 returned 101</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(101)</a:t>
            </a:r>
          </a:p>
          <a:p>
            <a:pPr algn="l"/>
            <a:r>
              <a:rPr lang="en-US" sz="2000" dirty="0">
                <a:solidFill>
                  <a:schemeClr val="tx1"/>
                </a:solidFill>
                <a:latin typeface="Verdana" panose="020B0604030504040204" pitchFamily="34" charset="0"/>
                <a:ea typeface="Verdana" panose="020B0604030504040204" pitchFamily="34" charset="0"/>
              </a:rPr>
              <a:t>request: 101 returned 201</a:t>
            </a:r>
          </a:p>
          <a:p>
            <a:pPr algn="l"/>
            <a:r>
              <a:rPr lang="en-US" sz="2000" dirty="0">
                <a:solidFill>
                  <a:schemeClr val="tx1"/>
                </a:solidFill>
                <a:latin typeface="Verdana" panose="020B0604030504040204" pitchFamily="34" charset="0"/>
                <a:ea typeface="Verdana" panose="020B0604030504040204" pitchFamily="34" charset="0"/>
              </a:rPr>
              <a:t>starting </a:t>
            </a:r>
            <a:r>
              <a:rPr lang="en-US" sz="2000" dirty="0" err="1">
                <a:solidFill>
                  <a:schemeClr val="tx1"/>
                </a:solidFill>
                <a:latin typeface="Verdana" panose="020B0604030504040204" pitchFamily="34" charset="0"/>
                <a:ea typeface="Verdana" panose="020B0604030504040204" pitchFamily="34" charset="0"/>
              </a:rPr>
              <a:t>makeRequest</a:t>
            </a:r>
            <a:r>
              <a:rPr lang="en-US" sz="2000" dirty="0">
                <a:solidFill>
                  <a:schemeClr val="tx1"/>
                </a:solidFill>
                <a:latin typeface="Verdana" panose="020B0604030504040204" pitchFamily="34" charset="0"/>
                <a:ea typeface="Verdana" panose="020B0604030504040204" pitchFamily="34" charset="0"/>
              </a:rPr>
              <a:t>(201)</a:t>
            </a:r>
          </a:p>
          <a:p>
            <a:pPr algn="l"/>
            <a:r>
              <a:rPr lang="en-US" sz="2000" dirty="0">
                <a:solidFill>
                  <a:schemeClr val="tx1"/>
                </a:solidFill>
                <a:latin typeface="Verdana" panose="020B0604030504040204" pitchFamily="34" charset="0"/>
                <a:ea typeface="Verdana" panose="020B0604030504040204" pitchFamily="34" charset="0"/>
              </a:rPr>
              <a:t>request: 201 returned 301</a:t>
            </a:r>
          </a:p>
          <a:p>
            <a:pPr algn="l"/>
            <a:r>
              <a:rPr lang="en-US" sz="2000" dirty="0">
                <a:solidFill>
                  <a:schemeClr val="tx1"/>
                </a:solidFill>
                <a:latin typeface="Verdana" panose="020B0604030504040204" pitchFamily="34" charset="0"/>
                <a:ea typeface="Verdana" panose="020B0604030504040204" pitchFamily="34" charset="0"/>
              </a:rPr>
              <a:t>all 3 requests done, results: [ 101, 201, 301 ]</a:t>
            </a:r>
          </a:p>
          <a:p>
            <a:pPr algn="l"/>
            <a:r>
              <a:rPr lang="en-US" sz="2000" dirty="0">
                <a:solidFill>
                  <a:schemeClr val="tx1"/>
                </a:solidFill>
                <a:latin typeface="Verdana" panose="020B0604030504040204" pitchFamily="34" charset="0"/>
                <a:ea typeface="Verdana" panose="020B0604030504040204" pitchFamily="34" charset="0"/>
              </a:rPr>
              <a:t>1306.77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requestPatterns.ts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Use try/catch to deal with errors</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npx</a:t>
            </a: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ts</a:t>
            </a:r>
            <a:r>
              <a:rPr lang="en-US" sz="2000" dirty="0">
                <a:solidFill>
                  <a:schemeClr val="tx1"/>
                </a:solidFill>
                <a:latin typeface="Verdana" panose="020B0604030504040204" pitchFamily="34" charset="0"/>
                <a:ea typeface="Verdana" panose="020B0604030504040204" pitchFamily="34" charset="0"/>
              </a:rPr>
              <a:t>-node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200" y="1532631"/>
            <a:ext cx="10515600" cy="550920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600" b="0" dirty="0">
                <a:solidFill>
                  <a:srgbClr val="AF00DB"/>
                </a:solidFill>
                <a:effectLst/>
                <a:latin typeface="Consolas" panose="020B0609020204030204" pitchFamily="49" charset="0"/>
              </a:rPr>
              <a:t>import</a:t>
            </a:r>
            <a:r>
              <a:rPr lang="en-US" sz="1600" b="0" dirty="0">
                <a:solidFill>
                  <a:srgbClr val="3B3B3B"/>
                </a:solidFill>
                <a:effectLst/>
                <a:latin typeface="Consolas" panose="020B0609020204030204" pitchFamily="49" charset="0"/>
              </a:rPr>
              <a:t> { </a:t>
            </a:r>
            <a:r>
              <a:rPr lang="en-US" sz="1600" b="0" dirty="0" err="1">
                <a:solidFill>
                  <a:srgbClr val="001080"/>
                </a:solidFill>
                <a:effectLst/>
                <a:latin typeface="Consolas" panose="020B0609020204030204" pitchFamily="49" charset="0"/>
              </a:rPr>
              <a:t>fakeRequest</a:t>
            </a:r>
            <a:r>
              <a:rPr lang="en-US" sz="1600" b="0" dirty="0">
                <a:solidFill>
                  <a:srgbClr val="3B3B3B"/>
                </a:solidFill>
                <a:effectLst/>
                <a:latin typeface="Consolas" panose="020B0609020204030204" pitchFamily="49" charset="0"/>
              </a:rPr>
              <a:t> } </a:t>
            </a:r>
            <a:r>
              <a:rPr lang="en-US" sz="1600" b="0" dirty="0">
                <a:solidFill>
                  <a:srgbClr val="AF00DB"/>
                </a:solidFill>
                <a:effectLst/>
                <a:latin typeface="Consolas" panose="020B0609020204030204" pitchFamily="49" charset="0"/>
              </a:rPr>
              <a:t>from</a:t>
            </a:r>
            <a:r>
              <a:rPr lang="en-US" sz="1600" b="0" dirty="0">
                <a:solidFill>
                  <a:srgbClr val="3B3B3B"/>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fakeRequest.ts</a:t>
            </a:r>
            <a:r>
              <a:rPr lang="en-US" sz="1600" b="0" dirty="0">
                <a:solidFill>
                  <a:srgbClr val="A31515"/>
                </a:solidFill>
                <a:effectLst/>
                <a:latin typeface="Consolas" panose="020B0609020204030204" pitchFamily="49" charset="0"/>
              </a:rPr>
              <a:t>'</a:t>
            </a:r>
            <a:endParaRPr lang="en-US" sz="1600" b="0" dirty="0">
              <a:solidFill>
                <a:srgbClr val="3B3B3B"/>
              </a:solidFill>
              <a:effectLst/>
              <a:latin typeface="Consolas" panose="020B0609020204030204" pitchFamily="49" charset="0"/>
            </a:endParaRPr>
          </a:p>
          <a:p>
            <a:pPr algn="l">
              <a:buNone/>
            </a:pPr>
            <a:r>
              <a:rPr lang="en-US" sz="1600" b="0" dirty="0">
                <a:solidFill>
                  <a:srgbClr val="AF00DB"/>
                </a:solidFill>
                <a:effectLst/>
                <a:latin typeface="Consolas" panose="020B0609020204030204" pitchFamily="49" charset="0"/>
              </a:rPr>
              <a:t>import</a:t>
            </a:r>
            <a:r>
              <a:rPr lang="en-US" sz="1600" b="0" dirty="0">
                <a:solidFill>
                  <a:srgbClr val="3B3B3B"/>
                </a:solidFill>
                <a:effectLst/>
                <a:latin typeface="Consolas" panose="020B0609020204030204" pitchFamily="49" charset="0"/>
              </a:rPr>
              <a:t> { </a:t>
            </a:r>
            <a:r>
              <a:rPr lang="en-US" sz="1600" b="0" dirty="0">
                <a:solidFill>
                  <a:srgbClr val="001080"/>
                </a:solidFill>
                <a:effectLst/>
                <a:latin typeface="Consolas" panose="020B0609020204030204" pitchFamily="49" charset="0"/>
              </a:rPr>
              <a:t>describe</a:t>
            </a: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expect</a:t>
            </a: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test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from</a:t>
            </a:r>
            <a:r>
              <a:rPr lang="en-US" sz="1600" b="0" dirty="0">
                <a:solidFill>
                  <a:srgbClr val="3B3B3B"/>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vitest</a:t>
            </a:r>
            <a:r>
              <a:rPr lang="en-US" sz="1600" b="0" dirty="0">
                <a:solidFill>
                  <a:srgbClr val="A31515"/>
                </a:solidFill>
                <a:effectLst/>
                <a:latin typeface="Consolas" panose="020B0609020204030204" pitchFamily="49" charset="0"/>
              </a:rPr>
              <a:t>'</a:t>
            </a:r>
            <a:endParaRPr lang="en-US" sz="1600" b="0" dirty="0">
              <a:solidFill>
                <a:srgbClr val="3B3B3B"/>
              </a:solidFill>
              <a:effectLst/>
              <a:latin typeface="Consolas" panose="020B0609020204030204" pitchFamily="49" charset="0"/>
            </a:endParaRPr>
          </a:p>
          <a:p>
            <a:pPr algn="l">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lgn="l">
              <a:buNone/>
            </a:pPr>
            <a:r>
              <a:rPr lang="en-US" sz="1600" b="0" dirty="0">
                <a:solidFill>
                  <a:srgbClr val="008000"/>
                </a:solidFill>
                <a:effectLst/>
                <a:latin typeface="Consolas" panose="020B0609020204030204" pitchFamily="49" charset="0"/>
              </a:rPr>
              <a:t>// </a:t>
            </a:r>
            <a:r>
              <a:rPr lang="en-US" sz="1600" b="0" dirty="0" err="1">
                <a:solidFill>
                  <a:srgbClr val="008000"/>
                </a:solidFill>
                <a:effectLst/>
                <a:latin typeface="Consolas" panose="020B0609020204030204" pitchFamily="49" charset="0"/>
              </a:rPr>
              <a:t>fakeRequest</a:t>
            </a:r>
            <a:r>
              <a:rPr lang="en-US" sz="1600" b="0" dirty="0">
                <a:solidFill>
                  <a:srgbClr val="008000"/>
                </a:solidFill>
                <a:effectLst/>
                <a:latin typeface="Consolas" panose="020B0609020204030204" pitchFamily="49" charset="0"/>
              </a:rPr>
              <a:t> should make a network request using </a:t>
            </a:r>
            <a:r>
              <a:rPr lang="en-US" sz="1600" b="0" dirty="0" err="1">
                <a:solidFill>
                  <a:srgbClr val="008000"/>
                </a:solidFill>
                <a:effectLst/>
                <a:latin typeface="Consolas" panose="020B0609020204030204" pitchFamily="49" charset="0"/>
              </a:rPr>
              <a:t>myFetch</a:t>
            </a:r>
            <a:endParaRPr lang="en-US" sz="1600" b="0" dirty="0">
              <a:solidFill>
                <a:srgbClr val="3B3B3B"/>
              </a:solidFill>
              <a:effectLst/>
              <a:latin typeface="Consolas" panose="020B0609020204030204" pitchFamily="49" charset="0"/>
            </a:endParaRPr>
          </a:p>
          <a:p>
            <a:pPr algn="l">
              <a:buNone/>
            </a:pPr>
            <a:r>
              <a:rPr lang="en-US" sz="1600" b="0" dirty="0">
                <a:solidFill>
                  <a:srgbClr val="008000"/>
                </a:solidFill>
                <a:effectLst/>
                <a:latin typeface="Consolas" panose="020B0609020204030204" pitchFamily="49" charset="0"/>
              </a:rPr>
              <a:t>// and then returns n + 1</a:t>
            </a:r>
            <a:endParaRPr lang="en-US" sz="1600" b="0" dirty="0">
              <a:solidFill>
                <a:srgbClr val="3B3B3B"/>
              </a:solidFill>
              <a:effectLst/>
              <a:latin typeface="Consolas" panose="020B0609020204030204" pitchFamily="49" charset="0"/>
            </a:endParaRPr>
          </a:p>
          <a:p>
            <a:pPr algn="l">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lgn="l">
              <a:buNone/>
            </a:pPr>
            <a:r>
              <a:rPr lang="en-US" sz="1600" b="0" dirty="0">
                <a:solidFill>
                  <a:srgbClr val="795E26"/>
                </a:solidFill>
                <a:effectLst/>
                <a:latin typeface="Consolas" panose="020B0609020204030204" pitchFamily="49" charset="0"/>
              </a:rPr>
              <a:t>describe</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fakeRequest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 ()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test</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fakeRequest</a:t>
            </a:r>
            <a:r>
              <a:rPr lang="en-US" sz="1600" b="0" dirty="0">
                <a:solidFill>
                  <a:srgbClr val="A31515"/>
                </a:solidFill>
                <a:effectLst/>
                <a:latin typeface="Consolas" panose="020B0609020204030204" pitchFamily="49" charset="0"/>
              </a:rPr>
              <a:t> should return its argument + 1 (await/expect)'</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expect</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assertions</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expect</a:t>
            </a:r>
            <a:r>
              <a:rPr lang="en-US" sz="1600" b="0" dirty="0">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fakeRequest</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100</a:t>
            </a:r>
            <a:r>
              <a:rPr lang="en-US" sz="1600" b="0" dirty="0">
                <a:solidFill>
                  <a:srgbClr val="3B3B3B"/>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resolves</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toEqual</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101</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p>
          <a:p>
            <a:pPr algn="l">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lgn="l">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test</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fakeRequest</a:t>
            </a:r>
            <a:r>
              <a:rPr lang="en-US" sz="1600" b="0" dirty="0">
                <a:solidFill>
                  <a:srgbClr val="A31515"/>
                </a:solidFill>
                <a:effectLst/>
                <a:latin typeface="Consolas" panose="020B0609020204030204" pitchFamily="49" charset="0"/>
              </a:rPr>
              <a:t> should return its argument + 1 (expect/await)'</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lgn="l">
              <a:buNone/>
            </a:pP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expect</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assertions</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expect</a:t>
            </a:r>
            <a:r>
              <a:rPr lang="en-US" sz="1600" b="0" dirty="0">
                <a:solidFill>
                  <a:srgbClr val="3B3B3B"/>
                </a:solidFill>
                <a:effectLst/>
                <a:latin typeface="Consolas" panose="020B0609020204030204" pitchFamily="49" charset="0"/>
              </a:rPr>
              <a:t>(</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fakeRequest</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7</a:t>
            </a:r>
            <a:r>
              <a:rPr lang="en-US" sz="1600" b="0" dirty="0">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toEqual</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8</a:t>
            </a:r>
            <a:r>
              <a:rPr lang="en-US" sz="1600" b="0" dirty="0">
                <a:solidFill>
                  <a:srgbClr val="3B3B3B"/>
                </a:solidFill>
                <a:effectLst/>
                <a:latin typeface="Consolas" panose="020B0609020204030204" pitchFamily="49" charset="0"/>
              </a:rPr>
              <a:t>)</a:t>
            </a:r>
          </a:p>
          <a:p>
            <a:pPr algn="l">
              <a:buNone/>
            </a:pPr>
            <a:r>
              <a:rPr lang="en-US" sz="1600" b="0" dirty="0">
                <a:solidFill>
                  <a:srgbClr val="3B3B3B"/>
                </a:solidFill>
                <a:effectLst/>
                <a:latin typeface="Consolas" panose="020B0609020204030204" pitchFamily="49" charset="0"/>
              </a:rPr>
              <a:t>    })</a:t>
            </a:r>
          </a:p>
          <a:p>
            <a:pPr algn="l">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9099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example.test.ts</a:t>
            </a:r>
            <a:endParaRPr lang="en-US" sz="2400" dirty="0">
              <a:solidFill>
                <a:schemeClr val="tx1"/>
              </a:solidFill>
            </a:endParaRPr>
          </a:p>
        </p:txBody>
      </p:sp>
    </p:spTree>
    <p:extLst>
      <p:ext uri="{BB962C8B-B14F-4D97-AF65-F5344CB8AC3E}">
        <p14:creationId xmlns:p14="http://schemas.microsoft.com/office/powerpoint/2010/main" val="104756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npx</a:t>
            </a: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ts</a:t>
            </a:r>
            <a:r>
              <a:rPr lang="en-US" sz="2000" dirty="0">
                <a:solidFill>
                  <a:schemeClr val="tx1"/>
                </a:solidFill>
                <a:latin typeface="Verdana" panose="020B0604030504040204" pitchFamily="34" charset="0"/>
                <a:ea typeface="Verdana" panose="020B0604030504040204" pitchFamily="34" charset="0"/>
              </a:rPr>
              <a:t>-node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a:t>
            </a:r>
            <a:r>
              <a:rPr lang="en-US" sz="2000" dirty="0" err="1">
                <a:solidFill>
                  <a:srgbClr val="7030A0"/>
                </a:solidFill>
                <a:latin typeface="Verdana" panose="020B0604030504040204" pitchFamily="34" charset="0"/>
                <a:ea typeface="Verdana" panose="020B0604030504040204" pitchFamily="34" charset="0"/>
              </a:rPr>
              <a:t>npx</a:t>
            </a:r>
            <a:r>
              <a:rPr lang="en-US" sz="2000" dirty="0">
                <a:solidFill>
                  <a:srgbClr val="7030A0"/>
                </a:solidFill>
                <a:latin typeface="Verdana" panose="020B0604030504040204" pitchFamily="34" charset="0"/>
                <a:ea typeface="Verdana" panose="020B0604030504040204" pitchFamily="34" charset="0"/>
              </a:rPr>
              <a:t> </a:t>
            </a:r>
            <a:r>
              <a:rPr lang="en-US" sz="2000" dirty="0" err="1">
                <a:solidFill>
                  <a:srgbClr val="7030A0"/>
                </a:solidFill>
                <a:latin typeface="Verdana" panose="020B0604030504040204" pitchFamily="34" charset="0"/>
                <a:ea typeface="Verdana" panose="020B0604030504040204" pitchFamily="34" charset="0"/>
              </a:rPr>
              <a:t>ts</a:t>
            </a:r>
            <a:r>
              <a:rPr lang="en-US" sz="2000" dirty="0">
                <a:solidFill>
                  <a:srgbClr val="7030A0"/>
                </a:solidFill>
                <a:latin typeface="Verdana" panose="020B0604030504040204" pitchFamily="34" charset="0"/>
                <a:ea typeface="Verdana" panose="020B0604030504040204" pitchFamily="34" charset="0"/>
              </a:rPr>
              <a:t>-node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critical section,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critical section to start.  In this case, it found the critical section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a:bodyPr>
          <a:lstStyle/>
          <a:p>
            <a:r>
              <a:rPr lang="en-US" dirty="0"/>
              <a:t>You can’t return a value from a promise to an ordinary procedure.</a:t>
            </a:r>
          </a:p>
          <a:p>
            <a:pPr lvl="1"/>
            <a:r>
              <a:rPr lang="en-US" dirty="0"/>
              <a:t>You can only return the value to the async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A328E-8C1E-B1BC-2AF8-7FF16D1FA023}"/>
              </a:ext>
            </a:extLst>
          </p:cNvPr>
          <p:cNvSpPr>
            <a:spLocks noGrp="1"/>
          </p:cNvSpPr>
          <p:nvPr>
            <p:ph type="title"/>
          </p:nvPr>
        </p:nvSpPr>
        <p:spPr/>
        <p:txBody>
          <a:bodyPr/>
          <a:lstStyle/>
          <a:p>
            <a:r>
              <a:rPr lang="en-US" dirty="0"/>
              <a:t>Section 3: Odds and Ends</a:t>
            </a:r>
          </a:p>
        </p:txBody>
      </p:sp>
      <p:sp>
        <p:nvSpPr>
          <p:cNvPr id="3" name="Content Placeholder 2">
            <a:extLst>
              <a:ext uri="{FF2B5EF4-FFF2-40B4-BE49-F238E27FC236}">
                <a16:creationId xmlns:a16="http://schemas.microsoft.com/office/drawing/2014/main" id="{518B8480-1545-B63A-6D05-910201EF2392}"/>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91E1301F-1561-1DE8-87D9-D3C8D33EB7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8220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How does JS Engine make this happen?</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D33806CF-2E13-84B9-7FB1-98121DD0B847}"/>
              </a:ext>
            </a:extLst>
          </p:cNvPr>
          <p:cNvSpPr txBox="1">
            <a:spLocks/>
          </p:cNvSpPr>
          <p:nvPr/>
        </p:nvSpPr>
        <p:spPr>
          <a:xfrm>
            <a:off x="838200" y="1844023"/>
            <a:ext cx="3351707" cy="412497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is used for asynchronous tasks</a:t>
            </a:r>
          </a:p>
          <a:p>
            <a:r>
              <a:rPr lang="en-US" dirty="0"/>
              <a:t>Queues are used for “await”-</a:t>
            </a:r>
            <a:r>
              <a:rPr lang="en-US" dirty="0" err="1"/>
              <a:t>ing</a:t>
            </a:r>
            <a:r>
              <a:rPr lang="en-US" dirty="0"/>
              <a:t> tasks</a:t>
            </a:r>
          </a:p>
          <a:p>
            <a:r>
              <a:rPr lang="en-US" dirty="0"/>
              <a:t>When call stack gets empty, event loop picks up tasks from Callback Queue</a:t>
            </a:r>
          </a:p>
        </p:txBody>
      </p:sp>
      <p:pic>
        <p:nvPicPr>
          <p:cNvPr id="23" name="Content Placeholder 22" descr="A diagram of a process&#10;&#10;Description automatically generated">
            <a:extLst>
              <a:ext uri="{FF2B5EF4-FFF2-40B4-BE49-F238E27FC236}">
                <a16:creationId xmlns:a16="http://schemas.microsoft.com/office/drawing/2014/main" id="{49EBE5D3-09A9-6589-D57D-2D3C018F8B3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178300" y="1606551"/>
            <a:ext cx="7163893" cy="4362449"/>
          </a:xfrm>
        </p:spPr>
      </p:pic>
    </p:spTree>
    <p:extLst>
      <p:ext uri="{BB962C8B-B14F-4D97-AF65-F5344CB8AC3E}">
        <p14:creationId xmlns:p14="http://schemas.microsoft.com/office/powerpoint/2010/main" val="39295080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BD844B7F-B1F5-435D-79CC-8C6204FCD85F}"/>
              </a:ext>
            </a:extLst>
          </p:cNvPr>
          <p:cNvPicPr>
            <a:picLocks noChangeAspect="1"/>
          </p:cNvPicPr>
          <p:nvPr/>
        </p:nvPicPr>
        <p:blipFill>
          <a:blip r:embed="rId3"/>
          <a:stretch>
            <a:fillRect/>
          </a:stretch>
        </p:blipFill>
        <p:spPr>
          <a:xfrm>
            <a:off x="6561137" y="1594198"/>
            <a:ext cx="4378325" cy="4675228"/>
          </a:xfrm>
          <a:prstGeom prst="rect">
            <a:avLst/>
          </a:prstGeom>
        </p:spPr>
      </p:pic>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4932364" cy="4769267"/>
          </a:xfrm>
        </p:spPr>
        <p:txBody>
          <a:bodyPr>
            <a:normAutofit/>
          </a:bodyPr>
          <a:lstStyle/>
          <a:p>
            <a:r>
              <a:rPr lang="en-US" dirty="0"/>
              <a:t>JS/TS has single event loop</a:t>
            </a:r>
          </a:p>
          <a:p>
            <a:r>
              <a:rPr lang="en-US" dirty="0"/>
              <a:t>We outsource most of the non-blocking IO work (to </a:t>
            </a:r>
            <a:r>
              <a:rPr lang="en-US" dirty="0" err="1"/>
              <a:t>WebAPIs</a:t>
            </a:r>
            <a:r>
              <a:rPr lang="en-US" dirty="0"/>
              <a:t>) for asynchronous work</a:t>
            </a:r>
          </a:p>
          <a:p>
            <a:r>
              <a:rPr lang="en-US" dirty="0"/>
              <a:t>Upon completion, they are placed in queues (Microtask queue has priority over </a:t>
            </a:r>
            <a:r>
              <a:rPr lang="en-US" dirty="0" err="1"/>
              <a:t>Macrotask</a:t>
            </a:r>
            <a:r>
              <a:rPr lang="en-US" dirty="0"/>
              <a:t> queue)</a:t>
            </a:r>
          </a:p>
          <a:p>
            <a:r>
              <a:rPr lang="en-US" dirty="0"/>
              <a:t>Event loop picks them up from queue when call stack is empty!</a:t>
            </a:r>
          </a:p>
        </p:txBody>
      </p:sp>
    </p:spTree>
    <p:extLst>
      <p:ext uri="{BB962C8B-B14F-4D97-AF65-F5344CB8AC3E}">
        <p14:creationId xmlns:p14="http://schemas.microsoft.com/office/powerpoint/2010/main" val="17083584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AF00DB"/>
                </a:solidFill>
                <a:effectLst/>
                <a:latin typeface="Consolas" panose="020B0609020204030204" pitchFamily="49" charset="0"/>
              </a:rPr>
              <a:t>import</a:t>
            </a:r>
            <a:r>
              <a:rPr lang="en-US" sz="1800" b="0" dirty="0">
                <a:solidFill>
                  <a:srgbClr val="3B3B3B"/>
                </a:solidFill>
                <a:effectLst/>
                <a:latin typeface="Consolas" panose="020B0609020204030204" pitchFamily="49" charset="0"/>
              </a:rPr>
              <a:t> { </a:t>
            </a:r>
            <a:r>
              <a:rPr lang="en-US" sz="1800" b="0" dirty="0" err="1">
                <a:solidFill>
                  <a:srgbClr val="001080"/>
                </a:solidFill>
                <a:effectLst/>
                <a:latin typeface="Consolas" panose="020B0609020204030204" pitchFamily="49" charset="0"/>
              </a:rPr>
              <a:t>myFetch</a:t>
            </a:r>
            <a:r>
              <a:rPr lang="en-US" sz="1800" b="0" dirty="0">
                <a:solidFill>
                  <a:srgbClr val="3B3B3B"/>
                </a:solidFill>
                <a:effectLst/>
                <a:latin typeface="Consolas" panose="020B0609020204030204" pitchFamily="49" charset="0"/>
              </a:rPr>
              <a:t> } </a:t>
            </a:r>
            <a:r>
              <a:rPr lang="en-US" sz="1800" b="0" dirty="0">
                <a:solidFill>
                  <a:srgbClr val="AF00DB"/>
                </a:solidFill>
                <a:effectLst/>
                <a:latin typeface="Consolas" panose="020B0609020204030204" pitchFamily="49" charset="0"/>
              </a:rPr>
              <a:t>from</a:t>
            </a:r>
            <a:r>
              <a:rPr lang="en-US" sz="1800" b="0" dirty="0">
                <a:solidFill>
                  <a:srgbClr val="3B3B3B"/>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fakeRequest.ts</a:t>
            </a:r>
            <a:r>
              <a:rPr lang="en-US" sz="1800" b="0" dirty="0">
                <a:solidFill>
                  <a:srgbClr val="A31515"/>
                </a:solidFill>
                <a:effectLst/>
                <a:latin typeface="Consolas" panose="020B0609020204030204" pitchFamily="49" charset="0"/>
              </a:rPr>
              <a:t>'</a:t>
            </a:r>
            <a:r>
              <a:rPr lang="en-US" sz="1800" b="0" dirty="0">
                <a:solidFill>
                  <a:srgbClr val="3B3B3B"/>
                </a:solidFill>
                <a:effectLst/>
                <a:latin typeface="Consolas" panose="020B0609020204030204" pitchFamily="49" charset="0"/>
              </a:rPr>
              <a:t>;</a:t>
            </a: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log</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267F99"/>
                </a:solidFill>
                <a:effectLst/>
                <a:latin typeface="Consolas" panose="020B0609020204030204" pitchFamily="49" charset="0"/>
              </a:rPr>
              <a:t>string</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X</a:t>
            </a:r>
            <a:r>
              <a:rPr lang="en-US" sz="1800" b="0" dirty="0">
                <a:solidFill>
                  <a:srgbClr val="3B3B3B"/>
                </a:solidFill>
                <a:effectLst/>
                <a:latin typeface="Consolas" panose="020B0609020204030204" pitchFamily="49" charset="0"/>
              </a:rPr>
              <a:t>(</a:t>
            </a:r>
            <a:r>
              <a:rPr lang="en-US" sz="1800" b="0" dirty="0">
                <a:solidFill>
                  <a:srgbClr val="001080"/>
                </a:solidFill>
                <a:effectLst/>
                <a:latin typeface="Consolas" panose="020B0609020204030204" pitchFamily="49" charset="0"/>
              </a:rPr>
              <a:t>n</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267F99"/>
                </a:solidFill>
                <a:effectLst/>
                <a:latin typeface="Consolas" panose="020B0609020204030204" pitchFamily="49" charset="0"/>
              </a:rPr>
              <a:t>number</a:t>
            </a:r>
            <a:r>
              <a:rPr lang="en-US" sz="1800" b="0" dirty="0">
                <a:solidFill>
                  <a:srgbClr val="3B3B3B"/>
                </a:solidFill>
                <a:effectLst/>
                <a:latin typeface="Consolas" panose="020B0609020204030204" pitchFamily="49" charset="0"/>
              </a:rPr>
              <a:t>) {</a:t>
            </a:r>
          </a:p>
          <a:p>
            <a:pPr algn="l">
              <a:buNone/>
            </a:pPr>
            <a:r>
              <a:rPr lang="en-US" sz="1800" dirty="0">
                <a:solidFill>
                  <a:srgbClr val="3B3B3B"/>
                </a:solidFill>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myFetch</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log</a:t>
            </a:r>
            <a:r>
              <a:rPr lang="en-US" sz="1800" b="0" dirty="0" err="1">
                <a:solidFill>
                  <a:srgbClr val="3B3B3B"/>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push</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'X'</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endParaRPr lang="en-US" sz="1800" b="0" dirty="0">
              <a:solidFill>
                <a:srgbClr val="3B3B3B"/>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Y</a:t>
            </a:r>
            <a:r>
              <a:rPr lang="en-US" sz="1800" b="0" dirty="0">
                <a:solidFill>
                  <a:srgbClr val="3B3B3B"/>
                </a:solidFill>
                <a:effectLst/>
                <a:latin typeface="Consolas" panose="020B0609020204030204" pitchFamily="49" charset="0"/>
              </a:rPr>
              <a:t>(</a:t>
            </a:r>
            <a:r>
              <a:rPr lang="en-US" sz="1800" b="0" dirty="0">
                <a:solidFill>
                  <a:srgbClr val="001080"/>
                </a:solidFill>
                <a:effectLst/>
                <a:latin typeface="Consolas" panose="020B0609020204030204" pitchFamily="49" charset="0"/>
              </a:rPr>
              <a:t>n</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267F99"/>
                </a:solidFill>
                <a:effectLst/>
                <a:latin typeface="Consolas" panose="020B0609020204030204" pitchFamily="49" charset="0"/>
              </a:rPr>
              <a:t>number</a:t>
            </a: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myFetch</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log</a:t>
            </a:r>
            <a:r>
              <a:rPr lang="en-US" sz="1800" b="0" dirty="0" err="1">
                <a:solidFill>
                  <a:srgbClr val="3B3B3B"/>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push</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'Y'</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r>
              <a:rPr lang="en-US" sz="1800" b="0" dirty="0">
                <a:solidFill>
                  <a:srgbClr val="AF00DB"/>
                </a:solidFill>
                <a:effectLst/>
                <a:latin typeface="Consolas" panose="020B0609020204030204" pitchFamily="49" charset="0"/>
              </a:rPr>
              <a:t>for</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let</a:t>
            </a:r>
            <a:r>
              <a:rPr lang="en-US" sz="1800" b="0" dirty="0">
                <a:solidFill>
                  <a:srgbClr val="3B3B3B"/>
                </a:solidFill>
                <a:effectLst/>
                <a:latin typeface="Consolas" panose="020B0609020204030204" pitchFamily="49" charset="0"/>
              </a:rPr>
              <a:t> </a:t>
            </a:r>
            <a:r>
              <a:rPr lang="en-US" sz="1800" b="0" dirty="0" err="1">
                <a:solidFill>
                  <a:srgbClr val="001080"/>
                </a:solidFill>
                <a:effectLst/>
                <a:latin typeface="Consolas" panose="020B0609020204030204" pitchFamily="49" charset="0"/>
              </a:rPr>
              <a:t>i</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098658"/>
                </a:solidFill>
                <a:effectLst/>
                <a:latin typeface="Consolas" panose="020B0609020204030204" pitchFamily="49" charset="0"/>
              </a:rPr>
              <a:t>0</a:t>
            </a:r>
            <a:r>
              <a:rPr lang="en-US" sz="1800" b="0" dirty="0">
                <a:solidFill>
                  <a:srgbClr val="3B3B3B"/>
                </a:solidFill>
                <a:effectLst/>
                <a:latin typeface="Consolas" panose="020B0609020204030204" pitchFamily="49" charset="0"/>
              </a:rPr>
              <a:t>; </a:t>
            </a:r>
            <a:r>
              <a:rPr lang="en-US" sz="1800" b="0" dirty="0" err="1">
                <a:solidFill>
                  <a:srgbClr val="001080"/>
                </a:solidFill>
                <a:effectLst/>
                <a:latin typeface="Consolas" panose="020B0609020204030204" pitchFamily="49" charset="0"/>
              </a:rPr>
              <a:t>i</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&lt;</a:t>
            </a:r>
            <a:r>
              <a:rPr lang="en-US" sz="1800" b="0" dirty="0">
                <a:solidFill>
                  <a:srgbClr val="3B3B3B"/>
                </a:solidFill>
                <a:effectLst/>
                <a:latin typeface="Consolas" panose="020B0609020204030204" pitchFamily="49" charset="0"/>
              </a:rPr>
              <a:t> </a:t>
            </a:r>
            <a:r>
              <a:rPr lang="en-US" sz="1800" b="0" dirty="0">
                <a:solidFill>
                  <a:srgbClr val="098658"/>
                </a:solidFill>
                <a:effectLst/>
                <a:latin typeface="Consolas" panose="020B0609020204030204" pitchFamily="49" charset="0"/>
              </a:rPr>
              <a:t>4</a:t>
            </a:r>
            <a:r>
              <a:rPr lang="en-US" sz="1800" b="0" dirty="0">
                <a:solidFill>
                  <a:srgbClr val="3B3B3B"/>
                </a:solidFill>
                <a:effectLst/>
                <a:latin typeface="Consolas" panose="020B0609020204030204" pitchFamily="49" charset="0"/>
              </a:rPr>
              <a:t>; </a:t>
            </a:r>
            <a:r>
              <a:rPr lang="en-US" sz="1800" b="0" dirty="0" err="1">
                <a:solidFill>
                  <a:srgbClr val="001080"/>
                </a:solidFill>
                <a:effectLst/>
                <a:latin typeface="Consolas" panose="020B0609020204030204" pitchFamily="49" charset="0"/>
              </a:rPr>
              <a:t>i</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098658"/>
                </a:solidFill>
                <a:effectLst/>
                <a:latin typeface="Consolas" panose="020B0609020204030204" pitchFamily="49" charset="0"/>
              </a:rPr>
              <a:t>1</a:t>
            </a:r>
            <a:r>
              <a:rPr lang="en-US" sz="1800" b="0" dirty="0">
                <a:solidFill>
                  <a:srgbClr val="3B3B3B"/>
                </a:solidFill>
                <a:effectLst/>
                <a:latin typeface="Consolas" panose="020B0609020204030204" pitchFamily="49" charset="0"/>
              </a:rPr>
              <a:t>) {</a:t>
            </a:r>
          </a:p>
          <a:p>
            <a:pPr algn="l">
              <a:buNone/>
            </a:pPr>
            <a:r>
              <a:rPr lang="en-US" sz="1800" b="0" dirty="0">
                <a:solidFill>
                  <a:srgbClr val="3B3B3B"/>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log</a:t>
            </a:r>
            <a:r>
              <a:rPr lang="en-US" sz="1800" b="0" dirty="0" err="1">
                <a:solidFill>
                  <a:srgbClr val="3B3B3B"/>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push</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'start'</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Promise</a:t>
            </a:r>
            <a:r>
              <a:rPr lang="en-US" sz="1800" b="0" dirty="0" err="1">
                <a:solidFill>
                  <a:srgbClr val="3B3B3B"/>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all</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X</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10</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Y</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20</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0070C1"/>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dataRace.ts</a:t>
            </a:r>
            <a:endParaRPr lang="en-US" sz="2400" dirty="0">
              <a:solidFill>
                <a:schemeClr val="tx1"/>
              </a:solidFill>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dataRace.ts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Promise created for 1</a:t>
            </a:r>
          </a:p>
          <a:p>
            <a:pPr algn="l"/>
            <a:r>
              <a:rPr lang="en-US" sz="2000" dirty="0">
                <a:solidFill>
                  <a:schemeClr val="tx1"/>
                </a:solidFill>
                <a:latin typeface="Verdana" panose="020B0604030504040204" pitchFamily="34" charset="0"/>
                <a:ea typeface="Verdana" panose="020B0604030504040204" pitchFamily="34" charset="0"/>
              </a:rPr>
              <a:t>Promise created for 2</a:t>
            </a:r>
          </a:p>
          <a:p>
            <a:pPr algn="l"/>
            <a:r>
              <a:rPr lang="en-US" sz="2000" dirty="0">
                <a:solidFill>
                  <a:schemeClr val="tx1"/>
                </a:solidFill>
                <a:latin typeface="Verdana" panose="020B0604030504040204" pitchFamily="34" charset="0"/>
                <a:ea typeface="Verdana" panose="020B0604030504040204" pitchFamily="34" charset="0"/>
              </a:rPr>
              <a:t>Promise created for 1</a:t>
            </a:r>
          </a:p>
          <a:p>
            <a:pPr algn="l"/>
            <a:r>
              <a:rPr lang="en-US" sz="2000" dirty="0">
                <a:solidFill>
                  <a:schemeClr val="tx1"/>
                </a:solidFill>
                <a:latin typeface="Verdana" panose="020B0604030504040204" pitchFamily="34" charset="0"/>
                <a:ea typeface="Verdana" panose="020B0604030504040204" pitchFamily="34" charset="0"/>
              </a:rPr>
              <a:t>Promise created for 2</a:t>
            </a:r>
          </a:p>
          <a:p>
            <a:pPr algn="l"/>
            <a:r>
              <a:rPr lang="en-US" sz="2000" dirty="0">
                <a:solidFill>
                  <a:schemeClr val="tx1"/>
                </a:solidFill>
                <a:latin typeface="Verdana" panose="020B0604030504040204" pitchFamily="34" charset="0"/>
                <a:ea typeface="Verdana" panose="020B0604030504040204" pitchFamily="34" charset="0"/>
              </a:rPr>
              <a:t>Promise created for 1</a:t>
            </a:r>
          </a:p>
          <a:p>
            <a:pPr algn="l"/>
            <a:r>
              <a:rPr lang="en-US" sz="2000" dirty="0">
                <a:solidFill>
                  <a:schemeClr val="tx1"/>
                </a:solidFill>
                <a:latin typeface="Verdana" panose="020B0604030504040204" pitchFamily="34" charset="0"/>
                <a:ea typeface="Verdana" panose="020B0604030504040204" pitchFamily="34" charset="0"/>
              </a:rPr>
              <a:t>Promise created for 2</a:t>
            </a:r>
          </a:p>
          <a:p>
            <a:pPr algn="l"/>
            <a:r>
              <a:rPr lang="en-US" sz="2000" dirty="0">
                <a:solidFill>
                  <a:schemeClr val="tx1"/>
                </a:solidFill>
                <a:latin typeface="Verdana" panose="020B0604030504040204" pitchFamily="34" charset="0"/>
                <a:ea typeface="Verdana" panose="020B0604030504040204" pitchFamily="34" charset="0"/>
              </a:rPr>
              <a:t>Promise created for 1</a:t>
            </a:r>
          </a:p>
          <a:p>
            <a:pPr algn="l"/>
            <a:r>
              <a:rPr lang="en-US" sz="2000" dirty="0">
                <a:solidFill>
                  <a:schemeClr val="tx1"/>
                </a:solidFill>
                <a:latin typeface="Verdana" panose="020B0604030504040204" pitchFamily="34" charset="0"/>
                <a:ea typeface="Verdana" panose="020B0604030504040204" pitchFamily="34" charset="0"/>
              </a:rPr>
              <a:t>Promise created for 2</a:t>
            </a:r>
          </a:p>
          <a:p>
            <a:pPr algn="l"/>
            <a:r>
              <a:rPr lang="en-US" sz="2000" dirty="0">
                <a:solidFill>
                  <a:schemeClr val="tx1"/>
                </a:solidFill>
                <a:latin typeface="Verdana" panose="020B0604030504040204" pitchFamily="34" charset="0"/>
                <a:ea typeface="Verdana" panose="020B0604030504040204" pitchFamily="34" charset="0"/>
              </a:rPr>
              <a:t>[</a:t>
            </a:r>
          </a:p>
          <a:p>
            <a:pPr algn="l"/>
            <a:r>
              <a:rPr lang="en-US" sz="2000" dirty="0">
                <a:solidFill>
                  <a:schemeClr val="tx1"/>
                </a:solidFill>
                <a:latin typeface="Verdana" panose="020B0604030504040204" pitchFamily="34" charset="0"/>
                <a:ea typeface="Verdana" panose="020B0604030504040204" pitchFamily="34" charset="0"/>
              </a:rPr>
              <a:t>  'start', 'X', 'Y',</a:t>
            </a:r>
          </a:p>
          <a:p>
            <a:pPr algn="l"/>
            <a:r>
              <a:rPr lang="en-US" sz="2000" dirty="0">
                <a:solidFill>
                  <a:schemeClr val="tx1"/>
                </a:solidFill>
                <a:latin typeface="Verdana" panose="020B0604030504040204" pitchFamily="34" charset="0"/>
                <a:ea typeface="Verdana" panose="020B0604030504040204" pitchFamily="34" charset="0"/>
              </a:rPr>
              <a:t>  'start', 'Y', 'X',</a:t>
            </a:r>
          </a:p>
          <a:p>
            <a:pPr algn="l"/>
            <a:r>
              <a:rPr lang="en-US" sz="2000" dirty="0">
                <a:solidFill>
                  <a:schemeClr val="tx1"/>
                </a:solidFill>
                <a:latin typeface="Verdana" panose="020B0604030504040204" pitchFamily="34" charset="0"/>
                <a:ea typeface="Verdana" panose="020B0604030504040204" pitchFamily="34" charset="0"/>
              </a:rPr>
              <a:t>  'start', 'Y', 'X',</a:t>
            </a:r>
          </a:p>
          <a:p>
            <a:pPr algn="l"/>
            <a:r>
              <a:rPr lang="en-US" sz="2000" dirty="0">
                <a:solidFill>
                  <a:schemeClr val="tx1"/>
                </a:solidFill>
                <a:latin typeface="Verdana" panose="020B0604030504040204" pitchFamily="34" charset="0"/>
                <a:ea typeface="Verdana" panose="020B0604030504040204" pitchFamily="34" charset="0"/>
              </a:rPr>
              <a:t>  'start', 'Y', 'X'</a:t>
            </a:r>
          </a:p>
          <a:p>
            <a:pPr algn="l"/>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21921284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2592A-E6E7-EDEB-7E96-4DFE970367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A287FD-7710-9BE6-6E29-886E08944D6D}"/>
              </a:ext>
            </a:extLst>
          </p:cNvPr>
          <p:cNvSpPr>
            <a:spLocks noGrp="1"/>
          </p:cNvSpPr>
          <p:nvPr>
            <p:ph type="title"/>
          </p:nvPr>
        </p:nvSpPr>
        <p:spPr/>
        <p:txBody>
          <a:bodyPr/>
          <a:lstStyle/>
          <a:p>
            <a:r>
              <a:rPr lang="en-US" dirty="0"/>
              <a:t>What a returned promise really looks like</a:t>
            </a:r>
          </a:p>
        </p:txBody>
      </p:sp>
      <p:sp>
        <p:nvSpPr>
          <p:cNvPr id="4" name="Slide Number Placeholder 3">
            <a:extLst>
              <a:ext uri="{FF2B5EF4-FFF2-40B4-BE49-F238E27FC236}">
                <a16:creationId xmlns:a16="http://schemas.microsoft.com/office/drawing/2014/main" id="{C17B9FAF-5CBD-2B1E-8CDE-7B7413407A7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7C491197-2EBE-E16C-2289-3B06DC617F84}"/>
              </a:ext>
            </a:extLst>
          </p:cNvPr>
          <p:cNvSpPr txBox="1"/>
          <p:nvPr/>
        </p:nvSpPr>
        <p:spPr>
          <a:xfrm>
            <a:off x="838199" y="1647369"/>
            <a:ext cx="8772939"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err="1">
                <a:solidFill>
                  <a:srgbClr val="001080"/>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src</a:t>
            </a:r>
            <a:r>
              <a:rPr lang="en-US" sz="2000" b="0" dirty="0">
                <a:solidFill>
                  <a:srgbClr val="A31515"/>
                </a:solidFill>
                <a:effectLst/>
                <a:latin typeface="Consolas" panose="020B0609020204030204" pitchFamily="49" charset="0"/>
              </a:rPr>
              <a:t>/Slides/</a:t>
            </a:r>
            <a:r>
              <a:rPr lang="en-US" sz="2000" b="0" dirty="0" err="1">
                <a:solidFill>
                  <a:srgbClr val="A31515"/>
                </a:solidFill>
                <a:effectLst/>
                <a:latin typeface="Consolas" panose="020B0609020204030204" pitchFamily="49" charset="0"/>
              </a:rPr>
              <a:t>myFetch</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lgn="l">
              <a:buNone/>
            </a:pP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addAsync</a:t>
            </a:r>
            <a:r>
              <a:rPr lang="en-US" sz="2000" b="0" dirty="0">
                <a:solidFill>
                  <a:srgbClr val="008000"/>
                </a:solidFill>
                <a:effectLst/>
                <a:latin typeface="Consolas" panose="020B0609020204030204" pitchFamily="49" charset="0"/>
              </a:rPr>
              <a:t> returns a promise for the sum of x and y</a:t>
            </a:r>
            <a:endParaRPr lang="en-US" sz="2000" b="0" dirty="0">
              <a:solidFill>
                <a:srgbClr val="3B3B3B"/>
              </a:solidFill>
              <a:effectLst/>
              <a:latin typeface="Consolas" panose="020B0609020204030204" pitchFamily="49" charset="0"/>
            </a:endParaRP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slowAdd</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err="1">
                <a:solidFill>
                  <a:srgbClr val="000000"/>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Promise</a:t>
            </a:r>
            <a:r>
              <a:rPr lang="en-US" sz="2000" b="0" dirty="0">
                <a:solidFill>
                  <a:srgbClr val="3B3B3B"/>
                </a:solidFill>
                <a:effectLst/>
                <a:latin typeface="Consolas" panose="020B0609020204030204" pitchFamily="49" charset="0"/>
              </a:rPr>
              <a:t>&lt;</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&gt;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addAsync</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x</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6213857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58531-FA52-0049-74FE-78A1E66265C6}"/>
              </a:ext>
            </a:extLst>
          </p:cNvPr>
          <p:cNvSpPr>
            <a:spLocks noGrp="1"/>
          </p:cNvSpPr>
          <p:nvPr>
            <p:ph type="title"/>
          </p:nvPr>
        </p:nvSpPr>
        <p:spPr/>
        <p:txBody>
          <a:bodyPr/>
          <a:lstStyle/>
          <a:p>
            <a:r>
              <a:rPr lang="en-US" dirty="0"/>
              <a:t>Let's look at a somewhat richer example</a:t>
            </a:r>
          </a:p>
        </p:txBody>
      </p:sp>
      <p:sp>
        <p:nvSpPr>
          <p:cNvPr id="3" name="Slide Number Placeholder 2">
            <a:extLst>
              <a:ext uri="{FF2B5EF4-FFF2-40B4-BE49-F238E27FC236}">
                <a16:creationId xmlns:a16="http://schemas.microsoft.com/office/drawing/2014/main" id="{61ED7483-063E-8189-6A0A-782ADD35760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09A2C1C-1CED-126C-69B8-7514AD982734}"/>
              </a:ext>
            </a:extLst>
          </p:cNvPr>
          <p:cNvSpPr txBox="1"/>
          <p:nvPr/>
        </p:nvSpPr>
        <p:spPr>
          <a:xfrm>
            <a:off x="838200" y="1834116"/>
            <a:ext cx="5690192" cy="318976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gn="l">
              <a:buNone/>
            </a:pPr>
            <a:r>
              <a:rPr lang="en-US" sz="1800" b="0" dirty="0">
                <a:solidFill>
                  <a:srgbClr val="AF00DB"/>
                </a:solidFill>
                <a:effectLst/>
                <a:latin typeface="Consolas" panose="020B0609020204030204" pitchFamily="49" charset="0"/>
              </a:rPr>
              <a:t>export</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slowAddCaller</a:t>
            </a:r>
            <a:r>
              <a:rPr lang="en-US" sz="1800" b="0" dirty="0">
                <a:solidFill>
                  <a:srgbClr val="3B3B3B"/>
                </a:solidFill>
                <a:effectLst/>
                <a:latin typeface="Consolas" panose="020B0609020204030204" pitchFamily="49" charset="0"/>
              </a:rPr>
              <a:t>(</a:t>
            </a:r>
            <a:r>
              <a:rPr lang="en-US" sz="1800" b="0" dirty="0" err="1">
                <a:solidFill>
                  <a:srgbClr val="001080"/>
                </a:solidFill>
                <a:effectLst/>
                <a:latin typeface="Consolas" panose="020B0609020204030204" pitchFamily="49" charset="0"/>
              </a:rPr>
              <a:t>x</a:t>
            </a:r>
            <a:r>
              <a:rPr lang="en-US" sz="1800" b="0" dirty="0" err="1">
                <a:solidFill>
                  <a:srgbClr val="000000"/>
                </a:solidFill>
                <a:effectLst/>
                <a:latin typeface="Consolas" panose="020B0609020204030204" pitchFamily="49" charset="0"/>
              </a:rPr>
              <a:t>:</a:t>
            </a:r>
            <a:r>
              <a:rPr lang="en-US" sz="1800" b="0" dirty="0" err="1">
                <a:solidFill>
                  <a:srgbClr val="267F99"/>
                </a:solidFill>
                <a:effectLst/>
                <a:latin typeface="Consolas" panose="020B0609020204030204" pitchFamily="49" charset="0"/>
              </a:rPr>
              <a:t>number</a:t>
            </a:r>
            <a:r>
              <a:rPr lang="en-US" sz="1800" b="0" dirty="0" err="1">
                <a:solidFill>
                  <a:srgbClr val="3B3B3B"/>
                </a:solidFill>
                <a:effectLst/>
                <a:latin typeface="Consolas" panose="020B0609020204030204" pitchFamily="49" charset="0"/>
              </a:rPr>
              <a:t>,</a:t>
            </a:r>
            <a:r>
              <a:rPr lang="en-US" sz="1800" b="0" dirty="0" err="1">
                <a:solidFill>
                  <a:srgbClr val="001080"/>
                </a:solidFill>
                <a:effectLst/>
                <a:latin typeface="Consolas" panose="020B0609020204030204" pitchFamily="49" charset="0"/>
              </a:rPr>
              <a:t>y</a:t>
            </a:r>
            <a:r>
              <a:rPr lang="en-US" sz="1800" b="0" dirty="0" err="1">
                <a:solidFill>
                  <a:srgbClr val="000000"/>
                </a:solidFill>
                <a:effectLst/>
                <a:latin typeface="Consolas" panose="020B0609020204030204" pitchFamily="49" charset="0"/>
              </a:rPr>
              <a:t>:</a:t>
            </a:r>
            <a:r>
              <a:rPr lang="en-US" sz="1800" b="0" dirty="0" err="1">
                <a:solidFill>
                  <a:srgbClr val="267F99"/>
                </a:solidFill>
                <a:effectLst/>
                <a:latin typeface="Consolas" panose="020B0609020204030204" pitchFamily="49" charset="0"/>
              </a:rPr>
              <a:t>number</a:t>
            </a:r>
            <a:r>
              <a:rPr lang="en-US" sz="1800" b="0" dirty="0">
                <a:solidFill>
                  <a:srgbClr val="3B3B3B"/>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p>
          <a:p>
            <a:pPr algn="l">
              <a:buNone/>
            </a:pPr>
            <a:r>
              <a:rPr lang="en-US" sz="1800" dirty="0">
                <a:solidFill>
                  <a:srgbClr val="3B3B3B"/>
                </a:solidFill>
                <a:latin typeface="Consolas" panose="020B0609020204030204" pitchFamily="49" charset="0"/>
              </a:rPr>
              <a:t>  </a:t>
            </a:r>
            <a:r>
              <a:rPr lang="en-US" sz="1800" b="0" dirty="0">
                <a:solidFill>
                  <a:srgbClr val="267F99"/>
                </a:solidFill>
                <a:effectLst/>
                <a:latin typeface="Consolas" panose="020B0609020204030204" pitchFamily="49" charset="0"/>
              </a:rPr>
              <a:t>Promise</a:t>
            </a:r>
            <a:r>
              <a:rPr lang="en-US" sz="1800" b="0" dirty="0">
                <a:solidFill>
                  <a:srgbClr val="3B3B3B"/>
                </a:solidFill>
                <a:effectLst/>
                <a:latin typeface="Consolas" panose="020B0609020204030204" pitchFamily="49" charset="0"/>
              </a:rPr>
              <a:t>&lt;</a:t>
            </a:r>
            <a:r>
              <a:rPr lang="en-US" sz="1800" b="0" dirty="0">
                <a:solidFill>
                  <a:srgbClr val="267F99"/>
                </a:solidFill>
                <a:effectLst/>
                <a:latin typeface="Consolas" panose="020B0609020204030204" pitchFamily="49" charset="0"/>
              </a:rPr>
              <a:t>number</a:t>
            </a:r>
            <a:r>
              <a:rPr lang="en-US" sz="1800" b="0" dirty="0">
                <a:solidFill>
                  <a:srgbClr val="3B3B3B"/>
                </a:solidFill>
                <a:effectLst/>
                <a:latin typeface="Consolas" panose="020B0609020204030204" pitchFamily="49" charset="0"/>
              </a:rPr>
              <a:t>&gt; {</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`SAC1 </a:t>
            </a:r>
            <a:r>
              <a:rPr lang="en-US" sz="1800" b="0" dirty="0">
                <a:solidFill>
                  <a:srgbClr val="0000FF"/>
                </a:solidFill>
                <a:effectLst/>
                <a:latin typeface="Consolas" panose="020B0609020204030204" pitchFamily="49" charset="0"/>
              </a:rPr>
              <a:t>${</a:t>
            </a:r>
            <a:r>
              <a:rPr lang="en-US" sz="1800" b="0" dirty="0">
                <a:solidFill>
                  <a:srgbClr val="001080"/>
                </a:solidFill>
                <a:effectLst/>
                <a:latin typeface="Consolas" panose="020B0609020204030204" pitchFamily="49" charset="0"/>
              </a:rPr>
              <a:t>x</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1080"/>
                </a:solidFill>
                <a:effectLst/>
                <a:latin typeface="Consolas" panose="020B0609020204030204" pitchFamily="49" charset="0"/>
              </a:rPr>
              <a:t>y</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267F99"/>
                </a:solidFill>
                <a:effectLst/>
                <a:latin typeface="Consolas" panose="020B0609020204030204" pitchFamily="49" charset="0"/>
              </a:rPr>
              <a:t>number</a:t>
            </a:r>
            <a:r>
              <a:rPr lang="en-US" sz="1800" b="0" dirty="0">
                <a:solidFill>
                  <a:srgbClr val="3B3B3B"/>
                </a:solidFill>
                <a:effectLst/>
                <a:latin typeface="Consolas" panose="020B0609020204030204" pitchFamily="49" charset="0"/>
              </a:rPr>
              <a:t> </a:t>
            </a:r>
            <a:r>
              <a:rPr lang="en-US" sz="1800" b="0" dirty="0">
                <a:solidFill>
                  <a:srgbClr val="000000"/>
                </a:solidFill>
                <a:effectLst/>
                <a:latin typeface="Consolas" panose="020B0609020204030204" pitchFamily="49" charset="0"/>
              </a:rPr>
              <a:t>=</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slowAdd</a:t>
            </a:r>
            <a:r>
              <a:rPr lang="en-US" sz="1800" b="0" dirty="0">
                <a:solidFill>
                  <a:srgbClr val="3B3B3B"/>
                </a:solidFill>
                <a:effectLst/>
                <a:latin typeface="Consolas" panose="020B0609020204030204" pitchFamily="49" charset="0"/>
              </a:rPr>
              <a:t>(</a:t>
            </a:r>
            <a:r>
              <a:rPr lang="en-US" sz="1800" b="0" dirty="0" err="1">
                <a:solidFill>
                  <a:srgbClr val="001080"/>
                </a:solidFill>
                <a:effectLst/>
                <a:latin typeface="Consolas" panose="020B0609020204030204" pitchFamily="49" charset="0"/>
              </a:rPr>
              <a:t>x</a:t>
            </a:r>
            <a:r>
              <a:rPr lang="en-US" sz="1800" b="0" dirty="0" err="1">
                <a:solidFill>
                  <a:srgbClr val="3B3B3B"/>
                </a:solidFill>
                <a:effectLst/>
                <a:latin typeface="Consolas" panose="020B0609020204030204" pitchFamily="49" charset="0"/>
              </a:rPr>
              <a:t>,</a:t>
            </a:r>
            <a:r>
              <a:rPr lang="en-US" sz="1800" b="0" dirty="0" err="1">
                <a:solidFill>
                  <a:srgbClr val="001080"/>
                </a:solidFill>
                <a:effectLst/>
                <a:latin typeface="Consolas" panose="020B0609020204030204" pitchFamily="49" charset="0"/>
              </a:rPr>
              <a:t>y</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`SAC2 </a:t>
            </a:r>
            <a:r>
              <a:rPr lang="en-US" sz="1800" b="0" dirty="0">
                <a:solidFill>
                  <a:srgbClr val="0000FF"/>
                </a:solidFill>
                <a:effectLst/>
                <a:latin typeface="Consolas" panose="020B0609020204030204" pitchFamily="49" charset="0"/>
              </a:rPr>
              <a:t>${</a:t>
            </a:r>
            <a:r>
              <a:rPr lang="en-US" sz="1800" b="0" dirty="0">
                <a:solidFill>
                  <a:srgbClr val="0070C1"/>
                </a:solidFill>
                <a:effectLst/>
                <a:latin typeface="Consolas" panose="020B0609020204030204" pitchFamily="49" charset="0"/>
              </a:rPr>
              <a:t>result</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return</a:t>
            </a:r>
            <a:r>
              <a:rPr lang="en-US" sz="1800" b="0" dirty="0">
                <a:solidFill>
                  <a:srgbClr val="3B3B3B"/>
                </a:solidFill>
                <a:effectLst/>
                <a:latin typeface="Consolas" panose="020B0609020204030204" pitchFamily="49" charset="0"/>
              </a:rPr>
              <a:t> </a:t>
            </a:r>
            <a:r>
              <a:rPr lang="en-US" sz="1800" b="0" dirty="0">
                <a:solidFill>
                  <a:srgbClr val="0070C1"/>
                </a:solidFill>
                <a:effectLst/>
                <a:latin typeface="Consolas" panose="020B0609020204030204" pitchFamily="49" charset="0"/>
              </a:rPr>
              <a:t>result</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br>
              <a:rPr lang="en-US" sz="1800" b="0" dirty="0">
                <a:solidFill>
                  <a:srgbClr val="3B3B3B"/>
                </a:solidFill>
                <a:effectLst/>
                <a:latin typeface="Consolas" panose="020B0609020204030204" pitchFamily="49" charset="0"/>
              </a:rPr>
            </a:br>
            <a:endParaRPr lang="en-US" sz="1800" b="0" dirty="0">
              <a:solidFill>
                <a:srgbClr val="3B3B3B"/>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void</a:t>
            </a: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err="1">
                <a:solidFill>
                  <a:srgbClr val="795E26"/>
                </a:solidFill>
                <a:effectLst/>
                <a:latin typeface="Consolas" panose="020B0609020204030204" pitchFamily="49" charset="0"/>
              </a:rPr>
              <a:t>slowAddCaller</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3</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4</a:t>
            </a:r>
            <a:r>
              <a:rPr lang="en-US" sz="1800" b="0" dirty="0">
                <a:solidFill>
                  <a:srgbClr val="3B3B3B"/>
                </a:solidFill>
                <a:effectLst/>
                <a:latin typeface="Consolas" panose="020B0609020204030204" pitchFamily="49" charset="0"/>
              </a:rPr>
              <a:t>));</a:t>
            </a:r>
          </a:p>
        </p:txBody>
      </p:sp>
      <p:grpSp>
        <p:nvGrpSpPr>
          <p:cNvPr id="5" name="Group 4">
            <a:extLst>
              <a:ext uri="{FF2B5EF4-FFF2-40B4-BE49-F238E27FC236}">
                <a16:creationId xmlns:a16="http://schemas.microsoft.com/office/drawing/2014/main" id="{114548CA-9D5E-E00D-8721-89E29A1EB07A}"/>
              </a:ext>
            </a:extLst>
          </p:cNvPr>
          <p:cNvGrpSpPr/>
          <p:nvPr/>
        </p:nvGrpSpPr>
        <p:grpSpPr>
          <a:xfrm>
            <a:off x="8027582" y="1652956"/>
            <a:ext cx="3602665" cy="4386649"/>
            <a:chOff x="6952736" y="465439"/>
            <a:chExt cx="939114" cy="6236045"/>
          </a:xfrm>
        </p:grpSpPr>
        <p:grpSp>
          <p:nvGrpSpPr>
            <p:cNvPr id="6" name="Group 5">
              <a:extLst>
                <a:ext uri="{FF2B5EF4-FFF2-40B4-BE49-F238E27FC236}">
                  <a16:creationId xmlns:a16="http://schemas.microsoft.com/office/drawing/2014/main" id="{DB069FD5-DFAB-7960-762E-C088CCA729C9}"/>
                </a:ext>
              </a:extLst>
            </p:cNvPr>
            <p:cNvGrpSpPr/>
            <p:nvPr/>
          </p:nvGrpSpPr>
          <p:grpSpPr>
            <a:xfrm>
              <a:off x="6952736" y="465439"/>
              <a:ext cx="939114" cy="2788510"/>
              <a:chOff x="7171038" y="2269524"/>
              <a:chExt cx="939114" cy="2788510"/>
            </a:xfrm>
          </p:grpSpPr>
          <p:sp>
            <p:nvSpPr>
              <p:cNvPr id="12" name="Rectangle 11">
                <a:extLst>
                  <a:ext uri="{FF2B5EF4-FFF2-40B4-BE49-F238E27FC236}">
                    <a16:creationId xmlns:a16="http://schemas.microsoft.com/office/drawing/2014/main" id="{1BCD153E-4A62-26EC-D726-F9FEB3E15912}"/>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SAC1</a:t>
                </a:r>
              </a:p>
            </p:txBody>
          </p:sp>
          <p:sp>
            <p:nvSpPr>
              <p:cNvPr id="13" name="Rectangle 12">
                <a:extLst>
                  <a:ext uri="{FF2B5EF4-FFF2-40B4-BE49-F238E27FC236}">
                    <a16:creationId xmlns:a16="http://schemas.microsoft.com/office/drawing/2014/main" id="{D6376D8D-0A8E-8435-82C6-352A3AA492AE}"/>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beginning of </a:t>
                </a:r>
                <a:r>
                  <a:rPr lang="en-US" sz="2800" dirty="0" err="1">
                    <a:solidFill>
                      <a:schemeClr val="tx1"/>
                    </a:solidFill>
                  </a:rPr>
                  <a:t>addAsync</a:t>
                </a:r>
                <a:endParaRPr lang="en-US" sz="2800" dirty="0">
                  <a:solidFill>
                    <a:schemeClr val="tx1"/>
                  </a:solidFill>
                </a:endParaRPr>
              </a:p>
            </p:txBody>
          </p:sp>
          <p:sp>
            <p:nvSpPr>
              <p:cNvPr id="14" name="Rectangle 13">
                <a:extLst>
                  <a:ext uri="{FF2B5EF4-FFF2-40B4-BE49-F238E27FC236}">
                    <a16:creationId xmlns:a16="http://schemas.microsoft.com/office/drawing/2014/main" id="{C714315C-8A19-374A-0862-34138E89BFAA}"/>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beginning of </a:t>
                </a:r>
                <a:r>
                  <a:rPr lang="en-US" sz="2800" dirty="0" err="1">
                    <a:solidFill>
                      <a:schemeClr val="tx1"/>
                    </a:solidFill>
                  </a:rPr>
                  <a:t>slowAdd</a:t>
                </a:r>
                <a:endParaRPr lang="en-US" sz="2800" dirty="0">
                  <a:solidFill>
                    <a:schemeClr val="tx1"/>
                  </a:solidFill>
                </a:endParaRPr>
              </a:p>
            </p:txBody>
          </p:sp>
        </p:grpSp>
        <p:sp>
          <p:nvSpPr>
            <p:cNvPr id="7" name="TextBox 6">
              <a:extLst>
                <a:ext uri="{FF2B5EF4-FFF2-40B4-BE49-F238E27FC236}">
                  <a16:creationId xmlns:a16="http://schemas.microsoft.com/office/drawing/2014/main" id="{2FFDBEF3-453E-770F-0CFB-BBDD90F72E62}"/>
                </a:ext>
              </a:extLst>
            </p:cNvPr>
            <p:cNvSpPr txBox="1"/>
            <p:nvPr/>
          </p:nvSpPr>
          <p:spPr>
            <a:xfrm>
              <a:off x="6952736" y="3253949"/>
              <a:ext cx="939114"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8" name="Group 7">
              <a:extLst>
                <a:ext uri="{FF2B5EF4-FFF2-40B4-BE49-F238E27FC236}">
                  <a16:creationId xmlns:a16="http://schemas.microsoft.com/office/drawing/2014/main" id="{40D12FF5-AFA2-6874-3708-9269CC6C0276}"/>
                </a:ext>
              </a:extLst>
            </p:cNvPr>
            <p:cNvGrpSpPr/>
            <p:nvPr/>
          </p:nvGrpSpPr>
          <p:grpSpPr>
            <a:xfrm>
              <a:off x="6952736" y="3912974"/>
              <a:ext cx="939114" cy="2788510"/>
              <a:chOff x="7171038" y="2269524"/>
              <a:chExt cx="939114" cy="2788510"/>
            </a:xfrm>
          </p:grpSpPr>
          <p:sp>
            <p:nvSpPr>
              <p:cNvPr id="9" name="Rectangle 8">
                <a:extLst>
                  <a:ext uri="{FF2B5EF4-FFF2-40B4-BE49-F238E27FC236}">
                    <a16:creationId xmlns:a16="http://schemas.microsoft.com/office/drawing/2014/main" id="{6F75918A-5A04-C7B3-9F19-7BC401974A6E}"/>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rest of </a:t>
                </a:r>
                <a:r>
                  <a:rPr lang="en-US" sz="2800" dirty="0" err="1">
                    <a:solidFill>
                      <a:schemeClr val="tx1"/>
                    </a:solidFill>
                  </a:rPr>
                  <a:t>addAsync</a:t>
                </a:r>
                <a:endParaRPr lang="en-US" sz="2800" dirty="0">
                  <a:solidFill>
                    <a:schemeClr val="tx1"/>
                  </a:solidFill>
                </a:endParaRPr>
              </a:p>
            </p:txBody>
          </p:sp>
          <p:sp>
            <p:nvSpPr>
              <p:cNvPr id="10" name="Rectangle 9">
                <a:extLst>
                  <a:ext uri="{FF2B5EF4-FFF2-40B4-BE49-F238E27FC236}">
                    <a16:creationId xmlns:a16="http://schemas.microsoft.com/office/drawing/2014/main" id="{2429FCBD-B348-EBA6-C42B-38B2303C614B}"/>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SAC2</a:t>
                </a:r>
              </a:p>
            </p:txBody>
          </p:sp>
          <p:sp>
            <p:nvSpPr>
              <p:cNvPr id="11" name="Rectangle 10">
                <a:extLst>
                  <a:ext uri="{FF2B5EF4-FFF2-40B4-BE49-F238E27FC236}">
                    <a16:creationId xmlns:a16="http://schemas.microsoft.com/office/drawing/2014/main" id="{3CD43C5D-85E1-79ED-D177-0A6AB153C201}"/>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rest of </a:t>
                </a:r>
                <a:r>
                  <a:rPr lang="en-US" sz="2800" dirty="0" err="1">
                    <a:solidFill>
                      <a:schemeClr val="tx1"/>
                    </a:solidFill>
                  </a:rPr>
                  <a:t>slowAdd</a:t>
                </a:r>
                <a:endParaRPr lang="en-US" sz="2800" dirty="0">
                  <a:solidFill>
                    <a:schemeClr val="tx1"/>
                  </a:solidFill>
                </a:endParaRPr>
              </a:p>
            </p:txBody>
          </p:sp>
        </p:grpSp>
      </p:grpSp>
    </p:spTree>
    <p:extLst>
      <p:ext uri="{BB962C8B-B14F-4D97-AF65-F5344CB8AC3E}">
        <p14:creationId xmlns:p14="http://schemas.microsoft.com/office/powerpoint/2010/main" val="1670485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EB9C-447D-4C8C-279C-AAED32DE8EA4}"/>
              </a:ext>
            </a:extLst>
          </p:cNvPr>
          <p:cNvSpPr>
            <a:spLocks noGrp="1"/>
          </p:cNvSpPr>
          <p:nvPr>
            <p:ph type="title"/>
          </p:nvPr>
        </p:nvSpPr>
        <p:spPr/>
        <p:txBody>
          <a:bodyPr/>
          <a:lstStyle/>
          <a:p>
            <a:r>
              <a:rPr lang="en-US" b="1" dirty="0"/>
              <a:t>fetch</a:t>
            </a:r>
            <a:r>
              <a:rPr lang="en-US" dirty="0"/>
              <a:t> creates a promise to finish the whole chain of async calls.</a:t>
            </a:r>
            <a:endParaRPr lang="en-US" b="1" dirty="0"/>
          </a:p>
        </p:txBody>
      </p:sp>
      <p:sp>
        <p:nvSpPr>
          <p:cNvPr id="3" name="Slide Number Placeholder 2">
            <a:extLst>
              <a:ext uri="{FF2B5EF4-FFF2-40B4-BE49-F238E27FC236}">
                <a16:creationId xmlns:a16="http://schemas.microsoft.com/office/drawing/2014/main" id="{4CA05F4F-3C69-7046-41B7-7B8901E5007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4" name="Group 13">
            <a:extLst>
              <a:ext uri="{FF2B5EF4-FFF2-40B4-BE49-F238E27FC236}">
                <a16:creationId xmlns:a16="http://schemas.microsoft.com/office/drawing/2014/main" id="{1E42AE8E-4E66-5800-E6BD-98E89B52EEC5}"/>
              </a:ext>
            </a:extLst>
          </p:cNvPr>
          <p:cNvGrpSpPr/>
          <p:nvPr/>
        </p:nvGrpSpPr>
        <p:grpSpPr>
          <a:xfrm>
            <a:off x="4283149" y="2117189"/>
            <a:ext cx="2743199" cy="3447535"/>
            <a:chOff x="6239540" y="4385788"/>
            <a:chExt cx="2743199" cy="3447535"/>
          </a:xfrm>
        </p:grpSpPr>
        <p:sp>
          <p:nvSpPr>
            <p:cNvPr id="6" name="TextBox 5">
              <a:extLst>
                <a:ext uri="{FF2B5EF4-FFF2-40B4-BE49-F238E27FC236}">
                  <a16:creationId xmlns:a16="http://schemas.microsoft.com/office/drawing/2014/main" id="{E32FA7F8-64AC-03B8-0890-CC4DE367119F}"/>
                </a:ext>
              </a:extLst>
            </p:cNvPr>
            <p:cNvSpPr txBox="1"/>
            <p:nvPr/>
          </p:nvSpPr>
          <p:spPr>
            <a:xfrm>
              <a:off x="6239540" y="4385788"/>
              <a:ext cx="2743199"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7" name="Group 6">
              <a:extLst>
                <a:ext uri="{FF2B5EF4-FFF2-40B4-BE49-F238E27FC236}">
                  <a16:creationId xmlns:a16="http://schemas.microsoft.com/office/drawing/2014/main" id="{5BDFC117-4E7B-47DD-AC62-33FD2C38183E}"/>
                </a:ext>
              </a:extLst>
            </p:cNvPr>
            <p:cNvGrpSpPr/>
            <p:nvPr/>
          </p:nvGrpSpPr>
          <p:grpSpPr>
            <a:xfrm>
              <a:off x="6239540" y="5044813"/>
              <a:ext cx="2743199" cy="2788510"/>
              <a:chOff x="7171038" y="2269524"/>
              <a:chExt cx="939114" cy="2788510"/>
            </a:xfrm>
          </p:grpSpPr>
          <p:sp>
            <p:nvSpPr>
              <p:cNvPr id="8" name="Rectangle 7">
                <a:extLst>
                  <a:ext uri="{FF2B5EF4-FFF2-40B4-BE49-F238E27FC236}">
                    <a16:creationId xmlns:a16="http://schemas.microsoft.com/office/drawing/2014/main" id="{215AEB16-5726-FB68-081D-BFC2F271B19F}"/>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rest of </a:t>
                </a:r>
                <a:r>
                  <a:rPr lang="en-US" sz="2800" dirty="0" err="1">
                    <a:solidFill>
                      <a:schemeClr val="tx1"/>
                    </a:solidFill>
                  </a:rPr>
                  <a:t>addAsync</a:t>
                </a:r>
                <a:endParaRPr lang="en-US" sz="2800" dirty="0">
                  <a:solidFill>
                    <a:schemeClr val="tx1"/>
                  </a:solidFill>
                </a:endParaRPr>
              </a:p>
            </p:txBody>
          </p:sp>
          <p:sp>
            <p:nvSpPr>
              <p:cNvPr id="9" name="Rectangle 8">
                <a:extLst>
                  <a:ext uri="{FF2B5EF4-FFF2-40B4-BE49-F238E27FC236}">
                    <a16:creationId xmlns:a16="http://schemas.microsoft.com/office/drawing/2014/main" id="{980FB7B5-D5AD-8851-33AC-B6A5D384837C}"/>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SAC2</a:t>
                </a:r>
              </a:p>
            </p:txBody>
          </p:sp>
          <p:sp>
            <p:nvSpPr>
              <p:cNvPr id="10" name="Rectangle 9">
                <a:extLst>
                  <a:ext uri="{FF2B5EF4-FFF2-40B4-BE49-F238E27FC236}">
                    <a16:creationId xmlns:a16="http://schemas.microsoft.com/office/drawing/2014/main" id="{E5DD1FD9-7E40-1C9F-982F-E7E8A6B99541}"/>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rest of </a:t>
                </a:r>
                <a:r>
                  <a:rPr lang="en-US" sz="2800" dirty="0" err="1">
                    <a:solidFill>
                      <a:schemeClr val="tx1"/>
                    </a:solidFill>
                  </a:rPr>
                  <a:t>slowAdd</a:t>
                </a:r>
                <a:endParaRPr lang="en-US" sz="2800" dirty="0">
                  <a:solidFill>
                    <a:schemeClr val="tx1"/>
                  </a:solidFill>
                </a:endParaRPr>
              </a:p>
            </p:txBody>
          </p:sp>
        </p:grpSp>
      </p:grpSp>
    </p:spTree>
    <p:extLst>
      <p:ext uri="{BB962C8B-B14F-4D97-AF65-F5344CB8AC3E}">
        <p14:creationId xmlns:p14="http://schemas.microsoft.com/office/powerpoint/2010/main" val="5884633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53CF0-E7D9-2C66-C3D5-303B49EEDBF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49C768A7-2A21-F6F8-7BD5-1DD8D29AB1B8}"/>
              </a:ext>
            </a:extLst>
          </p:cNvPr>
          <p:cNvSpPr>
            <a:spLocks noGrp="1"/>
          </p:cNvSpPr>
          <p:nvPr>
            <p:ph type="title"/>
          </p:nvPr>
        </p:nvSpPr>
        <p:spPr/>
        <p:txBody>
          <a:bodyPr/>
          <a:lstStyle/>
          <a:p>
            <a:r>
              <a:rPr lang="en-US" dirty="0"/>
              <a:t>Remember this?</a:t>
            </a:r>
          </a:p>
        </p:txBody>
      </p:sp>
      <p:sp>
        <p:nvSpPr>
          <p:cNvPr id="5" name="Slide Number Placeholder 4">
            <a:extLst>
              <a:ext uri="{FF2B5EF4-FFF2-40B4-BE49-F238E27FC236}">
                <a16:creationId xmlns:a16="http://schemas.microsoft.com/office/drawing/2014/main" id="{63D87A85-C9CB-D3CE-9ADD-3F7E567A2D7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9BCD48C6-762A-CADA-DDEA-99267E0BB511}"/>
              </a:ext>
            </a:extLst>
          </p:cNvPr>
          <p:cNvSpPr txBox="1"/>
          <p:nvPr/>
        </p:nvSpPr>
        <p:spPr>
          <a:xfrm>
            <a:off x="709684" y="1688910"/>
            <a:ext cx="4531056" cy="348018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3B3B3B"/>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main</a:t>
            </a:r>
            <a:r>
              <a:rPr lang="en-US" sz="1800" b="0" dirty="0">
                <a:solidFill>
                  <a:srgbClr val="3B3B3B"/>
                </a:solidFill>
                <a:effectLst/>
                <a:latin typeface="Consolas" panose="020B0609020204030204" pitchFamily="49" charset="0"/>
              </a:rPr>
              <a:t> () {</a:t>
            </a:r>
          </a:p>
          <a:p>
            <a:pPr algn="l">
              <a:buNone/>
            </a:pP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A</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10</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001080"/>
                </a:solidFill>
                <a:effectLst/>
                <a:latin typeface="Consolas" panose="020B0609020204030204" pitchFamily="49" charset="0"/>
              </a:rPr>
              <a:t>console</a:t>
            </a:r>
            <a:r>
              <a:rPr lang="en-US" sz="1800" b="0" dirty="0">
                <a:solidFill>
                  <a:srgbClr val="3B3B3B"/>
                </a:solidFill>
                <a:effectLst/>
                <a:latin typeface="Consolas" panose="020B0609020204030204" pitchFamily="49" charset="0"/>
              </a:rPr>
              <a:t>.</a:t>
            </a:r>
            <a:r>
              <a:rPr lang="en-US" sz="1800" b="0" dirty="0">
                <a:solidFill>
                  <a:srgbClr val="795E26"/>
                </a:solidFill>
                <a:effectLst/>
                <a:latin typeface="Consolas" panose="020B0609020204030204" pitchFamily="49" charset="0"/>
              </a:rPr>
              <a:t>log</a:t>
            </a:r>
            <a:r>
              <a:rPr lang="en-US" sz="1800" b="0" dirty="0">
                <a:solidFill>
                  <a:srgbClr val="3B3B3B"/>
                </a:solidFill>
                <a:effectLst/>
                <a:latin typeface="Consolas" panose="020B0609020204030204" pitchFamily="49" charset="0"/>
              </a:rPr>
              <a:t>(</a:t>
            </a:r>
            <a:r>
              <a:rPr lang="en-US" sz="1800" b="0" dirty="0">
                <a:solidFill>
                  <a:srgbClr val="A31515"/>
                </a:solidFill>
                <a:effectLst/>
                <a:latin typeface="Consolas" panose="020B0609020204030204" pitchFamily="49" charset="0"/>
              </a:rPr>
              <a:t>'&gt;&gt;&gt;&gt;&gt;'</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    </a:t>
            </a:r>
            <a:r>
              <a:rPr lang="en-US" sz="1800" b="0" dirty="0">
                <a:solidFill>
                  <a:srgbClr val="AF00DB"/>
                </a:solidFill>
                <a:effectLst/>
                <a:latin typeface="Consolas" panose="020B0609020204030204" pitchFamily="49" charset="0"/>
              </a:rPr>
              <a:t>await</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X</a:t>
            </a:r>
            <a:r>
              <a:rPr lang="en-US" sz="1800" b="0" dirty="0">
                <a:solidFill>
                  <a:srgbClr val="3B3B3B"/>
                </a:solidFill>
                <a:effectLst/>
                <a:latin typeface="Consolas" panose="020B0609020204030204" pitchFamily="49" charset="0"/>
              </a:rPr>
              <a:t>(</a:t>
            </a:r>
            <a:r>
              <a:rPr lang="en-US" sz="1800" b="0" dirty="0">
                <a:solidFill>
                  <a:srgbClr val="098658"/>
                </a:solidFill>
                <a:effectLst/>
                <a:latin typeface="Consolas" panose="020B0609020204030204" pitchFamily="49" charset="0"/>
              </a:rPr>
              <a:t>20</a:t>
            </a:r>
            <a:r>
              <a:rPr lang="en-US" sz="1800" b="0" dirty="0">
                <a:solidFill>
                  <a:srgbClr val="3B3B3B"/>
                </a:solidFill>
                <a:effectLst/>
                <a:latin typeface="Consolas" panose="020B0609020204030204" pitchFamily="49" charset="0"/>
              </a:rPr>
              <a:t>);</a:t>
            </a:r>
          </a:p>
          <a:p>
            <a:pPr algn="l">
              <a:buNone/>
            </a:pPr>
            <a:r>
              <a:rPr lang="en-US" sz="1800" b="0" dirty="0">
                <a:solidFill>
                  <a:srgbClr val="3B3B3B"/>
                </a:solidFill>
                <a:effectLst/>
                <a:latin typeface="Consolas" panose="020B0609020204030204" pitchFamily="49" charset="0"/>
              </a:rPr>
              <a:t>}</a:t>
            </a:r>
          </a:p>
          <a:p>
            <a:pPr algn="l">
              <a:buNone/>
            </a:pPr>
            <a:endParaRPr lang="en-US" sz="1800" b="0" dirty="0">
              <a:solidFill>
                <a:srgbClr val="3B3B3B"/>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void</a:t>
            </a:r>
            <a:r>
              <a:rPr lang="en-US" sz="1800" b="0" dirty="0">
                <a:solidFill>
                  <a:srgbClr val="3B3B3B"/>
                </a:solidFill>
                <a:effectLst/>
                <a:latin typeface="Consolas" panose="020B0609020204030204" pitchFamily="49" charset="0"/>
              </a:rPr>
              <a:t> </a:t>
            </a:r>
            <a:r>
              <a:rPr lang="en-US" sz="1800" b="0" dirty="0">
                <a:solidFill>
                  <a:srgbClr val="795E26"/>
                </a:solidFill>
                <a:effectLst/>
                <a:latin typeface="Consolas" panose="020B0609020204030204" pitchFamily="49" charset="0"/>
              </a:rPr>
              <a:t>main</a:t>
            </a:r>
            <a:r>
              <a:rPr lang="en-US" sz="1800" b="0" dirty="0">
                <a:solidFill>
                  <a:srgbClr val="3B3B3B"/>
                </a:solidFill>
                <a:effectLst/>
                <a:latin typeface="Consolas" panose="020B0609020204030204" pitchFamily="49" charset="0"/>
              </a:rPr>
              <a:t>();</a:t>
            </a:r>
          </a:p>
        </p:txBody>
      </p:sp>
      <p:grpSp>
        <p:nvGrpSpPr>
          <p:cNvPr id="69" name="Group 68">
            <a:extLst>
              <a:ext uri="{FF2B5EF4-FFF2-40B4-BE49-F238E27FC236}">
                <a16:creationId xmlns:a16="http://schemas.microsoft.com/office/drawing/2014/main" id="{293CAFB5-6B26-C459-4860-AAF462F43200}"/>
              </a:ext>
            </a:extLst>
          </p:cNvPr>
          <p:cNvGrpSpPr/>
          <p:nvPr/>
        </p:nvGrpSpPr>
        <p:grpSpPr>
          <a:xfrm>
            <a:off x="7424882" y="1688910"/>
            <a:ext cx="2502383" cy="4933314"/>
            <a:chOff x="8782040" y="136525"/>
            <a:chExt cx="2700276" cy="6485699"/>
          </a:xfrm>
        </p:grpSpPr>
        <p:grpSp>
          <p:nvGrpSpPr>
            <p:cNvPr id="10" name="Group 9">
              <a:extLst>
                <a:ext uri="{FF2B5EF4-FFF2-40B4-BE49-F238E27FC236}">
                  <a16:creationId xmlns:a16="http://schemas.microsoft.com/office/drawing/2014/main" id="{7E30899E-9CBD-9A95-A9F9-614EA7495EB7}"/>
                </a:ext>
              </a:extLst>
            </p:cNvPr>
            <p:cNvGrpSpPr/>
            <p:nvPr/>
          </p:nvGrpSpPr>
          <p:grpSpPr>
            <a:xfrm>
              <a:off x="8782040" y="136525"/>
              <a:ext cx="935625" cy="6485699"/>
              <a:chOff x="7879492" y="687864"/>
              <a:chExt cx="903001" cy="8514038"/>
            </a:xfrm>
          </p:grpSpPr>
          <p:grpSp>
            <p:nvGrpSpPr>
              <p:cNvPr id="11" name="Group 10">
                <a:extLst>
                  <a:ext uri="{FF2B5EF4-FFF2-40B4-BE49-F238E27FC236}">
                    <a16:creationId xmlns:a16="http://schemas.microsoft.com/office/drawing/2014/main" id="{45AC6137-34F0-AC8B-017B-DE54F6DFBC5F}"/>
                  </a:ext>
                </a:extLst>
              </p:cNvPr>
              <p:cNvGrpSpPr/>
              <p:nvPr/>
            </p:nvGrpSpPr>
            <p:grpSpPr>
              <a:xfrm flipH="1">
                <a:off x="8033875" y="687864"/>
                <a:ext cx="594234" cy="3945924"/>
                <a:chOff x="6952736" y="465439"/>
                <a:chExt cx="939114" cy="6236045"/>
              </a:xfrm>
            </p:grpSpPr>
            <p:grpSp>
              <p:nvGrpSpPr>
                <p:cNvPr id="23" name="Group 22">
                  <a:extLst>
                    <a:ext uri="{FF2B5EF4-FFF2-40B4-BE49-F238E27FC236}">
                      <a16:creationId xmlns:a16="http://schemas.microsoft.com/office/drawing/2014/main" id="{32D61243-1562-F83C-10F5-8AABC3ADDCB4}"/>
                    </a:ext>
                  </a:extLst>
                </p:cNvPr>
                <p:cNvGrpSpPr/>
                <p:nvPr/>
              </p:nvGrpSpPr>
              <p:grpSpPr>
                <a:xfrm>
                  <a:off x="6952736" y="465439"/>
                  <a:ext cx="939114" cy="2788510"/>
                  <a:chOff x="7171038" y="2269524"/>
                  <a:chExt cx="939114" cy="2788510"/>
                </a:xfrm>
              </p:grpSpPr>
              <p:sp>
                <p:nvSpPr>
                  <p:cNvPr id="29" name="Rectangle 28">
                    <a:extLst>
                      <a:ext uri="{FF2B5EF4-FFF2-40B4-BE49-F238E27FC236}">
                        <a16:creationId xmlns:a16="http://schemas.microsoft.com/office/drawing/2014/main" id="{2993DDD0-C8E5-A5BC-D85E-8588F1E0DE85}"/>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A1</a:t>
                    </a:r>
                  </a:p>
                </p:txBody>
              </p:sp>
              <p:sp>
                <p:nvSpPr>
                  <p:cNvPr id="30" name="Rectangle 29">
                    <a:extLst>
                      <a:ext uri="{FF2B5EF4-FFF2-40B4-BE49-F238E27FC236}">
                        <a16:creationId xmlns:a16="http://schemas.microsoft.com/office/drawing/2014/main" id="{A3C787C7-B2AF-C9CF-9ABB-B600429D5A95}"/>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C1</a:t>
                    </a:r>
                  </a:p>
                </p:txBody>
              </p:sp>
              <p:sp>
                <p:nvSpPr>
                  <p:cNvPr id="31" name="Rectangle 30">
                    <a:extLst>
                      <a:ext uri="{FF2B5EF4-FFF2-40B4-BE49-F238E27FC236}">
                        <a16:creationId xmlns:a16="http://schemas.microsoft.com/office/drawing/2014/main" id="{D9BE13B3-C4E9-12C0-C31E-4A55C2D5D7BF}"/>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B1</a:t>
                    </a:r>
                  </a:p>
                </p:txBody>
              </p:sp>
            </p:grpSp>
            <p:sp>
              <p:nvSpPr>
                <p:cNvPr id="24" name="TextBox 23">
                  <a:extLst>
                    <a:ext uri="{FF2B5EF4-FFF2-40B4-BE49-F238E27FC236}">
                      <a16:creationId xmlns:a16="http://schemas.microsoft.com/office/drawing/2014/main" id="{7DE28D06-5F31-458F-BF01-275CCB16BC63}"/>
                    </a:ext>
                  </a:extLst>
                </p:cNvPr>
                <p:cNvSpPr txBox="1"/>
                <p:nvPr/>
              </p:nvSpPr>
              <p:spPr>
                <a:xfrm>
                  <a:off x="6952736" y="3253949"/>
                  <a:ext cx="939114"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25" name="Group 24">
                  <a:extLst>
                    <a:ext uri="{FF2B5EF4-FFF2-40B4-BE49-F238E27FC236}">
                      <a16:creationId xmlns:a16="http://schemas.microsoft.com/office/drawing/2014/main" id="{22B1890D-268F-E417-3837-DB0569D66A63}"/>
                    </a:ext>
                  </a:extLst>
                </p:cNvPr>
                <p:cNvGrpSpPr/>
                <p:nvPr/>
              </p:nvGrpSpPr>
              <p:grpSpPr>
                <a:xfrm>
                  <a:off x="6952736" y="3912974"/>
                  <a:ext cx="939114" cy="2788510"/>
                  <a:chOff x="7171038" y="2269524"/>
                  <a:chExt cx="939114" cy="2788510"/>
                </a:xfrm>
              </p:grpSpPr>
              <p:sp>
                <p:nvSpPr>
                  <p:cNvPr id="26" name="Rectangle 25">
                    <a:extLst>
                      <a:ext uri="{FF2B5EF4-FFF2-40B4-BE49-F238E27FC236}">
                        <a16:creationId xmlns:a16="http://schemas.microsoft.com/office/drawing/2014/main" id="{AAF040E8-9E72-91F1-37F5-8ACAF5807CB0}"/>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C2</a:t>
                    </a:r>
                  </a:p>
                </p:txBody>
              </p:sp>
              <p:sp>
                <p:nvSpPr>
                  <p:cNvPr id="27" name="Rectangle 26">
                    <a:extLst>
                      <a:ext uri="{FF2B5EF4-FFF2-40B4-BE49-F238E27FC236}">
                        <a16:creationId xmlns:a16="http://schemas.microsoft.com/office/drawing/2014/main" id="{52623AE6-C321-6CFA-4835-3C5940C56274}"/>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A2</a:t>
                    </a:r>
                  </a:p>
                </p:txBody>
              </p:sp>
              <p:sp>
                <p:nvSpPr>
                  <p:cNvPr id="28" name="Rectangle 27">
                    <a:extLst>
                      <a:ext uri="{FF2B5EF4-FFF2-40B4-BE49-F238E27FC236}">
                        <a16:creationId xmlns:a16="http://schemas.microsoft.com/office/drawing/2014/main" id="{F6A23FE0-8740-2B08-1E31-D6ACA0BB4EDA}"/>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B2</a:t>
                    </a:r>
                  </a:p>
                </p:txBody>
              </p:sp>
            </p:grpSp>
          </p:grpSp>
          <p:sp>
            <p:nvSpPr>
              <p:cNvPr id="12" name="Rectangle 11">
                <a:extLst>
                  <a:ext uri="{FF2B5EF4-FFF2-40B4-BE49-F238E27FC236}">
                    <a16:creationId xmlns:a16="http://schemas.microsoft.com/office/drawing/2014/main" id="{B63B0A44-5251-3291-E927-7F92B6C1A790}"/>
                  </a:ext>
                </a:extLst>
              </p:cNvPr>
              <p:cNvSpPr/>
              <p:nvPr/>
            </p:nvSpPr>
            <p:spPr>
              <a:xfrm flipH="1">
                <a:off x="7879492" y="4655899"/>
                <a:ext cx="903001" cy="59423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800" dirty="0">
                    <a:solidFill>
                      <a:schemeClr val="tx1"/>
                    </a:solidFill>
                  </a:rPr>
                  <a:t>"&gt;&gt;&gt;&gt;"</a:t>
                </a:r>
              </a:p>
            </p:txBody>
          </p:sp>
          <p:grpSp>
            <p:nvGrpSpPr>
              <p:cNvPr id="13" name="Group 12">
                <a:extLst>
                  <a:ext uri="{FF2B5EF4-FFF2-40B4-BE49-F238E27FC236}">
                    <a16:creationId xmlns:a16="http://schemas.microsoft.com/office/drawing/2014/main" id="{6811C283-6EC4-CD0C-613B-E9B89379EB4E}"/>
                  </a:ext>
                </a:extLst>
              </p:cNvPr>
              <p:cNvGrpSpPr/>
              <p:nvPr/>
            </p:nvGrpSpPr>
            <p:grpSpPr>
              <a:xfrm flipH="1">
                <a:off x="8033875" y="5255978"/>
                <a:ext cx="594234" cy="3945924"/>
                <a:chOff x="6952736" y="465439"/>
                <a:chExt cx="939114" cy="6236045"/>
              </a:xfrm>
            </p:grpSpPr>
            <p:grpSp>
              <p:nvGrpSpPr>
                <p:cNvPr id="14" name="Group 13">
                  <a:extLst>
                    <a:ext uri="{FF2B5EF4-FFF2-40B4-BE49-F238E27FC236}">
                      <a16:creationId xmlns:a16="http://schemas.microsoft.com/office/drawing/2014/main" id="{174FC25A-BCFF-1DA7-618B-677D4C790B01}"/>
                    </a:ext>
                  </a:extLst>
                </p:cNvPr>
                <p:cNvGrpSpPr/>
                <p:nvPr/>
              </p:nvGrpSpPr>
              <p:grpSpPr>
                <a:xfrm>
                  <a:off x="6952736" y="465439"/>
                  <a:ext cx="939114" cy="2788510"/>
                  <a:chOff x="7171038" y="2269524"/>
                  <a:chExt cx="939114" cy="2788510"/>
                </a:xfrm>
              </p:grpSpPr>
              <p:sp>
                <p:nvSpPr>
                  <p:cNvPr id="20" name="Rectangle 19">
                    <a:extLst>
                      <a:ext uri="{FF2B5EF4-FFF2-40B4-BE49-F238E27FC236}">
                        <a16:creationId xmlns:a16="http://schemas.microsoft.com/office/drawing/2014/main" id="{6A72E1BE-E5BD-91E2-7BE8-B9E82E928958}"/>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X1</a:t>
                    </a:r>
                  </a:p>
                </p:txBody>
              </p:sp>
              <p:sp>
                <p:nvSpPr>
                  <p:cNvPr id="21" name="Rectangle 20">
                    <a:extLst>
                      <a:ext uri="{FF2B5EF4-FFF2-40B4-BE49-F238E27FC236}">
                        <a16:creationId xmlns:a16="http://schemas.microsoft.com/office/drawing/2014/main" id="{06E90130-A2AD-DFAF-6DE6-94B2FE492A56}"/>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Z1</a:t>
                    </a:r>
                  </a:p>
                </p:txBody>
              </p:sp>
              <p:sp>
                <p:nvSpPr>
                  <p:cNvPr id="22" name="Rectangle 21">
                    <a:extLst>
                      <a:ext uri="{FF2B5EF4-FFF2-40B4-BE49-F238E27FC236}">
                        <a16:creationId xmlns:a16="http://schemas.microsoft.com/office/drawing/2014/main" id="{F2E9B1C8-AA61-42D2-B890-C14ECE925862}"/>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Y1</a:t>
                    </a:r>
                  </a:p>
                </p:txBody>
              </p:sp>
            </p:grpSp>
            <p:sp>
              <p:nvSpPr>
                <p:cNvPr id="15" name="TextBox 14">
                  <a:extLst>
                    <a:ext uri="{FF2B5EF4-FFF2-40B4-BE49-F238E27FC236}">
                      <a16:creationId xmlns:a16="http://schemas.microsoft.com/office/drawing/2014/main" id="{D6982C9D-54CC-D84D-211F-D704B60C119D}"/>
                    </a:ext>
                  </a:extLst>
                </p:cNvPr>
                <p:cNvSpPr txBox="1"/>
                <p:nvPr/>
              </p:nvSpPr>
              <p:spPr>
                <a:xfrm>
                  <a:off x="6952736" y="3253949"/>
                  <a:ext cx="939114"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16" name="Group 15">
                  <a:extLst>
                    <a:ext uri="{FF2B5EF4-FFF2-40B4-BE49-F238E27FC236}">
                      <a16:creationId xmlns:a16="http://schemas.microsoft.com/office/drawing/2014/main" id="{D54E02C2-04BE-5DC3-09E2-9667E3E5389D}"/>
                    </a:ext>
                  </a:extLst>
                </p:cNvPr>
                <p:cNvGrpSpPr/>
                <p:nvPr/>
              </p:nvGrpSpPr>
              <p:grpSpPr>
                <a:xfrm>
                  <a:off x="6952736" y="3912974"/>
                  <a:ext cx="939114" cy="2788510"/>
                  <a:chOff x="7171038" y="2269524"/>
                  <a:chExt cx="939114" cy="2788510"/>
                </a:xfrm>
              </p:grpSpPr>
              <p:sp>
                <p:nvSpPr>
                  <p:cNvPr id="17" name="Rectangle 16">
                    <a:extLst>
                      <a:ext uri="{FF2B5EF4-FFF2-40B4-BE49-F238E27FC236}">
                        <a16:creationId xmlns:a16="http://schemas.microsoft.com/office/drawing/2014/main" id="{47B9EB4F-9165-B2A0-7CC8-0131CDA04B28}"/>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Z2</a:t>
                    </a:r>
                  </a:p>
                </p:txBody>
              </p:sp>
              <p:sp>
                <p:nvSpPr>
                  <p:cNvPr id="18" name="Rectangle 17">
                    <a:extLst>
                      <a:ext uri="{FF2B5EF4-FFF2-40B4-BE49-F238E27FC236}">
                        <a16:creationId xmlns:a16="http://schemas.microsoft.com/office/drawing/2014/main" id="{ACE0D3C0-D0FA-32D5-BDCB-0C761908574C}"/>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X2</a:t>
                    </a:r>
                  </a:p>
                </p:txBody>
              </p:sp>
              <p:sp>
                <p:nvSpPr>
                  <p:cNvPr id="19" name="Rectangle 18">
                    <a:extLst>
                      <a:ext uri="{FF2B5EF4-FFF2-40B4-BE49-F238E27FC236}">
                        <a16:creationId xmlns:a16="http://schemas.microsoft.com/office/drawing/2014/main" id="{5A5D331B-7A27-DB93-DB99-3CCD67910D2C}"/>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Y2</a:t>
                    </a:r>
                  </a:p>
                </p:txBody>
              </p:sp>
            </p:grpSp>
          </p:grpSp>
        </p:grpSp>
        <p:grpSp>
          <p:nvGrpSpPr>
            <p:cNvPr id="57" name="Group 56">
              <a:extLst>
                <a:ext uri="{FF2B5EF4-FFF2-40B4-BE49-F238E27FC236}">
                  <a16:creationId xmlns:a16="http://schemas.microsoft.com/office/drawing/2014/main" id="{9B928F6C-D3C3-8056-897E-DA75F9E9BF6F}"/>
                </a:ext>
              </a:extLst>
            </p:cNvPr>
            <p:cNvGrpSpPr/>
            <p:nvPr/>
          </p:nvGrpSpPr>
          <p:grpSpPr>
            <a:xfrm>
              <a:off x="9823310" y="1903519"/>
              <a:ext cx="1659006" cy="3056941"/>
              <a:chOff x="6620687" y="1528024"/>
              <a:chExt cx="1659006" cy="2209219"/>
            </a:xfrm>
          </p:grpSpPr>
          <p:sp>
            <p:nvSpPr>
              <p:cNvPr id="58" name="Right Brace 57">
                <a:extLst>
                  <a:ext uri="{FF2B5EF4-FFF2-40B4-BE49-F238E27FC236}">
                    <a16:creationId xmlns:a16="http://schemas.microsoft.com/office/drawing/2014/main" id="{5DD1E1ED-A815-9E83-DAA0-35DE5E9426DE}"/>
                  </a:ext>
                </a:extLst>
              </p:cNvPr>
              <p:cNvSpPr/>
              <p:nvPr/>
            </p:nvSpPr>
            <p:spPr>
              <a:xfrm>
                <a:off x="6620687" y="1528024"/>
                <a:ext cx="546156" cy="2209219"/>
              </a:xfrm>
              <a:prstGeom prst="rightBrace">
                <a:avLst>
                  <a:gd name="adj1" fmla="val 18930"/>
                  <a:gd name="adj2" fmla="val 50000"/>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9" name="TextBox 58">
                <a:extLst>
                  <a:ext uri="{FF2B5EF4-FFF2-40B4-BE49-F238E27FC236}">
                    <a16:creationId xmlns:a16="http://schemas.microsoft.com/office/drawing/2014/main" id="{8BAE7C5E-DE73-56F9-6BBF-EEA45616D509}"/>
                  </a:ext>
                </a:extLst>
              </p:cNvPr>
              <p:cNvSpPr txBox="1"/>
              <p:nvPr/>
            </p:nvSpPr>
            <p:spPr>
              <a:xfrm>
                <a:off x="7365293" y="2158142"/>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grpSp>
        <p:grpSp>
          <p:nvGrpSpPr>
            <p:cNvPr id="60" name="Group 59">
              <a:extLst>
                <a:ext uri="{FF2B5EF4-FFF2-40B4-BE49-F238E27FC236}">
                  <a16:creationId xmlns:a16="http://schemas.microsoft.com/office/drawing/2014/main" id="{EBA84E3E-51BA-70F2-1DCE-8F8326590DAE}"/>
                </a:ext>
              </a:extLst>
            </p:cNvPr>
            <p:cNvGrpSpPr/>
            <p:nvPr/>
          </p:nvGrpSpPr>
          <p:grpSpPr>
            <a:xfrm>
              <a:off x="9823310" y="291950"/>
              <a:ext cx="1659006" cy="1188680"/>
              <a:chOff x="6620687" y="1528024"/>
              <a:chExt cx="1659006" cy="2209219"/>
            </a:xfrm>
          </p:grpSpPr>
          <p:sp>
            <p:nvSpPr>
              <p:cNvPr id="61" name="Right Brace 60">
                <a:extLst>
                  <a:ext uri="{FF2B5EF4-FFF2-40B4-BE49-F238E27FC236}">
                    <a16:creationId xmlns:a16="http://schemas.microsoft.com/office/drawing/2014/main" id="{4D99DEC7-D591-48BA-E68A-0101AD061A95}"/>
                  </a:ext>
                </a:extLst>
              </p:cNvPr>
              <p:cNvSpPr/>
              <p:nvPr/>
            </p:nvSpPr>
            <p:spPr>
              <a:xfrm>
                <a:off x="6620687" y="1528024"/>
                <a:ext cx="546156" cy="2209219"/>
              </a:xfrm>
              <a:prstGeom prst="rightBrace">
                <a:avLst>
                  <a:gd name="adj1" fmla="val 18930"/>
                  <a:gd name="adj2" fmla="val 50000"/>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2" name="TextBox 61">
                <a:extLst>
                  <a:ext uri="{FF2B5EF4-FFF2-40B4-BE49-F238E27FC236}">
                    <a16:creationId xmlns:a16="http://schemas.microsoft.com/office/drawing/2014/main" id="{4298D5B5-E575-CA0C-A23E-AB07E82883B3}"/>
                  </a:ext>
                </a:extLst>
              </p:cNvPr>
              <p:cNvSpPr txBox="1"/>
              <p:nvPr/>
            </p:nvSpPr>
            <p:spPr>
              <a:xfrm>
                <a:off x="7365293" y="2158142"/>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a:t>
                </a:r>
              </a:p>
            </p:txBody>
          </p:sp>
        </p:grpSp>
        <p:grpSp>
          <p:nvGrpSpPr>
            <p:cNvPr id="66" name="Group 65">
              <a:extLst>
                <a:ext uri="{FF2B5EF4-FFF2-40B4-BE49-F238E27FC236}">
                  <a16:creationId xmlns:a16="http://schemas.microsoft.com/office/drawing/2014/main" id="{4488A183-08FE-B55E-88F4-C707D5BEE21B}"/>
                </a:ext>
              </a:extLst>
            </p:cNvPr>
            <p:cNvGrpSpPr/>
            <p:nvPr/>
          </p:nvGrpSpPr>
          <p:grpSpPr>
            <a:xfrm>
              <a:off x="9823310" y="5294737"/>
              <a:ext cx="1659006" cy="1188680"/>
              <a:chOff x="6620687" y="1528024"/>
              <a:chExt cx="1659006" cy="2209219"/>
            </a:xfrm>
          </p:grpSpPr>
          <p:sp>
            <p:nvSpPr>
              <p:cNvPr id="67" name="Right Brace 66">
                <a:extLst>
                  <a:ext uri="{FF2B5EF4-FFF2-40B4-BE49-F238E27FC236}">
                    <a16:creationId xmlns:a16="http://schemas.microsoft.com/office/drawing/2014/main" id="{AB181127-266D-07A1-30B9-EE4E3B091574}"/>
                  </a:ext>
                </a:extLst>
              </p:cNvPr>
              <p:cNvSpPr/>
              <p:nvPr/>
            </p:nvSpPr>
            <p:spPr>
              <a:xfrm>
                <a:off x="6620687" y="1528024"/>
                <a:ext cx="546156" cy="2209219"/>
              </a:xfrm>
              <a:prstGeom prst="rightBrace">
                <a:avLst>
                  <a:gd name="adj1" fmla="val 18930"/>
                  <a:gd name="adj2" fmla="val 50000"/>
                </a:avLst>
              </a:prstGeom>
              <a:ln w="127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8" name="TextBox 67">
                <a:extLst>
                  <a:ext uri="{FF2B5EF4-FFF2-40B4-BE49-F238E27FC236}">
                    <a16:creationId xmlns:a16="http://schemas.microsoft.com/office/drawing/2014/main" id="{690CC8BF-8465-9638-6736-27655D4D66A2}"/>
                  </a:ext>
                </a:extLst>
              </p:cNvPr>
              <p:cNvSpPr txBox="1"/>
              <p:nvPr/>
            </p:nvSpPr>
            <p:spPr>
              <a:xfrm>
                <a:off x="7365293" y="2158142"/>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grpSp>
      </p:grpSp>
    </p:spTree>
    <p:extLst>
      <p:ext uri="{BB962C8B-B14F-4D97-AF65-F5344CB8AC3E}">
        <p14:creationId xmlns:p14="http://schemas.microsoft.com/office/powerpoint/2010/main" val="8194084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2A5B4-9206-4C66-3914-B288D9259F62}"/>
              </a:ext>
            </a:extLst>
          </p:cNvPr>
          <p:cNvSpPr>
            <a:spLocks noGrp="1"/>
          </p:cNvSpPr>
          <p:nvPr>
            <p:ph type="title"/>
          </p:nvPr>
        </p:nvSpPr>
        <p:spPr/>
        <p:txBody>
          <a:bodyPr/>
          <a:lstStyle/>
          <a:p>
            <a:r>
              <a:rPr lang="en-US" dirty="0"/>
              <a:t>The promise returned by A is everything after the first fetch</a:t>
            </a:r>
          </a:p>
        </p:txBody>
      </p:sp>
      <p:sp>
        <p:nvSpPr>
          <p:cNvPr id="3" name="Slide Number Placeholder 2">
            <a:extLst>
              <a:ext uri="{FF2B5EF4-FFF2-40B4-BE49-F238E27FC236}">
                <a16:creationId xmlns:a16="http://schemas.microsoft.com/office/drawing/2014/main" id="{1AFAF975-D14F-DF1D-DE5F-016309C7154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36" name="Group 35">
            <a:extLst>
              <a:ext uri="{FF2B5EF4-FFF2-40B4-BE49-F238E27FC236}">
                <a16:creationId xmlns:a16="http://schemas.microsoft.com/office/drawing/2014/main" id="{9F981F94-D54D-9AD2-A32C-545C8E534C29}"/>
              </a:ext>
            </a:extLst>
          </p:cNvPr>
          <p:cNvGrpSpPr/>
          <p:nvPr/>
        </p:nvGrpSpPr>
        <p:grpSpPr>
          <a:xfrm>
            <a:off x="7134447" y="1993319"/>
            <a:ext cx="1807665" cy="3724167"/>
            <a:chOff x="4710224" y="2639006"/>
            <a:chExt cx="1807665" cy="3724167"/>
          </a:xfrm>
        </p:grpSpPr>
        <p:grpSp>
          <p:nvGrpSpPr>
            <p:cNvPr id="15" name="Group 14">
              <a:extLst>
                <a:ext uri="{FF2B5EF4-FFF2-40B4-BE49-F238E27FC236}">
                  <a16:creationId xmlns:a16="http://schemas.microsoft.com/office/drawing/2014/main" id="{C1473BEB-2B52-840C-BE85-316EF9402983}"/>
                </a:ext>
              </a:extLst>
            </p:cNvPr>
            <p:cNvGrpSpPr/>
            <p:nvPr/>
          </p:nvGrpSpPr>
          <p:grpSpPr>
            <a:xfrm flipH="1">
              <a:off x="5019274" y="2639006"/>
              <a:ext cx="1189562" cy="1203651"/>
              <a:chOff x="6952736" y="3253949"/>
              <a:chExt cx="939114" cy="3447535"/>
            </a:xfrm>
          </p:grpSpPr>
          <p:sp>
            <p:nvSpPr>
              <p:cNvPr id="28" name="TextBox 27">
                <a:extLst>
                  <a:ext uri="{FF2B5EF4-FFF2-40B4-BE49-F238E27FC236}">
                    <a16:creationId xmlns:a16="http://schemas.microsoft.com/office/drawing/2014/main" id="{F1F714B1-A157-5703-63F8-FE65A748667E}"/>
                  </a:ext>
                </a:extLst>
              </p:cNvPr>
              <p:cNvSpPr txBox="1"/>
              <p:nvPr/>
            </p:nvSpPr>
            <p:spPr>
              <a:xfrm>
                <a:off x="6952736" y="3253949"/>
                <a:ext cx="939114"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29" name="Group 28">
                <a:extLst>
                  <a:ext uri="{FF2B5EF4-FFF2-40B4-BE49-F238E27FC236}">
                    <a16:creationId xmlns:a16="http://schemas.microsoft.com/office/drawing/2014/main" id="{D2173E84-BF8E-6173-17C5-777DDCAE9A8C}"/>
                  </a:ext>
                </a:extLst>
              </p:cNvPr>
              <p:cNvGrpSpPr/>
              <p:nvPr/>
            </p:nvGrpSpPr>
            <p:grpSpPr>
              <a:xfrm>
                <a:off x="6952736" y="3912974"/>
                <a:ext cx="939114" cy="2788510"/>
                <a:chOff x="7171038" y="2269524"/>
                <a:chExt cx="939114" cy="2788510"/>
              </a:xfrm>
            </p:grpSpPr>
            <p:sp>
              <p:nvSpPr>
                <p:cNvPr id="30" name="Rectangle 29">
                  <a:extLst>
                    <a:ext uri="{FF2B5EF4-FFF2-40B4-BE49-F238E27FC236}">
                      <a16:creationId xmlns:a16="http://schemas.microsoft.com/office/drawing/2014/main" id="{9E6E5A55-8A6A-CA67-9DDF-0187E1082638}"/>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C2</a:t>
                  </a:r>
                </a:p>
              </p:txBody>
            </p:sp>
            <p:sp>
              <p:nvSpPr>
                <p:cNvPr id="31" name="Rectangle 30">
                  <a:extLst>
                    <a:ext uri="{FF2B5EF4-FFF2-40B4-BE49-F238E27FC236}">
                      <a16:creationId xmlns:a16="http://schemas.microsoft.com/office/drawing/2014/main" id="{654177FC-E1F8-3F9B-F9DE-3D321CCF2C5B}"/>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A2</a:t>
                  </a:r>
                </a:p>
              </p:txBody>
            </p:sp>
            <p:sp>
              <p:nvSpPr>
                <p:cNvPr id="32" name="Rectangle 31">
                  <a:extLst>
                    <a:ext uri="{FF2B5EF4-FFF2-40B4-BE49-F238E27FC236}">
                      <a16:creationId xmlns:a16="http://schemas.microsoft.com/office/drawing/2014/main" id="{5D2F2D03-080B-3C9E-872C-E3FABC2AB4BA}"/>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B2</a:t>
                  </a:r>
                </a:p>
              </p:txBody>
            </p:sp>
          </p:grpSp>
        </p:grpSp>
        <p:sp>
          <p:nvSpPr>
            <p:cNvPr id="16" name="Rectangle 15">
              <a:extLst>
                <a:ext uri="{FF2B5EF4-FFF2-40B4-BE49-F238E27FC236}">
                  <a16:creationId xmlns:a16="http://schemas.microsoft.com/office/drawing/2014/main" id="{15A6082E-08C0-8F8A-2C26-44EB1A5E9F18}"/>
                </a:ext>
              </a:extLst>
            </p:cNvPr>
            <p:cNvSpPr/>
            <p:nvPr/>
          </p:nvSpPr>
          <p:spPr>
            <a:xfrm flipH="1">
              <a:off x="4710224" y="3854857"/>
              <a:ext cx="1807665" cy="32787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800" dirty="0">
                  <a:solidFill>
                    <a:schemeClr val="tx1"/>
                  </a:solidFill>
                </a:rPr>
                <a:t>"&gt;&gt;&gt;&gt;"</a:t>
              </a:r>
            </a:p>
          </p:txBody>
        </p:sp>
        <p:grpSp>
          <p:nvGrpSpPr>
            <p:cNvPr id="17" name="Group 16">
              <a:extLst>
                <a:ext uri="{FF2B5EF4-FFF2-40B4-BE49-F238E27FC236}">
                  <a16:creationId xmlns:a16="http://schemas.microsoft.com/office/drawing/2014/main" id="{5F026530-F396-317B-6554-2E01983966E4}"/>
                </a:ext>
              </a:extLst>
            </p:cNvPr>
            <p:cNvGrpSpPr/>
            <p:nvPr/>
          </p:nvGrpSpPr>
          <p:grpSpPr>
            <a:xfrm flipH="1">
              <a:off x="5019274" y="4185959"/>
              <a:ext cx="1189562" cy="2177214"/>
              <a:chOff x="6952736" y="465439"/>
              <a:chExt cx="939114" cy="6236045"/>
            </a:xfrm>
          </p:grpSpPr>
          <p:grpSp>
            <p:nvGrpSpPr>
              <p:cNvPr id="18" name="Group 17">
                <a:extLst>
                  <a:ext uri="{FF2B5EF4-FFF2-40B4-BE49-F238E27FC236}">
                    <a16:creationId xmlns:a16="http://schemas.microsoft.com/office/drawing/2014/main" id="{42CC1358-217A-E8A6-5BFD-5F84C40EEE7F}"/>
                  </a:ext>
                </a:extLst>
              </p:cNvPr>
              <p:cNvGrpSpPr/>
              <p:nvPr/>
            </p:nvGrpSpPr>
            <p:grpSpPr>
              <a:xfrm>
                <a:off x="6952736" y="465439"/>
                <a:ext cx="939114" cy="2788510"/>
                <a:chOff x="7171038" y="2269524"/>
                <a:chExt cx="939114" cy="2788510"/>
              </a:xfrm>
            </p:grpSpPr>
            <p:sp>
              <p:nvSpPr>
                <p:cNvPr id="24" name="Rectangle 23">
                  <a:extLst>
                    <a:ext uri="{FF2B5EF4-FFF2-40B4-BE49-F238E27FC236}">
                      <a16:creationId xmlns:a16="http://schemas.microsoft.com/office/drawing/2014/main" id="{FCB5CF3C-671F-14D0-2227-AAC955DA67AE}"/>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X1</a:t>
                  </a:r>
                </a:p>
              </p:txBody>
            </p:sp>
            <p:sp>
              <p:nvSpPr>
                <p:cNvPr id="25" name="Rectangle 24">
                  <a:extLst>
                    <a:ext uri="{FF2B5EF4-FFF2-40B4-BE49-F238E27FC236}">
                      <a16:creationId xmlns:a16="http://schemas.microsoft.com/office/drawing/2014/main" id="{5B833782-398C-9A22-6227-AAC615968499}"/>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Z1</a:t>
                  </a:r>
                </a:p>
              </p:txBody>
            </p:sp>
            <p:sp>
              <p:nvSpPr>
                <p:cNvPr id="26" name="Rectangle 25">
                  <a:extLst>
                    <a:ext uri="{FF2B5EF4-FFF2-40B4-BE49-F238E27FC236}">
                      <a16:creationId xmlns:a16="http://schemas.microsoft.com/office/drawing/2014/main" id="{C4192EEF-67CE-8C3E-2D35-23A804CBE3BA}"/>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Y1</a:t>
                  </a:r>
                </a:p>
              </p:txBody>
            </p:sp>
          </p:grpSp>
          <p:sp>
            <p:nvSpPr>
              <p:cNvPr id="19" name="TextBox 18">
                <a:extLst>
                  <a:ext uri="{FF2B5EF4-FFF2-40B4-BE49-F238E27FC236}">
                    <a16:creationId xmlns:a16="http://schemas.microsoft.com/office/drawing/2014/main" id="{C3517825-67D0-1221-7D74-DF5A219AC865}"/>
                  </a:ext>
                </a:extLst>
              </p:cNvPr>
              <p:cNvSpPr txBox="1"/>
              <p:nvPr/>
            </p:nvSpPr>
            <p:spPr>
              <a:xfrm>
                <a:off x="6952736" y="3253949"/>
                <a:ext cx="939114" cy="659025"/>
              </a:xfrm>
              <a:prstGeom prst="rect">
                <a:avLst/>
              </a:prstGeom>
              <a:solidFill>
                <a:srgbClr val="FFC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sz="2000" dirty="0">
                    <a:solidFill>
                      <a:schemeClr val="tx1"/>
                    </a:solidFill>
                    <a:latin typeface="Verdana" panose="020B0604030504040204" pitchFamily="34" charset="0"/>
                    <a:ea typeface="Verdana" panose="020B0604030504040204" pitchFamily="34" charset="0"/>
                  </a:rPr>
                  <a:t>fetch</a:t>
                </a:r>
              </a:p>
            </p:txBody>
          </p:sp>
          <p:grpSp>
            <p:nvGrpSpPr>
              <p:cNvPr id="20" name="Group 19">
                <a:extLst>
                  <a:ext uri="{FF2B5EF4-FFF2-40B4-BE49-F238E27FC236}">
                    <a16:creationId xmlns:a16="http://schemas.microsoft.com/office/drawing/2014/main" id="{BB0E3B7C-EA9E-9246-04AD-BC1CC45C8D7D}"/>
                  </a:ext>
                </a:extLst>
              </p:cNvPr>
              <p:cNvGrpSpPr/>
              <p:nvPr/>
            </p:nvGrpSpPr>
            <p:grpSpPr>
              <a:xfrm>
                <a:off x="6952736" y="3912974"/>
                <a:ext cx="939114" cy="2788510"/>
                <a:chOff x="7171038" y="2269524"/>
                <a:chExt cx="939114" cy="2788510"/>
              </a:xfrm>
            </p:grpSpPr>
            <p:sp>
              <p:nvSpPr>
                <p:cNvPr id="21" name="Rectangle 20">
                  <a:extLst>
                    <a:ext uri="{FF2B5EF4-FFF2-40B4-BE49-F238E27FC236}">
                      <a16:creationId xmlns:a16="http://schemas.microsoft.com/office/drawing/2014/main" id="{D5E72C57-BBAA-721F-FE8D-F4B5810E3E82}"/>
                    </a:ext>
                  </a:extLst>
                </p:cNvPr>
                <p:cNvSpPr/>
                <p:nvPr/>
              </p:nvSpPr>
              <p:spPr>
                <a:xfrm>
                  <a:off x="7171038" y="2269524"/>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Z2</a:t>
                  </a:r>
                </a:p>
              </p:txBody>
            </p:sp>
            <p:sp>
              <p:nvSpPr>
                <p:cNvPr id="22" name="Rectangle 21">
                  <a:extLst>
                    <a:ext uri="{FF2B5EF4-FFF2-40B4-BE49-F238E27FC236}">
                      <a16:creationId xmlns:a16="http://schemas.microsoft.com/office/drawing/2014/main" id="{5D3391CD-7536-2948-5575-0DE97F5A8009}"/>
                    </a:ext>
                  </a:extLst>
                </p:cNvPr>
                <p:cNvSpPr/>
                <p:nvPr/>
              </p:nvSpPr>
              <p:spPr>
                <a:xfrm>
                  <a:off x="7171038" y="4118920"/>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X2</a:t>
                  </a:r>
                </a:p>
              </p:txBody>
            </p:sp>
            <p:sp>
              <p:nvSpPr>
                <p:cNvPr id="23" name="Rectangle 22">
                  <a:extLst>
                    <a:ext uri="{FF2B5EF4-FFF2-40B4-BE49-F238E27FC236}">
                      <a16:creationId xmlns:a16="http://schemas.microsoft.com/office/drawing/2014/main" id="{0768C548-408B-30B3-B41C-2FE59D3A1A8D}"/>
                    </a:ext>
                  </a:extLst>
                </p:cNvPr>
                <p:cNvSpPr/>
                <p:nvPr/>
              </p:nvSpPr>
              <p:spPr>
                <a:xfrm>
                  <a:off x="7171038" y="3179806"/>
                  <a:ext cx="939114" cy="939114"/>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dirty="0">
                      <a:solidFill>
                        <a:schemeClr val="tx1"/>
                      </a:solidFill>
                    </a:rPr>
                    <a:t>Y2</a:t>
                  </a:r>
                </a:p>
              </p:txBody>
            </p:sp>
          </p:grpSp>
        </p:grpSp>
      </p:grpSp>
    </p:spTree>
    <p:extLst>
      <p:ext uri="{BB962C8B-B14F-4D97-AF65-F5344CB8AC3E}">
        <p14:creationId xmlns:p14="http://schemas.microsoft.com/office/powerpoint/2010/main" val="28893102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order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52</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30485</TotalTime>
  <Words>6471</Words>
  <Application>Microsoft Office PowerPoint</Application>
  <PresentationFormat>Widescreen</PresentationFormat>
  <Paragraphs>821</Paragraphs>
  <Slides>52</Slides>
  <Notes>42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52</vt:i4>
      </vt:variant>
    </vt:vector>
  </HeadingPairs>
  <TitlesOfParts>
    <vt:vector size="61"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09: Concurrency Patterns in Typescript</vt:lpstr>
      <vt:lpstr>Learning Goals for this Lesson</vt:lpstr>
      <vt:lpstr>Why async matters</vt:lpstr>
      <vt:lpstr>Lesson 1: Basic terminology</vt:lpstr>
      <vt:lpstr>Typescript types distinguish functions that take a long time to return</vt:lpstr>
      <vt:lpstr>A promise is a thing that if you await it, you get back a value</vt:lpstr>
      <vt:lpstr>Promise-returning functions are created with async.</vt:lpstr>
      <vt:lpstr>Wait! Where did slowAdd return a promise?</vt:lpstr>
      <vt:lpstr>Hang on, we'll get back to that later.</vt:lpstr>
      <vt:lpstr>If your function calls await then your function is long-running, too</vt:lpstr>
      <vt:lpstr>…which means that your function must return a promise.</vt:lpstr>
      <vt:lpstr>Your async function will usually await one or more promises</vt:lpstr>
      <vt:lpstr>It will return a promise to complete the first promise that it awaits…</vt:lpstr>
      <vt:lpstr>…and go on from there</vt:lpstr>
      <vt:lpstr>But where do promises come from in the first place?</vt:lpstr>
      <vt:lpstr>Answer: JS/TS has an API for generating primitive promises</vt:lpstr>
      <vt:lpstr>Second important property: Promises run to completion</vt:lpstr>
      <vt:lpstr>A Typical Example</vt:lpstr>
      <vt:lpstr>A Typical Example</vt:lpstr>
      <vt:lpstr>What happens when we try to run two promises concurrently?</vt:lpstr>
      <vt:lpstr>Here's what the result demonstrates.</vt:lpstr>
      <vt:lpstr>You can have more than one await in an async function</vt:lpstr>
      <vt:lpstr>This is called cooperative multiprocessing</vt:lpstr>
      <vt:lpstr>Most OS's use pre-emptive multiprocessing</vt:lpstr>
      <vt:lpstr>Lesson 2: Using async</vt:lpstr>
      <vt:lpstr>Pattern for starting a concurrent computation using non-blocking I/O</vt:lpstr>
      <vt:lpstr>Use Promise.all to execute several requests concurrently</vt:lpstr>
      <vt:lpstr>If you add awaits, the requests will be processed sequentially</vt:lpstr>
      <vt:lpstr>If you add awaits, the requests will be processed sequentially</vt:lpstr>
      <vt:lpstr>…but it would be much slower</vt:lpstr>
      <vt:lpstr>Why is that?  Visualizing Promise.all</vt:lpstr>
      <vt:lpstr>Requests can also be chained (if they are serial)</vt:lpstr>
      <vt:lpstr>Use try/catch to deal with errors</vt:lpstr>
      <vt:lpstr>try/catch, continued</vt:lpstr>
      <vt:lpstr>Pattern for testing an async function</vt:lpstr>
      <vt:lpstr>AntiPattern 1: unawaited promise</vt:lpstr>
      <vt:lpstr>What just happened?</vt:lpstr>
      <vt:lpstr>Wow! That was complicated!</vt:lpstr>
      <vt:lpstr>General Rules for Writing Asynchronous Code</vt:lpstr>
      <vt:lpstr>Section 3: Odds and Ends</vt:lpstr>
      <vt:lpstr>How does JS Engine make this happen?</vt:lpstr>
      <vt:lpstr>Let’s put it all together</vt:lpstr>
      <vt:lpstr>Here is a quick demo for you</vt:lpstr>
      <vt:lpstr>Async/await code is compiled into promise/then code</vt:lpstr>
      <vt:lpstr>Promises Enforce Ordering Through “Then”</vt:lpstr>
      <vt:lpstr>async doesn't eliminate data races</vt:lpstr>
      <vt:lpstr>What a returned promise really looks like</vt:lpstr>
      <vt:lpstr>Let's look at a somewhat richer example</vt:lpstr>
      <vt:lpstr>fetch creates a promise to finish the whole chain of async calls.</vt:lpstr>
      <vt:lpstr>Remember this?</vt:lpstr>
      <vt:lpstr>The promise returned by A is everything after the first fetch</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Mitchell Wand</cp:lastModifiedBy>
  <cp:revision>125</cp:revision>
  <dcterms:modified xsi:type="dcterms:W3CDTF">2026-01-29T18:58:11Z</dcterms:modified>
</cp:coreProperties>
</file>