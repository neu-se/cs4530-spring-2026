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0"/>
  </p:notesMasterIdLst>
  <p:sldIdLst>
    <p:sldId id="485" r:id="rId2"/>
    <p:sldId id="580" r:id="rId3"/>
    <p:sldId id="486" r:id="rId4"/>
    <p:sldId id="582" r:id="rId5"/>
    <p:sldId id="262" r:id="rId6"/>
    <p:sldId id="514" r:id="rId7"/>
    <p:sldId id="667" r:id="rId8"/>
    <p:sldId id="668" r:id="rId9"/>
    <p:sldId id="670" r:id="rId10"/>
    <p:sldId id="669" r:id="rId11"/>
    <p:sldId id="579" r:id="rId12"/>
    <p:sldId id="672" r:id="rId13"/>
    <p:sldId id="632" r:id="rId14"/>
    <p:sldId id="687" r:id="rId15"/>
    <p:sldId id="680" r:id="rId16"/>
    <p:sldId id="658" r:id="rId17"/>
    <p:sldId id="679" r:id="rId18"/>
    <p:sldId id="661" r:id="rId19"/>
    <p:sldId id="662" r:id="rId20"/>
    <p:sldId id="677" r:id="rId21"/>
    <p:sldId id="681" r:id="rId22"/>
    <p:sldId id="682" r:id="rId23"/>
    <p:sldId id="578" r:id="rId24"/>
    <p:sldId id="673" r:id="rId25"/>
    <p:sldId id="675" r:id="rId26"/>
    <p:sldId id="676" r:id="rId27"/>
    <p:sldId id="684" r:id="rId28"/>
    <p:sldId id="628" r:id="rId29"/>
    <p:sldId id="594" r:id="rId30"/>
    <p:sldId id="560" r:id="rId31"/>
    <p:sldId id="664" r:id="rId32"/>
    <p:sldId id="629" r:id="rId33"/>
    <p:sldId id="277" r:id="rId34"/>
    <p:sldId id="544" r:id="rId35"/>
    <p:sldId id="550" r:id="rId36"/>
    <p:sldId id="499" r:id="rId37"/>
    <p:sldId id="546" r:id="rId38"/>
    <p:sldId id="604" r:id="rId39"/>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486"/>
            <p14:sldId id="582"/>
            <p14:sldId id="262"/>
            <p14:sldId id="514"/>
            <p14:sldId id="667"/>
            <p14:sldId id="668"/>
            <p14:sldId id="670"/>
            <p14:sldId id="669"/>
            <p14:sldId id="579"/>
            <p14:sldId id="672"/>
            <p14:sldId id="632"/>
            <p14:sldId id="687"/>
            <p14:sldId id="680"/>
            <p14:sldId id="658"/>
            <p14:sldId id="679"/>
            <p14:sldId id="661"/>
            <p14:sldId id="662"/>
            <p14:sldId id="677"/>
            <p14:sldId id="681"/>
            <p14:sldId id="682"/>
            <p14:sldId id="578"/>
            <p14:sldId id="673"/>
            <p14:sldId id="675"/>
            <p14:sldId id="676"/>
            <p14:sldId id="684"/>
            <p14:sldId id="628"/>
            <p14:sldId id="594"/>
            <p14:sldId id="560"/>
            <p14:sldId id="664"/>
            <p14:sldId id="629"/>
            <p14:sldId id="277"/>
            <p14:sldId id="544"/>
            <p14:sldId id="550"/>
            <p14:sldId id="499"/>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6375" autoAdjust="0"/>
  </p:normalViewPr>
  <p:slideViewPr>
    <p:cSldViewPr snapToGrid="0" snapToObjects="1">
      <p:cViewPr varScale="1">
        <p:scale>
          <a:sx n="64" d="100"/>
          <a:sy n="64" d="100"/>
        </p:scale>
        <p:origin x="712" y="40"/>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558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The runtime can then switch to any process that is ready.  That might be the call to </a:t>
            </a:r>
            <a:r>
              <a:rPr lang="en-US" dirty="0" err="1"/>
              <a:t>someOtherAsync</a:t>
            </a:r>
            <a:r>
              <a:rPr lang="en-US" dirty="0"/>
              <a:t> function, but it might be something else.</a:t>
            </a:r>
          </a:p>
          <a:p>
            <a:endParaRPr lang="en-US" dirty="0"/>
          </a:p>
          <a:p>
            <a:r>
              <a:rPr lang="en-US" dirty="0"/>
              <a:t>When </a:t>
            </a:r>
            <a:r>
              <a:rPr lang="en-US" dirty="0" err="1"/>
              <a:t>someFunction</a:t>
            </a:r>
            <a:r>
              <a:rPr lang="en-US" dirty="0"/>
              <a:t> yields at the second location, it informs the runtime that it is ready to return to its caller, and it gives the runtime permission to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3176348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18236548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still have a data race with async await.  Here's an example where the printed value of x depends on which of the two promises returns first:  if </a:t>
            </a:r>
            <a:r>
              <a:rPr lang="en-US" dirty="0" err="1"/>
              <a:t>asyncDouble</a:t>
            </a:r>
            <a:r>
              <a:rPr lang="en-US" dirty="0"/>
              <a:t> returns first, then the result will be 22 (10*2 + 1 + 1).  If </a:t>
            </a:r>
            <a:r>
              <a:rPr lang="en-US" dirty="0" err="1"/>
              <a:t>asyncIncrementTwice</a:t>
            </a:r>
            <a:r>
              <a:rPr lang="en-US" dirty="0"/>
              <a:t> returns first, then the result will be 24 (10+1+1)*2 .  But 25 is impossible!</a:t>
            </a:r>
          </a:p>
          <a:p>
            <a:endParaRPr lang="en-US" dirty="0"/>
          </a:p>
          <a:p>
            <a:r>
              <a:rPr lang="en-US" dirty="0"/>
              <a:t>[Note: I always get 22.  Not sure why….]</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1/21/2026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09: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order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3</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We achieve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lstStyle/>
          <a:p>
            <a:r>
              <a:rPr lang="en-US" dirty="0"/>
              <a:t>In async/await, the program is organized into a set of "async functions".</a:t>
            </a:r>
          </a:p>
          <a:p>
            <a:r>
              <a:rPr lang="en-US" dirty="0"/>
              <a:t>An async function is like an ordinary function, except that it will pause at well-defined points in its execution.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An async function can only pause in two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342616" y="2152269"/>
            <a:ext cx="3471809" cy="126377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It will never </a:t>
            </a:r>
          </a:p>
          <a:p>
            <a:pPr algn="l"/>
            <a:r>
              <a:rPr lang="en-US" sz="3200" dirty="0">
                <a:solidFill>
                  <a:schemeClr val="tx1"/>
                </a:solidFill>
                <a:latin typeface="Verdana" panose="020B0604030504040204" pitchFamily="34" charset="0"/>
                <a:ea typeface="Verdana" panose="020B0604030504040204" pitchFamily="34" charset="0"/>
              </a:rPr>
              <a:t>pause in here</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583480"/>
            <a:ext cx="3935002" cy="122589"/>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342615" y="3632831"/>
            <a:ext cx="3471809" cy="87860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Or in here</a:t>
            </a:r>
          </a:p>
        </p:txBody>
      </p:sp>
      <p:cxnSp>
        <p:nvCxnSpPr>
          <p:cNvPr id="14" name="Straight Arrow Connector 13">
            <a:extLst>
              <a:ext uri="{FF2B5EF4-FFF2-40B4-BE49-F238E27FC236}">
                <a16:creationId xmlns:a16="http://schemas.microsoft.com/office/drawing/2014/main" id="{D50DDC1E-F961-9AFF-F97B-74EDC8E77DF4}"/>
              </a:ext>
            </a:extLst>
          </p:cNvPr>
          <p:cNvCxnSpPr>
            <a:cxnSpLocks/>
            <a:endCxn id="5" idx="3"/>
          </p:cNvCxnSpPr>
          <p:nvPr/>
        </p:nvCxnSpPr>
        <p:spPr>
          <a:xfrm flipH="1" flipV="1">
            <a:off x="4407612" y="3901026"/>
            <a:ext cx="3935003" cy="17110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46330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a:p>
            <a:pPr algn="l"/>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Terminology: promises and run-to-completion</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p:txBody>
          <a:bodyPr/>
          <a:lstStyle/>
          <a:p>
            <a:r>
              <a:rPr lang="en-US" dirty="0"/>
              <a:t>Each uninterruptible unit of work is called a "promise"</a:t>
            </a:r>
          </a:p>
          <a:p>
            <a:r>
              <a:rPr lang="en-US" dirty="0"/>
              <a:t>The pattern we've just talked about is called "run-to-completion" semantics, because a pause point corresponds exactly to the end of one of these units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Example: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172880" y="418841"/>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Tree>
    <p:extLst>
      <p:ext uri="{BB962C8B-B14F-4D97-AF65-F5344CB8AC3E}">
        <p14:creationId xmlns:p14="http://schemas.microsoft.com/office/powerpoint/2010/main" val="3731229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490384"/>
            <a:ext cx="11155326" cy="2755213"/>
          </a:xfrm>
        </p:spPr>
        <p:txBody>
          <a:bodyPr>
            <a:normAutofit fontScale="92500" lnSpcReduction="2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sent, using non-blocking </a:t>
            </a:r>
            <a:r>
              <a:rPr lang="en-US" dirty="0" err="1"/>
              <a:t>i</a:t>
            </a:r>
            <a:r>
              <a:rPr lang="en-US" dirty="0"/>
              <a:t>/o</a:t>
            </a:r>
          </a:p>
          <a:p>
            <a:pPr marL="457200" indent="-457200">
              <a:buFont typeface="+mj-lt"/>
              <a:buAutoNum type="arabicPeriod"/>
            </a:pPr>
            <a:r>
              <a:rPr lang="en-US" dirty="0"/>
              <a:t>The browser goes about its business</a:t>
            </a:r>
          </a:p>
          <a:p>
            <a:pPr marL="457200" indent="-457200">
              <a:buFont typeface="+mj-lt"/>
              <a:buAutoNum type="arabicPeriod"/>
            </a:pPr>
            <a:r>
              <a:rPr lang="en-US" dirty="0"/>
              <a:t>Eventually, the </a:t>
            </a:r>
            <a:r>
              <a:rPr lang="en-US" dirty="0" err="1"/>
              <a:t>axios.get</a:t>
            </a:r>
            <a:r>
              <a:rPr lang="en-US" dirty="0"/>
              <a:t>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axios.get</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nresponse</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474549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msec</a:t>
            </a:r>
          </a:p>
        </p:txBody>
      </p:sp>
      <p:sp>
        <p:nvSpPr>
          <p:cNvPr id="7" name="Oval 6">
            <a:extLst>
              <a:ext uri="{FF2B5EF4-FFF2-40B4-BE49-F238E27FC236}">
                <a16:creationId xmlns:a16="http://schemas.microsoft.com/office/drawing/2014/main" id="{DF350BD1-BCBF-4053-D8F2-B89C978EAA4F}"/>
              </a:ext>
            </a:extLst>
          </p:cNvPr>
          <p:cNvSpPr/>
          <p:nvPr/>
        </p:nvSpPr>
        <p:spPr>
          <a:xfrm>
            <a:off x="6608309" y="5683156"/>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632311"/>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a:p>
            <a:pPr algn="l"/>
            <a:br>
              <a:rPr lang="en-US" sz="1800" b="0" dirty="0">
                <a:solidFill>
                  <a:srgbClr val="000000"/>
                </a:solidFill>
                <a:effectLst/>
                <a:latin typeface="Consolas" panose="020B0609020204030204" pitchFamily="49" charset="0"/>
              </a:rPr>
            </a:br>
            <a:endParaRPr lang="en-US" sz="1800"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get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5074920" y="1624737"/>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npx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a:t>
            </a:r>
            <a:r>
              <a:rPr lang="en-US" sz="2000" dirty="0">
                <a:solidFill>
                  <a:prstClr val="black"/>
                </a:solidFill>
                <a:latin typeface="Lucida Console" panose="020B0609040504020204" pitchFamily="49" charset="0"/>
              </a:rPr>
              <a:t>-node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745491"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a:solidFill>
                  <a:schemeClr val="tx1"/>
                </a:solidFill>
                <a:latin typeface="Verdana" panose="020B0604030504040204" pitchFamily="34" charset="0"/>
                <a:ea typeface="Verdana" panose="020B0604030504040204" pitchFamily="34" charset="0"/>
              </a:rPr>
              <a:t>$ npx ts-node threeRequestsSequentially.ts </a:t>
            </a:r>
          </a:p>
          <a:p>
            <a:pPr algn="l"/>
            <a:r>
              <a:rPr lang="en-US" sz="2000">
                <a:solidFill>
                  <a:schemeClr val="tx1"/>
                </a:solidFill>
                <a:latin typeface="Verdana" panose="020B0604030504040204" pitchFamily="34" charset="0"/>
                <a:ea typeface="Verdana" panose="020B0604030504040204" pitchFamily="34" charset="0"/>
              </a:rPr>
              <a:t>starting main</a:t>
            </a:r>
          </a:p>
          <a:p>
            <a:pPr algn="l"/>
            <a:r>
              <a:rPr lang="en-US" sz="2000">
                <a:solidFill>
                  <a:schemeClr val="tx1"/>
                </a:solidFill>
                <a:latin typeface="Verdana" panose="020B0604030504040204" pitchFamily="34" charset="0"/>
                <a:ea typeface="Verdana" panose="020B0604030504040204" pitchFamily="34" charset="0"/>
              </a:rPr>
              <a:t>fakeRequest received request: 1</a:t>
            </a:r>
          </a:p>
          <a:p>
            <a:pPr algn="l"/>
            <a:r>
              <a:rPr lang="en-US" sz="2000">
                <a:solidFill>
                  <a:schemeClr val="tx1"/>
                </a:solidFill>
                <a:latin typeface="Verdana" panose="020B0604030504040204" pitchFamily="34" charset="0"/>
                <a:ea typeface="Verdana" panose="020B0604030504040204" pitchFamily="34" charset="0"/>
              </a:rPr>
              <a:t>time passes....</a:t>
            </a:r>
          </a:p>
          <a:p>
            <a:pPr algn="l"/>
            <a:r>
              <a:rPr lang="en-US" sz="2000">
                <a:solidFill>
                  <a:schemeClr val="tx1"/>
                </a:solidFill>
                <a:latin typeface="Verdana" panose="020B0604030504040204" pitchFamily="34" charset="0"/>
                <a:ea typeface="Verdana" panose="020B0604030504040204" pitchFamily="34" charset="0"/>
              </a:rPr>
              <a:t>fakeRequest(1) returned: 11</a:t>
            </a:r>
          </a:p>
          <a:p>
            <a:pPr algn="l"/>
            <a:r>
              <a:rPr lang="en-US" sz="2000">
                <a:solidFill>
                  <a:schemeClr val="tx1"/>
                </a:solidFill>
                <a:latin typeface="Verdana" panose="020B0604030504040204" pitchFamily="34" charset="0"/>
                <a:ea typeface="Verdana" panose="020B0604030504040204" pitchFamily="34" charset="0"/>
              </a:rPr>
              <a:t>fakeRequest received request: 2</a:t>
            </a:r>
          </a:p>
          <a:p>
            <a:pPr algn="l"/>
            <a:r>
              <a:rPr lang="en-US" sz="2000">
                <a:solidFill>
                  <a:schemeClr val="tx1"/>
                </a:solidFill>
                <a:latin typeface="Verdana" panose="020B0604030504040204" pitchFamily="34" charset="0"/>
                <a:ea typeface="Verdana" panose="020B0604030504040204" pitchFamily="34" charset="0"/>
              </a:rPr>
              <a:t>time passes....</a:t>
            </a:r>
          </a:p>
          <a:p>
            <a:pPr algn="l"/>
            <a:r>
              <a:rPr lang="en-US" sz="2000">
                <a:solidFill>
                  <a:schemeClr val="tx1"/>
                </a:solidFill>
                <a:latin typeface="Verdana" panose="020B0604030504040204" pitchFamily="34" charset="0"/>
                <a:ea typeface="Verdana" panose="020B0604030504040204" pitchFamily="34" charset="0"/>
              </a:rPr>
              <a:t>fakeRequest(2) returned: 12</a:t>
            </a:r>
          </a:p>
          <a:p>
            <a:pPr algn="l"/>
            <a:r>
              <a:rPr lang="en-US" sz="2000">
                <a:solidFill>
                  <a:schemeClr val="tx1"/>
                </a:solidFill>
                <a:latin typeface="Verdana" panose="020B0604030504040204" pitchFamily="34" charset="0"/>
                <a:ea typeface="Verdana" panose="020B0604030504040204" pitchFamily="34" charset="0"/>
              </a:rPr>
              <a:t>fakeRequest received request: 3</a:t>
            </a:r>
          </a:p>
          <a:p>
            <a:pPr algn="l"/>
            <a:r>
              <a:rPr lang="en-US" sz="2000">
                <a:solidFill>
                  <a:schemeClr val="tx1"/>
                </a:solidFill>
                <a:latin typeface="Verdana" panose="020B0604030504040204" pitchFamily="34" charset="0"/>
                <a:ea typeface="Verdana" panose="020B0604030504040204" pitchFamily="34" charset="0"/>
              </a:rPr>
              <a:t>time passes....</a:t>
            </a:r>
          </a:p>
          <a:p>
            <a:pPr algn="l"/>
            <a:r>
              <a:rPr lang="en-US" sz="2000">
                <a:solidFill>
                  <a:schemeClr val="tx1"/>
                </a:solidFill>
                <a:latin typeface="Verdana" panose="020B0604030504040204" pitchFamily="34" charset="0"/>
                <a:ea typeface="Verdana" panose="020B0604030504040204" pitchFamily="34" charset="0"/>
              </a:rPr>
              <a:t>fakeRequest(3) returned: 13</a:t>
            </a:r>
          </a:p>
          <a:p>
            <a:pPr algn="l"/>
            <a:r>
              <a:rPr lang="en-US" sz="2000">
                <a:solidFill>
                  <a:schemeClr val="tx1"/>
                </a:solidFill>
                <a:latin typeface="Verdana" panose="020B0604030504040204" pitchFamily="34" charset="0"/>
                <a:ea typeface="Verdana" panose="020B0604030504040204" pitchFamily="34" charset="0"/>
              </a:rPr>
              <a:t>main done</a:t>
            </a:r>
          </a:p>
          <a:p>
            <a:pPr algn="l"/>
            <a:r>
              <a:rPr lang="en-US" sz="2000">
                <a:solidFill>
                  <a:schemeClr val="tx1"/>
                </a:solidFill>
                <a:latin typeface="Verdana" panose="020B0604030504040204" pitchFamily="34" charset="0"/>
                <a:ea typeface="Verdana" panose="020B0604030504040204" pitchFamily="34" charset="0"/>
              </a:rPr>
              <a:t>3024.03 msec</a:t>
            </a:r>
            <a:endParaRPr lang="en-US" sz="2000" dirty="0">
              <a:solidFill>
                <a:schemeClr val="tx1"/>
              </a:solidFill>
              <a:latin typeface="Verdana" panose="020B0604030504040204" pitchFamily="34" charset="0"/>
              <a:ea typeface="Verdana" panose="020B0604030504040204" pitchFamily="34" charset="0"/>
            </a:endParaRPr>
          </a:p>
        </p:txBody>
      </p:sp>
      <p:sp>
        <p:nvSpPr>
          <p:cNvPr id="6" name="Oval 5">
            <a:extLst>
              <a:ext uri="{FF2B5EF4-FFF2-40B4-BE49-F238E27FC236}">
                <a16:creationId xmlns:a16="http://schemas.microsoft.com/office/drawing/2014/main" id="{0D7BB16A-95D1-89D3-897B-11BAEE66BE98}"/>
              </a:ext>
            </a:extLst>
          </p:cNvPr>
          <p:cNvSpPr/>
          <p:nvPr/>
        </p:nvSpPr>
        <p:spPr>
          <a:xfrm>
            <a:off x="7041446" y="543037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200" y="1532631"/>
            <a:ext cx="9537700"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00"/>
                </a:solidFill>
                <a:effectLst/>
                <a:latin typeface="Consolas" panose="020B0609020204030204" pitchFamily="49" charset="0"/>
              </a:rPr>
              <a:t>test(</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 should return its argument + 10'</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expect.assertions</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expect(</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33</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resolves.toEqual</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43</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8000"/>
                </a:solidFill>
                <a:effectLst/>
                <a:latin typeface="Consolas" panose="020B0609020204030204" pitchFamily="49" charset="0"/>
              </a:rPr>
              <a:t>// this will succeed, because it does not await the promise</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test(</a:t>
            </a:r>
            <a:r>
              <a:rPr lang="en-US" sz="2000" b="0" dirty="0">
                <a:solidFill>
                  <a:srgbClr val="A31515"/>
                </a:solidFill>
                <a:effectLst/>
                <a:latin typeface="Consolas" panose="020B0609020204030204" pitchFamily="49" charset="0"/>
              </a:rPr>
              <a:t>'bogus test'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expect.assertions</a:t>
            </a:r>
            <a:r>
              <a:rPr lang="en-US" sz="2000" b="0" dirty="0">
                <a:solidFill>
                  <a:srgbClr val="008000"/>
                </a:solidFill>
                <a:effectLst/>
                <a:latin typeface="Consolas" panose="020B0609020204030204" pitchFamily="49" charset="0"/>
              </a:rPr>
              <a:t>(1)</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expect(</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33</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resolves.toEqual</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99</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buNone/>
            </a:pPr>
            <a:endParaRPr lang="en-US" sz="20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1397286" y="5950286"/>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/Slides/jest-</a:t>
            </a:r>
            <a:r>
              <a:rPr lang="en-US" sz="2400" dirty="0" err="1">
                <a:solidFill>
                  <a:schemeClr val="tx1"/>
                </a:solidFill>
              </a:rPr>
              <a:t>example.test.ts</a:t>
            </a:r>
            <a:endParaRPr lang="en-US" sz="2400" dirty="0">
              <a:solidFill>
                <a:schemeClr val="tx1"/>
              </a:solidFill>
            </a:endParaRPr>
          </a:p>
        </p:txBody>
      </p:sp>
    </p:spTree>
    <p:extLst>
      <p:ext uri="{BB962C8B-B14F-4D97-AF65-F5344CB8AC3E}">
        <p14:creationId xmlns:p14="http://schemas.microsoft.com/office/powerpoint/2010/main" val="10475641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npx</a:t>
            </a: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ts</a:t>
            </a:r>
            <a:r>
              <a:rPr lang="en-US" sz="2000" dirty="0">
                <a:solidFill>
                  <a:schemeClr val="tx1"/>
                </a:solidFill>
                <a:latin typeface="Verdana" panose="020B0604030504040204" pitchFamily="34" charset="0"/>
                <a:ea typeface="Verdana" panose="020B0604030504040204" pitchFamily="34" charset="0"/>
              </a:rPr>
              <a:t>-node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a:t>
            </a:r>
            <a:r>
              <a:rPr lang="en-US" sz="2000" dirty="0" err="1">
                <a:solidFill>
                  <a:srgbClr val="7030A0"/>
                </a:solidFill>
                <a:latin typeface="Verdana" panose="020B0604030504040204" pitchFamily="34" charset="0"/>
                <a:ea typeface="Verdana" panose="020B0604030504040204" pitchFamily="34" charset="0"/>
              </a:rPr>
              <a:t>npx</a:t>
            </a:r>
            <a:r>
              <a:rPr lang="en-US" sz="2000" dirty="0">
                <a:solidFill>
                  <a:srgbClr val="7030A0"/>
                </a:solidFill>
                <a:latin typeface="Verdana" panose="020B0604030504040204" pitchFamily="34" charset="0"/>
                <a:ea typeface="Verdana" panose="020B0604030504040204" pitchFamily="34" charset="0"/>
              </a:rPr>
              <a:t> </a:t>
            </a:r>
            <a:r>
              <a:rPr lang="en-US" sz="2000" dirty="0" err="1">
                <a:solidFill>
                  <a:srgbClr val="7030A0"/>
                </a:solidFill>
                <a:latin typeface="Verdana" panose="020B0604030504040204" pitchFamily="34" charset="0"/>
                <a:ea typeface="Verdana" panose="020B0604030504040204" pitchFamily="34" charset="0"/>
              </a:rPr>
              <a:t>ts</a:t>
            </a:r>
            <a:r>
              <a:rPr lang="en-US" sz="2000" dirty="0">
                <a:solidFill>
                  <a:srgbClr val="7030A0"/>
                </a:solidFill>
                <a:latin typeface="Verdana" panose="020B0604030504040204" pitchFamily="34" charset="0"/>
                <a:ea typeface="Verdana" panose="020B0604030504040204" pitchFamily="34" charset="0"/>
              </a:rPr>
              <a:t>-node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a:t>
            </a:r>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513379" y="176967"/>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How does JS Engine make this happen?</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D33806CF-2E13-84B9-7FB1-98121DD0B847}"/>
              </a:ext>
            </a:extLst>
          </p:cNvPr>
          <p:cNvSpPr txBox="1">
            <a:spLocks/>
          </p:cNvSpPr>
          <p:nvPr/>
        </p:nvSpPr>
        <p:spPr>
          <a:xfrm>
            <a:off x="838200" y="1844023"/>
            <a:ext cx="3351707" cy="4124977"/>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used for asynchronous tasks</a:t>
            </a:r>
          </a:p>
          <a:p>
            <a:r>
              <a:rPr lang="en-US" dirty="0"/>
              <a:t>Queues are used for “await”-</a:t>
            </a:r>
            <a:r>
              <a:rPr lang="en-US" dirty="0" err="1"/>
              <a:t>ing</a:t>
            </a:r>
            <a:r>
              <a:rPr lang="en-US" dirty="0"/>
              <a:t> tasks</a:t>
            </a:r>
          </a:p>
          <a:p>
            <a:r>
              <a:rPr lang="en-US" dirty="0"/>
              <a:t>When call stack gets empty, event loop picks up tasks from Callback Queue</a:t>
            </a:r>
          </a:p>
        </p:txBody>
      </p:sp>
      <p:pic>
        <p:nvPicPr>
          <p:cNvPr id="23" name="Content Placeholder 22" descr="A diagram of a process&#10;&#10;Description automatically generated">
            <a:extLst>
              <a:ext uri="{FF2B5EF4-FFF2-40B4-BE49-F238E27FC236}">
                <a16:creationId xmlns:a16="http://schemas.microsoft.com/office/drawing/2014/main" id="{49EBE5D3-09A9-6589-D57D-2D3C018F8B3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178300" y="1606551"/>
            <a:ext cx="7163893" cy="4362449"/>
          </a:xfrm>
        </p:spPr>
      </p:pic>
    </p:spTree>
    <p:extLst>
      <p:ext uri="{BB962C8B-B14F-4D97-AF65-F5344CB8AC3E}">
        <p14:creationId xmlns:p14="http://schemas.microsoft.com/office/powerpoint/2010/main" val="39295080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rmAutofit fontScale="92500" lnSpcReduction="10000"/>
          </a:bodyPr>
          <a:lstStyle/>
          <a:p>
            <a:r>
              <a:rPr lang="en-US" dirty="0"/>
              <a:t>These are things like http requests, I/O operations, or timers.</a:t>
            </a:r>
          </a:p>
          <a:p>
            <a:r>
              <a:rPr lang="en-US" dirty="0"/>
              <a:t>Each of these returns a promise that you can </a:t>
            </a:r>
            <a:r>
              <a:rPr lang="en-US" b="1" dirty="0"/>
              <a:t>await</a:t>
            </a:r>
            <a:r>
              <a:rPr lang="en-US" dirty="0"/>
              <a:t>.  The promise runs while it is pending, and produces the response from the http request, or the contents of the file, etc.</a:t>
            </a:r>
          </a:p>
          <a:p>
            <a:r>
              <a:rPr lang="en-US" dirty="0"/>
              <a:t>You will hardly ever call one of these primitives yourself; usually they are wrapped in a convenient procedure, e.g., we write</a:t>
            </a:r>
          </a:p>
          <a:p>
            <a:pPr marL="0" indent="0">
              <a:buNone/>
            </a:pPr>
            <a:r>
              <a:rPr lang="en-US" b="0" dirty="0">
                <a:solidFill>
                  <a:srgbClr val="0070C1"/>
                </a:solidFill>
                <a:effectLst/>
                <a:latin typeface="Consolas" panose="020B0609020204030204" pitchFamily="49" charset="0"/>
              </a:rPr>
              <a:t>	</a:t>
            </a:r>
            <a:r>
              <a:rPr lang="en-US" b="0" dirty="0" err="1">
                <a:solidFill>
                  <a:srgbClr val="0070C1"/>
                </a:solidFill>
                <a:effectLst/>
                <a:latin typeface="Consolas" panose="020B0609020204030204" pitchFamily="49" charset="0"/>
              </a:rPr>
              <a:t>axios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'https://rest-</a:t>
            </a:r>
            <a:r>
              <a:rPr lang="en-US" b="0" dirty="0" err="1">
                <a:solidFill>
                  <a:srgbClr val="A31515"/>
                </a:solidFill>
                <a:effectLst/>
                <a:latin typeface="Consolas" panose="020B0609020204030204" pitchFamily="49" charset="0"/>
              </a:rPr>
              <a:t>example.covey.town</a:t>
            </a:r>
            <a:r>
              <a:rPr lang="en-US" dirty="0">
                <a:solidFill>
                  <a:srgbClr val="A31515"/>
                </a:solidFill>
                <a:latin typeface="Consolas" panose="020B0609020204030204" pitchFamily="49" charset="0"/>
              </a:rPr>
              <a:t>’</a:t>
            </a:r>
            <a:r>
              <a:rPr lang="en-US" b="0" dirty="0">
                <a:solidFill>
                  <a:srgbClr val="000000"/>
                </a:solidFill>
                <a:effectLst/>
                <a:latin typeface="Consolas" panose="020B0609020204030204" pitchFamily="49" charset="0"/>
              </a:rPr>
              <a:t>)</a:t>
            </a:r>
          </a:p>
          <a:p>
            <a:pPr marL="0" indent="0">
              <a:buNone/>
            </a:pPr>
            <a:r>
              <a:rPr lang="en-US" dirty="0"/>
              <a:t>  to make an http request, or </a:t>
            </a:r>
          </a:p>
          <a:p>
            <a:pPr marL="0" indent="0">
              <a:buNone/>
            </a:pPr>
            <a:r>
              <a:rPr lang="en-US" b="0" dirty="0">
                <a:solidFill>
                  <a:srgbClr val="267F99"/>
                </a:solidFill>
                <a:effectLst/>
                <a:latin typeface="Consolas" panose="020B0609020204030204" pitchFamily="49" charset="0"/>
              </a:rPr>
              <a:t>	</a:t>
            </a:r>
            <a:r>
              <a:rPr lang="en-US" b="0" dirty="0" err="1">
                <a:solidFill>
                  <a:srgbClr val="267F99"/>
                </a:solidFill>
                <a:effectLst/>
                <a:latin typeface="Consolas" panose="020B0609020204030204" pitchFamily="49" charset="0"/>
              </a:rPr>
              <a:t>fs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readFile</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filename)</a:t>
            </a:r>
          </a:p>
          <a:p>
            <a:pPr marL="0" indent="0">
              <a:buNone/>
            </a:pPr>
            <a:r>
              <a:rPr lang="en-US"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9" name="Picture 8">
            <a:extLst>
              <a:ext uri="{FF2B5EF4-FFF2-40B4-BE49-F238E27FC236}">
                <a16:creationId xmlns:a16="http://schemas.microsoft.com/office/drawing/2014/main" id="{BD844B7F-B1F5-435D-79CC-8C6204FCD85F}"/>
              </a:ext>
            </a:extLst>
          </p:cNvPr>
          <p:cNvPicPr>
            <a:picLocks noChangeAspect="1"/>
          </p:cNvPicPr>
          <p:nvPr/>
        </p:nvPicPr>
        <p:blipFill>
          <a:blip r:embed="rId3"/>
          <a:stretch>
            <a:fillRect/>
          </a:stretch>
        </p:blipFill>
        <p:spPr>
          <a:xfrm>
            <a:off x="6561137" y="1594198"/>
            <a:ext cx="4378325" cy="4675228"/>
          </a:xfrm>
          <a:prstGeom prst="rect">
            <a:avLst/>
          </a:prstGeom>
        </p:spPr>
      </p:pic>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4932364" cy="4769267"/>
          </a:xfrm>
        </p:spPr>
        <p:txBody>
          <a:bodyPr>
            <a:normAutofit/>
          </a:bodyPr>
          <a:lstStyle/>
          <a:p>
            <a:r>
              <a:rPr lang="en-US" dirty="0"/>
              <a:t>JS/TS has single event loop</a:t>
            </a:r>
          </a:p>
          <a:p>
            <a:r>
              <a:rPr lang="en-US" dirty="0"/>
              <a:t>We outsource most of the non-blocking IO work (to </a:t>
            </a:r>
            <a:r>
              <a:rPr lang="en-US" dirty="0" err="1"/>
              <a:t>WebAPIs</a:t>
            </a:r>
            <a:r>
              <a:rPr lang="en-US" dirty="0"/>
              <a:t>) for asynchronous work</a:t>
            </a:r>
          </a:p>
          <a:p>
            <a:r>
              <a:rPr lang="en-US" dirty="0"/>
              <a:t>Upon completion, they are placed in queues (Microtask queue has priority over </a:t>
            </a:r>
            <a:r>
              <a:rPr lang="en-US" dirty="0" err="1"/>
              <a:t>Macrotask</a:t>
            </a:r>
            <a:r>
              <a:rPr lang="en-US" dirty="0"/>
              <a:t> queue)</a:t>
            </a:r>
          </a:p>
          <a:p>
            <a:r>
              <a:rPr lang="en-US" dirty="0"/>
              <a:t>Event loop picks them up from queue when call stack is empty!</a:t>
            </a:r>
          </a:p>
        </p:txBody>
      </p:sp>
    </p:spTree>
    <p:extLst>
      <p:ext uri="{BB962C8B-B14F-4D97-AF65-F5344CB8AC3E}">
        <p14:creationId xmlns:p14="http://schemas.microsoft.com/office/powerpoint/2010/main" val="17083584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But you can still have a data race</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p:txBody>
          <a:bodyPr/>
          <a:lstStyle/>
          <a:p>
            <a:endParaRPr lang="en-US"/>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5864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0000FF"/>
                </a:solidFill>
                <a:effectLst/>
                <a:latin typeface="Consolas" panose="020B0609020204030204" pitchFamily="49" charset="0"/>
              </a:rPr>
              <a:t>let</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10</a:t>
            </a:r>
            <a:endParaRPr lang="en-US" sz="1600" b="0" dirty="0">
              <a:solidFill>
                <a:srgbClr val="000000"/>
              </a:solidFill>
              <a:effectLst/>
              <a:latin typeface="Consolas" panose="020B0609020204030204" pitchFamily="49" charset="0"/>
            </a:endParaRPr>
          </a:p>
          <a:p>
            <a:pPr algn="l"/>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asyncDouble</a:t>
            </a:r>
            <a:r>
              <a:rPr lang="en-US" sz="1600" b="0" dirty="0">
                <a:solidFill>
                  <a:srgbClr val="000000"/>
                </a:solidFill>
                <a:effectLst/>
                <a:latin typeface="Consolas" panose="020B0609020204030204" pitchFamily="49" charset="0"/>
              </a:rPr>
              <a:t>() {</a:t>
            </a:r>
          </a:p>
          <a:p>
            <a:pPr algn="l"/>
            <a:r>
              <a:rPr lang="en-US" sz="1600" b="0" dirty="0">
                <a:solidFill>
                  <a:srgbClr val="008000"/>
                </a:solidFill>
                <a:effectLst/>
                <a:latin typeface="Consolas" panose="020B0609020204030204" pitchFamily="49" charset="0"/>
              </a:rPr>
              <a:t>    // start an asynchronous computation and wait for the result</a:t>
            </a:r>
            <a:endParaRPr lang="en-US" sz="1600" b="0" dirty="0">
              <a:solidFill>
                <a:srgbClr val="000000"/>
              </a:solidFill>
              <a:effectLst/>
              <a:latin typeface="Consolas" panose="020B0609020204030204" pitchFamily="49" charset="0"/>
            </a:endParaRPr>
          </a:p>
          <a:p>
            <a:pPr algn="l"/>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makeOneGetRequest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       </a:t>
            </a:r>
          </a:p>
          <a:p>
            <a:pPr algn="l"/>
            <a:r>
              <a:rPr lang="en-US" sz="1600" dirty="0">
                <a:solidFill>
                  <a:srgbClr val="000000"/>
                </a:solidFill>
                <a:latin typeface="Consolas" panose="020B0609020204030204" pitchFamily="49" charset="0"/>
              </a:rPr>
              <a:t>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statement 1</a:t>
            </a:r>
            <a:endParaRPr lang="en-US" sz="1600" b="0" dirty="0">
              <a:solidFill>
                <a:srgbClr val="000000"/>
              </a:solidFill>
              <a:effectLst/>
              <a:latin typeface="Consolas" panose="020B0609020204030204" pitchFamily="49" charset="0"/>
            </a:endParaRPr>
          </a:p>
          <a:p>
            <a:pPr algn="l"/>
            <a:r>
              <a:rPr lang="en-US" sz="1600" b="0" dirty="0">
                <a:solidFill>
                  <a:srgbClr val="000000"/>
                </a:solidFill>
                <a:effectLst/>
                <a:latin typeface="Consolas" panose="020B0609020204030204" pitchFamily="49" charset="0"/>
              </a:rPr>
              <a:t>}</a:t>
            </a:r>
          </a:p>
          <a:p>
            <a:pPr algn="l"/>
            <a:endParaRPr lang="en-US" sz="1600" b="0" dirty="0">
              <a:solidFill>
                <a:srgbClr val="000000"/>
              </a:solidFill>
              <a:effectLst/>
              <a:latin typeface="Consolas" panose="020B0609020204030204" pitchFamily="49" charset="0"/>
            </a:endParaRPr>
          </a:p>
          <a:p>
            <a:pPr algn="l"/>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asyncIncrementTwice</a:t>
            </a:r>
            <a:r>
              <a:rPr lang="en-US" sz="1600" b="0" dirty="0">
                <a:solidFill>
                  <a:srgbClr val="000000"/>
                </a:solidFill>
                <a:effectLst/>
                <a:latin typeface="Consolas" panose="020B0609020204030204" pitchFamily="49" charset="0"/>
              </a:rPr>
              <a:t>() {</a:t>
            </a:r>
          </a:p>
          <a:p>
            <a:pPr algn="l"/>
            <a:r>
              <a:rPr lang="en-US" sz="1600" b="0" dirty="0">
                <a:solidFill>
                  <a:srgbClr val="008000"/>
                </a:solidFill>
                <a:effectLst/>
                <a:latin typeface="Consolas" panose="020B0609020204030204" pitchFamily="49" charset="0"/>
              </a:rPr>
              <a:t>    // start an asynchronous computation and wait for the result</a:t>
            </a:r>
            <a:endParaRPr lang="en-US" sz="1600" b="0" dirty="0">
              <a:solidFill>
                <a:srgbClr val="000000"/>
              </a:solidFill>
              <a:effectLst/>
              <a:latin typeface="Consolas" panose="020B0609020204030204" pitchFamily="49" charset="0"/>
            </a:endParaRPr>
          </a:p>
          <a:p>
            <a:pPr algn="l"/>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makeOneGetRequest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statement 2</a:t>
            </a:r>
            <a:endParaRPr lang="en-US" sz="1600" b="0" dirty="0">
              <a:solidFill>
                <a:srgbClr val="000000"/>
              </a:solidFill>
              <a:effectLst/>
              <a:latin typeface="Consolas" panose="020B0609020204030204" pitchFamily="49" charset="0"/>
            </a:endParaRP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statement 3</a:t>
            </a:r>
            <a:endParaRPr lang="en-US" sz="1600" b="0" dirty="0">
              <a:solidFill>
                <a:srgbClr val="000000"/>
              </a:solidFill>
              <a:effectLst/>
              <a:latin typeface="Consolas" panose="020B0609020204030204" pitchFamily="49" charset="0"/>
            </a:endParaRP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run</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err="1">
                <a:solidFill>
                  <a:srgbClr val="267F99"/>
                </a:solidFill>
                <a:effectLst/>
                <a:latin typeface="Consolas" panose="020B0609020204030204" pitchFamily="49" charset="0"/>
              </a:rPr>
              <a:t>Promise</a:t>
            </a:r>
            <a:r>
              <a:rPr lang="en-US" sz="1600" b="0" dirty="0" err="1">
                <a:solidFill>
                  <a:srgbClr val="000000"/>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all</a:t>
            </a:r>
            <a:r>
              <a:rPr lang="en-US" sz="1600" b="0" dirty="0">
                <a:solidFill>
                  <a:srgbClr val="000000"/>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asyncDouble</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asyncIncrementTwice</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x</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endParaRPr lang="en-US" sz="1600" b="0" dirty="0">
              <a:solidFill>
                <a:srgbClr val="000000"/>
              </a:solidFill>
              <a:effectLst/>
              <a:latin typeface="Consolas" panose="020B0609020204030204" pitchFamily="49" charset="0"/>
            </a:endParaRPr>
          </a:p>
          <a:p>
            <a:pPr algn="l"/>
            <a:endParaRPr lang="en-US" sz="1400" b="0" dirty="0">
              <a:solidFill>
                <a:srgbClr val="000000"/>
              </a:solidFill>
              <a:effectLst/>
              <a:latin typeface="Consolas" panose="020B0609020204030204" pitchFamily="49" charset="0"/>
            </a:endParaRPr>
          </a:p>
          <a:p>
            <a:pPr algn="l"/>
            <a:br>
              <a:rPr lang="en-US" sz="1400" b="0" dirty="0">
                <a:solidFill>
                  <a:srgbClr val="000000"/>
                </a:solidFill>
                <a:effectLst/>
                <a:latin typeface="Consolas" panose="020B0609020204030204" pitchFamily="49" charset="0"/>
              </a:rPr>
            </a:br>
            <a:br>
              <a:rPr lang="en-US" sz="1400" b="0" dirty="0">
                <a:solidFill>
                  <a:srgbClr val="000000"/>
                </a:solidFill>
                <a:effectLst/>
                <a:latin typeface="Consolas" panose="020B0609020204030204" pitchFamily="49" charset="0"/>
              </a:rPr>
            </a:b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dataRace.ts</a:t>
            </a:r>
            <a:endParaRPr lang="en-US" sz="2400" dirty="0">
              <a:solidFill>
                <a:schemeClr val="tx1"/>
              </a:solidFill>
            </a:endParaRPr>
          </a:p>
        </p:txBody>
      </p:sp>
    </p:spTree>
    <p:extLst>
      <p:ext uri="{BB962C8B-B14F-4D97-AF65-F5344CB8AC3E}">
        <p14:creationId xmlns:p14="http://schemas.microsoft.com/office/powerpoint/2010/main" val="21921284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order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38</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29849</TotalTime>
  <Words>5749</Words>
  <Application>Microsoft Office PowerPoint</Application>
  <PresentationFormat>Widescreen</PresentationFormat>
  <Paragraphs>602</Paragraphs>
  <Slides>38</Slides>
  <Notes>33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38</vt:i4>
      </vt:variant>
    </vt:vector>
  </HeadingPairs>
  <TitlesOfParts>
    <vt:vector size="47"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09: Concurrency Patterns in Typescript</vt:lpstr>
      <vt:lpstr>Learning Goals for this Lesson</vt:lpstr>
      <vt:lpstr>Your app probably spends most of its time waiting</vt:lpstr>
      <vt:lpstr>We achieve this goal using two techniques:   1. cooperative multiprocessing    2. non-blocking IO</vt:lpstr>
      <vt:lpstr>Most OS's use pre-emptive multiprocessing</vt:lpstr>
      <vt:lpstr>Javascript/Typescript uses cooperative multiprocessing</vt:lpstr>
      <vt:lpstr>async/await: a programming model for cooperative multiprocessing</vt:lpstr>
      <vt:lpstr>A typical async function</vt:lpstr>
      <vt:lpstr>An async function can only pause in two places</vt:lpstr>
      <vt:lpstr>What happens at those pause points?</vt:lpstr>
      <vt:lpstr>Java vs. JS/TS</vt:lpstr>
      <vt:lpstr>Terminology: promises and run-to-completion</vt:lpstr>
      <vt:lpstr>Example:</vt:lpstr>
      <vt:lpstr>Pattern for starting a concurrent computation using non-blocking I/O</vt:lpstr>
      <vt:lpstr>Use Promise.all to execute several requests concurrently</vt:lpstr>
      <vt:lpstr>Running 3 concurrent get requests</vt:lpstr>
      <vt:lpstr>If you add awaits, the requests will be processed sequentially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vt:lpstr>
      <vt:lpstr>How does JS Engine make this happen?</vt:lpstr>
      <vt:lpstr>We achieve this goal using two techniques:   1. cooperative multiprocessing    2. non-blocking IO </vt:lpstr>
      <vt:lpstr>Answer: JS/TS has some primitives for starting a non-blocking computation</vt:lpstr>
      <vt:lpstr>Let’s put it all together</vt:lpstr>
      <vt:lpstr>Here is a quick demo for you</vt:lpstr>
      <vt:lpstr>General Rules for Writing Asynchronous Code</vt:lpstr>
      <vt:lpstr>Odds and Ends You Should Know</vt:lpstr>
      <vt:lpstr>Promises Enforce Ordering Through “Then”</vt:lpstr>
      <vt:lpstr>Async/await code is compiled into promise/then code</vt:lpstr>
      <vt:lpstr>But you can still have a data race</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118</cp:revision>
  <dcterms:modified xsi:type="dcterms:W3CDTF">2026-01-21T15:27:10Z</dcterms:modified>
</cp:coreProperties>
</file>